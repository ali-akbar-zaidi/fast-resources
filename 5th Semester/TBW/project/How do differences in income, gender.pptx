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4BA59-AB18-4F2E-96E8-EBFABE8BAF95}" v="75" dt="2025-12-02T16:51:54.733"/>
    <p1510:client id="{65F1566F-E285-F5E6-EC73-8F1F9E33AF13}" v="69" dt="2025-12-02T19:22:44.701"/>
    <p1510:client id="{77426EB3-59E9-D2A5-A268-2AC6A69FFDB6}" v="9" dt="2025-12-03T05:24:36.404"/>
    <p1510:client id="{84FFE131-6DA8-1FD7-A217-C4A474A1B5AB}" v="18" dt="2025-12-03T06:25:04.692"/>
    <p1510:client id="{8B0DFCAF-EA3F-4199-8311-65489A277367}" v="22" dt="2025-12-02T14:51:58.750"/>
    <p1510:client id="{932F177F-85B6-456B-807C-15B6DC315F19}" v="51" dt="2025-12-02T16:43:36.368"/>
    <p1510:client id="{AE0A9B1C-103C-51D0-48A6-E9076F390692}" v="44" dt="2025-12-03T06:34:42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989529-2B84-4D26-8032-BE80D11135E0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4813987-B2DF-4E9E-9DE2-4466D6F9C4FA}">
      <dgm:prSet/>
      <dgm:spPr/>
      <dgm:t>
        <a:bodyPr/>
        <a:lstStyle/>
        <a:p>
          <a:r>
            <a:rPr lang="en-US" b="1"/>
            <a:t>Economic Inequality</a:t>
          </a:r>
          <a:endParaRPr lang="en-US"/>
        </a:p>
      </dgm:t>
    </dgm:pt>
    <dgm:pt modelId="{5F5A1190-A26E-4ABC-91E1-AAA4FC8F7DA2}" type="parTrans" cxnId="{79718855-9C47-4C26-BB18-F82C0B5C8C82}">
      <dgm:prSet/>
      <dgm:spPr/>
      <dgm:t>
        <a:bodyPr/>
        <a:lstStyle/>
        <a:p>
          <a:endParaRPr lang="en-US"/>
        </a:p>
      </dgm:t>
    </dgm:pt>
    <dgm:pt modelId="{68D86037-CC87-44BB-A7E9-2A852F2D40CF}" type="sibTrans" cxnId="{79718855-9C47-4C26-BB18-F82C0B5C8C82}">
      <dgm:prSet/>
      <dgm:spPr/>
      <dgm:t>
        <a:bodyPr/>
        <a:lstStyle/>
        <a:p>
          <a:endParaRPr lang="en-US"/>
        </a:p>
      </dgm:t>
    </dgm:pt>
    <dgm:pt modelId="{6004A7B4-6412-4B82-85E8-1CC3A8E36A73}">
      <dgm:prSet/>
      <dgm:spPr/>
      <dgm:t>
        <a:bodyPr/>
        <a:lstStyle/>
        <a:p>
          <a:r>
            <a:rPr lang="en-US"/>
            <a:t>Low-income students rely on shared devices &amp; unstable internet [1][2].</a:t>
          </a:r>
        </a:p>
      </dgm:t>
    </dgm:pt>
    <dgm:pt modelId="{417DD3A6-5843-44CB-BBEC-8AA8A761466D}" type="parTrans" cxnId="{F8205254-AA4F-475D-8F8B-6C55F3427403}">
      <dgm:prSet/>
      <dgm:spPr/>
      <dgm:t>
        <a:bodyPr/>
        <a:lstStyle/>
        <a:p>
          <a:endParaRPr lang="en-US"/>
        </a:p>
      </dgm:t>
    </dgm:pt>
    <dgm:pt modelId="{E46679F9-8C08-4CD8-8994-C803DF393392}" type="sibTrans" cxnId="{F8205254-AA4F-475D-8F8B-6C55F3427403}">
      <dgm:prSet/>
      <dgm:spPr/>
      <dgm:t>
        <a:bodyPr/>
        <a:lstStyle/>
        <a:p>
          <a:endParaRPr lang="en-US"/>
        </a:p>
      </dgm:t>
    </dgm:pt>
    <dgm:pt modelId="{E2732F3F-B9E2-4C5D-9D41-338405025CC0}">
      <dgm:prSet/>
      <dgm:spPr/>
      <dgm:t>
        <a:bodyPr/>
        <a:lstStyle/>
        <a:p>
          <a:r>
            <a:rPr lang="en-US"/>
            <a:t>Limited data plans &amp; low-quality smartphones restrict high-bandwidth learning.</a:t>
          </a:r>
          <a:br>
            <a:rPr lang="en-US"/>
          </a:br>
          <a:endParaRPr lang="en-US"/>
        </a:p>
      </dgm:t>
    </dgm:pt>
    <dgm:pt modelId="{67623DCA-E10A-4607-B428-152564447E2C}" type="parTrans" cxnId="{62627D5F-7858-47D7-BD24-77FCDABBE3C3}">
      <dgm:prSet/>
      <dgm:spPr/>
      <dgm:t>
        <a:bodyPr/>
        <a:lstStyle/>
        <a:p>
          <a:endParaRPr lang="en-US"/>
        </a:p>
      </dgm:t>
    </dgm:pt>
    <dgm:pt modelId="{9C1DE1EC-7C33-4BC4-A3E5-CD0E83BA82B7}" type="sibTrans" cxnId="{62627D5F-7858-47D7-BD24-77FCDABBE3C3}">
      <dgm:prSet/>
      <dgm:spPr/>
      <dgm:t>
        <a:bodyPr/>
        <a:lstStyle/>
        <a:p>
          <a:endParaRPr lang="en-US"/>
        </a:p>
      </dgm:t>
    </dgm:pt>
    <dgm:pt modelId="{40933964-9F9D-4895-9C20-B0CD0ABED0DA}">
      <dgm:prSet/>
      <dgm:spPr/>
      <dgm:t>
        <a:bodyPr/>
        <a:lstStyle/>
        <a:p>
          <a:r>
            <a:rPr lang="en-US" b="1"/>
            <a:t>Gender Barriers</a:t>
          </a:r>
          <a:endParaRPr lang="en-US"/>
        </a:p>
      </dgm:t>
    </dgm:pt>
    <dgm:pt modelId="{4252CDB0-E256-4F86-8B5D-00E4B442AFDB}" type="parTrans" cxnId="{FBE964CA-04CE-48A7-839E-2158BE036A5F}">
      <dgm:prSet/>
      <dgm:spPr/>
      <dgm:t>
        <a:bodyPr/>
        <a:lstStyle/>
        <a:p>
          <a:endParaRPr lang="en-US"/>
        </a:p>
      </dgm:t>
    </dgm:pt>
    <dgm:pt modelId="{CB74F4B0-4195-4027-A736-F454370761DC}" type="sibTrans" cxnId="{FBE964CA-04CE-48A7-839E-2158BE036A5F}">
      <dgm:prSet/>
      <dgm:spPr/>
      <dgm:t>
        <a:bodyPr/>
        <a:lstStyle/>
        <a:p>
          <a:endParaRPr lang="en-US"/>
        </a:p>
      </dgm:t>
    </dgm:pt>
    <dgm:pt modelId="{4CBE0C7C-4830-4D79-8FA6-E3F23062FCF9}">
      <dgm:prSet/>
      <dgm:spPr/>
      <dgm:t>
        <a:bodyPr/>
        <a:lstStyle/>
        <a:p>
          <a:r>
            <a:rPr lang="en-US"/>
            <a:t>Girls face cultural restrictions, safety concerns, and limited digital freedom [3].</a:t>
          </a:r>
        </a:p>
      </dgm:t>
    </dgm:pt>
    <dgm:pt modelId="{7AB90727-FF8A-41C5-929A-E0DD3CACE676}" type="parTrans" cxnId="{68AC4B8D-FED8-4FE7-B07A-F27A3DA7671F}">
      <dgm:prSet/>
      <dgm:spPr/>
      <dgm:t>
        <a:bodyPr/>
        <a:lstStyle/>
        <a:p>
          <a:endParaRPr lang="en-US"/>
        </a:p>
      </dgm:t>
    </dgm:pt>
    <dgm:pt modelId="{8C0A3CB7-0E62-4FB1-AB54-20C856F23513}" type="sibTrans" cxnId="{68AC4B8D-FED8-4FE7-B07A-F27A3DA7671F}">
      <dgm:prSet/>
      <dgm:spPr/>
      <dgm:t>
        <a:bodyPr/>
        <a:lstStyle/>
        <a:p>
          <a:endParaRPr lang="en-US"/>
        </a:p>
      </dgm:t>
    </dgm:pt>
    <dgm:pt modelId="{665A2BF0-A3F6-453A-B332-16EB20CB6576}">
      <dgm:prSet/>
      <dgm:spPr/>
      <dgm:t>
        <a:bodyPr/>
        <a:lstStyle/>
        <a:p>
          <a:r>
            <a:rPr lang="en-US"/>
            <a:t>Lower encouragement in tech skills reduces confidence &amp; participation [4].</a:t>
          </a:r>
        </a:p>
      </dgm:t>
    </dgm:pt>
    <dgm:pt modelId="{9695E316-7484-4707-B3AE-B20CAFAFAF3A}" type="parTrans" cxnId="{8657D864-B3B9-460B-8321-272EAC666826}">
      <dgm:prSet/>
      <dgm:spPr/>
      <dgm:t>
        <a:bodyPr/>
        <a:lstStyle/>
        <a:p>
          <a:endParaRPr lang="en-US"/>
        </a:p>
      </dgm:t>
    </dgm:pt>
    <dgm:pt modelId="{27CFDA40-9CCD-4A63-921E-6DB252AABBF0}" type="sibTrans" cxnId="{8657D864-B3B9-460B-8321-272EAC666826}">
      <dgm:prSet/>
      <dgm:spPr/>
      <dgm:t>
        <a:bodyPr/>
        <a:lstStyle/>
        <a:p>
          <a:endParaRPr lang="en-US"/>
        </a:p>
      </dgm:t>
    </dgm:pt>
    <dgm:pt modelId="{ABF7A7B8-496A-4AAD-8E70-71CEFE4A36BB}">
      <dgm:prSet/>
      <dgm:spPr/>
      <dgm:t>
        <a:bodyPr/>
        <a:lstStyle/>
        <a:p>
          <a:r>
            <a:rPr lang="en-US"/>
            <a:t>Online harassment further discourages girls from learning digitally [5].</a:t>
          </a:r>
          <a:br>
            <a:rPr lang="en-US"/>
          </a:br>
          <a:endParaRPr lang="en-US"/>
        </a:p>
      </dgm:t>
    </dgm:pt>
    <dgm:pt modelId="{D7ED2C98-FFA4-4AAD-BE2F-0C26C0C03990}" type="parTrans" cxnId="{F899791B-554D-4F81-901B-6484322F7960}">
      <dgm:prSet/>
      <dgm:spPr/>
      <dgm:t>
        <a:bodyPr/>
        <a:lstStyle/>
        <a:p>
          <a:endParaRPr lang="en-US"/>
        </a:p>
      </dgm:t>
    </dgm:pt>
    <dgm:pt modelId="{07AFB6AD-45B4-4D95-91A4-1530261066FE}" type="sibTrans" cxnId="{F899791B-554D-4F81-901B-6484322F7960}">
      <dgm:prSet/>
      <dgm:spPr/>
      <dgm:t>
        <a:bodyPr/>
        <a:lstStyle/>
        <a:p>
          <a:endParaRPr lang="en-US"/>
        </a:p>
      </dgm:t>
    </dgm:pt>
    <dgm:pt modelId="{9BC482DA-80A3-4FE0-A94E-C699141FC01E}" type="pres">
      <dgm:prSet presAssocID="{B4989529-2B84-4D26-8032-BE80D11135E0}" presName="linear" presStyleCnt="0">
        <dgm:presLayoutVars>
          <dgm:dir/>
          <dgm:animLvl val="lvl"/>
          <dgm:resizeHandles val="exact"/>
        </dgm:presLayoutVars>
      </dgm:prSet>
      <dgm:spPr/>
    </dgm:pt>
    <dgm:pt modelId="{FBC79632-D4A8-44B4-80FE-6616C854F408}" type="pres">
      <dgm:prSet presAssocID="{84813987-B2DF-4E9E-9DE2-4466D6F9C4FA}" presName="parentLin" presStyleCnt="0"/>
      <dgm:spPr/>
    </dgm:pt>
    <dgm:pt modelId="{29377984-FCD1-4E28-8AD4-6A173A58195A}" type="pres">
      <dgm:prSet presAssocID="{84813987-B2DF-4E9E-9DE2-4466D6F9C4FA}" presName="parentLeftMargin" presStyleLbl="node1" presStyleIdx="0" presStyleCnt="2"/>
      <dgm:spPr/>
    </dgm:pt>
    <dgm:pt modelId="{3DCBFC7E-35F4-45AE-A98E-45942AC9707A}" type="pres">
      <dgm:prSet presAssocID="{84813987-B2DF-4E9E-9DE2-4466D6F9C4F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974B289-2F29-4370-95F3-5611EF3B0EA5}" type="pres">
      <dgm:prSet presAssocID="{84813987-B2DF-4E9E-9DE2-4466D6F9C4FA}" presName="negativeSpace" presStyleCnt="0"/>
      <dgm:spPr/>
    </dgm:pt>
    <dgm:pt modelId="{965C6095-FE8E-4538-8912-F11F659CD09E}" type="pres">
      <dgm:prSet presAssocID="{84813987-B2DF-4E9E-9DE2-4466D6F9C4FA}" presName="childText" presStyleLbl="conFgAcc1" presStyleIdx="0" presStyleCnt="2">
        <dgm:presLayoutVars>
          <dgm:bulletEnabled val="1"/>
        </dgm:presLayoutVars>
      </dgm:prSet>
      <dgm:spPr/>
    </dgm:pt>
    <dgm:pt modelId="{5C681AE9-0EB1-4188-B39D-1EA3C69D7A45}" type="pres">
      <dgm:prSet presAssocID="{68D86037-CC87-44BB-A7E9-2A852F2D40CF}" presName="spaceBetweenRectangles" presStyleCnt="0"/>
      <dgm:spPr/>
    </dgm:pt>
    <dgm:pt modelId="{627FD7EE-949E-44AA-AA23-FD5E553D26A0}" type="pres">
      <dgm:prSet presAssocID="{40933964-9F9D-4895-9C20-B0CD0ABED0DA}" presName="parentLin" presStyleCnt="0"/>
      <dgm:spPr/>
    </dgm:pt>
    <dgm:pt modelId="{497B2F52-DC6A-4F4A-A04E-91BD71D59314}" type="pres">
      <dgm:prSet presAssocID="{40933964-9F9D-4895-9C20-B0CD0ABED0DA}" presName="parentLeftMargin" presStyleLbl="node1" presStyleIdx="0" presStyleCnt="2"/>
      <dgm:spPr/>
    </dgm:pt>
    <dgm:pt modelId="{0CB828AA-5118-4551-88B1-A93F9CEB2056}" type="pres">
      <dgm:prSet presAssocID="{40933964-9F9D-4895-9C20-B0CD0ABED0D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B09DD09-5755-4F28-8D29-B436CAB9E85D}" type="pres">
      <dgm:prSet presAssocID="{40933964-9F9D-4895-9C20-B0CD0ABED0DA}" presName="negativeSpace" presStyleCnt="0"/>
      <dgm:spPr/>
    </dgm:pt>
    <dgm:pt modelId="{C3C75F2B-61E9-42EC-BDF7-97A9DE058D99}" type="pres">
      <dgm:prSet presAssocID="{40933964-9F9D-4895-9C20-B0CD0ABED0D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03BC803-FB3D-4F9F-A934-529C91BD2172}" type="presOf" srcId="{4CBE0C7C-4830-4D79-8FA6-E3F23062FCF9}" destId="{C3C75F2B-61E9-42EC-BDF7-97A9DE058D99}" srcOrd="0" destOrd="0" presId="urn:microsoft.com/office/officeart/2005/8/layout/list1"/>
    <dgm:cxn modelId="{7FC5CA19-CE4E-4BC0-82A9-6005955E3B64}" type="presOf" srcId="{B4989529-2B84-4D26-8032-BE80D11135E0}" destId="{9BC482DA-80A3-4FE0-A94E-C699141FC01E}" srcOrd="0" destOrd="0" presId="urn:microsoft.com/office/officeart/2005/8/layout/list1"/>
    <dgm:cxn modelId="{F899791B-554D-4F81-901B-6484322F7960}" srcId="{40933964-9F9D-4895-9C20-B0CD0ABED0DA}" destId="{ABF7A7B8-496A-4AAD-8E70-71CEFE4A36BB}" srcOrd="2" destOrd="0" parTransId="{D7ED2C98-FFA4-4AAD-BE2F-0C26C0C03990}" sibTransId="{07AFB6AD-45B4-4D95-91A4-1530261066FE}"/>
    <dgm:cxn modelId="{19360635-C60B-43A6-9E44-E04CF5C80AF6}" type="presOf" srcId="{E2732F3F-B9E2-4C5D-9D41-338405025CC0}" destId="{965C6095-FE8E-4538-8912-F11F659CD09E}" srcOrd="0" destOrd="1" presId="urn:microsoft.com/office/officeart/2005/8/layout/list1"/>
    <dgm:cxn modelId="{62627D5F-7858-47D7-BD24-77FCDABBE3C3}" srcId="{84813987-B2DF-4E9E-9DE2-4466D6F9C4FA}" destId="{E2732F3F-B9E2-4C5D-9D41-338405025CC0}" srcOrd="1" destOrd="0" parTransId="{67623DCA-E10A-4607-B428-152564447E2C}" sibTransId="{9C1DE1EC-7C33-4BC4-A3E5-CD0E83BA82B7}"/>
    <dgm:cxn modelId="{7FEB5E61-CDE3-49C6-97D1-FDC9454343F1}" type="presOf" srcId="{84813987-B2DF-4E9E-9DE2-4466D6F9C4FA}" destId="{29377984-FCD1-4E28-8AD4-6A173A58195A}" srcOrd="0" destOrd="0" presId="urn:microsoft.com/office/officeart/2005/8/layout/list1"/>
    <dgm:cxn modelId="{8657D864-B3B9-460B-8321-272EAC666826}" srcId="{40933964-9F9D-4895-9C20-B0CD0ABED0DA}" destId="{665A2BF0-A3F6-453A-B332-16EB20CB6576}" srcOrd="1" destOrd="0" parTransId="{9695E316-7484-4707-B3AE-B20CAFAFAF3A}" sibTransId="{27CFDA40-9CCD-4A63-921E-6DB252AABBF0}"/>
    <dgm:cxn modelId="{03CEF150-68CF-4495-A81B-B65C77E18190}" type="presOf" srcId="{665A2BF0-A3F6-453A-B332-16EB20CB6576}" destId="{C3C75F2B-61E9-42EC-BDF7-97A9DE058D99}" srcOrd="0" destOrd="1" presId="urn:microsoft.com/office/officeart/2005/8/layout/list1"/>
    <dgm:cxn modelId="{5F6E0672-5467-4749-863A-55E98BF14FEC}" type="presOf" srcId="{6004A7B4-6412-4B82-85E8-1CC3A8E36A73}" destId="{965C6095-FE8E-4538-8912-F11F659CD09E}" srcOrd="0" destOrd="0" presId="urn:microsoft.com/office/officeart/2005/8/layout/list1"/>
    <dgm:cxn modelId="{F8205254-AA4F-475D-8F8B-6C55F3427403}" srcId="{84813987-B2DF-4E9E-9DE2-4466D6F9C4FA}" destId="{6004A7B4-6412-4B82-85E8-1CC3A8E36A73}" srcOrd="0" destOrd="0" parTransId="{417DD3A6-5843-44CB-BBEC-8AA8A761466D}" sibTransId="{E46679F9-8C08-4CD8-8994-C803DF393392}"/>
    <dgm:cxn modelId="{79718855-9C47-4C26-BB18-F82C0B5C8C82}" srcId="{B4989529-2B84-4D26-8032-BE80D11135E0}" destId="{84813987-B2DF-4E9E-9DE2-4466D6F9C4FA}" srcOrd="0" destOrd="0" parTransId="{5F5A1190-A26E-4ABC-91E1-AAA4FC8F7DA2}" sibTransId="{68D86037-CC87-44BB-A7E9-2A852F2D40CF}"/>
    <dgm:cxn modelId="{DAF49778-7E3F-4168-8EEE-D6E4F434EC79}" type="presOf" srcId="{40933964-9F9D-4895-9C20-B0CD0ABED0DA}" destId="{0CB828AA-5118-4551-88B1-A93F9CEB2056}" srcOrd="1" destOrd="0" presId="urn:microsoft.com/office/officeart/2005/8/layout/list1"/>
    <dgm:cxn modelId="{68AC4B8D-FED8-4FE7-B07A-F27A3DA7671F}" srcId="{40933964-9F9D-4895-9C20-B0CD0ABED0DA}" destId="{4CBE0C7C-4830-4D79-8FA6-E3F23062FCF9}" srcOrd="0" destOrd="0" parTransId="{7AB90727-FF8A-41C5-929A-E0DD3CACE676}" sibTransId="{8C0A3CB7-0E62-4FB1-AB54-20C856F23513}"/>
    <dgm:cxn modelId="{FCBB4F8E-E422-4642-91BC-DCD3E051FD77}" type="presOf" srcId="{ABF7A7B8-496A-4AAD-8E70-71CEFE4A36BB}" destId="{C3C75F2B-61E9-42EC-BDF7-97A9DE058D99}" srcOrd="0" destOrd="2" presId="urn:microsoft.com/office/officeart/2005/8/layout/list1"/>
    <dgm:cxn modelId="{FBE964CA-04CE-48A7-839E-2158BE036A5F}" srcId="{B4989529-2B84-4D26-8032-BE80D11135E0}" destId="{40933964-9F9D-4895-9C20-B0CD0ABED0DA}" srcOrd="1" destOrd="0" parTransId="{4252CDB0-E256-4F86-8B5D-00E4B442AFDB}" sibTransId="{CB74F4B0-4195-4027-A736-F454370761DC}"/>
    <dgm:cxn modelId="{690046E6-B6A7-4CB3-B3B3-4F4E0A132963}" type="presOf" srcId="{40933964-9F9D-4895-9C20-B0CD0ABED0DA}" destId="{497B2F52-DC6A-4F4A-A04E-91BD71D59314}" srcOrd="0" destOrd="0" presId="urn:microsoft.com/office/officeart/2005/8/layout/list1"/>
    <dgm:cxn modelId="{E24613F0-1C37-40F8-89AC-07E6FE77362F}" type="presOf" srcId="{84813987-B2DF-4E9E-9DE2-4466D6F9C4FA}" destId="{3DCBFC7E-35F4-45AE-A98E-45942AC9707A}" srcOrd="1" destOrd="0" presId="urn:microsoft.com/office/officeart/2005/8/layout/list1"/>
    <dgm:cxn modelId="{6048CED6-12C0-4D6D-A4E6-9E727AD85D78}" type="presParOf" srcId="{9BC482DA-80A3-4FE0-A94E-C699141FC01E}" destId="{FBC79632-D4A8-44B4-80FE-6616C854F408}" srcOrd="0" destOrd="0" presId="urn:microsoft.com/office/officeart/2005/8/layout/list1"/>
    <dgm:cxn modelId="{9C6B0500-40DC-48FF-9E8F-79C7283BF887}" type="presParOf" srcId="{FBC79632-D4A8-44B4-80FE-6616C854F408}" destId="{29377984-FCD1-4E28-8AD4-6A173A58195A}" srcOrd="0" destOrd="0" presId="urn:microsoft.com/office/officeart/2005/8/layout/list1"/>
    <dgm:cxn modelId="{4DD3A580-9727-4BFC-AF19-F43F85605546}" type="presParOf" srcId="{FBC79632-D4A8-44B4-80FE-6616C854F408}" destId="{3DCBFC7E-35F4-45AE-A98E-45942AC9707A}" srcOrd="1" destOrd="0" presId="urn:microsoft.com/office/officeart/2005/8/layout/list1"/>
    <dgm:cxn modelId="{7F3E7A6F-734C-4E6C-9896-323C4DB63E17}" type="presParOf" srcId="{9BC482DA-80A3-4FE0-A94E-C699141FC01E}" destId="{E974B289-2F29-4370-95F3-5611EF3B0EA5}" srcOrd="1" destOrd="0" presId="urn:microsoft.com/office/officeart/2005/8/layout/list1"/>
    <dgm:cxn modelId="{3707BDC1-6111-4C54-A0B8-3FA167AFF522}" type="presParOf" srcId="{9BC482DA-80A3-4FE0-A94E-C699141FC01E}" destId="{965C6095-FE8E-4538-8912-F11F659CD09E}" srcOrd="2" destOrd="0" presId="urn:microsoft.com/office/officeart/2005/8/layout/list1"/>
    <dgm:cxn modelId="{54CFE346-30E8-4B51-860C-9CCC8F151E57}" type="presParOf" srcId="{9BC482DA-80A3-4FE0-A94E-C699141FC01E}" destId="{5C681AE9-0EB1-4188-B39D-1EA3C69D7A45}" srcOrd="3" destOrd="0" presId="urn:microsoft.com/office/officeart/2005/8/layout/list1"/>
    <dgm:cxn modelId="{477B82C6-9E36-48FC-A98A-0388A7D2E79C}" type="presParOf" srcId="{9BC482DA-80A3-4FE0-A94E-C699141FC01E}" destId="{627FD7EE-949E-44AA-AA23-FD5E553D26A0}" srcOrd="4" destOrd="0" presId="urn:microsoft.com/office/officeart/2005/8/layout/list1"/>
    <dgm:cxn modelId="{ED6F8E37-7A21-45E8-B2C7-487DD0A9605D}" type="presParOf" srcId="{627FD7EE-949E-44AA-AA23-FD5E553D26A0}" destId="{497B2F52-DC6A-4F4A-A04E-91BD71D59314}" srcOrd="0" destOrd="0" presId="urn:microsoft.com/office/officeart/2005/8/layout/list1"/>
    <dgm:cxn modelId="{E4121CC5-AE83-4405-8D90-ACCF107E0645}" type="presParOf" srcId="{627FD7EE-949E-44AA-AA23-FD5E553D26A0}" destId="{0CB828AA-5118-4551-88B1-A93F9CEB2056}" srcOrd="1" destOrd="0" presId="urn:microsoft.com/office/officeart/2005/8/layout/list1"/>
    <dgm:cxn modelId="{19B5B93D-1736-4771-8A68-58F0B3E694C7}" type="presParOf" srcId="{9BC482DA-80A3-4FE0-A94E-C699141FC01E}" destId="{DB09DD09-5755-4F28-8D29-B436CAB9E85D}" srcOrd="5" destOrd="0" presId="urn:microsoft.com/office/officeart/2005/8/layout/list1"/>
    <dgm:cxn modelId="{F37F8057-49CD-49A5-A7CB-E718DEA092D6}" type="presParOf" srcId="{9BC482DA-80A3-4FE0-A94E-C699141FC01E}" destId="{C3C75F2B-61E9-42EC-BDF7-97A9DE058D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529896-8B37-42E9-80E5-A053C0F818FD}" type="doc">
      <dgm:prSet loTypeId="urn:microsoft.com/office/officeart/2005/8/layout/vList5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3B6B323-F76B-42D8-BA43-E8502CE0FBB1}">
      <dgm:prSet/>
      <dgm:spPr/>
      <dgm:t>
        <a:bodyPr/>
        <a:lstStyle/>
        <a:p>
          <a:r>
            <a:rPr lang="en-US" b="1" dirty="0"/>
            <a:t>Geographic Disparities</a:t>
          </a:r>
          <a:endParaRPr lang="en-US" dirty="0"/>
        </a:p>
      </dgm:t>
    </dgm:pt>
    <dgm:pt modelId="{B00C2E7E-2FF6-480B-BBD0-41B374C3A646}" type="parTrans" cxnId="{A25F0D76-49E0-4BA3-8021-CA4857243740}">
      <dgm:prSet/>
      <dgm:spPr/>
      <dgm:t>
        <a:bodyPr/>
        <a:lstStyle/>
        <a:p>
          <a:endParaRPr lang="en-US"/>
        </a:p>
      </dgm:t>
    </dgm:pt>
    <dgm:pt modelId="{A6281DFF-041F-4DD2-AAF0-24B5EBFAFF93}" type="sibTrans" cxnId="{A25F0D76-49E0-4BA3-8021-CA4857243740}">
      <dgm:prSet/>
      <dgm:spPr/>
      <dgm:t>
        <a:bodyPr/>
        <a:lstStyle/>
        <a:p>
          <a:endParaRPr lang="en-US"/>
        </a:p>
      </dgm:t>
    </dgm:pt>
    <dgm:pt modelId="{155E4D63-71E5-48FD-BE6C-976802818C29}">
      <dgm:prSet/>
      <dgm:spPr/>
      <dgm:t>
        <a:bodyPr/>
        <a:lstStyle/>
        <a:p>
          <a:r>
            <a:rPr lang="en-US" dirty="0"/>
            <a:t>Rural areas have slower broadband, fewer providers, and higher costs [6].</a:t>
          </a:r>
        </a:p>
      </dgm:t>
    </dgm:pt>
    <dgm:pt modelId="{B53A6C33-DC23-4724-BB2E-5D6B95E5D816}" type="parTrans" cxnId="{312DBC47-DF87-4CC4-A703-BE05ECA6B1E2}">
      <dgm:prSet/>
      <dgm:spPr/>
      <dgm:t>
        <a:bodyPr/>
        <a:lstStyle/>
        <a:p>
          <a:endParaRPr lang="en-US"/>
        </a:p>
      </dgm:t>
    </dgm:pt>
    <dgm:pt modelId="{0850FCD5-4EA0-48AC-A0CC-0CA48FF419B6}" type="sibTrans" cxnId="{312DBC47-DF87-4CC4-A703-BE05ECA6B1E2}">
      <dgm:prSet/>
      <dgm:spPr/>
      <dgm:t>
        <a:bodyPr/>
        <a:lstStyle/>
        <a:p>
          <a:endParaRPr lang="en-US"/>
        </a:p>
      </dgm:t>
    </dgm:pt>
    <dgm:pt modelId="{C465F0B9-6120-4DB3-958B-4D45833D072F}">
      <dgm:prSet/>
      <dgm:spPr/>
      <dgm:t>
        <a:bodyPr/>
        <a:lstStyle/>
        <a:p>
          <a:r>
            <a:rPr lang="en-US" dirty="0"/>
            <a:t>Weak 4G coverage makes video-based learning difficult [7].</a:t>
          </a:r>
        </a:p>
      </dgm:t>
    </dgm:pt>
    <dgm:pt modelId="{B7A82CCC-F198-4918-9133-996B395268C1}" type="parTrans" cxnId="{BB8DF874-B919-431D-8A08-4C74E08268BA}">
      <dgm:prSet/>
      <dgm:spPr/>
      <dgm:t>
        <a:bodyPr/>
        <a:lstStyle/>
        <a:p>
          <a:endParaRPr lang="en-US"/>
        </a:p>
      </dgm:t>
    </dgm:pt>
    <dgm:pt modelId="{7E605A3F-0279-4897-8191-4BB1F75EE2B1}" type="sibTrans" cxnId="{BB8DF874-B919-431D-8A08-4C74E08268BA}">
      <dgm:prSet/>
      <dgm:spPr/>
      <dgm:t>
        <a:bodyPr/>
        <a:lstStyle/>
        <a:p>
          <a:endParaRPr lang="en-US"/>
        </a:p>
      </dgm:t>
    </dgm:pt>
    <dgm:pt modelId="{A0FD4BD9-33E2-4A69-B6F3-FB7D7A68CD32}">
      <dgm:prSet/>
      <dgm:spPr/>
      <dgm:t>
        <a:bodyPr/>
        <a:lstStyle/>
        <a:p>
          <a:r>
            <a:rPr lang="en-US" dirty="0"/>
            <a:t>Rural students report frequent connectivity breakdowns during live classes [8].</a:t>
          </a:r>
          <a:br>
            <a:rPr lang="en-US" dirty="0"/>
          </a:br>
          <a:endParaRPr lang="en-US" dirty="0"/>
        </a:p>
      </dgm:t>
    </dgm:pt>
    <dgm:pt modelId="{7AFCCE50-4028-4B7E-8A05-EED00524EE3D}" type="parTrans" cxnId="{7E7B58E9-F524-40B7-A703-2E65CCB2F370}">
      <dgm:prSet/>
      <dgm:spPr/>
      <dgm:t>
        <a:bodyPr/>
        <a:lstStyle/>
        <a:p>
          <a:endParaRPr lang="en-US"/>
        </a:p>
      </dgm:t>
    </dgm:pt>
    <dgm:pt modelId="{6D93D3A2-01B5-44C2-866C-30433D9E2C64}" type="sibTrans" cxnId="{7E7B58E9-F524-40B7-A703-2E65CCB2F370}">
      <dgm:prSet/>
      <dgm:spPr/>
      <dgm:t>
        <a:bodyPr/>
        <a:lstStyle/>
        <a:p>
          <a:endParaRPr lang="en-US"/>
        </a:p>
      </dgm:t>
    </dgm:pt>
    <dgm:pt modelId="{78046532-E5FE-4BEB-8371-1D821A2D8739}">
      <dgm:prSet/>
      <dgm:spPr/>
      <dgm:t>
        <a:bodyPr/>
        <a:lstStyle/>
        <a:p>
          <a:r>
            <a:rPr lang="en-US" b="1" dirty="0"/>
            <a:t>Intersectionality &amp; Research Gaps</a:t>
          </a:r>
          <a:endParaRPr lang="en-US" dirty="0"/>
        </a:p>
      </dgm:t>
    </dgm:pt>
    <dgm:pt modelId="{9CA26F06-A261-498E-97AD-E2D1A7B19453}" type="parTrans" cxnId="{8A10E809-1D66-4B84-B3D0-89B27DF8F61F}">
      <dgm:prSet/>
      <dgm:spPr/>
      <dgm:t>
        <a:bodyPr/>
        <a:lstStyle/>
        <a:p>
          <a:endParaRPr lang="en-US"/>
        </a:p>
      </dgm:t>
    </dgm:pt>
    <dgm:pt modelId="{D4D584F9-647A-476F-AB74-D4F6C4649CAB}" type="sibTrans" cxnId="{8A10E809-1D66-4B84-B3D0-89B27DF8F61F}">
      <dgm:prSet/>
      <dgm:spPr/>
      <dgm:t>
        <a:bodyPr/>
        <a:lstStyle/>
        <a:p>
          <a:endParaRPr lang="en-US"/>
        </a:p>
      </dgm:t>
    </dgm:pt>
    <dgm:pt modelId="{9D88A299-A208-41FC-9902-1BC8AAA9D08B}">
      <dgm:prSet/>
      <dgm:spPr/>
      <dgm:t>
        <a:bodyPr/>
        <a:lstStyle/>
        <a:p>
          <a:r>
            <a:rPr lang="en-US" dirty="0"/>
            <a:t>Income + gender + location interact to intensify digital inequality.</a:t>
          </a:r>
        </a:p>
      </dgm:t>
    </dgm:pt>
    <dgm:pt modelId="{165E4000-5812-491F-A502-A40DFD47E4EE}" type="parTrans" cxnId="{54A80853-67F0-4F41-8914-35154E4692D9}">
      <dgm:prSet/>
      <dgm:spPr/>
      <dgm:t>
        <a:bodyPr/>
        <a:lstStyle/>
        <a:p>
          <a:endParaRPr lang="en-US"/>
        </a:p>
      </dgm:t>
    </dgm:pt>
    <dgm:pt modelId="{E7B0D230-0EA4-4683-8414-325AA45E6F57}" type="sibTrans" cxnId="{54A80853-67F0-4F41-8914-35154E4692D9}">
      <dgm:prSet/>
      <dgm:spPr/>
      <dgm:t>
        <a:bodyPr/>
        <a:lstStyle/>
        <a:p>
          <a:endParaRPr lang="en-US"/>
        </a:p>
      </dgm:t>
    </dgm:pt>
    <dgm:pt modelId="{B81F277F-C169-4B4A-B698-7E645BEBED8B}">
      <dgm:prSet/>
      <dgm:spPr/>
      <dgm:t>
        <a:bodyPr/>
        <a:lstStyle/>
        <a:p>
          <a:r>
            <a:rPr lang="en-US" dirty="0"/>
            <a:t>Existing studies rarely examine combined effects on learning outcomes.</a:t>
          </a:r>
        </a:p>
      </dgm:t>
    </dgm:pt>
    <dgm:pt modelId="{41B857B0-F733-4C9C-A8FD-D2F649A451DF}" type="parTrans" cxnId="{05A80E8B-D77A-42CC-80B3-B7C3A9DD825C}">
      <dgm:prSet/>
      <dgm:spPr/>
      <dgm:t>
        <a:bodyPr/>
        <a:lstStyle/>
        <a:p>
          <a:endParaRPr lang="en-US"/>
        </a:p>
      </dgm:t>
    </dgm:pt>
    <dgm:pt modelId="{22EB98F9-58E3-47A4-8835-D547454418A4}" type="sibTrans" cxnId="{05A80E8B-D77A-42CC-80B3-B7C3A9DD825C}">
      <dgm:prSet/>
      <dgm:spPr/>
      <dgm:t>
        <a:bodyPr/>
        <a:lstStyle/>
        <a:p>
          <a:endParaRPr lang="en-US"/>
        </a:p>
      </dgm:t>
    </dgm:pt>
    <dgm:pt modelId="{50335192-8345-40C6-9EAC-439EA5879475}">
      <dgm:prSet/>
      <dgm:spPr/>
      <dgm:t>
        <a:bodyPr/>
        <a:lstStyle/>
        <a:p>
          <a:r>
            <a:rPr lang="en-US" dirty="0"/>
            <a:t>Need for integrated research to guide effective policy solutions.</a:t>
          </a:r>
        </a:p>
      </dgm:t>
    </dgm:pt>
    <dgm:pt modelId="{2C3244D5-329A-40E7-96FE-785AC42C4CD6}" type="parTrans" cxnId="{70AA7489-69E7-4A67-992E-A069C35A36A6}">
      <dgm:prSet/>
      <dgm:spPr/>
      <dgm:t>
        <a:bodyPr/>
        <a:lstStyle/>
        <a:p>
          <a:endParaRPr lang="en-US"/>
        </a:p>
      </dgm:t>
    </dgm:pt>
    <dgm:pt modelId="{9ECEA4F2-D261-4D1A-948F-23F783011DBF}" type="sibTrans" cxnId="{70AA7489-69E7-4A67-992E-A069C35A36A6}">
      <dgm:prSet/>
      <dgm:spPr/>
      <dgm:t>
        <a:bodyPr/>
        <a:lstStyle/>
        <a:p>
          <a:endParaRPr lang="en-US"/>
        </a:p>
      </dgm:t>
    </dgm:pt>
    <dgm:pt modelId="{3C877154-93F3-4A16-8D14-04D19670B860}" type="pres">
      <dgm:prSet presAssocID="{48529896-8B37-42E9-80E5-A053C0F818FD}" presName="Name0" presStyleCnt="0">
        <dgm:presLayoutVars>
          <dgm:dir/>
          <dgm:animLvl val="lvl"/>
          <dgm:resizeHandles val="exact"/>
        </dgm:presLayoutVars>
      </dgm:prSet>
      <dgm:spPr/>
    </dgm:pt>
    <dgm:pt modelId="{D5DAB6AF-5594-4646-B066-355ABECF7E5D}" type="pres">
      <dgm:prSet presAssocID="{F3B6B323-F76B-42D8-BA43-E8502CE0FBB1}" presName="linNode" presStyleCnt="0"/>
      <dgm:spPr/>
    </dgm:pt>
    <dgm:pt modelId="{1D3B058D-3BE7-4EC5-98BF-9F1BB979F3E8}" type="pres">
      <dgm:prSet presAssocID="{F3B6B323-F76B-42D8-BA43-E8502CE0FBB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38CCD8DF-A39D-4060-9D0F-5381D9EA5C82}" type="pres">
      <dgm:prSet presAssocID="{F3B6B323-F76B-42D8-BA43-E8502CE0FBB1}" presName="descendantText" presStyleLbl="alignAccFollowNode1" presStyleIdx="0" presStyleCnt="2">
        <dgm:presLayoutVars>
          <dgm:bulletEnabled val="1"/>
        </dgm:presLayoutVars>
      </dgm:prSet>
      <dgm:spPr/>
    </dgm:pt>
    <dgm:pt modelId="{54643663-D6D5-413B-9A15-875128BB5130}" type="pres">
      <dgm:prSet presAssocID="{A6281DFF-041F-4DD2-AAF0-24B5EBFAFF93}" presName="sp" presStyleCnt="0"/>
      <dgm:spPr/>
    </dgm:pt>
    <dgm:pt modelId="{9D4B8B9B-7315-4E61-A075-7C85727CFA91}" type="pres">
      <dgm:prSet presAssocID="{78046532-E5FE-4BEB-8371-1D821A2D8739}" presName="linNode" presStyleCnt="0"/>
      <dgm:spPr/>
    </dgm:pt>
    <dgm:pt modelId="{F7400E0A-7F13-420D-9465-27F54DA65F98}" type="pres">
      <dgm:prSet presAssocID="{78046532-E5FE-4BEB-8371-1D821A2D873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05EF97F-6D85-4944-9A2E-671B8BAB040E}" type="pres">
      <dgm:prSet presAssocID="{78046532-E5FE-4BEB-8371-1D821A2D873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A10E809-1D66-4B84-B3D0-89B27DF8F61F}" srcId="{48529896-8B37-42E9-80E5-A053C0F818FD}" destId="{78046532-E5FE-4BEB-8371-1D821A2D8739}" srcOrd="1" destOrd="0" parTransId="{9CA26F06-A261-498E-97AD-E2D1A7B19453}" sibTransId="{D4D584F9-647A-476F-AB74-D4F6C4649CAB}"/>
    <dgm:cxn modelId="{4296D913-4670-4AF4-BA6F-5ECF26CA14B0}" type="presOf" srcId="{A0FD4BD9-33E2-4A69-B6F3-FB7D7A68CD32}" destId="{38CCD8DF-A39D-4060-9D0F-5381D9EA5C82}" srcOrd="0" destOrd="2" presId="urn:microsoft.com/office/officeart/2005/8/layout/vList5"/>
    <dgm:cxn modelId="{A29FE032-A701-425C-9E9A-328CA7FB5349}" type="presOf" srcId="{9D88A299-A208-41FC-9902-1BC8AAA9D08B}" destId="{F05EF97F-6D85-4944-9A2E-671B8BAB040E}" srcOrd="0" destOrd="0" presId="urn:microsoft.com/office/officeart/2005/8/layout/vList5"/>
    <dgm:cxn modelId="{417D0438-E17B-4D72-8B66-41E5FA1AF15A}" type="presOf" srcId="{155E4D63-71E5-48FD-BE6C-976802818C29}" destId="{38CCD8DF-A39D-4060-9D0F-5381D9EA5C82}" srcOrd="0" destOrd="0" presId="urn:microsoft.com/office/officeart/2005/8/layout/vList5"/>
    <dgm:cxn modelId="{CBFDDA40-5244-4262-89F5-6AF9445F1DD3}" type="presOf" srcId="{50335192-8345-40C6-9EAC-439EA5879475}" destId="{F05EF97F-6D85-4944-9A2E-671B8BAB040E}" srcOrd="0" destOrd="2" presId="urn:microsoft.com/office/officeart/2005/8/layout/vList5"/>
    <dgm:cxn modelId="{312DBC47-DF87-4CC4-A703-BE05ECA6B1E2}" srcId="{F3B6B323-F76B-42D8-BA43-E8502CE0FBB1}" destId="{155E4D63-71E5-48FD-BE6C-976802818C29}" srcOrd="0" destOrd="0" parTransId="{B53A6C33-DC23-4724-BB2E-5D6B95E5D816}" sibTransId="{0850FCD5-4EA0-48AC-A0CC-0CA48FF419B6}"/>
    <dgm:cxn modelId="{2578864D-C362-446D-90D5-7DF8593821F1}" type="presOf" srcId="{F3B6B323-F76B-42D8-BA43-E8502CE0FBB1}" destId="{1D3B058D-3BE7-4EC5-98BF-9F1BB979F3E8}" srcOrd="0" destOrd="0" presId="urn:microsoft.com/office/officeart/2005/8/layout/vList5"/>
    <dgm:cxn modelId="{54A80853-67F0-4F41-8914-35154E4692D9}" srcId="{78046532-E5FE-4BEB-8371-1D821A2D8739}" destId="{9D88A299-A208-41FC-9902-1BC8AAA9D08B}" srcOrd="0" destOrd="0" parTransId="{165E4000-5812-491F-A502-A40DFD47E4EE}" sibTransId="{E7B0D230-0EA4-4683-8414-325AA45E6F57}"/>
    <dgm:cxn modelId="{BB8DF874-B919-431D-8A08-4C74E08268BA}" srcId="{F3B6B323-F76B-42D8-BA43-E8502CE0FBB1}" destId="{C465F0B9-6120-4DB3-958B-4D45833D072F}" srcOrd="1" destOrd="0" parTransId="{B7A82CCC-F198-4918-9133-996B395268C1}" sibTransId="{7E605A3F-0279-4897-8191-4BB1F75EE2B1}"/>
    <dgm:cxn modelId="{A25F0D76-49E0-4BA3-8021-CA4857243740}" srcId="{48529896-8B37-42E9-80E5-A053C0F818FD}" destId="{F3B6B323-F76B-42D8-BA43-E8502CE0FBB1}" srcOrd="0" destOrd="0" parTransId="{B00C2E7E-2FF6-480B-BBD0-41B374C3A646}" sibTransId="{A6281DFF-041F-4DD2-AAF0-24B5EBFAFF93}"/>
    <dgm:cxn modelId="{C546477D-2442-48C2-A3D1-84BB13BD5F0A}" type="presOf" srcId="{B81F277F-C169-4B4A-B698-7E645BEBED8B}" destId="{F05EF97F-6D85-4944-9A2E-671B8BAB040E}" srcOrd="0" destOrd="1" presId="urn:microsoft.com/office/officeart/2005/8/layout/vList5"/>
    <dgm:cxn modelId="{70AA7489-69E7-4A67-992E-A069C35A36A6}" srcId="{78046532-E5FE-4BEB-8371-1D821A2D8739}" destId="{50335192-8345-40C6-9EAC-439EA5879475}" srcOrd="2" destOrd="0" parTransId="{2C3244D5-329A-40E7-96FE-785AC42C4CD6}" sibTransId="{9ECEA4F2-D261-4D1A-948F-23F783011DBF}"/>
    <dgm:cxn modelId="{05A80E8B-D77A-42CC-80B3-B7C3A9DD825C}" srcId="{78046532-E5FE-4BEB-8371-1D821A2D8739}" destId="{B81F277F-C169-4B4A-B698-7E645BEBED8B}" srcOrd="1" destOrd="0" parTransId="{41B857B0-F733-4C9C-A8FD-D2F649A451DF}" sibTransId="{22EB98F9-58E3-47A4-8835-D547454418A4}"/>
    <dgm:cxn modelId="{544243A1-55AB-42AA-BEC8-B3DA0A8A669C}" type="presOf" srcId="{48529896-8B37-42E9-80E5-A053C0F818FD}" destId="{3C877154-93F3-4A16-8D14-04D19670B860}" srcOrd="0" destOrd="0" presId="urn:microsoft.com/office/officeart/2005/8/layout/vList5"/>
    <dgm:cxn modelId="{63F2CCA4-A936-4C5C-8935-706185A71DCA}" type="presOf" srcId="{78046532-E5FE-4BEB-8371-1D821A2D8739}" destId="{F7400E0A-7F13-420D-9465-27F54DA65F98}" srcOrd="0" destOrd="0" presId="urn:microsoft.com/office/officeart/2005/8/layout/vList5"/>
    <dgm:cxn modelId="{E02490D3-9DF6-4B56-A7D7-0663DC96A7F6}" type="presOf" srcId="{C465F0B9-6120-4DB3-958B-4D45833D072F}" destId="{38CCD8DF-A39D-4060-9D0F-5381D9EA5C82}" srcOrd="0" destOrd="1" presId="urn:microsoft.com/office/officeart/2005/8/layout/vList5"/>
    <dgm:cxn modelId="{7E7B58E9-F524-40B7-A703-2E65CCB2F370}" srcId="{F3B6B323-F76B-42D8-BA43-E8502CE0FBB1}" destId="{A0FD4BD9-33E2-4A69-B6F3-FB7D7A68CD32}" srcOrd="2" destOrd="0" parTransId="{7AFCCE50-4028-4B7E-8A05-EED00524EE3D}" sibTransId="{6D93D3A2-01B5-44C2-866C-30433D9E2C64}"/>
    <dgm:cxn modelId="{21AC4C7E-0448-43C3-B971-095EFEF796D7}" type="presParOf" srcId="{3C877154-93F3-4A16-8D14-04D19670B860}" destId="{D5DAB6AF-5594-4646-B066-355ABECF7E5D}" srcOrd="0" destOrd="0" presId="urn:microsoft.com/office/officeart/2005/8/layout/vList5"/>
    <dgm:cxn modelId="{451E2B66-CCD3-4B3A-BBC9-8613453EBA71}" type="presParOf" srcId="{D5DAB6AF-5594-4646-B066-355ABECF7E5D}" destId="{1D3B058D-3BE7-4EC5-98BF-9F1BB979F3E8}" srcOrd="0" destOrd="0" presId="urn:microsoft.com/office/officeart/2005/8/layout/vList5"/>
    <dgm:cxn modelId="{1832D634-5EA2-4D18-81CA-C46482FB1414}" type="presParOf" srcId="{D5DAB6AF-5594-4646-B066-355ABECF7E5D}" destId="{38CCD8DF-A39D-4060-9D0F-5381D9EA5C82}" srcOrd="1" destOrd="0" presId="urn:microsoft.com/office/officeart/2005/8/layout/vList5"/>
    <dgm:cxn modelId="{1355C1F4-C6C4-420A-88C4-96EBE899A626}" type="presParOf" srcId="{3C877154-93F3-4A16-8D14-04D19670B860}" destId="{54643663-D6D5-413B-9A15-875128BB5130}" srcOrd="1" destOrd="0" presId="urn:microsoft.com/office/officeart/2005/8/layout/vList5"/>
    <dgm:cxn modelId="{D2D70E36-A55C-4182-8E86-A87DC2C48382}" type="presParOf" srcId="{3C877154-93F3-4A16-8D14-04D19670B860}" destId="{9D4B8B9B-7315-4E61-A075-7C85727CFA91}" srcOrd="2" destOrd="0" presId="urn:microsoft.com/office/officeart/2005/8/layout/vList5"/>
    <dgm:cxn modelId="{36F35F6D-3B70-4309-9D43-DC6B5CD7CDD7}" type="presParOf" srcId="{9D4B8B9B-7315-4E61-A075-7C85727CFA91}" destId="{F7400E0A-7F13-420D-9465-27F54DA65F98}" srcOrd="0" destOrd="0" presId="urn:microsoft.com/office/officeart/2005/8/layout/vList5"/>
    <dgm:cxn modelId="{401E1C5C-8946-4674-BB51-08B7696E7765}" type="presParOf" srcId="{9D4B8B9B-7315-4E61-A075-7C85727CFA91}" destId="{F05EF97F-6D85-4944-9A2E-671B8BAB040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D8DAE6-C3E3-4E65-9B37-F94E4734194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F2BC8A-F30D-486F-A442-61A47A4A61E0}">
      <dgm:prSet/>
      <dgm:spPr/>
      <dgm:t>
        <a:bodyPr/>
        <a:lstStyle/>
        <a:p>
          <a:r>
            <a:rPr lang="en-US" b="1"/>
            <a:t>Gender Impacts on Digital Learning</a:t>
          </a:r>
          <a:endParaRPr lang="en-US"/>
        </a:p>
      </dgm:t>
    </dgm:pt>
    <dgm:pt modelId="{F44037EA-9DA1-4BDD-BC7A-2AF9A5AFF251}" type="parTrans" cxnId="{3D546C84-6BF2-44D8-A3F9-09965C7EDE08}">
      <dgm:prSet/>
      <dgm:spPr/>
      <dgm:t>
        <a:bodyPr/>
        <a:lstStyle/>
        <a:p>
          <a:endParaRPr lang="en-US"/>
        </a:p>
      </dgm:t>
    </dgm:pt>
    <dgm:pt modelId="{FA0BE0E7-B343-49AD-BFC5-35618455FAEC}" type="sibTrans" cxnId="{3D546C84-6BF2-44D8-A3F9-09965C7EDE08}">
      <dgm:prSet/>
      <dgm:spPr/>
      <dgm:t>
        <a:bodyPr/>
        <a:lstStyle/>
        <a:p>
          <a:endParaRPr lang="en-US"/>
        </a:p>
      </dgm:t>
    </dgm:pt>
    <dgm:pt modelId="{8ACF3EC0-2F0F-40BB-AF67-69E57B6F589D}">
      <dgm:prSet/>
      <dgm:spPr/>
      <dgm:t>
        <a:bodyPr/>
        <a:lstStyle/>
        <a:p>
          <a:r>
            <a:rPr lang="en-US" u="sng"/>
            <a:t>Accessibility &amp; Economic Differences</a:t>
          </a:r>
          <a:endParaRPr lang="en-US"/>
        </a:p>
      </dgm:t>
    </dgm:pt>
    <dgm:pt modelId="{E11FFEF6-BE94-404C-9575-172F5D9E126F}" type="parTrans" cxnId="{44D65906-E531-4EDA-9695-D8139C145049}">
      <dgm:prSet/>
      <dgm:spPr/>
      <dgm:t>
        <a:bodyPr/>
        <a:lstStyle/>
        <a:p>
          <a:endParaRPr lang="en-US"/>
        </a:p>
      </dgm:t>
    </dgm:pt>
    <dgm:pt modelId="{6209134E-EBC7-4FEB-A14B-0D1C2277C6A0}" type="sibTrans" cxnId="{44D65906-E531-4EDA-9695-D8139C145049}">
      <dgm:prSet/>
      <dgm:spPr/>
      <dgm:t>
        <a:bodyPr/>
        <a:lstStyle/>
        <a:p>
          <a:endParaRPr lang="en-US"/>
        </a:p>
      </dgm:t>
    </dgm:pt>
    <dgm:pt modelId="{F3D0E783-6230-4EC1-9ACA-5C5EB1DAAC9A}">
      <dgm:prSet/>
      <dgm:spPr/>
      <dgm:t>
        <a:bodyPr/>
        <a:lstStyle/>
        <a:p>
          <a:r>
            <a:rPr lang="en-US"/>
            <a:t>Men more represented in high-income brackets</a:t>
          </a:r>
        </a:p>
      </dgm:t>
    </dgm:pt>
    <dgm:pt modelId="{656D5D4C-380D-43A5-A249-2D4D1F5BE420}" type="parTrans" cxnId="{07F0932E-ACF9-4EAD-BF59-BE211EF2563E}">
      <dgm:prSet/>
      <dgm:spPr/>
      <dgm:t>
        <a:bodyPr/>
        <a:lstStyle/>
        <a:p>
          <a:endParaRPr lang="en-US"/>
        </a:p>
      </dgm:t>
    </dgm:pt>
    <dgm:pt modelId="{00557FD9-2588-4C35-AE69-B2AD4505F171}" type="sibTrans" cxnId="{07F0932E-ACF9-4EAD-BF59-BE211EF2563E}">
      <dgm:prSet/>
      <dgm:spPr/>
      <dgm:t>
        <a:bodyPr/>
        <a:lstStyle/>
        <a:p>
          <a:endParaRPr lang="en-US"/>
        </a:p>
      </dgm:t>
    </dgm:pt>
    <dgm:pt modelId="{FA1E70D8-B7F3-433C-AF02-6F01D13ABB5D}">
      <dgm:prSet/>
      <dgm:spPr/>
      <dgm:t>
        <a:bodyPr/>
        <a:lstStyle/>
        <a:p>
          <a:r>
            <a:rPr lang="en-US"/>
            <a:t>Women mostly in income “Below 50,000 PKR”</a:t>
          </a:r>
        </a:p>
      </dgm:t>
    </dgm:pt>
    <dgm:pt modelId="{7DF6445F-C74D-44D9-AB74-157570740874}" type="parTrans" cxnId="{0D6E42DB-AAE1-4E2D-B053-6E70CE7CD7C6}">
      <dgm:prSet/>
      <dgm:spPr/>
      <dgm:t>
        <a:bodyPr/>
        <a:lstStyle/>
        <a:p>
          <a:endParaRPr lang="en-US"/>
        </a:p>
      </dgm:t>
    </dgm:pt>
    <dgm:pt modelId="{29A52DB0-A403-4CC8-B171-EDB1026DE25B}" type="sibTrans" cxnId="{0D6E42DB-AAE1-4E2D-B053-6E70CE7CD7C6}">
      <dgm:prSet/>
      <dgm:spPr/>
      <dgm:t>
        <a:bodyPr/>
        <a:lstStyle/>
        <a:p>
          <a:endParaRPr lang="en-US"/>
        </a:p>
      </dgm:t>
    </dgm:pt>
    <dgm:pt modelId="{A55E23EE-6B34-41A3-A819-162145E5D78A}">
      <dgm:prSet/>
      <dgm:spPr/>
      <dgm:t>
        <a:bodyPr/>
        <a:lstStyle/>
        <a:p>
          <a:r>
            <a:rPr lang="en-US"/>
            <a:t>Financial limitations reduce female access to premium tools</a:t>
          </a:r>
          <a:br>
            <a:rPr lang="en-US"/>
          </a:br>
          <a:endParaRPr lang="en-US"/>
        </a:p>
      </dgm:t>
    </dgm:pt>
    <dgm:pt modelId="{1B50614F-073A-4677-8898-AB747A57CC17}" type="parTrans" cxnId="{A927FF88-41E5-44D2-A408-61C95CE4DD63}">
      <dgm:prSet/>
      <dgm:spPr/>
      <dgm:t>
        <a:bodyPr/>
        <a:lstStyle/>
        <a:p>
          <a:endParaRPr lang="en-US"/>
        </a:p>
      </dgm:t>
    </dgm:pt>
    <dgm:pt modelId="{4AD75018-FC0D-43C4-9072-6F53DE119E00}" type="sibTrans" cxnId="{A927FF88-41E5-44D2-A408-61C95CE4DD63}">
      <dgm:prSet/>
      <dgm:spPr/>
      <dgm:t>
        <a:bodyPr/>
        <a:lstStyle/>
        <a:p>
          <a:endParaRPr lang="en-US"/>
        </a:p>
      </dgm:t>
    </dgm:pt>
    <dgm:pt modelId="{DD6989F4-C035-4502-9412-0C1833B1F6E1}">
      <dgm:prSet/>
      <dgm:spPr/>
      <dgm:t>
        <a:bodyPr/>
        <a:lstStyle/>
        <a:p>
          <a:r>
            <a:rPr lang="en-US" u="sng"/>
            <a:t>Motivations &amp; Platform Use</a:t>
          </a:r>
          <a:endParaRPr lang="en-US"/>
        </a:p>
      </dgm:t>
    </dgm:pt>
    <dgm:pt modelId="{02A6414E-DC99-4B5B-BA70-7A09C095E77B}" type="parTrans" cxnId="{D55100D9-7A99-409D-AC4D-680E926BF4DC}">
      <dgm:prSet/>
      <dgm:spPr/>
      <dgm:t>
        <a:bodyPr/>
        <a:lstStyle/>
        <a:p>
          <a:endParaRPr lang="en-US"/>
        </a:p>
      </dgm:t>
    </dgm:pt>
    <dgm:pt modelId="{3624AAE6-CAF4-48C0-87E9-BABDE02469A6}" type="sibTrans" cxnId="{D55100D9-7A99-409D-AC4D-680E926BF4DC}">
      <dgm:prSet/>
      <dgm:spPr/>
      <dgm:t>
        <a:bodyPr/>
        <a:lstStyle/>
        <a:p>
          <a:endParaRPr lang="en-US"/>
        </a:p>
      </dgm:t>
    </dgm:pt>
    <dgm:pt modelId="{2A7FDB6E-F693-43C7-82DC-5A7A2DB1E0EA}">
      <dgm:prSet/>
      <dgm:spPr/>
      <dgm:t>
        <a:bodyPr/>
        <a:lstStyle/>
        <a:p>
          <a:r>
            <a:rPr lang="en-US"/>
            <a:t>Men: career-driven (job, promotion, freelancing)</a:t>
          </a:r>
        </a:p>
      </dgm:t>
    </dgm:pt>
    <dgm:pt modelId="{723BC691-92B6-4E13-9E4F-4454D72D094C}" type="parTrans" cxnId="{265D9B83-8150-4901-8DE9-8A84C46C7E75}">
      <dgm:prSet/>
      <dgm:spPr/>
      <dgm:t>
        <a:bodyPr/>
        <a:lstStyle/>
        <a:p>
          <a:endParaRPr lang="en-US"/>
        </a:p>
      </dgm:t>
    </dgm:pt>
    <dgm:pt modelId="{737030FA-8DA1-4599-9738-F728AB3817E6}" type="sibTrans" cxnId="{265D9B83-8150-4901-8DE9-8A84C46C7E75}">
      <dgm:prSet/>
      <dgm:spPr/>
      <dgm:t>
        <a:bodyPr/>
        <a:lstStyle/>
        <a:p>
          <a:endParaRPr lang="en-US"/>
        </a:p>
      </dgm:t>
    </dgm:pt>
    <dgm:pt modelId="{6B92E01D-8D87-4848-99E3-8C2636C462A5}">
      <dgm:prSet/>
      <dgm:spPr/>
      <dgm:t>
        <a:bodyPr/>
        <a:lstStyle/>
        <a:p>
          <a:r>
            <a:rPr lang="en-US"/>
            <a:t>Women: studies, communication, foundational skill-building</a:t>
          </a:r>
        </a:p>
      </dgm:t>
    </dgm:pt>
    <dgm:pt modelId="{B5D1A372-B73D-45C4-B74C-45792D28444D}" type="parTrans" cxnId="{FD7D89E4-1FC7-4920-988B-0050B1008FB2}">
      <dgm:prSet/>
      <dgm:spPr/>
      <dgm:t>
        <a:bodyPr/>
        <a:lstStyle/>
        <a:p>
          <a:endParaRPr lang="en-US"/>
        </a:p>
      </dgm:t>
    </dgm:pt>
    <dgm:pt modelId="{1D53C198-DA5E-4C5F-B9AB-4219DBA12117}" type="sibTrans" cxnId="{FD7D89E4-1FC7-4920-988B-0050B1008FB2}">
      <dgm:prSet/>
      <dgm:spPr/>
      <dgm:t>
        <a:bodyPr/>
        <a:lstStyle/>
        <a:p>
          <a:endParaRPr lang="en-US"/>
        </a:p>
      </dgm:t>
    </dgm:pt>
    <dgm:pt modelId="{A3FEE56C-A30A-4EE7-866F-F35727267A12}">
      <dgm:prSet/>
      <dgm:spPr/>
      <dgm:t>
        <a:bodyPr/>
        <a:lstStyle/>
        <a:p>
          <a:r>
            <a:rPr lang="en-US"/>
            <a:t>Women rely heavily on YouTube &amp; DigiSkills</a:t>
          </a:r>
          <a:br>
            <a:rPr lang="en-US"/>
          </a:br>
          <a:endParaRPr lang="en-US"/>
        </a:p>
      </dgm:t>
    </dgm:pt>
    <dgm:pt modelId="{E352B3E9-1271-4525-AF4A-77407F7F265D}" type="parTrans" cxnId="{64FA81F2-2536-440E-91E5-AB32F327D2A5}">
      <dgm:prSet/>
      <dgm:spPr/>
      <dgm:t>
        <a:bodyPr/>
        <a:lstStyle/>
        <a:p>
          <a:endParaRPr lang="en-US"/>
        </a:p>
      </dgm:t>
    </dgm:pt>
    <dgm:pt modelId="{9B66D75B-6934-4D24-8529-6648FAF414D0}" type="sibTrans" cxnId="{64FA81F2-2536-440E-91E5-AB32F327D2A5}">
      <dgm:prSet/>
      <dgm:spPr/>
      <dgm:t>
        <a:bodyPr/>
        <a:lstStyle/>
        <a:p>
          <a:endParaRPr lang="en-US"/>
        </a:p>
      </dgm:t>
    </dgm:pt>
    <dgm:pt modelId="{3EA4C6F9-D6B2-4FE9-BA41-0D2D6EE6319F}">
      <dgm:prSet/>
      <dgm:spPr/>
      <dgm:t>
        <a:bodyPr/>
        <a:lstStyle/>
        <a:p>
          <a:r>
            <a:rPr lang="en-US" u="sng"/>
            <a:t>Trust &amp; Confidence Barriers</a:t>
          </a:r>
          <a:endParaRPr lang="en-US"/>
        </a:p>
      </dgm:t>
    </dgm:pt>
    <dgm:pt modelId="{A95C246A-DBBA-4FC9-96E4-84127BAC85C0}" type="parTrans" cxnId="{747207A9-99DF-4BEA-9533-1983F2A2E9C6}">
      <dgm:prSet/>
      <dgm:spPr/>
      <dgm:t>
        <a:bodyPr/>
        <a:lstStyle/>
        <a:p>
          <a:endParaRPr lang="en-US"/>
        </a:p>
      </dgm:t>
    </dgm:pt>
    <dgm:pt modelId="{474F75E6-A5E4-47C0-A9DE-5DAAD88280D0}" type="sibTrans" cxnId="{747207A9-99DF-4BEA-9533-1983F2A2E9C6}">
      <dgm:prSet/>
      <dgm:spPr/>
      <dgm:t>
        <a:bodyPr/>
        <a:lstStyle/>
        <a:p>
          <a:endParaRPr lang="en-US"/>
        </a:p>
      </dgm:t>
    </dgm:pt>
    <dgm:pt modelId="{74FE207E-368A-4D82-8935-E9B3CF440A24}">
      <dgm:prSet/>
      <dgm:spPr/>
      <dgm:t>
        <a:bodyPr/>
        <a:lstStyle/>
        <a:p>
          <a:r>
            <a:rPr lang="en-US"/>
            <a:t>Both genders distrust online payments</a:t>
          </a:r>
        </a:p>
      </dgm:t>
    </dgm:pt>
    <dgm:pt modelId="{9F680587-83D9-4CAD-A72A-806DA2C80EEE}" type="parTrans" cxnId="{3CBC4829-30D6-43E1-A2F7-BE98C9F89F10}">
      <dgm:prSet/>
      <dgm:spPr/>
      <dgm:t>
        <a:bodyPr/>
        <a:lstStyle/>
        <a:p>
          <a:endParaRPr lang="en-US"/>
        </a:p>
      </dgm:t>
    </dgm:pt>
    <dgm:pt modelId="{C65A3261-E894-48AC-B2D0-A6DA630CB9D7}" type="sibTrans" cxnId="{3CBC4829-30D6-43E1-A2F7-BE98C9F89F10}">
      <dgm:prSet/>
      <dgm:spPr/>
      <dgm:t>
        <a:bodyPr/>
        <a:lstStyle/>
        <a:p>
          <a:endParaRPr lang="en-US"/>
        </a:p>
      </dgm:t>
    </dgm:pt>
    <dgm:pt modelId="{155B2E1E-F110-4B5D-8645-A7466E74E2E3}">
      <dgm:prSet/>
      <dgm:spPr/>
      <dgm:t>
        <a:bodyPr/>
        <a:lstStyle/>
        <a:p>
          <a:r>
            <a:rPr lang="en-US"/>
            <a:t>Women affected more due to financial risk</a:t>
          </a:r>
        </a:p>
      </dgm:t>
    </dgm:pt>
    <dgm:pt modelId="{ADB77BB8-0E0F-4D62-A72C-D182C409BC17}" type="parTrans" cxnId="{D3A7EAA5-5C6B-4EE5-BD38-A86AB64D5E16}">
      <dgm:prSet/>
      <dgm:spPr/>
      <dgm:t>
        <a:bodyPr/>
        <a:lstStyle/>
        <a:p>
          <a:endParaRPr lang="en-US"/>
        </a:p>
      </dgm:t>
    </dgm:pt>
    <dgm:pt modelId="{F42F9187-4D27-4706-943B-1A17F0F13506}" type="sibTrans" cxnId="{D3A7EAA5-5C6B-4EE5-BD38-A86AB64D5E16}">
      <dgm:prSet/>
      <dgm:spPr/>
      <dgm:t>
        <a:bodyPr/>
        <a:lstStyle/>
        <a:p>
          <a:endParaRPr lang="en-US"/>
        </a:p>
      </dgm:t>
    </dgm:pt>
    <dgm:pt modelId="{D7907788-A53D-4463-AA40-E741660C45EE}">
      <dgm:prSet/>
      <dgm:spPr/>
      <dgm:t>
        <a:bodyPr/>
        <a:lstStyle/>
        <a:p>
          <a:r>
            <a:rPr lang="en-US"/>
            <a:t>Preference for free, low-risk platforms</a:t>
          </a:r>
          <a:br>
            <a:rPr lang="en-US"/>
          </a:br>
          <a:endParaRPr lang="en-US"/>
        </a:p>
      </dgm:t>
    </dgm:pt>
    <dgm:pt modelId="{314C84AA-7735-429B-91D7-6FFEC20E0808}" type="parTrans" cxnId="{FEEE06E7-514D-4C8F-8F73-74C014385128}">
      <dgm:prSet/>
      <dgm:spPr/>
      <dgm:t>
        <a:bodyPr/>
        <a:lstStyle/>
        <a:p>
          <a:endParaRPr lang="en-US"/>
        </a:p>
      </dgm:t>
    </dgm:pt>
    <dgm:pt modelId="{2B25EBEE-41F0-4EBD-A9D3-37E395E2EE80}" type="sibTrans" cxnId="{FEEE06E7-514D-4C8F-8F73-74C014385128}">
      <dgm:prSet/>
      <dgm:spPr/>
      <dgm:t>
        <a:bodyPr/>
        <a:lstStyle/>
        <a:p>
          <a:endParaRPr lang="en-US"/>
        </a:p>
      </dgm:t>
    </dgm:pt>
    <dgm:pt modelId="{238B295D-1BB9-48D5-9DBD-AD2D9791489D}" type="pres">
      <dgm:prSet presAssocID="{57D8DAE6-C3E3-4E65-9B37-F94E4734194E}" presName="linear" presStyleCnt="0">
        <dgm:presLayoutVars>
          <dgm:animLvl val="lvl"/>
          <dgm:resizeHandles val="exact"/>
        </dgm:presLayoutVars>
      </dgm:prSet>
      <dgm:spPr/>
    </dgm:pt>
    <dgm:pt modelId="{E579AF7E-EE9A-4E22-B7D2-09515B2FEB44}" type="pres">
      <dgm:prSet presAssocID="{F4F2BC8A-F30D-486F-A442-61A47A4A61E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74AE7A-65C9-4BEF-9583-7F604F67C22C}" type="pres">
      <dgm:prSet presAssocID="{FA0BE0E7-B343-49AD-BFC5-35618455FAEC}" presName="spacer" presStyleCnt="0"/>
      <dgm:spPr/>
    </dgm:pt>
    <dgm:pt modelId="{6C3A3712-2A3E-4E43-8015-D09769B06324}" type="pres">
      <dgm:prSet presAssocID="{8ACF3EC0-2F0F-40BB-AF67-69E57B6F589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22B770-25F7-4AAB-9DB4-8868C8E245E7}" type="pres">
      <dgm:prSet presAssocID="{8ACF3EC0-2F0F-40BB-AF67-69E57B6F589D}" presName="childText" presStyleLbl="revTx" presStyleIdx="0" presStyleCnt="3">
        <dgm:presLayoutVars>
          <dgm:bulletEnabled val="1"/>
        </dgm:presLayoutVars>
      </dgm:prSet>
      <dgm:spPr/>
    </dgm:pt>
    <dgm:pt modelId="{9B35B88A-2CEF-4B0A-A1AC-400A7B2415B7}" type="pres">
      <dgm:prSet presAssocID="{DD6989F4-C035-4502-9412-0C1833B1F6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594739-3358-490E-89BC-5FCE88ABA7FA}" type="pres">
      <dgm:prSet presAssocID="{DD6989F4-C035-4502-9412-0C1833B1F6E1}" presName="childText" presStyleLbl="revTx" presStyleIdx="1" presStyleCnt="3">
        <dgm:presLayoutVars>
          <dgm:bulletEnabled val="1"/>
        </dgm:presLayoutVars>
      </dgm:prSet>
      <dgm:spPr/>
    </dgm:pt>
    <dgm:pt modelId="{5EA60528-02CC-4ED9-9544-0E1E4838D706}" type="pres">
      <dgm:prSet presAssocID="{3EA4C6F9-D6B2-4FE9-BA41-0D2D6EE6319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9735104-FCF3-4840-B7F1-FAD58D7652DE}" type="pres">
      <dgm:prSet presAssocID="{3EA4C6F9-D6B2-4FE9-BA41-0D2D6EE6319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4D65906-E531-4EDA-9695-D8139C145049}" srcId="{57D8DAE6-C3E3-4E65-9B37-F94E4734194E}" destId="{8ACF3EC0-2F0F-40BB-AF67-69E57B6F589D}" srcOrd="1" destOrd="0" parTransId="{E11FFEF6-BE94-404C-9575-172F5D9E126F}" sibTransId="{6209134E-EBC7-4FEB-A14B-0D1C2277C6A0}"/>
    <dgm:cxn modelId="{09690A08-F102-4348-80AA-8C40E156342A}" type="presOf" srcId="{6B92E01D-8D87-4848-99E3-8C2636C462A5}" destId="{FA594739-3358-490E-89BC-5FCE88ABA7FA}" srcOrd="0" destOrd="1" presId="urn:microsoft.com/office/officeart/2005/8/layout/vList2"/>
    <dgm:cxn modelId="{47A82E19-674F-430F-BBAE-957FCE97FC68}" type="presOf" srcId="{8ACF3EC0-2F0F-40BB-AF67-69E57B6F589D}" destId="{6C3A3712-2A3E-4E43-8015-D09769B06324}" srcOrd="0" destOrd="0" presId="urn:microsoft.com/office/officeart/2005/8/layout/vList2"/>
    <dgm:cxn modelId="{3CBC4829-30D6-43E1-A2F7-BE98C9F89F10}" srcId="{3EA4C6F9-D6B2-4FE9-BA41-0D2D6EE6319F}" destId="{74FE207E-368A-4D82-8935-E9B3CF440A24}" srcOrd="0" destOrd="0" parTransId="{9F680587-83D9-4CAD-A72A-806DA2C80EEE}" sibTransId="{C65A3261-E894-48AC-B2D0-A6DA630CB9D7}"/>
    <dgm:cxn modelId="{07F0932E-ACF9-4EAD-BF59-BE211EF2563E}" srcId="{8ACF3EC0-2F0F-40BB-AF67-69E57B6F589D}" destId="{F3D0E783-6230-4EC1-9ACA-5C5EB1DAAC9A}" srcOrd="0" destOrd="0" parTransId="{656D5D4C-380D-43A5-A249-2D4D1F5BE420}" sibTransId="{00557FD9-2588-4C35-AE69-B2AD4505F171}"/>
    <dgm:cxn modelId="{8AD3A72E-EADC-473B-9D59-B3A9AF0D2D3B}" type="presOf" srcId="{D7907788-A53D-4463-AA40-E741660C45EE}" destId="{C9735104-FCF3-4840-B7F1-FAD58D7652DE}" srcOrd="0" destOrd="2" presId="urn:microsoft.com/office/officeart/2005/8/layout/vList2"/>
    <dgm:cxn modelId="{8830212F-1D92-4B21-99FB-E9A7C7DAA619}" type="presOf" srcId="{155B2E1E-F110-4B5D-8645-A7466E74E2E3}" destId="{C9735104-FCF3-4840-B7F1-FAD58D7652DE}" srcOrd="0" destOrd="1" presId="urn:microsoft.com/office/officeart/2005/8/layout/vList2"/>
    <dgm:cxn modelId="{4C365944-ECE8-4A7F-A94D-B7FE3F966FA2}" type="presOf" srcId="{2A7FDB6E-F693-43C7-82DC-5A7A2DB1E0EA}" destId="{FA594739-3358-490E-89BC-5FCE88ABA7FA}" srcOrd="0" destOrd="0" presId="urn:microsoft.com/office/officeart/2005/8/layout/vList2"/>
    <dgm:cxn modelId="{8FBF616B-2A96-418D-B958-28B7CED2BEDF}" type="presOf" srcId="{3EA4C6F9-D6B2-4FE9-BA41-0D2D6EE6319F}" destId="{5EA60528-02CC-4ED9-9544-0E1E4838D706}" srcOrd="0" destOrd="0" presId="urn:microsoft.com/office/officeart/2005/8/layout/vList2"/>
    <dgm:cxn modelId="{18E13D57-3927-4F13-8D15-7A0A6EF67CE0}" type="presOf" srcId="{F3D0E783-6230-4EC1-9ACA-5C5EB1DAAC9A}" destId="{A622B770-25F7-4AAB-9DB4-8868C8E245E7}" srcOrd="0" destOrd="0" presId="urn:microsoft.com/office/officeart/2005/8/layout/vList2"/>
    <dgm:cxn modelId="{265D9B83-8150-4901-8DE9-8A84C46C7E75}" srcId="{DD6989F4-C035-4502-9412-0C1833B1F6E1}" destId="{2A7FDB6E-F693-43C7-82DC-5A7A2DB1E0EA}" srcOrd="0" destOrd="0" parTransId="{723BC691-92B6-4E13-9E4F-4454D72D094C}" sibTransId="{737030FA-8DA1-4599-9738-F728AB3817E6}"/>
    <dgm:cxn modelId="{BE99D883-D148-4283-887F-3332B63898FC}" type="presOf" srcId="{A55E23EE-6B34-41A3-A819-162145E5D78A}" destId="{A622B770-25F7-4AAB-9DB4-8868C8E245E7}" srcOrd="0" destOrd="2" presId="urn:microsoft.com/office/officeart/2005/8/layout/vList2"/>
    <dgm:cxn modelId="{3D546C84-6BF2-44D8-A3F9-09965C7EDE08}" srcId="{57D8DAE6-C3E3-4E65-9B37-F94E4734194E}" destId="{F4F2BC8A-F30D-486F-A442-61A47A4A61E0}" srcOrd="0" destOrd="0" parTransId="{F44037EA-9DA1-4BDD-BC7A-2AF9A5AFF251}" sibTransId="{FA0BE0E7-B343-49AD-BFC5-35618455FAEC}"/>
    <dgm:cxn modelId="{A927FF88-41E5-44D2-A408-61C95CE4DD63}" srcId="{8ACF3EC0-2F0F-40BB-AF67-69E57B6F589D}" destId="{A55E23EE-6B34-41A3-A819-162145E5D78A}" srcOrd="2" destOrd="0" parTransId="{1B50614F-073A-4677-8898-AB747A57CC17}" sibTransId="{4AD75018-FC0D-43C4-9072-6F53DE119E00}"/>
    <dgm:cxn modelId="{18B9F3A0-CE90-45B7-B35B-82EA9C828801}" type="presOf" srcId="{FA1E70D8-B7F3-433C-AF02-6F01D13ABB5D}" destId="{A622B770-25F7-4AAB-9DB4-8868C8E245E7}" srcOrd="0" destOrd="1" presId="urn:microsoft.com/office/officeart/2005/8/layout/vList2"/>
    <dgm:cxn modelId="{D3A7EAA5-5C6B-4EE5-BD38-A86AB64D5E16}" srcId="{3EA4C6F9-D6B2-4FE9-BA41-0D2D6EE6319F}" destId="{155B2E1E-F110-4B5D-8645-A7466E74E2E3}" srcOrd="1" destOrd="0" parTransId="{ADB77BB8-0E0F-4D62-A72C-D182C409BC17}" sibTransId="{F42F9187-4D27-4706-943B-1A17F0F13506}"/>
    <dgm:cxn modelId="{747207A9-99DF-4BEA-9533-1983F2A2E9C6}" srcId="{57D8DAE6-C3E3-4E65-9B37-F94E4734194E}" destId="{3EA4C6F9-D6B2-4FE9-BA41-0D2D6EE6319F}" srcOrd="3" destOrd="0" parTransId="{A95C246A-DBBA-4FC9-96E4-84127BAC85C0}" sibTransId="{474F75E6-A5E4-47C0-A9DE-5DAAD88280D0}"/>
    <dgm:cxn modelId="{8B580AAF-F5FA-4005-AE41-92085C965D08}" type="presOf" srcId="{57D8DAE6-C3E3-4E65-9B37-F94E4734194E}" destId="{238B295D-1BB9-48D5-9DBD-AD2D9791489D}" srcOrd="0" destOrd="0" presId="urn:microsoft.com/office/officeart/2005/8/layout/vList2"/>
    <dgm:cxn modelId="{BCDC5BBB-F88A-4C14-9552-DD04754B1BA0}" type="presOf" srcId="{F4F2BC8A-F30D-486F-A442-61A47A4A61E0}" destId="{E579AF7E-EE9A-4E22-B7D2-09515B2FEB44}" srcOrd="0" destOrd="0" presId="urn:microsoft.com/office/officeart/2005/8/layout/vList2"/>
    <dgm:cxn modelId="{E98159CC-5804-4EC1-ADF6-031306E310FD}" type="presOf" srcId="{DD6989F4-C035-4502-9412-0C1833B1F6E1}" destId="{9B35B88A-2CEF-4B0A-A1AC-400A7B2415B7}" srcOrd="0" destOrd="0" presId="urn:microsoft.com/office/officeart/2005/8/layout/vList2"/>
    <dgm:cxn modelId="{8C1DB5D5-6FD3-4DFE-A9E3-8D3B3E750085}" type="presOf" srcId="{A3FEE56C-A30A-4EE7-866F-F35727267A12}" destId="{FA594739-3358-490E-89BC-5FCE88ABA7FA}" srcOrd="0" destOrd="2" presId="urn:microsoft.com/office/officeart/2005/8/layout/vList2"/>
    <dgm:cxn modelId="{D55100D9-7A99-409D-AC4D-680E926BF4DC}" srcId="{57D8DAE6-C3E3-4E65-9B37-F94E4734194E}" destId="{DD6989F4-C035-4502-9412-0C1833B1F6E1}" srcOrd="2" destOrd="0" parTransId="{02A6414E-DC99-4B5B-BA70-7A09C095E77B}" sibTransId="{3624AAE6-CAF4-48C0-87E9-BABDE02469A6}"/>
    <dgm:cxn modelId="{0D6E42DB-AAE1-4E2D-B053-6E70CE7CD7C6}" srcId="{8ACF3EC0-2F0F-40BB-AF67-69E57B6F589D}" destId="{FA1E70D8-B7F3-433C-AF02-6F01D13ABB5D}" srcOrd="1" destOrd="0" parTransId="{7DF6445F-C74D-44D9-AB74-157570740874}" sibTransId="{29A52DB0-A403-4CC8-B171-EDB1026DE25B}"/>
    <dgm:cxn modelId="{77766FE3-552B-43BD-B65F-FB2FAC63171C}" type="presOf" srcId="{74FE207E-368A-4D82-8935-E9B3CF440A24}" destId="{C9735104-FCF3-4840-B7F1-FAD58D7652DE}" srcOrd="0" destOrd="0" presId="urn:microsoft.com/office/officeart/2005/8/layout/vList2"/>
    <dgm:cxn modelId="{FD7D89E4-1FC7-4920-988B-0050B1008FB2}" srcId="{DD6989F4-C035-4502-9412-0C1833B1F6E1}" destId="{6B92E01D-8D87-4848-99E3-8C2636C462A5}" srcOrd="1" destOrd="0" parTransId="{B5D1A372-B73D-45C4-B74C-45792D28444D}" sibTransId="{1D53C198-DA5E-4C5F-B9AB-4219DBA12117}"/>
    <dgm:cxn modelId="{FEEE06E7-514D-4C8F-8F73-74C014385128}" srcId="{3EA4C6F9-D6B2-4FE9-BA41-0D2D6EE6319F}" destId="{D7907788-A53D-4463-AA40-E741660C45EE}" srcOrd="2" destOrd="0" parTransId="{314C84AA-7735-429B-91D7-6FFEC20E0808}" sibTransId="{2B25EBEE-41F0-4EBD-A9D3-37E395E2EE80}"/>
    <dgm:cxn modelId="{64FA81F2-2536-440E-91E5-AB32F327D2A5}" srcId="{DD6989F4-C035-4502-9412-0C1833B1F6E1}" destId="{A3FEE56C-A30A-4EE7-866F-F35727267A12}" srcOrd="2" destOrd="0" parTransId="{E352B3E9-1271-4525-AF4A-77407F7F265D}" sibTransId="{9B66D75B-6934-4D24-8529-6648FAF414D0}"/>
    <dgm:cxn modelId="{F7AD604E-B486-43FC-9094-B835B3ACDEBC}" type="presParOf" srcId="{238B295D-1BB9-48D5-9DBD-AD2D9791489D}" destId="{E579AF7E-EE9A-4E22-B7D2-09515B2FEB44}" srcOrd="0" destOrd="0" presId="urn:microsoft.com/office/officeart/2005/8/layout/vList2"/>
    <dgm:cxn modelId="{3F12F412-F761-40EF-AD0C-B484BF9A24AD}" type="presParOf" srcId="{238B295D-1BB9-48D5-9DBD-AD2D9791489D}" destId="{F274AE7A-65C9-4BEF-9583-7F604F67C22C}" srcOrd="1" destOrd="0" presId="urn:microsoft.com/office/officeart/2005/8/layout/vList2"/>
    <dgm:cxn modelId="{58A22A4B-4CE8-4095-AD1D-94539CEC1D4C}" type="presParOf" srcId="{238B295D-1BB9-48D5-9DBD-AD2D9791489D}" destId="{6C3A3712-2A3E-4E43-8015-D09769B06324}" srcOrd="2" destOrd="0" presId="urn:microsoft.com/office/officeart/2005/8/layout/vList2"/>
    <dgm:cxn modelId="{8E614916-9DEB-40D0-995E-07AEC73DA131}" type="presParOf" srcId="{238B295D-1BB9-48D5-9DBD-AD2D9791489D}" destId="{A622B770-25F7-4AAB-9DB4-8868C8E245E7}" srcOrd="3" destOrd="0" presId="urn:microsoft.com/office/officeart/2005/8/layout/vList2"/>
    <dgm:cxn modelId="{43653B2C-2B09-464D-911C-62A1AB2F6F94}" type="presParOf" srcId="{238B295D-1BB9-48D5-9DBD-AD2D9791489D}" destId="{9B35B88A-2CEF-4B0A-A1AC-400A7B2415B7}" srcOrd="4" destOrd="0" presId="urn:microsoft.com/office/officeart/2005/8/layout/vList2"/>
    <dgm:cxn modelId="{CA6214F6-227F-4CAE-B8AF-3221D0EE0EAB}" type="presParOf" srcId="{238B295D-1BB9-48D5-9DBD-AD2D9791489D}" destId="{FA594739-3358-490E-89BC-5FCE88ABA7FA}" srcOrd="5" destOrd="0" presId="urn:microsoft.com/office/officeart/2005/8/layout/vList2"/>
    <dgm:cxn modelId="{1E2EBA71-8F88-4972-97FF-C1A5C2CC7497}" type="presParOf" srcId="{238B295D-1BB9-48D5-9DBD-AD2D9791489D}" destId="{5EA60528-02CC-4ED9-9544-0E1E4838D706}" srcOrd="6" destOrd="0" presId="urn:microsoft.com/office/officeart/2005/8/layout/vList2"/>
    <dgm:cxn modelId="{CE22ADBC-0D6C-4916-B5D9-A8081149BC55}" type="presParOf" srcId="{238B295D-1BB9-48D5-9DBD-AD2D9791489D}" destId="{C9735104-FCF3-4840-B7F1-FAD58D7652DE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E96D20-98A7-4F1E-A83D-3A368526679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0C76C7F5-11DC-4306-A7C1-C0BE45561A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u="sng"/>
            <a:t>Financial Barriers</a:t>
          </a:r>
          <a:endParaRPr lang="en-US"/>
        </a:p>
      </dgm:t>
    </dgm:pt>
    <dgm:pt modelId="{96FF2BCC-EB2C-4134-9A8F-B7F94091BD93}" type="parTrans" cxnId="{B12590F3-6BE7-405E-963F-F5908B1168BB}">
      <dgm:prSet/>
      <dgm:spPr/>
      <dgm:t>
        <a:bodyPr/>
        <a:lstStyle/>
        <a:p>
          <a:endParaRPr lang="en-US"/>
        </a:p>
      </dgm:t>
    </dgm:pt>
    <dgm:pt modelId="{1D801BC2-0E68-42B9-A1E5-6AF778D71B03}" type="sibTrans" cxnId="{B12590F3-6BE7-405E-963F-F5908B1168BB}">
      <dgm:prSet/>
      <dgm:spPr/>
      <dgm:t>
        <a:bodyPr/>
        <a:lstStyle/>
        <a:p>
          <a:endParaRPr lang="en-US"/>
        </a:p>
      </dgm:t>
    </dgm:pt>
    <dgm:pt modelId="{DFFDAB60-7149-451E-A5E3-B525DCB7C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Cost is the most common reason for avoiding paid courses</a:t>
          </a:r>
        </a:p>
      </dgm:t>
    </dgm:pt>
    <dgm:pt modelId="{A5CF501E-7C2F-4FCF-8DEE-9D9B90F8F7BD}" type="parTrans" cxnId="{77DE3DA4-C757-442F-BFF6-1F64FB817B4C}">
      <dgm:prSet/>
      <dgm:spPr/>
      <dgm:t>
        <a:bodyPr/>
        <a:lstStyle/>
        <a:p>
          <a:endParaRPr lang="en-US"/>
        </a:p>
      </dgm:t>
    </dgm:pt>
    <dgm:pt modelId="{5FC0D3EE-D9B8-49A9-ABF0-75C18A7533ED}" type="sibTrans" cxnId="{77DE3DA4-C757-442F-BFF6-1F64FB817B4C}">
      <dgm:prSet/>
      <dgm:spPr/>
      <dgm:t>
        <a:bodyPr/>
        <a:lstStyle/>
        <a:p>
          <a:endParaRPr lang="en-US"/>
        </a:p>
      </dgm:t>
    </dgm:pt>
    <dgm:pt modelId="{E221BB10-5C4F-42C1-9456-52309154F3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reliance on free platforms (YouTube, DigiSkills)</a:t>
          </a:r>
        </a:p>
      </dgm:t>
    </dgm:pt>
    <dgm:pt modelId="{C918835D-679C-41EF-94BC-F652690E377B}" type="parTrans" cxnId="{7968139D-4788-4373-8118-964DED5809AE}">
      <dgm:prSet/>
      <dgm:spPr/>
      <dgm:t>
        <a:bodyPr/>
        <a:lstStyle/>
        <a:p>
          <a:endParaRPr lang="en-US"/>
        </a:p>
      </dgm:t>
    </dgm:pt>
    <dgm:pt modelId="{A84E80FE-32FF-4BD6-B4D8-FA891DF83910}" type="sibTrans" cxnId="{7968139D-4788-4373-8118-964DED5809AE}">
      <dgm:prSet/>
      <dgm:spPr/>
      <dgm:t>
        <a:bodyPr/>
        <a:lstStyle/>
        <a:p>
          <a:endParaRPr lang="en-US"/>
        </a:p>
      </dgm:t>
    </dgm:pt>
    <dgm:pt modelId="{7E24C519-4A23-487B-88AF-D4772298D4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Certifications locked behind paywalls limit progression</a:t>
          </a:r>
        </a:p>
      </dgm:t>
    </dgm:pt>
    <dgm:pt modelId="{DF8BBB49-9B71-4AE6-B745-3BF2E03349BD}" type="parTrans" cxnId="{115B780C-93C7-4657-AEAC-AE2D03C87882}">
      <dgm:prSet/>
      <dgm:spPr/>
      <dgm:t>
        <a:bodyPr/>
        <a:lstStyle/>
        <a:p>
          <a:endParaRPr lang="en-US"/>
        </a:p>
      </dgm:t>
    </dgm:pt>
    <dgm:pt modelId="{BB29C6D9-8262-4C32-B09C-D83E2213C089}" type="sibTrans" cxnId="{115B780C-93C7-4657-AEAC-AE2D03C87882}">
      <dgm:prSet/>
      <dgm:spPr/>
      <dgm:t>
        <a:bodyPr/>
        <a:lstStyle/>
        <a:p>
          <a:endParaRPr lang="en-US"/>
        </a:p>
      </dgm:t>
    </dgm:pt>
    <dgm:pt modelId="{8B8FA811-1F2C-4D3B-92E0-3653CB9ADC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u="sng"/>
            <a:t>Technical Difficulties</a:t>
          </a:r>
          <a:endParaRPr lang="en-US"/>
        </a:p>
      </dgm:t>
    </dgm:pt>
    <dgm:pt modelId="{D5331809-B3A9-4682-B7E7-47CA47054A1A}" type="parTrans" cxnId="{4CBF122C-58B2-4688-8C5D-446B2748C366}">
      <dgm:prSet/>
      <dgm:spPr/>
      <dgm:t>
        <a:bodyPr/>
        <a:lstStyle/>
        <a:p>
          <a:endParaRPr lang="en-US"/>
        </a:p>
      </dgm:t>
    </dgm:pt>
    <dgm:pt modelId="{868B3728-4771-4759-99C7-9DD1753C9CB1}" type="sibTrans" cxnId="{4CBF122C-58B2-4688-8C5D-446B2748C366}">
      <dgm:prSet/>
      <dgm:spPr/>
      <dgm:t>
        <a:bodyPr/>
        <a:lstStyle/>
        <a:p>
          <a:endParaRPr lang="en-US"/>
        </a:p>
      </dgm:t>
    </dgm:pt>
    <dgm:pt modelId="{2B4775A0-2D89-40B1-8F1B-CADABAC04B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Frequent slow speeds, buffering, and connectivity drops</a:t>
          </a:r>
        </a:p>
      </dgm:t>
    </dgm:pt>
    <dgm:pt modelId="{0AABEF7E-434A-4B71-BC20-32FACA995C17}" type="parTrans" cxnId="{C5984B5C-B490-408C-9130-FD0CDB4C0E5D}">
      <dgm:prSet/>
      <dgm:spPr/>
      <dgm:t>
        <a:bodyPr/>
        <a:lstStyle/>
        <a:p>
          <a:endParaRPr lang="en-US"/>
        </a:p>
      </dgm:t>
    </dgm:pt>
    <dgm:pt modelId="{9706D31D-3E36-444E-9B34-1DF650E0A25B}" type="sibTrans" cxnId="{C5984B5C-B490-408C-9130-FD0CDB4C0E5D}">
      <dgm:prSet/>
      <dgm:spPr/>
      <dgm:t>
        <a:bodyPr/>
        <a:lstStyle/>
        <a:p>
          <a:endParaRPr lang="en-US"/>
        </a:p>
      </dgm:t>
    </dgm:pt>
    <dgm:pt modelId="{76BFD05C-E6E4-4B26-9D7E-06B747E188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Regional quality lower (3.36 vs 3.69)</a:t>
          </a:r>
        </a:p>
      </dgm:t>
    </dgm:pt>
    <dgm:pt modelId="{F3BC5AF0-DEE1-4A34-B538-B1DBA22328AF}" type="parTrans" cxnId="{953AC6D8-4876-43A9-8375-12BA8B5E36F0}">
      <dgm:prSet/>
      <dgm:spPr/>
      <dgm:t>
        <a:bodyPr/>
        <a:lstStyle/>
        <a:p>
          <a:endParaRPr lang="en-US"/>
        </a:p>
      </dgm:t>
    </dgm:pt>
    <dgm:pt modelId="{FEDC1415-42C9-4132-B06C-85146DA0D8B3}" type="sibTrans" cxnId="{953AC6D8-4876-43A9-8375-12BA8B5E36F0}">
      <dgm:prSet/>
      <dgm:spPr/>
      <dgm:t>
        <a:bodyPr/>
        <a:lstStyle/>
        <a:p>
          <a:endParaRPr lang="en-US"/>
        </a:p>
      </dgm:t>
    </dgm:pt>
    <dgm:pt modelId="{B819C486-5E94-40EB-94E1-774F5F2D80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Technical issues exceed device or financial complaints</a:t>
          </a:r>
          <a:br>
            <a:rPr lang="en-US"/>
          </a:br>
          <a:endParaRPr lang="en-US"/>
        </a:p>
      </dgm:t>
    </dgm:pt>
    <dgm:pt modelId="{5AB05FBC-D64E-4810-AF2D-C2405515661D}" type="parTrans" cxnId="{54BE400E-B238-4983-AE3B-E0FBC2A0389B}">
      <dgm:prSet/>
      <dgm:spPr/>
      <dgm:t>
        <a:bodyPr/>
        <a:lstStyle/>
        <a:p>
          <a:endParaRPr lang="en-US"/>
        </a:p>
      </dgm:t>
    </dgm:pt>
    <dgm:pt modelId="{C50C6A42-CE78-4D6F-AD9B-7D8DC46A68B9}" type="sibTrans" cxnId="{54BE400E-B238-4983-AE3B-E0FBC2A0389B}">
      <dgm:prSet/>
      <dgm:spPr/>
      <dgm:t>
        <a:bodyPr/>
        <a:lstStyle/>
        <a:p>
          <a:endParaRPr lang="en-US"/>
        </a:p>
      </dgm:t>
    </dgm:pt>
    <dgm:pt modelId="{6BEB73DE-296C-467F-A5C8-C46FF5019D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u="sng"/>
            <a:t>Infrastructural Obstacles</a:t>
          </a:r>
          <a:endParaRPr lang="en-US"/>
        </a:p>
      </dgm:t>
    </dgm:pt>
    <dgm:pt modelId="{6932E149-B23F-4F4B-B60A-879BF59D7569}" type="parTrans" cxnId="{6814B287-B606-40A5-BED9-1F11556C6BDB}">
      <dgm:prSet/>
      <dgm:spPr/>
      <dgm:t>
        <a:bodyPr/>
        <a:lstStyle/>
        <a:p>
          <a:endParaRPr lang="en-US"/>
        </a:p>
      </dgm:t>
    </dgm:pt>
    <dgm:pt modelId="{9BFAE8D6-BD3B-498E-852F-A44468A23675}" type="sibTrans" cxnId="{6814B287-B606-40A5-BED9-1F11556C6BDB}">
      <dgm:prSet/>
      <dgm:spPr/>
      <dgm:t>
        <a:bodyPr/>
        <a:lstStyle/>
        <a:p>
          <a:endParaRPr lang="en-US"/>
        </a:p>
      </dgm:t>
    </dgm:pt>
    <dgm:pt modelId="{8827E1A8-4C4F-4FDF-B830-E4C194EC0E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Regional areas face load shedding, poor reliability</a:t>
          </a:r>
        </a:p>
      </dgm:t>
    </dgm:pt>
    <dgm:pt modelId="{772D5EDF-A258-4E7B-8E9E-EDA01F2DC728}" type="parTrans" cxnId="{F8359C65-B3E5-4FEF-8659-1244D7242398}">
      <dgm:prSet/>
      <dgm:spPr/>
      <dgm:t>
        <a:bodyPr/>
        <a:lstStyle/>
        <a:p>
          <a:endParaRPr lang="en-US"/>
        </a:p>
      </dgm:t>
    </dgm:pt>
    <dgm:pt modelId="{E3DD831E-C871-4D30-B092-9E3F19B3AEC5}" type="sibTrans" cxnId="{F8359C65-B3E5-4FEF-8659-1244D7242398}">
      <dgm:prSet/>
      <dgm:spPr/>
      <dgm:t>
        <a:bodyPr/>
        <a:lstStyle/>
        <a:p>
          <a:endParaRPr lang="en-US"/>
        </a:p>
      </dgm:t>
    </dgm:pt>
    <dgm:pt modelId="{01CD3B35-6B38-4D77-B40F-5BBA7B009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Combined financial + infrastructure issues create compounded disadvantage</a:t>
          </a:r>
        </a:p>
      </dgm:t>
    </dgm:pt>
    <dgm:pt modelId="{2B38A51A-495A-4F50-9303-B0324F7A5A70}" type="parTrans" cxnId="{EF1E3329-39EB-4D72-A6C0-92204E14F008}">
      <dgm:prSet/>
      <dgm:spPr/>
      <dgm:t>
        <a:bodyPr/>
        <a:lstStyle/>
        <a:p>
          <a:endParaRPr lang="en-US"/>
        </a:p>
      </dgm:t>
    </dgm:pt>
    <dgm:pt modelId="{35383EBA-94FE-43FB-A633-77583333BA1F}" type="sibTrans" cxnId="{EF1E3329-39EB-4D72-A6C0-92204E14F008}">
      <dgm:prSet/>
      <dgm:spPr/>
      <dgm:t>
        <a:bodyPr/>
        <a:lstStyle/>
        <a:p>
          <a:endParaRPr lang="en-US"/>
        </a:p>
      </dgm:t>
    </dgm:pt>
    <dgm:pt modelId="{2A86F198-0135-4390-AFEB-44E9F10AE9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barriers push learners toward asynchronous, low-bandwidth options</a:t>
          </a:r>
        </a:p>
      </dgm:t>
    </dgm:pt>
    <dgm:pt modelId="{3961CB8E-D905-4037-A48D-001E084AD610}" type="parTrans" cxnId="{3ED6A902-1749-48EA-A6CF-6DD93E1EEF85}">
      <dgm:prSet/>
      <dgm:spPr/>
      <dgm:t>
        <a:bodyPr/>
        <a:lstStyle/>
        <a:p>
          <a:endParaRPr lang="en-US"/>
        </a:p>
      </dgm:t>
    </dgm:pt>
    <dgm:pt modelId="{31A3872A-2269-4053-8C4D-A4A6C6D122DD}" type="sibTrans" cxnId="{3ED6A902-1749-48EA-A6CF-6DD93E1EEF85}">
      <dgm:prSet/>
      <dgm:spPr/>
      <dgm:t>
        <a:bodyPr/>
        <a:lstStyle/>
        <a:p>
          <a:endParaRPr lang="en-US"/>
        </a:p>
      </dgm:t>
    </dgm:pt>
    <dgm:pt modelId="{DB7DB584-70B3-46BF-A7E7-05C775E86E2E}" type="pres">
      <dgm:prSet presAssocID="{07E96D20-98A7-4F1E-A83D-3A3685266799}" presName="root" presStyleCnt="0">
        <dgm:presLayoutVars>
          <dgm:dir/>
          <dgm:resizeHandles val="exact"/>
        </dgm:presLayoutVars>
      </dgm:prSet>
      <dgm:spPr/>
    </dgm:pt>
    <dgm:pt modelId="{DA65EF61-9149-4897-AA2E-156B10B2E3C6}" type="pres">
      <dgm:prSet presAssocID="{0C76C7F5-11DC-4306-A7C1-C0BE45561AE3}" presName="compNode" presStyleCnt="0"/>
      <dgm:spPr/>
    </dgm:pt>
    <dgm:pt modelId="{59C0962E-61F1-4E0F-82A6-AFA6C0C53224}" type="pres">
      <dgm:prSet presAssocID="{0C76C7F5-11DC-4306-A7C1-C0BE45561A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88A0272-57C7-48D7-B0B4-B707D3BAFB41}" type="pres">
      <dgm:prSet presAssocID="{0C76C7F5-11DC-4306-A7C1-C0BE45561AE3}" presName="iconSpace" presStyleCnt="0"/>
      <dgm:spPr/>
    </dgm:pt>
    <dgm:pt modelId="{92616848-72D3-4512-AF62-5884FFD21E4C}" type="pres">
      <dgm:prSet presAssocID="{0C76C7F5-11DC-4306-A7C1-C0BE45561AE3}" presName="parTx" presStyleLbl="revTx" presStyleIdx="0" presStyleCnt="6">
        <dgm:presLayoutVars>
          <dgm:chMax val="0"/>
          <dgm:chPref val="0"/>
        </dgm:presLayoutVars>
      </dgm:prSet>
      <dgm:spPr/>
    </dgm:pt>
    <dgm:pt modelId="{A0DF3AFD-6CEF-4BD5-B54D-AA2605BC5258}" type="pres">
      <dgm:prSet presAssocID="{0C76C7F5-11DC-4306-A7C1-C0BE45561AE3}" presName="txSpace" presStyleCnt="0"/>
      <dgm:spPr/>
    </dgm:pt>
    <dgm:pt modelId="{EF30DA2E-2EA1-42DF-B9D5-45F8EE5A9189}" type="pres">
      <dgm:prSet presAssocID="{0C76C7F5-11DC-4306-A7C1-C0BE45561AE3}" presName="desTx" presStyleLbl="revTx" presStyleIdx="1" presStyleCnt="6">
        <dgm:presLayoutVars/>
      </dgm:prSet>
      <dgm:spPr/>
    </dgm:pt>
    <dgm:pt modelId="{A65498E8-EC33-4B89-810C-84C11181C91D}" type="pres">
      <dgm:prSet presAssocID="{1D801BC2-0E68-42B9-A1E5-6AF778D71B03}" presName="sibTrans" presStyleCnt="0"/>
      <dgm:spPr/>
    </dgm:pt>
    <dgm:pt modelId="{AFFABB70-94AF-4828-8A57-A53EF8081471}" type="pres">
      <dgm:prSet presAssocID="{8B8FA811-1F2C-4D3B-92E0-3653CB9ADC2E}" presName="compNode" presStyleCnt="0"/>
      <dgm:spPr/>
    </dgm:pt>
    <dgm:pt modelId="{C0B167E1-377F-457E-9440-7CE00F0FE59D}" type="pres">
      <dgm:prSet presAssocID="{8B8FA811-1F2C-4D3B-92E0-3653CB9ADC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80A5413-4796-4BDF-A315-E3193A2CB3A0}" type="pres">
      <dgm:prSet presAssocID="{8B8FA811-1F2C-4D3B-92E0-3653CB9ADC2E}" presName="iconSpace" presStyleCnt="0"/>
      <dgm:spPr/>
    </dgm:pt>
    <dgm:pt modelId="{FA60D8E7-3305-4948-87F5-B68D2DF233E2}" type="pres">
      <dgm:prSet presAssocID="{8B8FA811-1F2C-4D3B-92E0-3653CB9ADC2E}" presName="parTx" presStyleLbl="revTx" presStyleIdx="2" presStyleCnt="6">
        <dgm:presLayoutVars>
          <dgm:chMax val="0"/>
          <dgm:chPref val="0"/>
        </dgm:presLayoutVars>
      </dgm:prSet>
      <dgm:spPr/>
    </dgm:pt>
    <dgm:pt modelId="{53D9F940-EB88-4CCF-82B3-6C3E841224DB}" type="pres">
      <dgm:prSet presAssocID="{8B8FA811-1F2C-4D3B-92E0-3653CB9ADC2E}" presName="txSpace" presStyleCnt="0"/>
      <dgm:spPr/>
    </dgm:pt>
    <dgm:pt modelId="{E08B7CD1-AC67-48A8-A06B-74D8B995BE72}" type="pres">
      <dgm:prSet presAssocID="{8B8FA811-1F2C-4D3B-92E0-3653CB9ADC2E}" presName="desTx" presStyleLbl="revTx" presStyleIdx="3" presStyleCnt="6">
        <dgm:presLayoutVars/>
      </dgm:prSet>
      <dgm:spPr/>
    </dgm:pt>
    <dgm:pt modelId="{7158CB89-E669-475F-B0F8-442D7DE6DAFC}" type="pres">
      <dgm:prSet presAssocID="{868B3728-4771-4759-99C7-9DD1753C9CB1}" presName="sibTrans" presStyleCnt="0"/>
      <dgm:spPr/>
    </dgm:pt>
    <dgm:pt modelId="{F86241EC-6217-4DE7-8245-4343E14015A8}" type="pres">
      <dgm:prSet presAssocID="{6BEB73DE-296C-467F-A5C8-C46FF5019D78}" presName="compNode" presStyleCnt="0"/>
      <dgm:spPr/>
    </dgm:pt>
    <dgm:pt modelId="{06221958-62FB-4DBE-8FC6-5860D73D8A52}" type="pres">
      <dgm:prSet presAssocID="{6BEB73DE-296C-467F-A5C8-C46FF5019D7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F0BF26-5111-4CA3-A53A-D53E41FE0E05}" type="pres">
      <dgm:prSet presAssocID="{6BEB73DE-296C-467F-A5C8-C46FF5019D78}" presName="iconSpace" presStyleCnt="0"/>
      <dgm:spPr/>
    </dgm:pt>
    <dgm:pt modelId="{C0CE4DD2-6B15-4EA9-AA0F-3F97083D87F0}" type="pres">
      <dgm:prSet presAssocID="{6BEB73DE-296C-467F-A5C8-C46FF5019D78}" presName="parTx" presStyleLbl="revTx" presStyleIdx="4" presStyleCnt="6">
        <dgm:presLayoutVars>
          <dgm:chMax val="0"/>
          <dgm:chPref val="0"/>
        </dgm:presLayoutVars>
      </dgm:prSet>
      <dgm:spPr/>
    </dgm:pt>
    <dgm:pt modelId="{8E428FA3-39C0-4B4B-AE28-7F91475D6E98}" type="pres">
      <dgm:prSet presAssocID="{6BEB73DE-296C-467F-A5C8-C46FF5019D78}" presName="txSpace" presStyleCnt="0"/>
      <dgm:spPr/>
    </dgm:pt>
    <dgm:pt modelId="{B4EBE4D1-61C9-461B-BEA3-0098009EA372}" type="pres">
      <dgm:prSet presAssocID="{6BEB73DE-296C-467F-A5C8-C46FF5019D78}" presName="desTx" presStyleLbl="revTx" presStyleIdx="5" presStyleCnt="6">
        <dgm:presLayoutVars/>
      </dgm:prSet>
      <dgm:spPr/>
    </dgm:pt>
  </dgm:ptLst>
  <dgm:cxnLst>
    <dgm:cxn modelId="{3ED6A902-1749-48EA-A6CF-6DD93E1EEF85}" srcId="{6BEB73DE-296C-467F-A5C8-C46FF5019D78}" destId="{2A86F198-0135-4390-AFEB-44E9F10AE95F}" srcOrd="2" destOrd="0" parTransId="{3961CB8E-D905-4037-A48D-001E084AD610}" sibTransId="{31A3872A-2269-4053-8C4D-A4A6C6D122DD}"/>
    <dgm:cxn modelId="{115B780C-93C7-4657-AEAC-AE2D03C87882}" srcId="{0C76C7F5-11DC-4306-A7C1-C0BE45561AE3}" destId="{7E24C519-4A23-487B-88AF-D4772298D469}" srcOrd="2" destOrd="0" parTransId="{DF8BBB49-9B71-4AE6-B745-3BF2E03349BD}" sibTransId="{BB29C6D9-8262-4C32-B09C-D83E2213C089}"/>
    <dgm:cxn modelId="{54BE400E-B238-4983-AE3B-E0FBC2A0389B}" srcId="{8B8FA811-1F2C-4D3B-92E0-3653CB9ADC2E}" destId="{B819C486-5E94-40EB-94E1-774F5F2D8048}" srcOrd="2" destOrd="0" parTransId="{5AB05FBC-D64E-4810-AF2D-C2405515661D}" sibTransId="{C50C6A42-CE78-4D6F-AD9B-7D8DC46A68B9}"/>
    <dgm:cxn modelId="{AA1E620F-FEC5-450E-8ACB-F29E1EC5F2A8}" type="presOf" srcId="{7E24C519-4A23-487B-88AF-D4772298D469}" destId="{EF30DA2E-2EA1-42DF-B9D5-45F8EE5A9189}" srcOrd="0" destOrd="2" presId="urn:microsoft.com/office/officeart/2018/2/layout/IconLabelDescriptionList"/>
    <dgm:cxn modelId="{4771291C-7E3A-46DA-B96B-21FCA89E1EB9}" type="presOf" srcId="{2B4775A0-2D89-40B1-8F1B-CADABAC04B97}" destId="{E08B7CD1-AC67-48A8-A06B-74D8B995BE72}" srcOrd="0" destOrd="0" presId="urn:microsoft.com/office/officeart/2018/2/layout/IconLabelDescriptionList"/>
    <dgm:cxn modelId="{EF1E3329-39EB-4D72-A6C0-92204E14F008}" srcId="{6BEB73DE-296C-467F-A5C8-C46FF5019D78}" destId="{01CD3B35-6B38-4D77-B40F-5BBA7B0091F6}" srcOrd="1" destOrd="0" parTransId="{2B38A51A-495A-4F50-9303-B0324F7A5A70}" sibTransId="{35383EBA-94FE-43FB-A633-77583333BA1F}"/>
    <dgm:cxn modelId="{4CBF122C-58B2-4688-8C5D-446B2748C366}" srcId="{07E96D20-98A7-4F1E-A83D-3A3685266799}" destId="{8B8FA811-1F2C-4D3B-92E0-3653CB9ADC2E}" srcOrd="1" destOrd="0" parTransId="{D5331809-B3A9-4682-B7E7-47CA47054A1A}" sibTransId="{868B3728-4771-4759-99C7-9DD1753C9CB1}"/>
    <dgm:cxn modelId="{7EA74233-BE83-4CC9-94E1-888184890054}" type="presOf" srcId="{2A86F198-0135-4390-AFEB-44E9F10AE95F}" destId="{B4EBE4D1-61C9-461B-BEA3-0098009EA372}" srcOrd="0" destOrd="2" presId="urn:microsoft.com/office/officeart/2018/2/layout/IconLabelDescriptionList"/>
    <dgm:cxn modelId="{C5984B5C-B490-408C-9130-FD0CDB4C0E5D}" srcId="{8B8FA811-1F2C-4D3B-92E0-3653CB9ADC2E}" destId="{2B4775A0-2D89-40B1-8F1B-CADABAC04B97}" srcOrd="0" destOrd="0" parTransId="{0AABEF7E-434A-4B71-BC20-32FACA995C17}" sibTransId="{9706D31D-3E36-444E-9B34-1DF650E0A25B}"/>
    <dgm:cxn modelId="{F8359C65-B3E5-4FEF-8659-1244D7242398}" srcId="{6BEB73DE-296C-467F-A5C8-C46FF5019D78}" destId="{8827E1A8-4C4F-4FDF-B830-E4C194EC0EDE}" srcOrd="0" destOrd="0" parTransId="{772D5EDF-A258-4E7B-8E9E-EDA01F2DC728}" sibTransId="{E3DD831E-C871-4D30-B092-9E3F19B3AEC5}"/>
    <dgm:cxn modelId="{547BFC66-AC47-48F7-ADF1-995A7465169C}" type="presOf" srcId="{76BFD05C-E6E4-4B26-9D7E-06B747E188F0}" destId="{E08B7CD1-AC67-48A8-A06B-74D8B995BE72}" srcOrd="0" destOrd="1" presId="urn:microsoft.com/office/officeart/2018/2/layout/IconLabelDescriptionList"/>
    <dgm:cxn modelId="{32974368-35EC-4A3F-AFA1-E1918ABDD06B}" type="presOf" srcId="{B819C486-5E94-40EB-94E1-774F5F2D8048}" destId="{E08B7CD1-AC67-48A8-A06B-74D8B995BE72}" srcOrd="0" destOrd="2" presId="urn:microsoft.com/office/officeart/2018/2/layout/IconLabelDescriptionList"/>
    <dgm:cxn modelId="{E859ED68-1C52-4E35-8209-596F694F394C}" type="presOf" srcId="{DFFDAB60-7149-451E-A5E3-B525DCB7C9B0}" destId="{EF30DA2E-2EA1-42DF-B9D5-45F8EE5A9189}" srcOrd="0" destOrd="0" presId="urn:microsoft.com/office/officeart/2018/2/layout/IconLabelDescriptionList"/>
    <dgm:cxn modelId="{6814B287-B606-40A5-BED9-1F11556C6BDB}" srcId="{07E96D20-98A7-4F1E-A83D-3A3685266799}" destId="{6BEB73DE-296C-467F-A5C8-C46FF5019D78}" srcOrd="2" destOrd="0" parTransId="{6932E149-B23F-4F4B-B60A-879BF59D7569}" sibTransId="{9BFAE8D6-BD3B-498E-852F-A44468A23675}"/>
    <dgm:cxn modelId="{743DD58F-2401-4C70-9A41-67EA3945AC6A}" type="presOf" srcId="{6BEB73DE-296C-467F-A5C8-C46FF5019D78}" destId="{C0CE4DD2-6B15-4EA9-AA0F-3F97083D87F0}" srcOrd="0" destOrd="0" presId="urn:microsoft.com/office/officeart/2018/2/layout/IconLabelDescriptionList"/>
    <dgm:cxn modelId="{7968139D-4788-4373-8118-964DED5809AE}" srcId="{0C76C7F5-11DC-4306-A7C1-C0BE45561AE3}" destId="{E221BB10-5C4F-42C1-9456-52309154F3ED}" srcOrd="1" destOrd="0" parTransId="{C918835D-679C-41EF-94BC-F652690E377B}" sibTransId="{A84E80FE-32FF-4BD6-B4D8-FA891DF83910}"/>
    <dgm:cxn modelId="{E8F9C2A1-854E-4AC2-A1EB-8C294DE9E0A3}" type="presOf" srcId="{8827E1A8-4C4F-4FDF-B830-E4C194EC0EDE}" destId="{B4EBE4D1-61C9-461B-BEA3-0098009EA372}" srcOrd="0" destOrd="0" presId="urn:microsoft.com/office/officeart/2018/2/layout/IconLabelDescriptionList"/>
    <dgm:cxn modelId="{F17502A2-29F8-40F1-B181-CAA24FE3D289}" type="presOf" srcId="{E221BB10-5C4F-42C1-9456-52309154F3ED}" destId="{EF30DA2E-2EA1-42DF-B9D5-45F8EE5A9189}" srcOrd="0" destOrd="1" presId="urn:microsoft.com/office/officeart/2018/2/layout/IconLabelDescriptionList"/>
    <dgm:cxn modelId="{77DE3DA4-C757-442F-BFF6-1F64FB817B4C}" srcId="{0C76C7F5-11DC-4306-A7C1-C0BE45561AE3}" destId="{DFFDAB60-7149-451E-A5E3-B525DCB7C9B0}" srcOrd="0" destOrd="0" parTransId="{A5CF501E-7C2F-4FCF-8DEE-9D9B90F8F7BD}" sibTransId="{5FC0D3EE-D9B8-49A9-ABF0-75C18A7533ED}"/>
    <dgm:cxn modelId="{357414B1-8973-49FB-991B-E3D71B113EF0}" type="presOf" srcId="{01CD3B35-6B38-4D77-B40F-5BBA7B0091F6}" destId="{B4EBE4D1-61C9-461B-BEA3-0098009EA372}" srcOrd="0" destOrd="1" presId="urn:microsoft.com/office/officeart/2018/2/layout/IconLabelDescriptionList"/>
    <dgm:cxn modelId="{CFC738B6-CACC-415E-BF66-C3C4C7C17E9D}" type="presOf" srcId="{0C76C7F5-11DC-4306-A7C1-C0BE45561AE3}" destId="{92616848-72D3-4512-AF62-5884FFD21E4C}" srcOrd="0" destOrd="0" presId="urn:microsoft.com/office/officeart/2018/2/layout/IconLabelDescriptionList"/>
    <dgm:cxn modelId="{E6AE52CF-68C6-4B82-A13E-DFFFA866ED10}" type="presOf" srcId="{07E96D20-98A7-4F1E-A83D-3A3685266799}" destId="{DB7DB584-70B3-46BF-A7E7-05C775E86E2E}" srcOrd="0" destOrd="0" presId="urn:microsoft.com/office/officeart/2018/2/layout/IconLabelDescriptionList"/>
    <dgm:cxn modelId="{04D6AFD5-AB9F-4699-B532-D7B465E3AEA4}" type="presOf" srcId="{8B8FA811-1F2C-4D3B-92E0-3653CB9ADC2E}" destId="{FA60D8E7-3305-4948-87F5-B68D2DF233E2}" srcOrd="0" destOrd="0" presId="urn:microsoft.com/office/officeart/2018/2/layout/IconLabelDescriptionList"/>
    <dgm:cxn modelId="{953AC6D8-4876-43A9-8375-12BA8B5E36F0}" srcId="{8B8FA811-1F2C-4D3B-92E0-3653CB9ADC2E}" destId="{76BFD05C-E6E4-4B26-9D7E-06B747E188F0}" srcOrd="1" destOrd="0" parTransId="{F3BC5AF0-DEE1-4A34-B538-B1DBA22328AF}" sibTransId="{FEDC1415-42C9-4132-B06C-85146DA0D8B3}"/>
    <dgm:cxn modelId="{B12590F3-6BE7-405E-963F-F5908B1168BB}" srcId="{07E96D20-98A7-4F1E-A83D-3A3685266799}" destId="{0C76C7F5-11DC-4306-A7C1-C0BE45561AE3}" srcOrd="0" destOrd="0" parTransId="{96FF2BCC-EB2C-4134-9A8F-B7F94091BD93}" sibTransId="{1D801BC2-0E68-42B9-A1E5-6AF778D71B03}"/>
    <dgm:cxn modelId="{9CB96810-6326-4F85-BE9E-DDE90417DFFB}" type="presParOf" srcId="{DB7DB584-70B3-46BF-A7E7-05C775E86E2E}" destId="{DA65EF61-9149-4897-AA2E-156B10B2E3C6}" srcOrd="0" destOrd="0" presId="urn:microsoft.com/office/officeart/2018/2/layout/IconLabelDescriptionList"/>
    <dgm:cxn modelId="{9A95334B-934D-43FF-9B85-03E8F2068FAE}" type="presParOf" srcId="{DA65EF61-9149-4897-AA2E-156B10B2E3C6}" destId="{59C0962E-61F1-4E0F-82A6-AFA6C0C53224}" srcOrd="0" destOrd="0" presId="urn:microsoft.com/office/officeart/2018/2/layout/IconLabelDescriptionList"/>
    <dgm:cxn modelId="{FABDAE5C-5EF4-4596-A8D8-4B041FBAE886}" type="presParOf" srcId="{DA65EF61-9149-4897-AA2E-156B10B2E3C6}" destId="{F88A0272-57C7-48D7-B0B4-B707D3BAFB41}" srcOrd="1" destOrd="0" presId="urn:microsoft.com/office/officeart/2018/2/layout/IconLabelDescriptionList"/>
    <dgm:cxn modelId="{0635E9E1-032F-4D9C-A54B-E56650F537D3}" type="presParOf" srcId="{DA65EF61-9149-4897-AA2E-156B10B2E3C6}" destId="{92616848-72D3-4512-AF62-5884FFD21E4C}" srcOrd="2" destOrd="0" presId="urn:microsoft.com/office/officeart/2018/2/layout/IconLabelDescriptionList"/>
    <dgm:cxn modelId="{BD21B491-D657-444A-B4BA-B6D87C094C08}" type="presParOf" srcId="{DA65EF61-9149-4897-AA2E-156B10B2E3C6}" destId="{A0DF3AFD-6CEF-4BD5-B54D-AA2605BC5258}" srcOrd="3" destOrd="0" presId="urn:microsoft.com/office/officeart/2018/2/layout/IconLabelDescriptionList"/>
    <dgm:cxn modelId="{FC23573A-CE62-40A8-8009-4543682AE943}" type="presParOf" srcId="{DA65EF61-9149-4897-AA2E-156B10B2E3C6}" destId="{EF30DA2E-2EA1-42DF-B9D5-45F8EE5A9189}" srcOrd="4" destOrd="0" presId="urn:microsoft.com/office/officeart/2018/2/layout/IconLabelDescriptionList"/>
    <dgm:cxn modelId="{E8E2DF6F-51C4-408F-A5F9-5F3E6CE99153}" type="presParOf" srcId="{DB7DB584-70B3-46BF-A7E7-05C775E86E2E}" destId="{A65498E8-EC33-4B89-810C-84C11181C91D}" srcOrd="1" destOrd="0" presId="urn:microsoft.com/office/officeart/2018/2/layout/IconLabelDescriptionList"/>
    <dgm:cxn modelId="{B33F4241-3E7D-4D2A-A49F-7196DF2ED1CF}" type="presParOf" srcId="{DB7DB584-70B3-46BF-A7E7-05C775E86E2E}" destId="{AFFABB70-94AF-4828-8A57-A53EF8081471}" srcOrd="2" destOrd="0" presId="urn:microsoft.com/office/officeart/2018/2/layout/IconLabelDescriptionList"/>
    <dgm:cxn modelId="{37EB3F98-145B-4298-8CA8-81D80F5CC947}" type="presParOf" srcId="{AFFABB70-94AF-4828-8A57-A53EF8081471}" destId="{C0B167E1-377F-457E-9440-7CE00F0FE59D}" srcOrd="0" destOrd="0" presId="urn:microsoft.com/office/officeart/2018/2/layout/IconLabelDescriptionList"/>
    <dgm:cxn modelId="{A1B5CD6A-54B0-4C0D-8351-9C5EB08BEDEA}" type="presParOf" srcId="{AFFABB70-94AF-4828-8A57-A53EF8081471}" destId="{D80A5413-4796-4BDF-A315-E3193A2CB3A0}" srcOrd="1" destOrd="0" presId="urn:microsoft.com/office/officeart/2018/2/layout/IconLabelDescriptionList"/>
    <dgm:cxn modelId="{E36B52E4-6A7A-4F8B-BA51-8E90EAB9597E}" type="presParOf" srcId="{AFFABB70-94AF-4828-8A57-A53EF8081471}" destId="{FA60D8E7-3305-4948-87F5-B68D2DF233E2}" srcOrd="2" destOrd="0" presId="urn:microsoft.com/office/officeart/2018/2/layout/IconLabelDescriptionList"/>
    <dgm:cxn modelId="{2BEF86A4-B02D-4620-9547-9259EA5546B3}" type="presParOf" srcId="{AFFABB70-94AF-4828-8A57-A53EF8081471}" destId="{53D9F940-EB88-4CCF-82B3-6C3E841224DB}" srcOrd="3" destOrd="0" presId="urn:microsoft.com/office/officeart/2018/2/layout/IconLabelDescriptionList"/>
    <dgm:cxn modelId="{5A9EF854-5C52-48A3-94D4-7F27112EC793}" type="presParOf" srcId="{AFFABB70-94AF-4828-8A57-A53EF8081471}" destId="{E08B7CD1-AC67-48A8-A06B-74D8B995BE72}" srcOrd="4" destOrd="0" presId="urn:microsoft.com/office/officeart/2018/2/layout/IconLabelDescriptionList"/>
    <dgm:cxn modelId="{4D43E2BB-F75B-482A-B1F7-42D534F81901}" type="presParOf" srcId="{DB7DB584-70B3-46BF-A7E7-05C775E86E2E}" destId="{7158CB89-E669-475F-B0F8-442D7DE6DAFC}" srcOrd="3" destOrd="0" presId="urn:microsoft.com/office/officeart/2018/2/layout/IconLabelDescriptionList"/>
    <dgm:cxn modelId="{73536795-2367-41F2-A339-CEE1EF5362E3}" type="presParOf" srcId="{DB7DB584-70B3-46BF-A7E7-05C775E86E2E}" destId="{F86241EC-6217-4DE7-8245-4343E14015A8}" srcOrd="4" destOrd="0" presId="urn:microsoft.com/office/officeart/2018/2/layout/IconLabelDescriptionList"/>
    <dgm:cxn modelId="{9E7A7869-CF9C-4816-B500-D8E9666E5BE0}" type="presParOf" srcId="{F86241EC-6217-4DE7-8245-4343E14015A8}" destId="{06221958-62FB-4DBE-8FC6-5860D73D8A52}" srcOrd="0" destOrd="0" presId="urn:microsoft.com/office/officeart/2018/2/layout/IconLabelDescriptionList"/>
    <dgm:cxn modelId="{6B04263E-BD90-48B2-92F0-2226E793255E}" type="presParOf" srcId="{F86241EC-6217-4DE7-8245-4343E14015A8}" destId="{E7F0BF26-5111-4CA3-A53A-D53E41FE0E05}" srcOrd="1" destOrd="0" presId="urn:microsoft.com/office/officeart/2018/2/layout/IconLabelDescriptionList"/>
    <dgm:cxn modelId="{C457028D-AA10-430F-BFA1-2E072E5493C3}" type="presParOf" srcId="{F86241EC-6217-4DE7-8245-4343E14015A8}" destId="{C0CE4DD2-6B15-4EA9-AA0F-3F97083D87F0}" srcOrd="2" destOrd="0" presId="urn:microsoft.com/office/officeart/2018/2/layout/IconLabelDescriptionList"/>
    <dgm:cxn modelId="{D3690EF9-4EE6-4B10-9BA5-71FE30601668}" type="presParOf" srcId="{F86241EC-6217-4DE7-8245-4343E14015A8}" destId="{8E428FA3-39C0-4B4B-AE28-7F91475D6E98}" srcOrd="3" destOrd="0" presId="urn:microsoft.com/office/officeart/2018/2/layout/IconLabelDescriptionList"/>
    <dgm:cxn modelId="{00741376-C2B8-40B1-8958-D386CEFF5B62}" type="presParOf" srcId="{F86241EC-6217-4DE7-8245-4343E14015A8}" destId="{B4EBE4D1-61C9-461B-BEA3-0098009EA37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C6095-FE8E-4538-8912-F11F659CD09E}">
      <dsp:nvSpPr>
        <dsp:cNvPr id="0" name=""/>
        <dsp:cNvSpPr/>
      </dsp:nvSpPr>
      <dsp:spPr>
        <a:xfrm>
          <a:off x="0" y="383070"/>
          <a:ext cx="6900512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16560" rIns="53555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Low-income students rely on shared devices &amp; unstable internet [1][2].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Limited data plans &amp; low-quality smartphones restrict high-bandwidth learning.</a:t>
          </a:r>
          <a:br>
            <a:rPr lang="en-US" sz="2000" kern="1200"/>
          </a:br>
          <a:endParaRPr lang="en-US" sz="2000" kern="1200"/>
        </a:p>
      </dsp:txBody>
      <dsp:txXfrm>
        <a:off x="0" y="383070"/>
        <a:ext cx="6900512" cy="2016000"/>
      </dsp:txXfrm>
    </dsp:sp>
    <dsp:sp modelId="{3DCBFC7E-35F4-45AE-A98E-45942AC9707A}">
      <dsp:nvSpPr>
        <dsp:cNvPr id="0" name=""/>
        <dsp:cNvSpPr/>
      </dsp:nvSpPr>
      <dsp:spPr>
        <a:xfrm>
          <a:off x="345025" y="87870"/>
          <a:ext cx="4830358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Economic Inequality</a:t>
          </a:r>
          <a:endParaRPr lang="en-US" sz="2000" kern="1200"/>
        </a:p>
      </dsp:txBody>
      <dsp:txXfrm>
        <a:off x="373846" y="116691"/>
        <a:ext cx="4772716" cy="532758"/>
      </dsp:txXfrm>
    </dsp:sp>
    <dsp:sp modelId="{C3C75F2B-61E9-42EC-BDF7-97A9DE058D99}">
      <dsp:nvSpPr>
        <dsp:cNvPr id="0" name=""/>
        <dsp:cNvSpPr/>
      </dsp:nvSpPr>
      <dsp:spPr>
        <a:xfrm>
          <a:off x="0" y="2802270"/>
          <a:ext cx="6900512" cy="264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16560" rIns="53555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Girls face cultural restrictions, safety concerns, and limited digital freedom [3].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Lower encouragement in tech skills reduces confidence &amp; participation [4].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Online harassment further discourages girls from learning digitally [5].</a:t>
          </a:r>
          <a:br>
            <a:rPr lang="en-US" sz="2000" kern="1200"/>
          </a:br>
          <a:endParaRPr lang="en-US" sz="2000" kern="1200"/>
        </a:p>
      </dsp:txBody>
      <dsp:txXfrm>
        <a:off x="0" y="2802270"/>
        <a:ext cx="6900512" cy="2646000"/>
      </dsp:txXfrm>
    </dsp:sp>
    <dsp:sp modelId="{0CB828AA-5118-4551-88B1-A93F9CEB2056}">
      <dsp:nvSpPr>
        <dsp:cNvPr id="0" name=""/>
        <dsp:cNvSpPr/>
      </dsp:nvSpPr>
      <dsp:spPr>
        <a:xfrm>
          <a:off x="345025" y="2507070"/>
          <a:ext cx="4830358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Gender Barriers</a:t>
          </a:r>
          <a:endParaRPr lang="en-US" sz="2000" kern="1200"/>
        </a:p>
      </dsp:txBody>
      <dsp:txXfrm>
        <a:off x="373846" y="2535891"/>
        <a:ext cx="4772716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CD8DF-A39D-4060-9D0F-5381D9EA5C82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Rural areas have slower broadband, fewer providers, and higher costs [6].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Weak 4G coverage makes video-based learning difficult [7].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Rural students report frequent connectivity breakdowns during live classes [8].</a:t>
          </a:r>
          <a:br>
            <a:rPr lang="en-US" sz="1600" kern="1200" dirty="0"/>
          </a:br>
          <a:endParaRPr lang="en-US" sz="1600" kern="1200" dirty="0"/>
        </a:p>
      </dsp:txBody>
      <dsp:txXfrm rot="-5400000">
        <a:off x="3785616" y="295201"/>
        <a:ext cx="6647092" cy="1532257"/>
      </dsp:txXfrm>
    </dsp:sp>
    <dsp:sp modelId="{1D3B058D-3BE7-4EC5-98BF-9F1BB979F3E8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Geographic Disparities</a:t>
          </a:r>
          <a:endParaRPr lang="en-US" sz="3600" kern="1200" dirty="0"/>
        </a:p>
      </dsp:txBody>
      <dsp:txXfrm>
        <a:off x="103614" y="103667"/>
        <a:ext cx="3578388" cy="1915324"/>
      </dsp:txXfrm>
    </dsp:sp>
    <dsp:sp modelId="{F05EF97F-6D85-4944-9A2E-671B8BAB040E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Income + gender + location interact to intensify digital inequality.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Existing studies rarely examine combined effects on learning outcomes.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Need for integrated research to guide effective policy solutions.</a:t>
          </a:r>
        </a:p>
      </dsp:txBody>
      <dsp:txXfrm rot="-5400000">
        <a:off x="3785616" y="2523880"/>
        <a:ext cx="6647092" cy="1532257"/>
      </dsp:txXfrm>
    </dsp:sp>
    <dsp:sp modelId="{F7400E0A-7F13-420D-9465-27F54DA65F98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Intersectionality &amp; Research Gaps</a:t>
          </a:r>
          <a:endParaRPr lang="en-US" sz="3600" kern="1200" dirty="0"/>
        </a:p>
      </dsp:txBody>
      <dsp:txXfrm>
        <a:off x="103614" y="2332346"/>
        <a:ext cx="3578388" cy="1915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9AF7E-EE9A-4E22-B7D2-09515B2FEB44}">
      <dsp:nvSpPr>
        <dsp:cNvPr id="0" name=""/>
        <dsp:cNvSpPr/>
      </dsp:nvSpPr>
      <dsp:spPr>
        <a:xfrm>
          <a:off x="0" y="42466"/>
          <a:ext cx="10515600" cy="4077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Gender Impacts on Digital Learning</a:t>
          </a:r>
          <a:endParaRPr lang="en-US" sz="1700" kern="1200"/>
        </a:p>
      </dsp:txBody>
      <dsp:txXfrm>
        <a:off x="19904" y="62370"/>
        <a:ext cx="10475792" cy="367937"/>
      </dsp:txXfrm>
    </dsp:sp>
    <dsp:sp modelId="{6C3A3712-2A3E-4E43-8015-D09769B06324}">
      <dsp:nvSpPr>
        <dsp:cNvPr id="0" name=""/>
        <dsp:cNvSpPr/>
      </dsp:nvSpPr>
      <dsp:spPr>
        <a:xfrm>
          <a:off x="0" y="499171"/>
          <a:ext cx="10515600" cy="407745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Accessibility &amp; Economic Differences</a:t>
          </a:r>
          <a:endParaRPr lang="en-US" sz="1700" kern="1200"/>
        </a:p>
      </dsp:txBody>
      <dsp:txXfrm>
        <a:off x="19904" y="519075"/>
        <a:ext cx="10475792" cy="367937"/>
      </dsp:txXfrm>
    </dsp:sp>
    <dsp:sp modelId="{A622B770-25F7-4AAB-9DB4-8868C8E245E7}">
      <dsp:nvSpPr>
        <dsp:cNvPr id="0" name=""/>
        <dsp:cNvSpPr/>
      </dsp:nvSpPr>
      <dsp:spPr>
        <a:xfrm>
          <a:off x="0" y="906916"/>
          <a:ext cx="10515600" cy="862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Men more represented in high-income brackets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Women mostly in income “Below 50,000 PKR”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Financial limitations reduce female access to premium tools</a:t>
          </a:r>
          <a:br>
            <a:rPr lang="en-US" sz="1300" kern="1200"/>
          </a:br>
          <a:endParaRPr lang="en-US" sz="1300" kern="1200"/>
        </a:p>
      </dsp:txBody>
      <dsp:txXfrm>
        <a:off x="0" y="906916"/>
        <a:ext cx="10515600" cy="862155"/>
      </dsp:txXfrm>
    </dsp:sp>
    <dsp:sp modelId="{9B35B88A-2CEF-4B0A-A1AC-400A7B2415B7}">
      <dsp:nvSpPr>
        <dsp:cNvPr id="0" name=""/>
        <dsp:cNvSpPr/>
      </dsp:nvSpPr>
      <dsp:spPr>
        <a:xfrm>
          <a:off x="0" y="1769071"/>
          <a:ext cx="10515600" cy="407745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Motivations &amp; Platform Use</a:t>
          </a:r>
          <a:endParaRPr lang="en-US" sz="1700" kern="1200"/>
        </a:p>
      </dsp:txBody>
      <dsp:txXfrm>
        <a:off x="19904" y="1788975"/>
        <a:ext cx="10475792" cy="367937"/>
      </dsp:txXfrm>
    </dsp:sp>
    <dsp:sp modelId="{FA594739-3358-490E-89BC-5FCE88ABA7FA}">
      <dsp:nvSpPr>
        <dsp:cNvPr id="0" name=""/>
        <dsp:cNvSpPr/>
      </dsp:nvSpPr>
      <dsp:spPr>
        <a:xfrm>
          <a:off x="0" y="2176816"/>
          <a:ext cx="10515600" cy="862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Men: career-driven (job, promotion, freelancing)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Women: studies, communication, foundational skill-building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Women rely heavily on YouTube &amp; DigiSkills</a:t>
          </a:r>
          <a:br>
            <a:rPr lang="en-US" sz="1300" kern="1200"/>
          </a:br>
          <a:endParaRPr lang="en-US" sz="1300" kern="1200"/>
        </a:p>
      </dsp:txBody>
      <dsp:txXfrm>
        <a:off x="0" y="2176816"/>
        <a:ext cx="10515600" cy="862155"/>
      </dsp:txXfrm>
    </dsp:sp>
    <dsp:sp modelId="{5EA60528-02CC-4ED9-9544-0E1E4838D706}">
      <dsp:nvSpPr>
        <dsp:cNvPr id="0" name=""/>
        <dsp:cNvSpPr/>
      </dsp:nvSpPr>
      <dsp:spPr>
        <a:xfrm>
          <a:off x="0" y="3038971"/>
          <a:ext cx="10515600" cy="40774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Trust &amp; Confidence Barriers</a:t>
          </a:r>
          <a:endParaRPr lang="en-US" sz="1700" kern="1200"/>
        </a:p>
      </dsp:txBody>
      <dsp:txXfrm>
        <a:off x="19904" y="3058875"/>
        <a:ext cx="10475792" cy="367937"/>
      </dsp:txXfrm>
    </dsp:sp>
    <dsp:sp modelId="{C9735104-FCF3-4840-B7F1-FAD58D7652DE}">
      <dsp:nvSpPr>
        <dsp:cNvPr id="0" name=""/>
        <dsp:cNvSpPr/>
      </dsp:nvSpPr>
      <dsp:spPr>
        <a:xfrm>
          <a:off x="0" y="3446716"/>
          <a:ext cx="10515600" cy="862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Both genders distrust online payments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Women affected more due to financial risk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Preference for free, low-risk platforms</a:t>
          </a:r>
          <a:br>
            <a:rPr lang="en-US" sz="1300" kern="1200"/>
          </a:br>
          <a:endParaRPr lang="en-US" sz="1300" kern="1200"/>
        </a:p>
      </dsp:txBody>
      <dsp:txXfrm>
        <a:off x="0" y="3446716"/>
        <a:ext cx="10515600" cy="8621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0962E-61F1-4E0F-82A6-AFA6C0C53224}">
      <dsp:nvSpPr>
        <dsp:cNvPr id="0" name=""/>
        <dsp:cNvSpPr/>
      </dsp:nvSpPr>
      <dsp:spPr>
        <a:xfrm>
          <a:off x="393" y="110592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16848-72D3-4512-AF62-5884FFD21E4C}">
      <dsp:nvSpPr>
        <dsp:cNvPr id="0" name=""/>
        <dsp:cNvSpPr/>
      </dsp:nvSpPr>
      <dsp:spPr>
        <a:xfrm>
          <a:off x="393" y="1386803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u="sng" kern="1200"/>
            <a:t>Financial Barriers</a:t>
          </a:r>
          <a:endParaRPr lang="en-US" sz="2400" kern="1200"/>
        </a:p>
      </dsp:txBody>
      <dsp:txXfrm>
        <a:off x="393" y="1386803"/>
        <a:ext cx="3138750" cy="470812"/>
      </dsp:txXfrm>
    </dsp:sp>
    <dsp:sp modelId="{EF30DA2E-2EA1-42DF-B9D5-45F8EE5A9189}">
      <dsp:nvSpPr>
        <dsp:cNvPr id="0" name=""/>
        <dsp:cNvSpPr/>
      </dsp:nvSpPr>
      <dsp:spPr>
        <a:xfrm>
          <a:off x="393" y="1940242"/>
          <a:ext cx="3138750" cy="2301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Cost is the most common reason for avoiding paid courses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 reliance on free platforms (YouTube, DigiSkills)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Certifications locked behind paywalls limit progression</a:t>
          </a:r>
        </a:p>
      </dsp:txBody>
      <dsp:txXfrm>
        <a:off x="393" y="1940242"/>
        <a:ext cx="3138750" cy="2301708"/>
      </dsp:txXfrm>
    </dsp:sp>
    <dsp:sp modelId="{C0B167E1-377F-457E-9440-7CE00F0FE59D}">
      <dsp:nvSpPr>
        <dsp:cNvPr id="0" name=""/>
        <dsp:cNvSpPr/>
      </dsp:nvSpPr>
      <dsp:spPr>
        <a:xfrm>
          <a:off x="3688425" y="110592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0D8E7-3305-4948-87F5-B68D2DF233E2}">
      <dsp:nvSpPr>
        <dsp:cNvPr id="0" name=""/>
        <dsp:cNvSpPr/>
      </dsp:nvSpPr>
      <dsp:spPr>
        <a:xfrm>
          <a:off x="3688425" y="1386803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u="sng" kern="1200"/>
            <a:t>Technical Difficulties</a:t>
          </a:r>
          <a:endParaRPr lang="en-US" sz="2400" kern="1200"/>
        </a:p>
      </dsp:txBody>
      <dsp:txXfrm>
        <a:off x="3688425" y="1386803"/>
        <a:ext cx="3138750" cy="470812"/>
      </dsp:txXfrm>
    </dsp:sp>
    <dsp:sp modelId="{E08B7CD1-AC67-48A8-A06B-74D8B995BE72}">
      <dsp:nvSpPr>
        <dsp:cNvPr id="0" name=""/>
        <dsp:cNvSpPr/>
      </dsp:nvSpPr>
      <dsp:spPr>
        <a:xfrm>
          <a:off x="3688425" y="1940242"/>
          <a:ext cx="3138750" cy="2301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Frequent slow speeds, buffering, and connectivity drops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Regional quality lower (3.36 vs 3.69)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Technical issues exceed device or financial complaints</a:t>
          </a:r>
          <a:br>
            <a:rPr lang="en-US" sz="1700" kern="1200"/>
          </a:br>
          <a:endParaRPr lang="en-US" sz="1700" kern="1200"/>
        </a:p>
      </dsp:txBody>
      <dsp:txXfrm>
        <a:off x="3688425" y="1940242"/>
        <a:ext cx="3138750" cy="2301708"/>
      </dsp:txXfrm>
    </dsp:sp>
    <dsp:sp modelId="{06221958-62FB-4DBE-8FC6-5860D73D8A52}">
      <dsp:nvSpPr>
        <dsp:cNvPr id="0" name=""/>
        <dsp:cNvSpPr/>
      </dsp:nvSpPr>
      <dsp:spPr>
        <a:xfrm>
          <a:off x="7376456" y="110592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E4DD2-6B15-4EA9-AA0F-3F97083D87F0}">
      <dsp:nvSpPr>
        <dsp:cNvPr id="0" name=""/>
        <dsp:cNvSpPr/>
      </dsp:nvSpPr>
      <dsp:spPr>
        <a:xfrm>
          <a:off x="7376456" y="1386803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u="sng" kern="1200"/>
            <a:t>Infrastructural Obstacles</a:t>
          </a:r>
          <a:endParaRPr lang="en-US" sz="2400" kern="1200"/>
        </a:p>
      </dsp:txBody>
      <dsp:txXfrm>
        <a:off x="7376456" y="1386803"/>
        <a:ext cx="3138750" cy="470812"/>
      </dsp:txXfrm>
    </dsp:sp>
    <dsp:sp modelId="{B4EBE4D1-61C9-461B-BEA3-0098009EA372}">
      <dsp:nvSpPr>
        <dsp:cNvPr id="0" name=""/>
        <dsp:cNvSpPr/>
      </dsp:nvSpPr>
      <dsp:spPr>
        <a:xfrm>
          <a:off x="7376456" y="1940242"/>
          <a:ext cx="3138750" cy="2301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Regional areas face load shedding, poor reliability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Combined financial + infrastructure issues create compounded disadvantage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barriers push learners toward asynchronous, low-bandwidth options</a:t>
          </a:r>
        </a:p>
      </dsp:txBody>
      <dsp:txXfrm>
        <a:off x="7376456" y="1940242"/>
        <a:ext cx="3138750" cy="2301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769F4-C10D-422D-B7CB-ABDE8F86266E}" type="datetimeFigureOut">
              <a:rPr lang="en-PK" smtClean="0"/>
              <a:t>12/02/2025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DA1BA-353E-42FD-A9AA-29A96644C7E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817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UNESCO, </a:t>
            </a:r>
            <a:r>
              <a:rPr lang="en-US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Education Monitoring Report: Technology in Education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2023.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World Bank, “Poverty and Digital Learning,” 2022.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[3] UNICEF, “Bridging the Gender Digital Divide,” 2021.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[4] World Bank, “Girls’ Education and Women’s Empowerment,” 2022.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[5] Plan International, </a:t>
            </a:r>
            <a:r>
              <a:rPr lang="en-US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State of Girls in a Digital World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2020.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DA1BA-353E-42FD-A9AA-29A96644C7EA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481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[6]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PhoneWorld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“Rural Broadband Limitations in Pakistan,” 2024.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[7] ITU, </a:t>
            </a:r>
            <a:r>
              <a:rPr lang="en-US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Measuring Digital Development: Facts and Figures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2022.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[8] Waqar, Rashid, Anis &amp; Muhammad, “Digital Divide &amp; Inclusive Education in Pakistan,” 2024.</a:t>
            </a:r>
            <a:endParaRPr lang="en-US" b="0">
              <a:effectLst/>
            </a:endParaRPr>
          </a:p>
          <a:p>
            <a:br>
              <a:rPr lang="en-US"/>
            </a:br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DA1BA-353E-42FD-A9AA-29A96644C7EA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2241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ACFC-D750-45EE-B846-22AADB3F9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7B851-14CD-47D0-ADAB-1D415224C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421F2-A448-4E45-8F86-BA9D9435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303E3-8155-4EC1-BA9E-596BE20A33CD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5AEBD-217D-46F7-85C9-B3CBA845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4E30C-8019-48F8-A225-BE4D3C41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0586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4A2C-EA1F-4852-882D-251B9B46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8EA3E-5DB3-49D1-AF6D-68B1F465F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88532-F28A-4CB3-B015-90754682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DE75-3E0D-4D1D-934F-F7C81E60C388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2B89-6D7F-43A6-823F-7E716C1B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1D0DA-BFAD-4C5B-BA11-0385A62E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9862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2054-F27B-44A8-9C9F-CA5CB8AA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D591F-F90C-424E-BC53-5EDA9AC55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61F73-98D7-487F-A7F7-7AC6FCAD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5B49-B5F8-41DC-86EF-9B471085CA6C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D0391-5C85-4E63-891B-54AC34B3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59A2C-575E-4EE4-AED5-1963DE23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712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1D25-6617-4B08-8CD0-648F53A1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81F66-A69A-4558-826B-50D306932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ED01B-2448-4D03-ADBC-B6CCA900F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47D2-7CA6-4BBE-86A6-82391C6C6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7E00-DE12-4F33-A159-87C6086BCF54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49641-6DF1-4F50-8926-B69E4BE2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01888-3B76-4AB5-90E5-494EC34F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828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A248-596B-473F-B0C4-8A6A145A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67953-C0EE-4E72-8F90-AD856562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A78E5-11D2-41D6-A950-9A59FF78B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F2A35-EE17-405C-97BB-B3DC006E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062BB-8B52-44E3-8227-2F6255633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4923F-7705-43E9-AE79-175D9F79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33BE-74A7-4498-9335-EF14B7C704C6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E1135-27D8-4A9F-A166-F46C68B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03A63-1F91-457A-86A3-923CF23D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180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A0A6-C1BF-4E59-B40A-BCB1DF9AA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63F32C-BD54-4CB5-9189-5F8F77D4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38F12-CF2E-4017-A062-9CB3891685D4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2B31B-03F2-4AAD-B4C2-BF13FC59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74484-20E3-46E3-A824-1D38A21A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0747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1D028-7C9F-4643-BCAF-873AB642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2D74F-87BE-49D1-91A0-4C48601496C9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58188-9A93-4C0E-B851-7B97EFE7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EED3D-C08F-4D5F-A0B8-F4F88C96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7116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4FB1-A036-4063-A3BA-58D690C4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10BA6-547F-4CCB-A175-B5F021E47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BA5A6-3C16-479D-ADBD-994BF7B3B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90CED-F40D-4C03-9107-818C3BFA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E72C-046D-4A06-919A-9B3F0BB8EB7E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4C5B9-995F-4DEB-963A-86BEFCE3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C222D-A6BD-4D50-94B3-36440727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573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882A-7EA8-478E-A527-7EA35D2E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B8B4D-62A1-4BA9-941D-A97E715DF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D9703-5598-4D46-A119-832A7A538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97C25-1C5B-4382-822C-6E8FD139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0C30-3B35-4EF2-A62F-64951B60632F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1E574-5C53-465A-8504-080A8015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3FA48-5F60-448C-8E47-FD299377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646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0FB7-5EB4-413A-A405-FBE7AAEE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F74BF-B522-4D2F-B91E-12C3168C7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ED6EF-B8E2-4437-8E01-7B3C4BFE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4E95-B054-4D37-933F-6CEE5BC6DB79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22D4-0CE2-4A9A-846D-0F6A192A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98208-5444-4017-9608-3438485D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8861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CE075-1E32-4BEE-AB1F-52F8CD105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AD6BB-8F98-4628-B656-F36F8C2D6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AF001-4234-4FDC-BEEC-78E0E92F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8101D-02F2-4EAC-89EE-5F4A96FBB5DE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683FD-9826-48A4-B134-2E6F40A6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89017-86E9-4196-99A8-0E66E386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672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83F80-7AD2-4BF2-99E0-A8398331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5F4AF-302E-4DD8-ACA8-9A6B4568B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C8447-EA14-4665-BE64-F8736644B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01E9D-235E-42DD-B60E-A8BEF57797CA}" type="datetime8">
              <a:rPr lang="en-PK" smtClean="0"/>
              <a:t>12/02/2025 22:26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ABFE4-7446-41C2-B7B0-E3F136658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11CAE-7096-4DEE-8ECC-E8C4A4FF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A05CD-434D-48AB-AB2C-72C6DC6FB9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12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E83DC-70BC-4102-A051-7333F1E7F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sz="4700"/>
              <a:t>How do differences in income, gender, or location affect access to digital tools and online learning opportunities?</a:t>
            </a:r>
            <a:endParaRPr lang="en-PK" sz="4700"/>
          </a:p>
        </p:txBody>
      </p:sp>
    </p:spTree>
    <p:extLst>
      <p:ext uri="{BB962C8B-B14F-4D97-AF65-F5344CB8AC3E}">
        <p14:creationId xmlns:p14="http://schemas.microsoft.com/office/powerpoint/2010/main" val="1418447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9C348-977A-448E-9FE5-DDD8A6DC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Executive summary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CD00CC0-F2F3-49CE-B754-8F26D7A66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The report examines how people in Pakistan access online learning tools, what motivates their learning choices, and what prevents them from shifting from free to paid platforms.</a:t>
            </a:r>
            <a:b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500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Survey participants (ages 18–40) from major urban centers provided realistic insights into daily digital learning habits.</a:t>
            </a:r>
            <a:b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500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Strong interest in online learning exists, with most users relying on free, video-based platforms like YouTube for convenience and accessibility.</a:t>
            </a:r>
            <a:b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500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Internet quality is a major barrier, as many users experience slow speeds, buffering, and interruptions that reduce learning effectiveness.</a:t>
            </a:r>
            <a:b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500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Users are hesitant to purchase paid courses due to concerns about online payments, fraud risks, and doubts about certificate authenticity.</a:t>
            </a:r>
            <a:b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500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High-quality free content further reduces the perceived value of premium learning resources.</a:t>
            </a:r>
            <a:b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500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Improving internet reliability and introducing secure, locally trusted payment options would help strengthen adoption of paid e-learning platforms.</a:t>
            </a:r>
            <a:endParaRPr lang="en-US" sz="1500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6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B6E7D-9FB9-4E1D-95A6-F8D9EC1E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100" b="1"/>
              <a:t>Introduction</a:t>
            </a:r>
            <a:endParaRPr lang="en-PK" sz="4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40C89-2BAF-48D4-B180-AD706D2E7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Project Description</a:t>
            </a:r>
            <a:endParaRPr lang="en-US" sz="2000" b="0">
              <a:effectLst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2000"/>
              <a:t>Examines how income, gender, and location affect digital learning access.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2000"/>
              <a:t>Uses a structured survey to study device access, internet quality, and platform use.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/>
              <a:t>Identifies barriers to effective online learning and opportunities for improvement.</a:t>
            </a:r>
            <a:br>
              <a:rPr lang="en-US" sz="2000"/>
            </a:br>
            <a:endParaRPr lang="en-PK" sz="2000"/>
          </a:p>
        </p:txBody>
      </p:sp>
    </p:spTree>
    <p:extLst>
      <p:ext uri="{BB962C8B-B14F-4D97-AF65-F5344CB8AC3E}">
        <p14:creationId xmlns:p14="http://schemas.microsoft.com/office/powerpoint/2010/main" val="31770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1D855-C5B8-4BF0-803C-8FC697C3E3D1}"/>
              </a:ext>
            </a:extLst>
          </p:cNvPr>
          <p:cNvSpPr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Scope of Study</a:t>
            </a:r>
            <a:endParaRPr lang="en-US" sz="2200" b="0">
              <a:effectLst/>
            </a:endParaRP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Analyze links between employment and access to digital tools.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Evaluate gender differences in confidence and participation.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Assess how location affects internet quality and platform availability.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Examine financial, technical, and infrastructural challenges.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Summarize user experiences across demographic groups.</a:t>
            </a:r>
            <a:br>
              <a:rPr lang="en-US" sz="2200"/>
            </a:br>
            <a:endParaRPr lang="en-US" sz="220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Report Format</a:t>
            </a:r>
            <a:endParaRPr lang="en-US" sz="2200" b="1">
              <a:effectLst/>
            </a:endParaRP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Methodology:</a:t>
            </a:r>
            <a:r>
              <a:rPr lang="en-US" sz="2200"/>
              <a:t> Survey design and respondent profile.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Findings &amp; Analysis:</a:t>
            </a:r>
            <a:r>
              <a:rPr lang="en-US" sz="2200"/>
              <a:t> Results by income, gender, and location.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Conclusions &amp; Recommendations:</a:t>
            </a:r>
            <a:r>
              <a:rPr lang="en-US" sz="2200"/>
              <a:t> Key insights and improvements for equitable digital access.</a:t>
            </a: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657221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02B66-EB1A-4EF0-A44E-92144566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Literature Review (Key Insights)</a:t>
            </a:r>
            <a:endParaRPr lang="en-PK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5B8053-0FCF-A503-5F3E-28D0748CF0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66147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213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E69CBE4-664E-3794-D288-D06361F9C86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29" r="9085" b="75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02782A1-691C-CE06-D93F-5F121CC785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4877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9742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B0622-DE3C-4157-8FEB-3ED5AE43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ANALYSIS OF RESEARCH RESULTS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2576B-4A54-417D-B427-DA250BEA1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/>
              <a:t>Employment &amp; Online Learning Access</a:t>
            </a:r>
            <a:endParaRPr lang="en-US" sz="1400" b="0">
              <a:effectLst/>
            </a:endParaRPr>
          </a:p>
          <a:p>
            <a:pPr marL="0" indent="0">
              <a:buNone/>
            </a:pPr>
            <a:r>
              <a:rPr lang="en-US" sz="1400" u="sng"/>
              <a:t>Device &amp; Internet Access</a:t>
            </a:r>
            <a:endParaRPr lang="en-US" sz="1400" b="0" u="sng">
              <a:effectLst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400"/>
              <a:t>Employed: 61% Wi-Fi use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400"/>
              <a:t>Unemployed/Students: 75% broadband use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/>
              <a:t>Both groups report similar internet quality (3.61 vs. 3.63)</a:t>
            </a:r>
          </a:p>
          <a:p>
            <a:pPr marL="457200" lvl="1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u="sng"/>
              <a:t>Engagement &amp; Constraints</a:t>
            </a:r>
            <a:endParaRPr lang="en-US" sz="1400" u="sng">
              <a:effectLst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400"/>
              <a:t>Online course enrollment identical: 72% each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400"/>
              <a:t>Employed: time constraints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400"/>
              <a:t>Unemployed: financial + payment trust issues</a:t>
            </a:r>
          </a:p>
          <a:p>
            <a:pPr marL="457200" lvl="1" indent="0" fontAlgn="base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u="sng"/>
              <a:t>Interpretation</a:t>
            </a:r>
            <a:endParaRPr lang="en-US" sz="1400" u="sng">
              <a:effectLst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400"/>
              <a:t>Employment does not limit access, but barrier types differ.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/>
              <a:t>Unemployed learners rely more on shared setups and face resource constraints.</a:t>
            </a:r>
            <a:br>
              <a:rPr lang="en-US" sz="1400"/>
            </a:b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366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11DE576-D8AB-ABD5-B011-5B5E707EA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318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949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6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457200" dist="63500" sx="99000" sy="990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24073D-143F-7BC0-96A5-6E22FD2AA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83" r="-1" b="-1"/>
          <a:stretch>
            <a:fillRect/>
          </a:stretch>
        </p:blipFill>
        <p:spPr>
          <a:xfrm>
            <a:off x="20" y="-1"/>
            <a:ext cx="7574488" cy="51615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0E8B-DC21-448B-AFEB-FEC49E7B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0064" y="743803"/>
            <a:ext cx="3144523" cy="547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00" b="1"/>
              <a:t>Geographic Impact on Digital Learning</a:t>
            </a:r>
            <a:endParaRPr lang="en-US" sz="1300" b="1">
              <a:effectLst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b="1" u="sng"/>
              <a:t>Internet Quality &amp; Stability</a:t>
            </a:r>
            <a:endParaRPr lang="en-US" sz="1300" b="1" u="sng">
              <a:effectLst/>
              <a:ea typeface="Calibri"/>
              <a:cs typeface="Calibri"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300"/>
              <a:t>Metro internet quality: 3.69 avg</a:t>
            </a:r>
            <a:endParaRPr lang="en-US" sz="1300">
              <a:ea typeface="Calibri"/>
              <a:cs typeface="Calibri"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300"/>
              <a:t>Regional internet quality: 3.36 avg</a:t>
            </a:r>
            <a:endParaRPr lang="en-US" sz="1300">
              <a:ea typeface="Calibri"/>
              <a:cs typeface="Calibri"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300"/>
              <a:t>Regional users report more interruptions</a:t>
            </a:r>
            <a:br>
              <a:rPr lang="en-US" sz="1300"/>
            </a:br>
            <a:endParaRPr lang="en-US" sz="1300"/>
          </a:p>
          <a:p>
            <a:pPr marL="0" indent="0">
              <a:buNone/>
            </a:pPr>
            <a:r>
              <a:rPr lang="en-US" sz="1300" b="1" u="sng"/>
              <a:t>Platform Preferences</a:t>
            </a:r>
            <a:endParaRPr lang="en-US" sz="1300" b="1" u="sng">
              <a:effectLst/>
              <a:ea typeface="Calibri"/>
              <a:cs typeface="Calibri"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300"/>
              <a:t>YouTube dominant everywhere; highest use in regional areas</a:t>
            </a:r>
            <a:endParaRPr lang="en-US" sz="1300">
              <a:ea typeface="Calibri"/>
              <a:cs typeface="Calibri"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300"/>
              <a:t>Metro users more likely to use Coursera/Udemy</a:t>
            </a:r>
            <a:endParaRPr lang="en-US" sz="1300">
              <a:ea typeface="Calibri"/>
              <a:cs typeface="Calibri"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300"/>
              <a:t>Regional learners limited by bandwidth + cost</a:t>
            </a:r>
            <a:br>
              <a:rPr lang="en-US" sz="1300"/>
            </a:br>
            <a:endParaRPr lang="en-US" sz="1300"/>
          </a:p>
          <a:p>
            <a:pPr marL="0" indent="0">
              <a:buNone/>
            </a:pPr>
            <a:r>
              <a:rPr lang="en-US" sz="1300" b="1" u="sng"/>
              <a:t>Familiarity &amp; Feasibility</a:t>
            </a:r>
            <a:endParaRPr lang="en-US" sz="1300" b="1" u="sng">
              <a:effectLst/>
              <a:ea typeface="Calibri"/>
              <a:cs typeface="Calibri"/>
            </a:endParaRP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sz="1300"/>
              <a:t>Metro: higher enrollment and tool familiarity</a:t>
            </a:r>
            <a:endParaRPr lang="en-US" sz="1300">
              <a:ea typeface="Calibri"/>
              <a:cs typeface="Calibri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300"/>
              <a:t>Regional: financial constraints + payment distrust reduce feasibility</a:t>
            </a:r>
            <a:br>
              <a:rPr lang="en-US" sz="1300"/>
            </a:br>
            <a:endParaRPr lang="en-PK" sz="1300"/>
          </a:p>
        </p:txBody>
      </p:sp>
    </p:spTree>
    <p:extLst>
      <p:ext uri="{BB962C8B-B14F-4D97-AF65-F5344CB8AC3E}">
        <p14:creationId xmlns:p14="http://schemas.microsoft.com/office/powerpoint/2010/main" val="256399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4E2F8-DEBB-4573-9575-2B6F9A5B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4800" b="1"/>
              <a:t>Common Difficulties Reported by Learners</a:t>
            </a:r>
            <a:endParaRPr lang="en-PK" sz="4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0E217B-F25E-D21D-3925-F36C15611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97172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67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DA7DA-9734-48CF-BE9B-3D09FFA8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 and Recommendation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50D5E956-8266-C1C8-DBBD-31A1DBE2B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812"/>
          <a:stretch>
            <a:fillRect/>
          </a:stretch>
        </p:blipFill>
        <p:spPr>
          <a:xfrm>
            <a:off x="630936" y="1840495"/>
            <a:ext cx="5458968" cy="3177009"/>
          </a:xfrm>
          <a:prstGeom prst="rect">
            <a:avLst/>
          </a:prstGeom>
        </p:spPr>
      </p:pic>
      <p:sp>
        <p:nvSpPr>
          <p:cNvPr id="4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84351-67D9-3B06-8307-77DDC5A7857C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ea typeface="Calibri" panose="020F0502020204030204"/>
                <a:cs typeface="Calibri" panose="020F0502020204030204"/>
              </a:rPr>
              <a:t>Conclusion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Income level determines digital access quality.</a:t>
            </a:r>
            <a:endParaRPr lang="en-US" sz="160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Lower-income users rely on mobile data/shared Wi-Fi causing interruptions.</a:t>
            </a:r>
            <a:endParaRPr lang="en-US" sz="160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Users avoid premium courses due to high cost and payment distrust.</a:t>
            </a:r>
            <a:endParaRPr lang="en-US" sz="160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Men use digital tools for career growth; women for studies/communication.</a:t>
            </a:r>
            <a:endParaRPr lang="en-US" sz="160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Women face stronger financial + confidence barriers, preferring free platforms.</a:t>
            </a:r>
            <a:endParaRPr lang="en-US" sz="160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Metro users have better internet; regional users face instability and load shedding.</a:t>
            </a:r>
            <a:endParaRPr lang="en-US" sz="160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Poor connectivity weakens synchronous learning across all groups.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401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275CD-AC04-4B6A-DBCA-5C54DA125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200" b="1" u="sng" dirty="0">
                <a:ea typeface="Calibri"/>
                <a:cs typeface="Calibri"/>
              </a:rPr>
              <a:t>Recommendations</a:t>
            </a:r>
            <a:r>
              <a:rPr lang="en-US" sz="2200" dirty="0">
                <a:ea typeface="Calibri"/>
                <a:cs typeface="Calibri"/>
              </a:rPr>
              <a:t> </a:t>
            </a:r>
          </a:p>
          <a:p>
            <a:pPr marL="34290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ea typeface="Calibri"/>
                <a:cs typeface="Calibri"/>
              </a:rPr>
              <a:t>Introduce secure, locally trusted payment systems for e-learning. </a:t>
            </a:r>
          </a:p>
          <a:p>
            <a:pPr marL="34290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ea typeface="Calibri"/>
                <a:cs typeface="Calibri"/>
              </a:rPr>
              <a:t>Provide low-bandwidth, downloadable, asynchronous course options. </a:t>
            </a:r>
          </a:p>
          <a:p>
            <a:pPr marL="34290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ea typeface="Calibri"/>
                <a:cs typeface="Calibri"/>
              </a:rPr>
              <a:t>Launch subsidized device + affordable data programs for low-income users. </a:t>
            </a:r>
          </a:p>
          <a:p>
            <a:pPr marL="34290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ea typeface="Calibri"/>
                <a:cs typeface="Calibri"/>
              </a:rPr>
              <a:t>Create digital confidence and safety programs targeted at women. </a:t>
            </a:r>
          </a:p>
          <a:p>
            <a:pPr marL="34290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ea typeface="Calibri"/>
                <a:cs typeface="Calibri"/>
              </a:rPr>
              <a:t>Invest in rural broadband upgrades and load-shedding-resilient infrastructure. </a:t>
            </a:r>
          </a:p>
          <a:p>
            <a:pPr>
              <a:spcBef>
                <a:spcPts val="0"/>
              </a:spcBef>
            </a:pPr>
            <a:endParaRPr lang="en-US" sz="2200">
              <a:ea typeface="Calibri"/>
              <a:cs typeface="Calibri"/>
            </a:endParaRPr>
          </a:p>
          <a:p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6939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oup of hands reaching up&#10;&#10;AI-generated content may be incorrect.">
            <a:extLst>
              <a:ext uri="{FF2B5EF4-FFF2-40B4-BE49-F238E27FC236}">
                <a16:creationId xmlns:a16="http://schemas.microsoft.com/office/drawing/2014/main" id="{05872A07-0244-0377-1E87-8673670A14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384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DA760F-424C-AD22-7CD8-ED81E6E4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80" y="1366202"/>
            <a:ext cx="8148320" cy="16203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83C3137E-2D3F-B97C-0B34-924441452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571644"/>
            <a:ext cx="9144000" cy="5294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err="1"/>
              <a:t>Thankyou</a:t>
            </a:r>
            <a:r>
              <a:rPr lang="en-US" sz="2400" b="1" dirty="0"/>
              <a:t>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799394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How do differences in income, gender, or location affect access to digital tools and online learning opportunities?</vt:lpstr>
      <vt:lpstr>Executive summary</vt:lpstr>
      <vt:lpstr>Introduction</vt:lpstr>
      <vt:lpstr>PowerPoint Presentation</vt:lpstr>
      <vt:lpstr>Literature Review (Key Insights)</vt:lpstr>
      <vt:lpstr>PowerPoint Presentation</vt:lpstr>
      <vt:lpstr>ANALYSIS OF RESEARCH RESULTS</vt:lpstr>
      <vt:lpstr>PowerPoint Presentation</vt:lpstr>
      <vt:lpstr>PowerPoint Presentation</vt:lpstr>
      <vt:lpstr>Common Difficulties Reported by Learners</vt:lpstr>
      <vt:lpstr>Conclusion and Recommendation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 differences in income, gender, or location affect access to digital tools and online learning opportunities?</dc:title>
  <dc:creator>Muhammad Arslan BS(SE)</dc:creator>
  <cp:revision>74</cp:revision>
  <dcterms:created xsi:type="dcterms:W3CDTF">2025-12-02T14:19:36Z</dcterms:created>
  <dcterms:modified xsi:type="dcterms:W3CDTF">2025-12-03T06:34:51Z</dcterms:modified>
</cp:coreProperties>
</file>