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2" r:id="rId5"/>
    <p:sldMasterId id="214748367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Lst>
  <p:sldSz cy="6858000" cx="12192000"/>
  <p:notesSz cx="6858000" cy="9144000"/>
  <p:embeddedFontLst>
    <p:embeddedFont>
      <p:font typeface="Roboto"/>
      <p:regular r:id="rId106"/>
      <p:bold r:id="rId107"/>
      <p:italic r:id="rId108"/>
      <p:boldItalic r:id="rId109"/>
    </p:embeddedFont>
    <p:embeddedFont>
      <p:font typeface="Caveat"/>
      <p:regular r:id="rId110"/>
      <p:bold r:id="rId111"/>
    </p:embeddedFont>
    <p:embeddedFont>
      <p:font typeface="Montserrat"/>
      <p:regular r:id="rId112"/>
      <p:bold r:id="rId113"/>
      <p:italic r:id="rId114"/>
      <p:boldItalic r:id="rId115"/>
    </p:embeddedFont>
    <p:embeddedFont>
      <p:font typeface="Montserrat Medium"/>
      <p:regular r:id="rId116"/>
      <p:bold r:id="rId117"/>
      <p:italic r:id="rId118"/>
      <p:boldItalic r:id="rId119"/>
    </p:embeddedFont>
    <p:embeddedFont>
      <p:font typeface="Caveat Medium"/>
      <p:regular r:id="rId120"/>
      <p:bold r:id="rId121"/>
    </p:embeddedFont>
    <p:embeddedFont>
      <p:font typeface="Questrial"/>
      <p:regular r:id="rId1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23" roundtripDataSignature="AMtx7mgJ5r7kNnQ9cUdGUopxbSNrGwBf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2AB3137-F718-40C6-A6CA-367BE02654DF}">
  <a:tblStyle styleId="{C2AB3137-F718-40C6-A6CA-367BE02654DF}" styleName="Table_0">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93EAD191-1106-4D6D-9E3D-0AA81C2B6802}"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B239A4C3-3ECF-46CD-9D73-BA2AB54A1090}" styleName="Table_2">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1722ECFC-CDE6-43E2-95B7-9374CFE04406}" styleName="Table_3">
    <a:wholeTbl>
      <a:tcTxStyle b="off" i="off">
        <a:font>
          <a:latin typeface="Arial"/>
          <a:ea typeface="Arial"/>
          <a:cs typeface="Arial"/>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6FF1CECD-2F33-448C-8880-35D2F2AF5F28}" styleName="Table_4">
    <a:wholeTbl>
      <a:tcTxStyle b="off" i="off">
        <a:font>
          <a:latin typeface="Arial"/>
          <a:ea typeface="Arial"/>
          <a:cs typeface="Arial"/>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1">
              <a:alpha val="20000"/>
            </a:schemeClr>
          </a:solidFill>
        </a:fill>
      </a:tcStyle>
    </a:band1H>
    <a:band2H>
      <a:tcTxStyle b="off" i="off"/>
    </a:band2H>
    <a:band1V>
      <a:tcTxStyle b="off" i="off"/>
      <a:tcStyle>
        <a:fill>
          <a:solidFill>
            <a:schemeClr val="accent1">
              <a:alpha val="20000"/>
            </a:schemeClr>
          </a:solidFill>
        </a:fill>
      </a:tcStyle>
    </a:band1V>
    <a:band2V>
      <a:tcTxStyle b="off" i="off"/>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25400">
              <a:solidFill>
                <a:schemeClr val="accent1"/>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font" Target="fonts/Roboto-bold.fntdata"/><Relationship Id="rId106" Type="http://schemas.openxmlformats.org/officeDocument/2006/relationships/font" Target="fonts/Roboto-regular.fntdata"/><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font" Target="fonts/Roboto-boldItalic.fntdata"/><Relationship Id="rId108" Type="http://schemas.openxmlformats.org/officeDocument/2006/relationships/font" Target="fonts/Roboto-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121" Type="http://schemas.openxmlformats.org/officeDocument/2006/relationships/font" Target="fonts/CaveatMedium-bold.fntdata"/><Relationship Id="rId25" Type="http://schemas.openxmlformats.org/officeDocument/2006/relationships/slide" Target="slides/slide18.xml"/><Relationship Id="rId120" Type="http://schemas.openxmlformats.org/officeDocument/2006/relationships/font" Target="fonts/CaveatMedium-regular.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23" Type="http://customschemas.google.com/relationships/presentationmetadata" Target="metadata"/><Relationship Id="rId122" Type="http://schemas.openxmlformats.org/officeDocument/2006/relationships/font" Target="fonts/Questrial-regular.fntdata"/><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font" Target="fonts/MontserratMedium-italic.fntdata"/><Relationship Id="rId117" Type="http://schemas.openxmlformats.org/officeDocument/2006/relationships/font" Target="fonts/MontserratMedium-bold.fntdata"/><Relationship Id="rId116" Type="http://schemas.openxmlformats.org/officeDocument/2006/relationships/font" Target="fonts/MontserratMedium-regular.fntdata"/><Relationship Id="rId115" Type="http://schemas.openxmlformats.org/officeDocument/2006/relationships/font" Target="fonts/Montserrat-boldItalic.fntdata"/><Relationship Id="rId119" Type="http://schemas.openxmlformats.org/officeDocument/2006/relationships/font" Target="fonts/MontserratMedium-boldItalic.fntdata"/><Relationship Id="rId15" Type="http://schemas.openxmlformats.org/officeDocument/2006/relationships/slide" Target="slides/slide8.xml"/><Relationship Id="rId110" Type="http://schemas.openxmlformats.org/officeDocument/2006/relationships/font" Target="fonts/Caveat-regular.fntdata"/><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font" Target="fonts/Montserrat-italic.fntdata"/><Relationship Id="rId18" Type="http://schemas.openxmlformats.org/officeDocument/2006/relationships/slide" Target="slides/slide11.xml"/><Relationship Id="rId113" Type="http://schemas.openxmlformats.org/officeDocument/2006/relationships/font" Target="fonts/Montserrat-bold.fntdata"/><Relationship Id="rId112" Type="http://schemas.openxmlformats.org/officeDocument/2006/relationships/font" Target="fonts/Montserrat-regular.fntdata"/><Relationship Id="rId111" Type="http://schemas.openxmlformats.org/officeDocument/2006/relationships/font" Target="fonts/Caveat-bold.fntdata"/><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b0aa6bf6d9_0_14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g3b0aa6bf6d9_0_14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a961275ba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a961275bae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263" name="Google Shape;263;g3a961275bae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a961275bae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a961275bae_0_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270" name="Google Shape;270;g3a961275bae_0_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a961275bae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a961275bae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277" name="Google Shape;277;g3a961275bae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a961275bae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a961275bae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284" name="Google Shape;284;g3a961275bae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a961275bae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a961275bae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292" name="Google Shape;292;g3a961275bae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a961275bae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a961275bae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299" name="Google Shape;299;g3a961275bae_0_3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a57479c3d7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g3a57479c3d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a57479c3d7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a57479c3d7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312" name="Google Shape;312;g3a57479c3d7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a57479c3d7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a57479c3d7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321" name="Google Shape;321;g3a57479c3d7_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a57479c3d7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a57479c3d7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330" name="Google Shape;330;g3a57479c3d7_0_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a57479c3d7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a57479c3d7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339" name="Google Shape;339;g3a57479c3d7_0_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a57479c3d7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a57479c3d7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346" name="Google Shape;346;g3a57479c3d7_0_3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a57479c3d7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a57479c3d7_0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354" name="Google Shape;354;g3a57479c3d7_0_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a57479c3d7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a57479c3d7_0_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362" name="Google Shape;362;g3a57479c3d7_0_4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a57479c3d7_0_3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g3a57479c3d7_0_3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57479c3d7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a57479c3d7_0_2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https://www.linkedin.com/business/talent/blog/product-tips/tips-for-taking-professional-linkedin-profile-pictures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a57479c3d7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a57479c3d7_0_2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https://www.linkedin.com/business/talent/blog/product-tips/tips-for-taking-professional-linkedin-profile-pictures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a57479c3d7_0_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a57479c3d7_0_2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g3a57479c3d7_0_23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b0aa6bf6d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0" name="Google Shape;400;g3b0aa6bf6d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en-US"/>
              <a:t>Readers who want just a quick overview can turn to the executive summary at the beginning or the conclusions and recommendations at the end; technical readers who want to check your facts and figures can turn to discussion sections or appendixes; and all readers can flip to the table of contents for a quick outline of what sections the document contains.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b0aa6bf6d9_0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g3b0aa6bf6d9_0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b0aa6bf6d9_0_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g3b0aa6bf6d9_0_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b0aa6bf6d9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g3b0aa6bf6d9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39700" rtl="0" algn="l">
              <a:lnSpc>
                <a:spcPct val="100000"/>
              </a:lnSpc>
              <a:spcBef>
                <a:spcPts val="0"/>
              </a:spcBef>
              <a:spcAft>
                <a:spcPts val="0"/>
              </a:spcAft>
              <a:buSzPts val="1400"/>
              <a:buNone/>
            </a:pPr>
            <a:r>
              <a:rPr lang="en-US"/>
              <a:t>The parts of formal documents are as follows</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b0aa6bf6d9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5" name="Google Shape;425;g3b0aa6bf6d9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39700" rtl="0" algn="l">
              <a:lnSpc>
                <a:spcPct val="100000"/>
              </a:lnSpc>
              <a:spcBef>
                <a:spcPts val="0"/>
              </a:spcBef>
              <a:spcAft>
                <a:spcPts val="0"/>
              </a:spcAft>
              <a:buSzPts val="1400"/>
              <a:buNone/>
            </a:pPr>
            <a:r>
              <a:rPr lang="en-US"/>
              <a:t>We can match the basic sections of the formal report with sections or chapters of FYP (Final Year Rport) that you will be working on</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b0aa6bf6d9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b0aa6bf6d9_0_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b0aa6bf6d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b0aa6bf6d9_0_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b0aa6bf6d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b0aa6bf6d9_0_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b0aa6bf6d9_0_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g3b0aa6bf6d9_0_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b0aa6bf6d9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b0aa6bf6d9_0_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b0aa6bf6d9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b0aa6bf6d9_0_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b0aa6bf6d9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b0aa6bf6d9_0_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b0aa6bf6d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b0aa6bf6d9_0_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b0aa6bf6d9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b0aa6bf6d9_0_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b0aa6bf6d9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3b0aa6bf6d9_0_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b0aa6bf6d9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b0aa6bf6d9_0_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b0aa6bf6d9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b0aa6bf6d9_0_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9b32936498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2" name="Google Shape;512;g39b32936498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9b7157ad26_0_7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g39b7157ad26_0_7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8" name="Google Shape;518;g39b7157ad26_0_7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9b7157ad26_0_3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9" name="Google Shape;529;g39b7157ad26_0_3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9b7157ad26_0_6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g39b7157ad26_0_6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9b7157ad26_0_6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9b7157ad26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g39b7157ad26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3" name="Google Shape;553;g39b7157ad26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9b7157ad26_0_3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0" name="Google Shape;570;g39b7157ad26_0_3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g39b7157ad26_0_3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9b7157ad26_0_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g39b7157ad26_0_7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9b7157ad26_0_8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9" name="Google Shape;589;g39b7157ad26_0_8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590" name="Google Shape;590;g39b7157ad26_0_8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9b7157ad26_0_8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g39b7157ad26_0_8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598" name="Google Shape;598;g39b7157ad26_0_8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9b7157ad26_0_5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4" name="Google Shape;604;g39b7157ad26_0_5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9b7157ad26_0_8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1" name="Google Shape;611;g39b7157ad26_0_8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612" name="Google Shape;612;g39b7157ad26_0_8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7efbfe7193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8" name="Google Shape;618;g37efbfe7193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9" name="Google Shape;619;g37efbfe7193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7c26b4523b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9" name="Google Shape;639;g37c26b4523b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64c8792521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g364c8792521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64c8792521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64c8792521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 name="Google Shape;650;g364c8792521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64c8792521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64c8792521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g364c8792521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7" name="Google Shape;657;g364c8792521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64c8792521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g364c8792521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5" name="Google Shape;665;g364c8792521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64c8792521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0" name="Google Shape;670;g364c8792521_0_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64c8792521_0_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64c8792521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g364c8792521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7" name="Google Shape;677;g364c8792521_0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364c8792521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2" name="Google Shape;682;g364c8792521_0_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3" name="Google Shape;683;g364c8792521_0_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364c8792521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9" name="Google Shape;689;g364c8792521_0_1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0" name="Google Shape;690;g364c8792521_0_1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64c8792521_0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5" name="Google Shape;695;g364c8792521_0_1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64c8792521_0_1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64c8792521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g364c8792521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3" name="Google Shape;703;g364c8792521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64c8792521_0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1" name="Google Shape;711;g364c8792521_0_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2" name="Google Shape;712;g364c8792521_0_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64c8792521_0_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8" name="Google Shape;718;g364c8792521_0_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9" name="Google Shape;719;g364c8792521_0_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64c8792521_0_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g364c8792521_0_1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8" name="Google Shape;728;g364c8792521_0_1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64c8792521_0_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4" name="Google Shape;734;g364c8792521_0_1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5" name="Google Shape;735;g364c8792521_0_1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64c8792521_0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g364c8792521_0_1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g364c8792521_0_1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64c8792521_0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g364c8792521_0_1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0" name="Google Shape;750;g364c8792521_0_1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64c8792521_0_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g364c8792521_0_1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6" name="Google Shape;756;g364c8792521_0_1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64c8792521_0_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4" name="Google Shape;764;g364c8792521_0_1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g364c8792521_0_1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64c8792521_0_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2" name="Google Shape;772;g364c8792521_0_2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3" name="Google Shape;773;g364c8792521_0_2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64c8792521_0_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0" name="Google Shape;780;g364c8792521_0_2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1" name="Google Shape;781;g364c8792521_0_2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7758a7e78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8" name="Google Shape;788;g37758a7e781_0_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7758a7e781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g37758a7e781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7758a7e781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7758a7e781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7758a7e781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7" name="Google Shape;807;g37758a7e781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7758a7e781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3" name="Google Shape;813;g37758a7e781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g37758a7e781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8" name="Google Shape;818;g37758a7e781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37758a7e781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3" name="Google Shape;823;g37758a7e781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4" name="Google Shape;824;g37758a7e781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7758a7e781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g37758a7e781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Following are some basic guidelines to reduce the risk of misunderstanding: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When writing documents for other cultures, remember that your work will not be read in the cultural context in which it was written. </a:t>
            </a:r>
            <a:endParaRPr/>
          </a:p>
          <a:p>
            <a:pPr indent="0" lvl="0" marL="0" rtl="0" algn="l">
              <a:lnSpc>
                <a:spcPct val="100000"/>
              </a:lnSpc>
              <a:spcBef>
                <a:spcPts val="0"/>
              </a:spcBef>
              <a:spcAft>
                <a:spcPts val="0"/>
              </a:spcAft>
              <a:buSzPts val="1400"/>
              <a:buNone/>
            </a:pPr>
            <a:r>
              <a:rPr lang="en-US"/>
              <a:t>For that matter, you may lose control of the document altogether if it is translated into a language that you do not know. </a:t>
            </a:r>
            <a:endParaRPr/>
          </a:p>
          <a:p>
            <a:pPr indent="0" lvl="0" marL="0" rtl="0" algn="l">
              <a:lnSpc>
                <a:spcPct val="100000"/>
              </a:lnSpc>
              <a:spcBef>
                <a:spcPts val="0"/>
              </a:spcBef>
              <a:spcAft>
                <a:spcPts val="0"/>
              </a:spcAft>
              <a:buSzPts val="1400"/>
              <a:buNone/>
            </a:pPr>
            <a:r>
              <a:t/>
            </a:r>
            <a:endParaRPr/>
          </a:p>
        </p:txBody>
      </p:sp>
      <p:sp>
        <p:nvSpPr>
          <p:cNvPr id="831" name="Google Shape;831;g37758a7e781_0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37758a7e781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 name="Google Shape;837;g37758a7e781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Discuss in pairs and present answers to the class.</a:t>
            </a:r>
            <a:endParaRPr/>
          </a:p>
        </p:txBody>
      </p:sp>
      <p:sp>
        <p:nvSpPr>
          <p:cNvPr id="838" name="Google Shape;838;g37758a7e781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7758a7e781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4" name="Google Shape;844;g37758a7e781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37758a7e781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9" name="Google Shape;849;g37758a7e781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7758a7e781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5" name="Google Shape;855;g37758a7e781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7758a7e781_0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7758a7e781_0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2" name="Google Shape;862;g37758a7e781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7758a7e781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8" name="Google Shape;868;g37758a7e781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7758a7e781_0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g37758a7e781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7758a7e781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9" name="Google Shape;879;g37758a7e781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Arguments can WIN without being ethical if they WIN at any cost</a:t>
            </a:r>
            <a:endParaRPr/>
          </a:p>
        </p:txBody>
      </p:sp>
      <p:sp>
        <p:nvSpPr>
          <p:cNvPr id="880" name="Google Shape;880;g37758a7e781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7758a7e781_0_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9" name="Google Shape;889;g37758a7e781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7758a7e781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 name="Google Shape;897;g37758a7e781_0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                        ,    </a:t>
            </a:r>
            <a:endParaRPr/>
          </a:p>
        </p:txBody>
      </p:sp>
      <p:sp>
        <p:nvSpPr>
          <p:cNvPr id="898" name="Google Shape;898;g37758a7e781_0_1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756d5883a8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 name="Google Shape;903;g3756d5883a8_0_2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756d5883a8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0" name="Google Shape;910;g3756d5883a8_0_2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756d5883a8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6" name="Google Shape;916;g3756d5883a8_0_1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g3756d5883a8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7" name="Google Shape;927;g3756d5883a8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8" name="Google Shape;928;g3756d5883a8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756d5883a8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3" name="Google Shape;933;g3756d5883a8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4" name="Google Shape;934;g3756d5883a8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9" name="Google Shape;93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 organization’s culture is not isolated from the cultures of other organizations, or from the wider culture or cultures in which it is located. Organizations, especially businesses and corporations such as M-Global, must respond to the business climate. To compete in today’s global business climate, companies are focusing on quality and efficiency. </a:t>
            </a:r>
            <a:endParaRPr/>
          </a:p>
          <a:p>
            <a:pPr indent="0" lvl="0" marL="0" rtl="0" algn="l">
              <a:lnSpc>
                <a:spcPct val="100000"/>
              </a:lnSpc>
              <a:spcBef>
                <a:spcPts val="0"/>
              </a:spcBef>
              <a:spcAft>
                <a:spcPts val="0"/>
              </a:spcAft>
              <a:buSzPts val="1400"/>
              <a:buNone/>
            </a:pPr>
            <a:r>
              <a:t/>
            </a:r>
            <a:endParaRPr/>
          </a:p>
        </p:txBody>
      </p:sp>
      <p:sp>
        <p:nvSpPr>
          <p:cNvPr id="940" name="Google Shape;94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7" name="Google Shape;94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dk1"/>
                </a:solidFill>
              </a:rPr>
              <a:t>Although both practices are changing the workplace, they also offer opportunities for companies and employees who are prepared for the global marketplace.</a:t>
            </a:r>
            <a:endParaRPr>
              <a:solidFill>
                <a:schemeClr val="dk1"/>
              </a:solidFill>
            </a:endParaRPr>
          </a:p>
        </p:txBody>
      </p:sp>
      <p:sp>
        <p:nvSpPr>
          <p:cNvPr id="948" name="Google Shape;94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g3756d5883a8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7" name="Google Shape;957;g3756d5883a8_0_1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solidFill>
                <a:schemeClr val="dk1"/>
              </a:solidFill>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756d5883a8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4" name="Google Shape;964;g3756d5883a8_0_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solidFill>
                <a:schemeClr val="dk1"/>
              </a:solidFill>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3" name="Google Shape;97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dk2"/>
                </a:solidFill>
              </a:rPr>
              <a:t>An organization’s culture is influenced by the firm’s history, type of business, management style,</a:t>
            </a:r>
            <a:endParaRPr/>
          </a:p>
          <a:p>
            <a:pPr indent="0" lvl="0" marL="0" rtl="0" algn="l">
              <a:lnSpc>
                <a:spcPct val="100000"/>
              </a:lnSpc>
              <a:spcBef>
                <a:spcPts val="0"/>
              </a:spcBef>
              <a:spcAft>
                <a:spcPts val="0"/>
              </a:spcAft>
              <a:buSzPts val="1400"/>
              <a:buNone/>
            </a:pPr>
            <a:r>
              <a:rPr lang="en-US">
                <a:solidFill>
                  <a:schemeClr val="dk2"/>
                </a:solidFill>
              </a:rPr>
              <a:t>values, attitude toward customers, and attitude toward its own employees. Taken together, all features of a particular organization’s culture create a definable quality of life within the working world of that organization.</a:t>
            </a:r>
            <a:endParaRPr>
              <a:solidFill>
                <a:schemeClr val="dk2"/>
              </a:solidFill>
            </a:endParaRPr>
          </a:p>
        </p:txBody>
      </p:sp>
      <p:sp>
        <p:nvSpPr>
          <p:cNvPr id="974" name="Google Shape;97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4" name="Google Shape;98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g3756d5883a8_0_60"/>
          <p:cNvSpPr txBox="1"/>
          <p:nvPr>
            <p:ph type="title"/>
          </p:nvPr>
        </p:nvSpPr>
        <p:spPr>
          <a:xfrm>
            <a:off x="415600" y="593367"/>
            <a:ext cx="11360700" cy="7635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g3756d5883a8_0_60"/>
          <p:cNvSpPr txBox="1"/>
          <p:nvPr>
            <p:ph idx="1" type="body"/>
          </p:nvPr>
        </p:nvSpPr>
        <p:spPr>
          <a:xfrm>
            <a:off x="415600" y="1536633"/>
            <a:ext cx="11360700" cy="4555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SzPts val="2800"/>
              <a:buChar char="•"/>
              <a:defRPr/>
            </a:lvl1pPr>
            <a:lvl2pPr indent="-381000" lvl="1" marL="914400" algn="l">
              <a:lnSpc>
                <a:spcPct val="90000"/>
              </a:lnSpc>
              <a:spcBef>
                <a:spcPts val="500"/>
              </a:spcBef>
              <a:spcAft>
                <a:spcPts val="0"/>
              </a:spcAft>
              <a:buSzPts val="2400"/>
              <a:buChar char="•"/>
              <a:defRPr/>
            </a:lvl2pPr>
            <a:lvl3pPr indent="-355600" lvl="2" marL="1371600" algn="l">
              <a:lnSpc>
                <a:spcPct val="90000"/>
              </a:lnSpc>
              <a:spcBef>
                <a:spcPts val="500"/>
              </a:spcBef>
              <a:spcAft>
                <a:spcPts val="0"/>
              </a:spcAft>
              <a:buSzPts val="20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24" name="Google Shape;24;g3756d5883a8_0_60"/>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3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3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3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4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5" name="Google Shape;65;p4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4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1"/>
          <p:cNvSpPr/>
          <p:nvPr>
            <p:ph idx="2" type="pic"/>
          </p:nvPr>
        </p:nvSpPr>
        <p:spPr>
          <a:xfrm>
            <a:off x="5183188" y="987425"/>
            <a:ext cx="6172200" cy="4873625"/>
          </a:xfrm>
          <a:prstGeom prst="rect">
            <a:avLst/>
          </a:prstGeom>
          <a:noFill/>
          <a:ln>
            <a:noFill/>
          </a:ln>
        </p:spPr>
      </p:sp>
      <p:sp>
        <p:nvSpPr>
          <p:cNvPr id="72" name="Google Shape;72;p4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4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4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g3b0aa6bf6d9_0_1459"/>
          <p:cNvSpPr txBox="1"/>
          <p:nvPr>
            <p:ph idx="1" type="body"/>
          </p:nvPr>
        </p:nvSpPr>
        <p:spPr>
          <a:xfrm>
            <a:off x="415600" y="5640767"/>
            <a:ext cx="7998300" cy="806700"/>
          </a:xfrm>
          <a:prstGeom prst="rect">
            <a:avLst/>
          </a:prstGeom>
        </p:spPr>
        <p:txBody>
          <a:bodyPr anchorCtr="0" anchor="ctr" bIns="45700" lIns="91425" spcFirstLastPara="1" rIns="91425" wrap="square" tIns="45700">
            <a:normAutofit/>
          </a:bodyPr>
          <a:lstStyle>
            <a:lvl1pPr indent="-228600" lvl="0" marL="457200">
              <a:lnSpc>
                <a:spcPct val="100000"/>
              </a:lnSpc>
              <a:spcBef>
                <a:spcPts val="1000"/>
              </a:spcBef>
              <a:spcAft>
                <a:spcPts val="0"/>
              </a:spcAft>
              <a:buSzPts val="2800"/>
              <a:buNone/>
              <a:defRPr/>
            </a:lvl1pPr>
          </a:lstStyle>
          <a:p/>
        </p:txBody>
      </p:sp>
      <p:sp>
        <p:nvSpPr>
          <p:cNvPr id="90" name="Google Shape;90;g3b0aa6bf6d9_0_1459"/>
          <p:cNvSpPr txBox="1"/>
          <p:nvPr>
            <p:ph idx="12" type="sldNum"/>
          </p:nvPr>
        </p:nvSpPr>
        <p:spPr>
          <a:xfrm>
            <a:off x="11296610" y="6217622"/>
            <a:ext cx="731700" cy="524700"/>
          </a:xfrm>
          <a:prstGeom prst="rect">
            <a:avLst/>
          </a:prstGeom>
        </p:spPr>
        <p:txBody>
          <a:bodyPr anchorCtr="0" anchor="ctr" bIns="45700" lIns="91425" spcFirstLastPara="1" rIns="91425" wrap="square" tIns="4570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7" name="Shape 97"/>
        <p:cNvGrpSpPr/>
        <p:nvPr/>
      </p:nvGrpSpPr>
      <p:grpSpPr>
        <a:xfrm>
          <a:off x="0" y="0"/>
          <a:ext cx="0" cy="0"/>
          <a:chOff x="0" y="0"/>
          <a:chExt cx="0" cy="0"/>
        </a:xfrm>
      </p:grpSpPr>
      <p:sp>
        <p:nvSpPr>
          <p:cNvPr id="98" name="Google Shape;9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3" name="Shape 103"/>
        <p:cNvGrpSpPr/>
        <p:nvPr/>
      </p:nvGrpSpPr>
      <p:grpSpPr>
        <a:xfrm>
          <a:off x="0" y="0"/>
          <a:ext cx="0" cy="0"/>
          <a:chOff x="0" y="0"/>
          <a:chExt cx="0" cy="0"/>
        </a:xfrm>
      </p:grpSpPr>
      <p:sp>
        <p:nvSpPr>
          <p:cNvPr id="104" name="Google Shape;104;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7" name="Shape 107"/>
        <p:cNvGrpSpPr/>
        <p:nvPr/>
      </p:nvGrpSpPr>
      <p:grpSpPr>
        <a:xfrm>
          <a:off x="0" y="0"/>
          <a:ext cx="0" cy="0"/>
          <a:chOff x="0" y="0"/>
          <a:chExt cx="0" cy="0"/>
        </a:xfrm>
      </p:grpSpPr>
      <p:sp>
        <p:nvSpPr>
          <p:cNvPr id="108" name="Google Shape;108;g3859f75bb62_0_59"/>
          <p:cNvSpPr txBox="1"/>
          <p:nvPr>
            <p:ph type="title"/>
          </p:nvPr>
        </p:nvSpPr>
        <p:spPr>
          <a:xfrm>
            <a:off x="415600" y="593367"/>
            <a:ext cx="11360700" cy="7635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g3859f75bb62_0_59"/>
          <p:cNvSpPr txBox="1"/>
          <p:nvPr>
            <p:ph idx="1" type="body"/>
          </p:nvPr>
        </p:nvSpPr>
        <p:spPr>
          <a:xfrm>
            <a:off x="415600" y="1536633"/>
            <a:ext cx="11360700" cy="4555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SzPts val="2800"/>
              <a:buChar char="•"/>
              <a:defRPr/>
            </a:lvl1pPr>
            <a:lvl2pPr indent="-381000" lvl="1" marL="914400" algn="l">
              <a:lnSpc>
                <a:spcPct val="90000"/>
              </a:lnSpc>
              <a:spcBef>
                <a:spcPts val="500"/>
              </a:spcBef>
              <a:spcAft>
                <a:spcPts val="0"/>
              </a:spcAft>
              <a:buSzPts val="2400"/>
              <a:buChar char="•"/>
              <a:defRPr/>
            </a:lvl2pPr>
            <a:lvl3pPr indent="-355600" lvl="2" marL="1371600" algn="l">
              <a:lnSpc>
                <a:spcPct val="90000"/>
              </a:lnSpc>
              <a:spcBef>
                <a:spcPts val="500"/>
              </a:spcBef>
              <a:spcAft>
                <a:spcPts val="0"/>
              </a:spcAft>
              <a:buSzPts val="20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110" name="Google Shape;110;g3859f75bb62_0_59"/>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spTree>
      <p:nvGrpSpPr>
        <p:cNvPr id="111" name="Shape 111"/>
        <p:cNvGrpSpPr/>
        <p:nvPr/>
      </p:nvGrpSpPr>
      <p:grpSpPr>
        <a:xfrm>
          <a:off x="0" y="0"/>
          <a:ext cx="0" cy="0"/>
          <a:chOff x="0" y="0"/>
          <a:chExt cx="0" cy="0"/>
        </a:xfrm>
      </p:grpSpPr>
      <p:sp>
        <p:nvSpPr>
          <p:cNvPr id="112" name="Google Shape;112;g3756d5883a8_0_365"/>
          <p:cNvSpPr txBox="1"/>
          <p:nvPr>
            <p:ph type="title"/>
          </p:nvPr>
        </p:nvSpPr>
        <p:spPr>
          <a:xfrm>
            <a:off x="415600" y="2867800"/>
            <a:ext cx="11360700" cy="1122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13" name="Google Shape;113;g3756d5883a8_0_365"/>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 name="Shape 114"/>
        <p:cNvGrpSpPr/>
        <p:nvPr/>
      </p:nvGrpSpPr>
      <p:grpSpPr>
        <a:xfrm>
          <a:off x="0" y="0"/>
          <a:ext cx="0" cy="0"/>
          <a:chOff x="0" y="0"/>
          <a:chExt cx="0" cy="0"/>
        </a:xfrm>
      </p:grpSpPr>
      <p:sp>
        <p:nvSpPr>
          <p:cNvPr id="115" name="Google Shape;115;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9" name="Shape 119"/>
        <p:cNvGrpSpPr/>
        <p:nvPr/>
      </p:nvGrpSpPr>
      <p:grpSpPr>
        <a:xfrm>
          <a:off x="0" y="0"/>
          <a:ext cx="0" cy="0"/>
          <a:chOff x="0" y="0"/>
          <a:chExt cx="0" cy="0"/>
        </a:xfrm>
      </p:grpSpPr>
      <p:sp>
        <p:nvSpPr>
          <p:cNvPr id="120" name="Google Shape;120;p4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Times New Roman"/>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4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22" name="Google Shape;122;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5" name="Shape 125"/>
        <p:cNvGrpSpPr/>
        <p:nvPr/>
      </p:nvGrpSpPr>
      <p:grpSpPr>
        <a:xfrm>
          <a:off x="0" y="0"/>
          <a:ext cx="0" cy="0"/>
          <a:chOff x="0" y="0"/>
          <a:chExt cx="0" cy="0"/>
        </a:xfrm>
      </p:grpSpPr>
      <p:sp>
        <p:nvSpPr>
          <p:cNvPr id="126" name="Google Shape;126;p4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Times New Roman"/>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4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28" name="Google Shape;128;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1" name="Shape 131"/>
        <p:cNvGrpSpPr/>
        <p:nvPr/>
      </p:nvGrpSpPr>
      <p:grpSpPr>
        <a:xfrm>
          <a:off x="0" y="0"/>
          <a:ext cx="0" cy="0"/>
          <a:chOff x="0" y="0"/>
          <a:chExt cx="0" cy="0"/>
        </a:xfrm>
      </p:grpSpPr>
      <p:sp>
        <p:nvSpPr>
          <p:cNvPr id="132" name="Google Shape;132;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4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4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8" name="Shape 138"/>
        <p:cNvGrpSpPr/>
        <p:nvPr/>
      </p:nvGrpSpPr>
      <p:grpSpPr>
        <a:xfrm>
          <a:off x="0" y="0"/>
          <a:ext cx="0" cy="0"/>
          <a:chOff x="0" y="0"/>
          <a:chExt cx="0" cy="0"/>
        </a:xfrm>
      </p:grpSpPr>
      <p:sp>
        <p:nvSpPr>
          <p:cNvPr id="139" name="Google Shape;139;p4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4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1" name="Google Shape;141;p4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 name="Google Shape;142;p4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3" name="Google Shape;143;p4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7" name="Shape 147"/>
        <p:cNvGrpSpPr/>
        <p:nvPr/>
      </p:nvGrpSpPr>
      <p:grpSpPr>
        <a:xfrm>
          <a:off x="0" y="0"/>
          <a:ext cx="0" cy="0"/>
          <a:chOff x="0" y="0"/>
          <a:chExt cx="0" cy="0"/>
        </a:xfrm>
      </p:grpSpPr>
      <p:sp>
        <p:nvSpPr>
          <p:cNvPr id="148" name="Google Shape;148;p4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4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50" name="Google Shape;150;p4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1" name="Google Shape;151;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4" name="Shape 154"/>
        <p:cNvGrpSpPr/>
        <p:nvPr/>
      </p:nvGrpSpPr>
      <p:grpSpPr>
        <a:xfrm>
          <a:off x="0" y="0"/>
          <a:ext cx="0" cy="0"/>
          <a:chOff x="0" y="0"/>
          <a:chExt cx="0" cy="0"/>
        </a:xfrm>
      </p:grpSpPr>
      <p:sp>
        <p:nvSpPr>
          <p:cNvPr id="155" name="Google Shape;155;p4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49"/>
          <p:cNvSpPr/>
          <p:nvPr>
            <p:ph idx="2" type="pic"/>
          </p:nvPr>
        </p:nvSpPr>
        <p:spPr>
          <a:xfrm>
            <a:off x="5183188" y="987425"/>
            <a:ext cx="6172200" cy="4873625"/>
          </a:xfrm>
          <a:prstGeom prst="rect">
            <a:avLst/>
          </a:prstGeom>
          <a:noFill/>
          <a:ln>
            <a:noFill/>
          </a:ln>
        </p:spPr>
      </p:sp>
      <p:sp>
        <p:nvSpPr>
          <p:cNvPr id="157" name="Google Shape;157;p4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8" name="Google Shape;158;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1" name="Shape 161"/>
        <p:cNvGrpSpPr/>
        <p:nvPr/>
      </p:nvGrpSpPr>
      <p:grpSpPr>
        <a:xfrm>
          <a:off x="0" y="0"/>
          <a:ext cx="0" cy="0"/>
          <a:chOff x="0" y="0"/>
          <a:chExt cx="0" cy="0"/>
        </a:xfrm>
      </p:grpSpPr>
      <p:sp>
        <p:nvSpPr>
          <p:cNvPr id="162" name="Google Shape;162;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5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 name="Google Shape;164;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7" name="Shape 167"/>
        <p:cNvGrpSpPr/>
        <p:nvPr/>
      </p:nvGrpSpPr>
      <p:grpSpPr>
        <a:xfrm>
          <a:off x="0" y="0"/>
          <a:ext cx="0" cy="0"/>
          <a:chOff x="0" y="0"/>
          <a:chExt cx="0" cy="0"/>
        </a:xfrm>
      </p:grpSpPr>
      <p:sp>
        <p:nvSpPr>
          <p:cNvPr id="168" name="Google Shape;168;p5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5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 name="Google Shape;170;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 name="Google Shape;172;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p:spTree>
      <p:nvGrpSpPr>
        <p:cNvPr id="173" name="Shape 173"/>
        <p:cNvGrpSpPr/>
        <p:nvPr/>
      </p:nvGrpSpPr>
      <p:grpSpPr>
        <a:xfrm>
          <a:off x="0" y="0"/>
          <a:ext cx="0" cy="0"/>
          <a:chOff x="0" y="0"/>
          <a:chExt cx="0" cy="0"/>
        </a:xfrm>
      </p:grpSpPr>
      <p:sp>
        <p:nvSpPr>
          <p:cNvPr id="174" name="Google Shape;174;g39b7157ad26_0_674"/>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lnSpc>
                <a:spcPct val="100000"/>
              </a:lnSpc>
              <a:spcBef>
                <a:spcPts val="0"/>
              </a:spcBef>
              <a:spcAft>
                <a:spcPts val="0"/>
              </a:spcAft>
              <a:buSzPts val="2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175" name="Google Shape;175;g39b7157ad26_0_674"/>
          <p:cNvSpPr txBox="1"/>
          <p:nvPr>
            <p:ph idx="1" type="body"/>
          </p:nvPr>
        </p:nvSpPr>
        <p:spPr>
          <a:xfrm>
            <a:off x="304800" y="1066800"/>
            <a:ext cx="5486400" cy="3017400"/>
          </a:xfrm>
          <a:prstGeom prst="rect">
            <a:avLst/>
          </a:prstGeom>
          <a:noFill/>
          <a:ln>
            <a:noFill/>
          </a:ln>
        </p:spPr>
        <p:txBody>
          <a:bodyPr anchorCtr="0" anchor="t" bIns="30475" lIns="60950" spcFirstLastPara="1" rIns="60950" wrap="square" tIns="30475">
            <a:normAutofit/>
          </a:bodyPr>
          <a:lstStyle>
            <a:lvl1pPr indent="-361950" lvl="0" marL="457200" algn="l">
              <a:lnSpc>
                <a:spcPct val="100000"/>
              </a:lnSpc>
              <a:spcBef>
                <a:spcPts val="400"/>
              </a:spcBef>
              <a:spcAft>
                <a:spcPts val="0"/>
              </a:spcAft>
              <a:buSzPts val="2100"/>
              <a:buChar char="•"/>
              <a:defRPr/>
            </a:lvl1pPr>
            <a:lvl2pPr indent="-349250" lvl="1" marL="914400" algn="l">
              <a:lnSpc>
                <a:spcPct val="100000"/>
              </a:lnSpc>
              <a:spcBef>
                <a:spcPts val="400"/>
              </a:spcBef>
              <a:spcAft>
                <a:spcPts val="0"/>
              </a:spcAft>
              <a:buSzPts val="1900"/>
              <a:buChar char="•"/>
              <a:defRPr/>
            </a:lvl2pPr>
            <a:lvl3pPr indent="-330200" lvl="2" marL="1371600" algn="l">
              <a:lnSpc>
                <a:spcPct val="100000"/>
              </a:lnSpc>
              <a:spcBef>
                <a:spcPts val="300"/>
              </a:spcBef>
              <a:spcAft>
                <a:spcPts val="0"/>
              </a:spcAft>
              <a:buSzPts val="1600"/>
              <a:buChar char="•"/>
              <a:defRPr/>
            </a:lvl3pPr>
            <a:lvl4pPr indent="-311150" lvl="3" marL="1828800" algn="l">
              <a:lnSpc>
                <a:spcPct val="100000"/>
              </a:lnSpc>
              <a:spcBef>
                <a:spcPts val="300"/>
              </a:spcBef>
              <a:spcAft>
                <a:spcPts val="0"/>
              </a:spcAft>
              <a:buSzPts val="1300"/>
              <a:buChar char="•"/>
              <a:defRPr/>
            </a:lvl4pPr>
            <a:lvl5pPr indent="-311150" lvl="4" marL="2286000" algn="l">
              <a:lnSpc>
                <a:spcPct val="100000"/>
              </a:lnSpc>
              <a:spcBef>
                <a:spcPts val="300"/>
              </a:spcBef>
              <a:spcAft>
                <a:spcPts val="0"/>
              </a:spcAft>
              <a:buSzPts val="1300"/>
              <a:buChar char="•"/>
              <a:defRPr/>
            </a:lvl5pPr>
            <a:lvl6pPr indent="-311150" lvl="5" marL="2743200" algn="l">
              <a:lnSpc>
                <a:spcPct val="100000"/>
              </a:lnSpc>
              <a:spcBef>
                <a:spcPts val="300"/>
              </a:spcBef>
              <a:spcAft>
                <a:spcPts val="0"/>
              </a:spcAft>
              <a:buSzPts val="1300"/>
              <a:buChar char="•"/>
              <a:defRPr/>
            </a:lvl6pPr>
            <a:lvl7pPr indent="-311150" lvl="6" marL="3200400" algn="l">
              <a:lnSpc>
                <a:spcPct val="100000"/>
              </a:lnSpc>
              <a:spcBef>
                <a:spcPts val="300"/>
              </a:spcBef>
              <a:spcAft>
                <a:spcPts val="0"/>
              </a:spcAft>
              <a:buSzPts val="1300"/>
              <a:buChar char="•"/>
              <a:defRPr/>
            </a:lvl7pPr>
            <a:lvl8pPr indent="-311150" lvl="7" marL="3657600" algn="l">
              <a:lnSpc>
                <a:spcPct val="100000"/>
              </a:lnSpc>
              <a:spcBef>
                <a:spcPts val="300"/>
              </a:spcBef>
              <a:spcAft>
                <a:spcPts val="0"/>
              </a:spcAft>
              <a:buSzPts val="1300"/>
              <a:buChar char="•"/>
              <a:defRPr/>
            </a:lvl8pPr>
            <a:lvl9pPr indent="-311150" lvl="8" marL="4114800" algn="l">
              <a:lnSpc>
                <a:spcPct val="100000"/>
              </a:lnSpc>
              <a:spcBef>
                <a:spcPts val="300"/>
              </a:spcBef>
              <a:spcAft>
                <a:spcPts val="0"/>
              </a:spcAft>
              <a:buSzPts val="1300"/>
              <a:buChar char="•"/>
              <a:defRPr/>
            </a:lvl9pPr>
          </a:lstStyle>
          <a:p/>
        </p:txBody>
      </p:sp>
      <p:sp>
        <p:nvSpPr>
          <p:cNvPr id="176" name="Google Shape;176;g39b7157ad26_0_674"/>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177" name="Google Shape;177;g39b7157ad26_0_674"/>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178" name="Google Shape;178;g39b7157ad26_0_674"/>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5" name="Shape 185"/>
        <p:cNvGrpSpPr/>
        <p:nvPr/>
      </p:nvGrpSpPr>
      <p:grpSpPr>
        <a:xfrm>
          <a:off x="0" y="0"/>
          <a:ext cx="0" cy="0"/>
          <a:chOff x="0" y="0"/>
          <a:chExt cx="0" cy="0"/>
        </a:xfrm>
      </p:grpSpPr>
      <p:sp>
        <p:nvSpPr>
          <p:cNvPr id="186" name="Google Shape;186;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0" name="Shape 190"/>
        <p:cNvGrpSpPr/>
        <p:nvPr/>
      </p:nvGrpSpPr>
      <p:grpSpPr>
        <a:xfrm>
          <a:off x="0" y="0"/>
          <a:ext cx="0" cy="0"/>
          <a:chOff x="0" y="0"/>
          <a:chExt cx="0" cy="0"/>
        </a:xfrm>
      </p:grpSpPr>
      <p:sp>
        <p:nvSpPr>
          <p:cNvPr id="191" name="Google Shape;191;p5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Times New Roman"/>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5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3" name="Google Shape;193;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6" name="Shape 196"/>
        <p:cNvGrpSpPr/>
        <p:nvPr/>
      </p:nvGrpSpPr>
      <p:grpSpPr>
        <a:xfrm>
          <a:off x="0" y="0"/>
          <a:ext cx="0" cy="0"/>
          <a:chOff x="0" y="0"/>
          <a:chExt cx="0" cy="0"/>
        </a:xfrm>
      </p:grpSpPr>
      <p:sp>
        <p:nvSpPr>
          <p:cNvPr id="197" name="Google Shape;197;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 name="Google Shape;199;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1" name="Google Shape;201;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2" name="Shape 202"/>
        <p:cNvGrpSpPr/>
        <p:nvPr/>
      </p:nvGrpSpPr>
      <p:grpSpPr>
        <a:xfrm>
          <a:off x="0" y="0"/>
          <a:ext cx="0" cy="0"/>
          <a:chOff x="0" y="0"/>
          <a:chExt cx="0" cy="0"/>
        </a:xfrm>
      </p:grpSpPr>
      <p:sp>
        <p:nvSpPr>
          <p:cNvPr id="203" name="Google Shape;203;p5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Times New Roman"/>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p5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05" name="Google Shape;205;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8" name="Shape 208"/>
        <p:cNvGrpSpPr/>
        <p:nvPr/>
      </p:nvGrpSpPr>
      <p:grpSpPr>
        <a:xfrm>
          <a:off x="0" y="0"/>
          <a:ext cx="0" cy="0"/>
          <a:chOff x="0" y="0"/>
          <a:chExt cx="0" cy="0"/>
        </a:xfrm>
      </p:grpSpPr>
      <p:sp>
        <p:nvSpPr>
          <p:cNvPr id="209" name="Google Shape;209;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p5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1" name="Google Shape;211;p5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3" name="Google Shape;213;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4" name="Google Shape;214;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15" name="Shape 215"/>
        <p:cNvGrpSpPr/>
        <p:nvPr/>
      </p:nvGrpSpPr>
      <p:grpSpPr>
        <a:xfrm>
          <a:off x="0" y="0"/>
          <a:ext cx="0" cy="0"/>
          <a:chOff x="0" y="0"/>
          <a:chExt cx="0" cy="0"/>
        </a:xfrm>
      </p:grpSpPr>
      <p:sp>
        <p:nvSpPr>
          <p:cNvPr id="216" name="Google Shape;216;p5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7" name="Google Shape;217;p5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8" name="Google Shape;218;p5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9" name="Google Shape;219;p5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20" name="Google Shape;220;p5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1" name="Google Shape;221;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2" name="Google Shape;222;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4" name="Shape 224"/>
        <p:cNvGrpSpPr/>
        <p:nvPr/>
      </p:nvGrpSpPr>
      <p:grpSpPr>
        <a:xfrm>
          <a:off x="0" y="0"/>
          <a:ext cx="0" cy="0"/>
          <a:chOff x="0" y="0"/>
          <a:chExt cx="0" cy="0"/>
        </a:xfrm>
      </p:grpSpPr>
      <p:sp>
        <p:nvSpPr>
          <p:cNvPr id="225" name="Google Shape;225;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6" name="Google Shape;226;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7" name="Google Shape;227;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28" name="Shape 228"/>
        <p:cNvGrpSpPr/>
        <p:nvPr/>
      </p:nvGrpSpPr>
      <p:grpSpPr>
        <a:xfrm>
          <a:off x="0" y="0"/>
          <a:ext cx="0" cy="0"/>
          <a:chOff x="0" y="0"/>
          <a:chExt cx="0" cy="0"/>
        </a:xfrm>
      </p:grpSpPr>
      <p:sp>
        <p:nvSpPr>
          <p:cNvPr id="229" name="Google Shape;229;p5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5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31" name="Google Shape;231;p5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2" name="Google Shape;232;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3" name="Google Shape;233;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4" name="Google Shape;234;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5" name="Shape 235"/>
        <p:cNvGrpSpPr/>
        <p:nvPr/>
      </p:nvGrpSpPr>
      <p:grpSpPr>
        <a:xfrm>
          <a:off x="0" y="0"/>
          <a:ext cx="0" cy="0"/>
          <a:chOff x="0" y="0"/>
          <a:chExt cx="0" cy="0"/>
        </a:xfrm>
      </p:grpSpPr>
      <p:sp>
        <p:nvSpPr>
          <p:cNvPr id="236" name="Google Shape;236;p5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7" name="Google Shape;237;p59"/>
          <p:cNvSpPr/>
          <p:nvPr>
            <p:ph idx="2" type="pic"/>
          </p:nvPr>
        </p:nvSpPr>
        <p:spPr>
          <a:xfrm>
            <a:off x="5183188" y="987425"/>
            <a:ext cx="6172200" cy="4873625"/>
          </a:xfrm>
          <a:prstGeom prst="rect">
            <a:avLst/>
          </a:prstGeom>
          <a:noFill/>
          <a:ln>
            <a:noFill/>
          </a:ln>
        </p:spPr>
      </p:sp>
      <p:sp>
        <p:nvSpPr>
          <p:cNvPr id="238" name="Google Shape;238;p5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9" name="Google Shape;239;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0" name="Google Shape;240;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1" name="Google Shape;241;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2" name="Shape 242"/>
        <p:cNvGrpSpPr/>
        <p:nvPr/>
      </p:nvGrpSpPr>
      <p:grpSpPr>
        <a:xfrm>
          <a:off x="0" y="0"/>
          <a:ext cx="0" cy="0"/>
          <a:chOff x="0" y="0"/>
          <a:chExt cx="0" cy="0"/>
        </a:xfrm>
      </p:grpSpPr>
      <p:sp>
        <p:nvSpPr>
          <p:cNvPr id="243" name="Google Shape;243;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6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 name="Google Shape;245;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6" name="Google Shape;246;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7" name="Google Shape;247;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8" name="Shape 248"/>
        <p:cNvGrpSpPr/>
        <p:nvPr/>
      </p:nvGrpSpPr>
      <p:grpSpPr>
        <a:xfrm>
          <a:off x="0" y="0"/>
          <a:ext cx="0" cy="0"/>
          <a:chOff x="0" y="0"/>
          <a:chExt cx="0" cy="0"/>
        </a:xfrm>
      </p:grpSpPr>
      <p:sp>
        <p:nvSpPr>
          <p:cNvPr id="249" name="Google Shape;249;p6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0" name="Google Shape;250;p6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 name="Google Shape;251;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2" name="Google Shape;252;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3" name="Google Shape;253;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5" Type="http://schemas.openxmlformats.org/officeDocument/2006/relationships/theme" Target="../theme/theme2.xml"/><Relationship Id="rId14" Type="http://schemas.openxmlformats.org/officeDocument/2006/relationships/slideLayout" Target="../slideLayouts/slideLayout2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8.xml"/><Relationship Id="rId10" Type="http://schemas.openxmlformats.org/officeDocument/2006/relationships/slideLayout" Target="../slideLayouts/slideLayout37.xml"/><Relationship Id="rId12" Type="http://schemas.openxmlformats.org/officeDocument/2006/relationships/theme" Target="../theme/theme3.xml"/><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sp>
        <p:nvSpPr>
          <p:cNvPr id="92" name="Google Shape;9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Times New Roman"/>
              <a:buNone/>
              <a:defRPr b="0" i="0" sz="4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3" name="Google Shape;93;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4" name="Google Shape;94;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5" name="Google Shape;9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6" name="Google Shape;9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9" name="Shape 179"/>
        <p:cNvGrpSpPr/>
        <p:nvPr/>
      </p:nvGrpSpPr>
      <p:grpSpPr>
        <a:xfrm>
          <a:off x="0" y="0"/>
          <a:ext cx="0" cy="0"/>
          <a:chOff x="0" y="0"/>
          <a:chExt cx="0" cy="0"/>
        </a:xfrm>
      </p:grpSpPr>
      <p:sp>
        <p:nvSpPr>
          <p:cNvPr id="180" name="Google Shape;18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Times New Roman"/>
              <a:buNone/>
              <a:defRPr b="0" i="0" sz="4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1" name="Google Shape;181;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2" name="Google Shape;182;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83" name="Google Shape;183;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84" name="Google Shape;184;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0.xml"/><Relationship Id="rId3" Type="http://schemas.openxmlformats.org/officeDocument/2006/relationships/image" Target="../media/image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4.xml"/><Relationship Id="rId3" Type="http://schemas.openxmlformats.org/officeDocument/2006/relationships/image" Target="../media/image5.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5.xml"/><Relationship Id="rId3" Type="http://schemas.openxmlformats.org/officeDocument/2006/relationships/image" Target="../media/image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 Id="rId3" Type="http://schemas.openxmlformats.org/officeDocument/2006/relationships/image" Target="../media/image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8.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2.xml"/><Relationship Id="rId3" Type="http://schemas.openxmlformats.org/officeDocument/2006/relationships/image" Target="../media/image1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8.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b0aa6bf6d9_0_1462"/>
          <p:cNvSpPr txBox="1"/>
          <p:nvPr>
            <p:ph type="ctrTitle"/>
          </p:nvPr>
        </p:nvSpPr>
        <p:spPr>
          <a:xfrm>
            <a:off x="127200" y="1766450"/>
            <a:ext cx="11937600" cy="15414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2F5496"/>
              </a:buClr>
              <a:buSzPts val="4400"/>
              <a:buFont typeface="Times New Roman"/>
              <a:buNone/>
            </a:pPr>
            <a:r>
              <a:rPr b="1" lang="en-US" sz="10000">
                <a:solidFill>
                  <a:srgbClr val="2F5496"/>
                </a:solidFill>
                <a:latin typeface="Questrial"/>
                <a:ea typeface="Questrial"/>
                <a:cs typeface="Questrial"/>
                <a:sym typeface="Questrial"/>
              </a:rPr>
              <a:t>Job Search</a:t>
            </a:r>
            <a:endParaRPr sz="10000">
              <a:latin typeface="Questrial"/>
              <a:ea typeface="Questrial"/>
              <a:cs typeface="Questrial"/>
              <a:sym typeface="Questrial"/>
            </a:endParaRPr>
          </a:p>
        </p:txBody>
      </p:sp>
      <p:sp>
        <p:nvSpPr>
          <p:cNvPr id="259" name="Google Shape;259;g3b0aa6bf6d9_0_1462"/>
          <p:cNvSpPr txBox="1"/>
          <p:nvPr>
            <p:ph idx="4294967295" type="title"/>
          </p:nvPr>
        </p:nvSpPr>
        <p:spPr>
          <a:xfrm>
            <a:off x="838200" y="4194925"/>
            <a:ext cx="10515600" cy="13257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US" sz="4000">
                <a:latin typeface="Montserrat"/>
                <a:ea typeface="Montserrat"/>
                <a:cs typeface="Montserrat"/>
                <a:sym typeface="Montserrat"/>
              </a:rPr>
              <a:t>What is it?</a:t>
            </a:r>
            <a:endParaRPr b="1" sz="4000">
              <a:latin typeface="Montserrat"/>
              <a:ea typeface="Montserrat"/>
              <a:cs typeface="Montserrat"/>
              <a:sym typeface="Montserrat"/>
            </a:endParaRPr>
          </a:p>
          <a:p>
            <a:pPr indent="0" lvl="0" marL="0" rtl="0" algn="ctr">
              <a:spcBef>
                <a:spcPts val="0"/>
              </a:spcBef>
              <a:spcAft>
                <a:spcPts val="0"/>
              </a:spcAft>
              <a:buNone/>
            </a:pPr>
            <a:r>
              <a:rPr b="1" lang="en-US" sz="4000">
                <a:latin typeface="Montserrat"/>
                <a:ea typeface="Montserrat"/>
                <a:cs typeface="Montserrat"/>
                <a:sym typeface="Montserrat"/>
              </a:rPr>
              <a:t>Why is it important?</a:t>
            </a:r>
            <a:endParaRPr b="1" sz="4000">
              <a:latin typeface="Montserrat"/>
              <a:ea typeface="Montserrat"/>
              <a:cs typeface="Montserrat"/>
              <a:sym typeface="Montserrat"/>
            </a:endParaRPr>
          </a:p>
          <a:p>
            <a:pPr indent="0" lvl="0" marL="0" rtl="0" algn="ctr">
              <a:spcBef>
                <a:spcPts val="0"/>
              </a:spcBef>
              <a:spcAft>
                <a:spcPts val="0"/>
              </a:spcAft>
              <a:buNone/>
            </a:pPr>
            <a:r>
              <a:rPr b="1" lang="en-US" sz="4000">
                <a:latin typeface="Montserrat"/>
                <a:ea typeface="Montserrat"/>
                <a:cs typeface="Montserrat"/>
                <a:sym typeface="Montserrat"/>
              </a:rPr>
              <a:t>What are the ground roles?</a:t>
            </a:r>
            <a:endParaRPr b="1" sz="4000">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a961275bae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latin typeface="Montserrat"/>
                <a:ea typeface="Montserrat"/>
                <a:cs typeface="Montserrat"/>
                <a:sym typeface="Montserrat"/>
              </a:rPr>
              <a:t>Working, Studying, Business </a:t>
            </a:r>
            <a:endParaRPr b="1" sz="3100">
              <a:latin typeface="Montserrat"/>
              <a:ea typeface="Montserrat"/>
              <a:cs typeface="Montserrat"/>
              <a:sym typeface="Montserrat"/>
            </a:endParaRPr>
          </a:p>
        </p:txBody>
      </p:sp>
      <p:sp>
        <p:nvSpPr>
          <p:cNvPr id="266" name="Google Shape;266;g3a961275bae_0_0"/>
          <p:cNvSpPr txBox="1"/>
          <p:nvPr>
            <p:ph idx="1" type="body"/>
          </p:nvPr>
        </p:nvSpPr>
        <p:spPr>
          <a:xfrm>
            <a:off x="838200" y="1788425"/>
            <a:ext cx="10515600" cy="4548000"/>
          </a:xfrm>
          <a:prstGeom prst="rect">
            <a:avLst/>
          </a:prstGeom>
        </p:spPr>
        <p:txBody>
          <a:bodyPr anchorCtr="0" anchor="t" bIns="45700" lIns="91425" spcFirstLastPara="1" rIns="91425" wrap="square" tIns="45700">
            <a:normAutofit lnSpcReduction="10000"/>
          </a:bodyPr>
          <a:lstStyle/>
          <a:p>
            <a:pPr indent="-400050" lvl="0" marL="457200" rtl="0" algn="l">
              <a:spcBef>
                <a:spcPts val="1000"/>
              </a:spcBef>
              <a:spcAft>
                <a:spcPts val="0"/>
              </a:spcAft>
              <a:buSzPts val="2700"/>
              <a:buFont typeface="Montserrat"/>
              <a:buAutoNum type="arabicPeriod"/>
            </a:pPr>
            <a:r>
              <a:rPr b="1" lang="en-US" sz="2700">
                <a:latin typeface="Montserrat"/>
                <a:ea typeface="Montserrat"/>
                <a:cs typeface="Montserrat"/>
                <a:sym typeface="Montserrat"/>
              </a:rPr>
              <a:t>Adjustability</a:t>
            </a:r>
            <a:r>
              <a:rPr lang="en-US" sz="2700">
                <a:latin typeface="Montserrat"/>
                <a:ea typeface="Montserrat"/>
                <a:cs typeface="Montserrat"/>
                <a:sym typeface="Montserrat"/>
              </a:rPr>
              <a:t>: Language, culture, community, food, weather </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b="1" lang="en-US" sz="2700">
                <a:latin typeface="Montserrat"/>
                <a:ea typeface="Montserrat"/>
                <a:cs typeface="Montserrat"/>
                <a:sym typeface="Montserrat"/>
              </a:rPr>
              <a:t>Long term prospects</a:t>
            </a:r>
            <a:r>
              <a:rPr lang="en-US" sz="2700">
                <a:latin typeface="Montserrat"/>
                <a:ea typeface="Montserrat"/>
                <a:cs typeface="Montserrat"/>
                <a:sym typeface="Montserrat"/>
              </a:rPr>
              <a:t>: economy, society</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b="1" lang="en-US" sz="2700">
                <a:latin typeface="Montserrat"/>
                <a:ea typeface="Montserrat"/>
                <a:cs typeface="Montserrat"/>
                <a:sym typeface="Montserrat"/>
              </a:rPr>
              <a:t>Opportunities</a:t>
            </a:r>
            <a:r>
              <a:rPr lang="en-US" sz="2700">
                <a:latin typeface="Montserrat"/>
                <a:ea typeface="Montserrat"/>
                <a:cs typeface="Montserrat"/>
                <a:sym typeface="Montserrat"/>
              </a:rPr>
              <a:t>: growth prospects </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b="1" lang="en-US" sz="2700">
                <a:latin typeface="Montserrat"/>
                <a:ea typeface="Montserrat"/>
                <a:cs typeface="Montserrat"/>
                <a:sym typeface="Montserrat"/>
              </a:rPr>
              <a:t>Cost of living</a:t>
            </a:r>
            <a:r>
              <a:rPr lang="en-US" sz="2700">
                <a:latin typeface="Montserrat"/>
                <a:ea typeface="Montserrat"/>
                <a:cs typeface="Montserrat"/>
                <a:sym typeface="Montserrat"/>
              </a:rPr>
              <a:t>: safety, legal security, anti-immigration  </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b="1" lang="en-US" sz="2700">
                <a:latin typeface="Montserrat"/>
                <a:ea typeface="Montserrat"/>
                <a:cs typeface="Montserrat"/>
                <a:sym typeface="Montserrat"/>
              </a:rPr>
              <a:t>Financials</a:t>
            </a:r>
            <a:r>
              <a:rPr lang="en-US" sz="2700">
                <a:latin typeface="Montserrat"/>
                <a:ea typeface="Montserrat"/>
                <a:cs typeface="Montserrat"/>
                <a:sym typeface="Montserrat"/>
              </a:rPr>
              <a:t>: education, income, long term </a:t>
            </a:r>
            <a:endParaRPr sz="2700">
              <a:latin typeface="Montserrat"/>
              <a:ea typeface="Montserrat"/>
              <a:cs typeface="Montserrat"/>
              <a:sym typeface="Montserrat"/>
            </a:endParaRPr>
          </a:p>
          <a:p>
            <a:pPr indent="0" lvl="0" marL="0" rtl="0" algn="l">
              <a:spcBef>
                <a:spcPts val="1000"/>
              </a:spcBef>
              <a:spcAft>
                <a:spcPts val="0"/>
              </a:spcAft>
              <a:buNone/>
            </a:pPr>
            <a:r>
              <a:t/>
            </a:r>
            <a:endParaRPr sz="2700">
              <a:latin typeface="Montserrat"/>
              <a:ea typeface="Montserrat"/>
              <a:cs typeface="Montserrat"/>
              <a:sym typeface="Montserrat"/>
            </a:endParaRPr>
          </a:p>
          <a:p>
            <a:pPr indent="0" lvl="0" marL="0" rtl="0" algn="l">
              <a:spcBef>
                <a:spcPts val="1000"/>
              </a:spcBef>
              <a:spcAft>
                <a:spcPts val="0"/>
              </a:spcAft>
              <a:buNone/>
            </a:pPr>
            <a:r>
              <a:rPr lang="en-US" sz="2700">
                <a:latin typeface="Montserrat"/>
                <a:ea typeface="Montserrat"/>
                <a:cs typeface="Montserrat"/>
                <a:sym typeface="Montserrat"/>
              </a:rPr>
              <a:t>Where does the opportunity rest for you?</a:t>
            </a:r>
            <a:endParaRPr sz="2700">
              <a:latin typeface="Montserrat"/>
              <a:ea typeface="Montserrat"/>
              <a:cs typeface="Montserrat"/>
              <a:sym typeface="Montserrat"/>
            </a:endParaRPr>
          </a:p>
          <a:p>
            <a:pPr indent="0" lvl="0" marL="0" rtl="0" algn="l">
              <a:spcBef>
                <a:spcPts val="1000"/>
              </a:spcBef>
              <a:spcAft>
                <a:spcPts val="0"/>
              </a:spcAft>
              <a:buNone/>
            </a:pPr>
            <a:r>
              <a:rPr lang="en-US" sz="2200">
                <a:latin typeface="Montserrat"/>
                <a:ea typeface="Montserrat"/>
                <a:cs typeface="Montserrat"/>
                <a:sym typeface="Montserrat"/>
              </a:rPr>
              <a:t>Tip: Travelling - hint: scholarships</a:t>
            </a:r>
            <a:endParaRPr i="1" sz="2600">
              <a:latin typeface="Montserrat"/>
              <a:ea typeface="Montserrat"/>
              <a:cs typeface="Montserrat"/>
              <a:sym typeface="Montserrat"/>
            </a:endParaRPr>
          </a:p>
          <a:p>
            <a:pPr indent="0" lvl="0" marL="0" rtl="0" algn="l">
              <a:spcBef>
                <a:spcPts val="1000"/>
              </a:spcBef>
              <a:spcAft>
                <a:spcPts val="0"/>
              </a:spcAft>
              <a:buNone/>
            </a:pPr>
            <a:r>
              <a:rPr lang="en-US" sz="2200">
                <a:latin typeface="Montserrat"/>
                <a:ea typeface="Montserrat"/>
                <a:cs typeface="Montserrat"/>
                <a:sym typeface="Montserrat"/>
              </a:rPr>
              <a:t>Research </a:t>
            </a:r>
            <a:endParaRPr sz="2200">
              <a:latin typeface="Montserrat"/>
              <a:ea typeface="Montserrat"/>
              <a:cs typeface="Montserrat"/>
              <a:sym typeface="Montserrat"/>
            </a:endParaRPr>
          </a:p>
          <a:p>
            <a:pPr indent="0" lvl="0" marL="0" rtl="0" algn="l">
              <a:spcBef>
                <a:spcPts val="1000"/>
              </a:spcBef>
              <a:spcAft>
                <a:spcPts val="0"/>
              </a:spcAft>
              <a:buNone/>
            </a:pPr>
            <a:r>
              <a:rPr lang="en-US" sz="2200">
                <a:latin typeface="Montserrat"/>
                <a:ea typeface="Montserrat"/>
                <a:cs typeface="Montserrat"/>
                <a:sym typeface="Montserrat"/>
              </a:rPr>
              <a:t>Speak with people from network </a:t>
            </a:r>
            <a:endParaRPr sz="2200">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a961275bae_0_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latin typeface="Montserrat"/>
                <a:ea typeface="Montserrat"/>
                <a:cs typeface="Montserrat"/>
                <a:sym typeface="Montserrat"/>
              </a:rPr>
              <a:t>Steps to a job/internship</a:t>
            </a:r>
            <a:endParaRPr b="1" sz="4000">
              <a:latin typeface="Montserrat"/>
              <a:ea typeface="Montserrat"/>
              <a:cs typeface="Montserrat"/>
              <a:sym typeface="Montserrat"/>
            </a:endParaRPr>
          </a:p>
        </p:txBody>
      </p:sp>
      <p:sp>
        <p:nvSpPr>
          <p:cNvPr id="273" name="Google Shape;273;g3a961275bae_0_6"/>
          <p:cNvSpPr txBox="1"/>
          <p:nvPr>
            <p:ph idx="1" type="body"/>
          </p:nvPr>
        </p:nvSpPr>
        <p:spPr>
          <a:xfrm>
            <a:off x="838200" y="1788425"/>
            <a:ext cx="10515600" cy="4548000"/>
          </a:xfrm>
          <a:prstGeom prst="rect">
            <a:avLst/>
          </a:prstGeom>
        </p:spPr>
        <p:txBody>
          <a:bodyPr anchorCtr="0" anchor="t" bIns="45700" lIns="91425" spcFirstLastPara="1" rIns="91425" wrap="square" tIns="45700">
            <a:normAutofit/>
          </a:bodyPr>
          <a:lstStyle/>
          <a:p>
            <a:pPr indent="-400050" lvl="0" marL="457200" rtl="0" algn="l">
              <a:spcBef>
                <a:spcPts val="1000"/>
              </a:spcBef>
              <a:spcAft>
                <a:spcPts val="0"/>
              </a:spcAft>
              <a:buClr>
                <a:srgbClr val="38761D"/>
              </a:buClr>
              <a:buSzPts val="2700"/>
              <a:buFont typeface="Montserrat"/>
              <a:buAutoNum type="arabicPeriod"/>
            </a:pPr>
            <a:r>
              <a:rPr lang="en-US" sz="2700">
                <a:solidFill>
                  <a:srgbClr val="38761D"/>
                </a:solidFill>
                <a:latin typeface="Montserrat"/>
                <a:ea typeface="Montserrat"/>
                <a:cs typeface="Montserrat"/>
                <a:sym typeface="Montserrat"/>
              </a:rPr>
              <a:t>Set up a LinkedIn</a:t>
            </a:r>
            <a:endParaRPr sz="2700">
              <a:solidFill>
                <a:srgbClr val="38761D"/>
              </a:solidFill>
              <a:latin typeface="Montserrat"/>
              <a:ea typeface="Montserrat"/>
              <a:cs typeface="Montserrat"/>
              <a:sym typeface="Montserrat"/>
            </a:endParaRPr>
          </a:p>
          <a:p>
            <a:pPr indent="-400050" lvl="0" marL="457200" rtl="0" algn="l">
              <a:spcBef>
                <a:spcPts val="0"/>
              </a:spcBef>
              <a:spcAft>
                <a:spcPts val="0"/>
              </a:spcAft>
              <a:buClr>
                <a:srgbClr val="38761D"/>
              </a:buClr>
              <a:buSzPts val="2700"/>
              <a:buFont typeface="Montserrat"/>
              <a:buAutoNum type="arabicPeriod"/>
            </a:pPr>
            <a:r>
              <a:rPr lang="en-US" sz="2700">
                <a:solidFill>
                  <a:srgbClr val="38761D"/>
                </a:solidFill>
                <a:latin typeface="Montserrat"/>
                <a:ea typeface="Montserrat"/>
                <a:cs typeface="Montserrat"/>
                <a:sym typeface="Montserrat"/>
              </a:rPr>
              <a:t>Prepare a resume </a:t>
            </a:r>
            <a:endParaRPr sz="2700">
              <a:solidFill>
                <a:srgbClr val="38761D"/>
              </a:solidFill>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b="1" lang="en-US" sz="2700">
                <a:latin typeface="Montserrat"/>
                <a:ea typeface="Montserrat"/>
                <a:cs typeface="Montserrat"/>
                <a:sym typeface="Montserrat"/>
              </a:rPr>
              <a:t>Search for job </a:t>
            </a:r>
            <a:endParaRPr b="1" sz="2700">
              <a:latin typeface="Montserrat"/>
              <a:ea typeface="Montserrat"/>
              <a:cs typeface="Montserrat"/>
              <a:sym typeface="Montserrat"/>
            </a:endParaRPr>
          </a:p>
          <a:p>
            <a:pPr indent="-400050" lvl="1" marL="914400" rtl="0" algn="l">
              <a:spcBef>
                <a:spcPts val="0"/>
              </a:spcBef>
              <a:spcAft>
                <a:spcPts val="0"/>
              </a:spcAft>
              <a:buSzPts val="2700"/>
              <a:buFont typeface="Montserrat"/>
              <a:buAutoNum type="alphaLcPeriod"/>
            </a:pPr>
            <a:r>
              <a:rPr b="1" lang="en-US" sz="2700">
                <a:latin typeface="Montserrat"/>
                <a:ea typeface="Montserrat"/>
                <a:cs typeface="Montserrat"/>
                <a:sym typeface="Montserrat"/>
              </a:rPr>
              <a:t>Inbound</a:t>
            </a:r>
            <a:endParaRPr b="1" sz="2700">
              <a:latin typeface="Montserrat"/>
              <a:ea typeface="Montserrat"/>
              <a:cs typeface="Montserrat"/>
              <a:sym typeface="Montserrat"/>
            </a:endParaRPr>
          </a:p>
          <a:p>
            <a:pPr indent="-400050" lvl="1" marL="914400" rtl="0" algn="l">
              <a:spcBef>
                <a:spcPts val="0"/>
              </a:spcBef>
              <a:spcAft>
                <a:spcPts val="0"/>
              </a:spcAft>
              <a:buSzPts val="2700"/>
              <a:buFont typeface="Montserrat"/>
              <a:buAutoNum type="alphaLcPeriod"/>
            </a:pPr>
            <a:r>
              <a:rPr b="1" lang="en-US" sz="2700">
                <a:latin typeface="Montserrat"/>
                <a:ea typeface="Montserrat"/>
                <a:cs typeface="Montserrat"/>
                <a:sym typeface="Montserrat"/>
              </a:rPr>
              <a:t>Outbound </a:t>
            </a:r>
            <a:endParaRPr b="1" sz="2700">
              <a:latin typeface="Montserrat"/>
              <a:ea typeface="Montserrat"/>
              <a:cs typeface="Montserrat"/>
              <a:sym typeface="Montserrat"/>
            </a:endParaRPr>
          </a:p>
          <a:p>
            <a:pPr indent="-400050" lvl="2" marL="1371600" rtl="0" algn="l">
              <a:spcBef>
                <a:spcPts val="0"/>
              </a:spcBef>
              <a:spcAft>
                <a:spcPts val="0"/>
              </a:spcAft>
              <a:buSzPts val="2700"/>
              <a:buFont typeface="Montserrat"/>
              <a:buAutoNum type="romanLcPeriod"/>
            </a:pPr>
            <a:r>
              <a:rPr lang="en-US" sz="2700">
                <a:latin typeface="Montserrat"/>
                <a:ea typeface="Montserrat"/>
                <a:cs typeface="Montserrat"/>
                <a:sym typeface="Montserrat"/>
              </a:rPr>
              <a:t>Advertised positions </a:t>
            </a:r>
            <a:endParaRPr sz="2700">
              <a:latin typeface="Montserrat"/>
              <a:ea typeface="Montserrat"/>
              <a:cs typeface="Montserrat"/>
              <a:sym typeface="Montserrat"/>
            </a:endParaRPr>
          </a:p>
          <a:p>
            <a:pPr indent="-400050" lvl="3" marL="1828800" rtl="0" algn="l">
              <a:spcBef>
                <a:spcPts val="0"/>
              </a:spcBef>
              <a:spcAft>
                <a:spcPts val="0"/>
              </a:spcAft>
              <a:buSzPts val="2700"/>
              <a:buFont typeface="Montserrat"/>
              <a:buAutoNum type="arabicPeriod"/>
            </a:pPr>
            <a:r>
              <a:rPr lang="en-US" sz="2700">
                <a:latin typeface="Montserrat"/>
                <a:ea typeface="Montserrat"/>
                <a:cs typeface="Montserrat"/>
                <a:sym typeface="Montserrat"/>
              </a:rPr>
              <a:t>Entry tracks</a:t>
            </a:r>
            <a:endParaRPr sz="2700">
              <a:latin typeface="Montserrat"/>
              <a:ea typeface="Montserrat"/>
              <a:cs typeface="Montserrat"/>
              <a:sym typeface="Montserrat"/>
            </a:endParaRPr>
          </a:p>
          <a:p>
            <a:pPr indent="-400050" lvl="2" marL="1371600" rtl="0" algn="l">
              <a:spcBef>
                <a:spcPts val="0"/>
              </a:spcBef>
              <a:spcAft>
                <a:spcPts val="0"/>
              </a:spcAft>
              <a:buSzPts val="2700"/>
              <a:buFont typeface="Montserrat"/>
              <a:buAutoNum type="romanLcPeriod"/>
            </a:pPr>
            <a:r>
              <a:rPr lang="en-US" sz="2700">
                <a:latin typeface="Montserrat"/>
                <a:ea typeface="Montserrat"/>
                <a:cs typeface="Montserrat"/>
                <a:sym typeface="Montserrat"/>
              </a:rPr>
              <a:t>Network (existing) + Networking </a:t>
            </a:r>
            <a:endParaRPr sz="2700">
              <a:latin typeface="Montserrat"/>
              <a:ea typeface="Montserrat"/>
              <a:cs typeface="Montserrat"/>
              <a:sym typeface="Montserrat"/>
            </a:endParaRPr>
          </a:p>
          <a:p>
            <a:pPr indent="-400050" lvl="3" marL="1828800" rtl="0" algn="l">
              <a:spcBef>
                <a:spcPts val="0"/>
              </a:spcBef>
              <a:spcAft>
                <a:spcPts val="0"/>
              </a:spcAft>
              <a:buSzPts val="2700"/>
              <a:buFont typeface="Montserrat"/>
              <a:buAutoNum type="arabicPeriod"/>
            </a:pPr>
            <a:r>
              <a:rPr lang="en-US" sz="2700">
                <a:latin typeface="Montserrat"/>
                <a:ea typeface="Montserrat"/>
                <a:cs typeface="Montserrat"/>
                <a:sym typeface="Montserrat"/>
              </a:rPr>
              <a:t>etiquettes of networking [keeping updated]</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lang="en-US" sz="2700">
                <a:latin typeface="Montserrat"/>
                <a:ea typeface="Montserrat"/>
                <a:cs typeface="Montserrat"/>
                <a:sym typeface="Montserrat"/>
              </a:rPr>
              <a:t>Cover Letter + Resume customize </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lang="en-US" sz="2700">
                <a:latin typeface="Montserrat"/>
                <a:ea typeface="Montserrat"/>
                <a:cs typeface="Montserrat"/>
                <a:sym typeface="Montserrat"/>
              </a:rPr>
              <a:t>Preparing for an interview</a:t>
            </a:r>
            <a:endParaRPr sz="2700">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a961275bae_0_1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latin typeface="Montserrat"/>
                <a:ea typeface="Montserrat"/>
                <a:cs typeface="Montserrat"/>
                <a:sym typeface="Montserrat"/>
              </a:rPr>
              <a:t>Cover Letter</a:t>
            </a:r>
            <a:endParaRPr b="1" sz="4000">
              <a:latin typeface="Montserrat"/>
              <a:ea typeface="Montserrat"/>
              <a:cs typeface="Montserrat"/>
              <a:sym typeface="Montserrat"/>
            </a:endParaRPr>
          </a:p>
        </p:txBody>
      </p:sp>
      <p:sp>
        <p:nvSpPr>
          <p:cNvPr id="280" name="Google Shape;280;g3a961275bae_0_12"/>
          <p:cNvSpPr txBox="1"/>
          <p:nvPr>
            <p:ph idx="1" type="body"/>
          </p:nvPr>
        </p:nvSpPr>
        <p:spPr>
          <a:xfrm>
            <a:off x="838200" y="1788425"/>
            <a:ext cx="10515600" cy="45480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2700">
                <a:solidFill>
                  <a:schemeClr val="dk2"/>
                </a:solidFill>
                <a:latin typeface="Montserrat"/>
                <a:ea typeface="Montserrat"/>
                <a:cs typeface="Montserrat"/>
                <a:sym typeface="Montserrat"/>
              </a:rPr>
              <a:t>A cover letter should include the following elements: </a:t>
            </a:r>
            <a:endParaRPr sz="2700">
              <a:solidFill>
                <a:schemeClr val="dk2"/>
              </a:solidFill>
              <a:latin typeface="Montserrat"/>
              <a:ea typeface="Montserrat"/>
              <a:cs typeface="Montserrat"/>
              <a:sym typeface="Montserrat"/>
            </a:endParaRPr>
          </a:p>
          <a:p>
            <a:pPr indent="-400050" lvl="0" marL="457200" rtl="0" algn="l">
              <a:spcBef>
                <a:spcPts val="1000"/>
              </a:spcBef>
              <a:spcAft>
                <a:spcPts val="0"/>
              </a:spcAft>
              <a:buClr>
                <a:schemeClr val="dk2"/>
              </a:buClr>
              <a:buSzPts val="2700"/>
              <a:buFont typeface="Montserrat"/>
              <a:buChar char="•"/>
            </a:pPr>
            <a:r>
              <a:rPr lang="en-US" sz="2700">
                <a:solidFill>
                  <a:schemeClr val="dk2"/>
                </a:solidFill>
                <a:latin typeface="Montserrat"/>
                <a:ea typeface="Montserrat"/>
                <a:cs typeface="Montserrat"/>
                <a:sym typeface="Montserrat"/>
              </a:rPr>
              <a:t>Where and how you</a:t>
            </a:r>
            <a:r>
              <a:rPr lang="en-US" sz="2700" u="sng">
                <a:solidFill>
                  <a:schemeClr val="dk2"/>
                </a:solidFill>
                <a:latin typeface="Montserrat"/>
                <a:ea typeface="Montserrat"/>
                <a:cs typeface="Montserrat"/>
                <a:sym typeface="Montserrat"/>
              </a:rPr>
              <a:t> found out about the position</a:t>
            </a:r>
            <a:r>
              <a:rPr lang="en-US" sz="2700">
                <a:solidFill>
                  <a:schemeClr val="dk2"/>
                </a:solidFill>
                <a:latin typeface="Montserrat"/>
                <a:ea typeface="Montserrat"/>
                <a:cs typeface="Montserrat"/>
                <a:sym typeface="Montserrat"/>
              </a:rPr>
              <a:t> </a:t>
            </a:r>
            <a:endParaRPr sz="2700">
              <a:solidFill>
                <a:schemeClr val="dk2"/>
              </a:solidFill>
              <a:latin typeface="Montserrat"/>
              <a:ea typeface="Montserrat"/>
              <a:cs typeface="Montserrat"/>
              <a:sym typeface="Montserrat"/>
            </a:endParaRPr>
          </a:p>
          <a:p>
            <a:pPr indent="-400050" lvl="0" marL="457200" rtl="0" algn="l">
              <a:spcBef>
                <a:spcPts val="0"/>
              </a:spcBef>
              <a:spcAft>
                <a:spcPts val="0"/>
              </a:spcAft>
              <a:buClr>
                <a:schemeClr val="dk2"/>
              </a:buClr>
              <a:buSzPts val="2700"/>
              <a:buFont typeface="Montserrat"/>
              <a:buChar char="•"/>
            </a:pPr>
            <a:r>
              <a:rPr lang="en-US" sz="2700">
                <a:solidFill>
                  <a:schemeClr val="dk2"/>
                </a:solidFill>
                <a:latin typeface="Montserrat"/>
                <a:ea typeface="Montserrat"/>
                <a:cs typeface="Montserrat"/>
                <a:sym typeface="Montserrat"/>
              </a:rPr>
              <a:t>Your r</a:t>
            </a:r>
            <a:r>
              <a:rPr lang="en-US" sz="2700" u="sng">
                <a:solidFill>
                  <a:schemeClr val="dk2"/>
                </a:solidFill>
                <a:latin typeface="Montserrat"/>
                <a:ea typeface="Montserrat"/>
                <a:cs typeface="Montserrat"/>
                <a:sym typeface="Montserrat"/>
              </a:rPr>
              <a:t>eason for being interested</a:t>
            </a:r>
            <a:r>
              <a:rPr lang="en-US" sz="2700">
                <a:solidFill>
                  <a:schemeClr val="dk2"/>
                </a:solidFill>
                <a:latin typeface="Montserrat"/>
                <a:ea typeface="Montserrat"/>
                <a:cs typeface="Montserrat"/>
                <a:sym typeface="Montserrat"/>
              </a:rPr>
              <a:t> in this company </a:t>
            </a:r>
            <a:endParaRPr sz="2700">
              <a:solidFill>
                <a:schemeClr val="dk2"/>
              </a:solidFill>
              <a:latin typeface="Montserrat"/>
              <a:ea typeface="Montserrat"/>
              <a:cs typeface="Montserrat"/>
              <a:sym typeface="Montserrat"/>
            </a:endParaRPr>
          </a:p>
          <a:p>
            <a:pPr indent="-400050" lvl="0" marL="457200" rtl="0" algn="l">
              <a:spcBef>
                <a:spcPts val="0"/>
              </a:spcBef>
              <a:spcAft>
                <a:spcPts val="0"/>
              </a:spcAft>
              <a:buClr>
                <a:schemeClr val="dk2"/>
              </a:buClr>
              <a:buSzPts val="2700"/>
              <a:buFont typeface="Montserrat"/>
              <a:buChar char="•"/>
            </a:pPr>
            <a:r>
              <a:rPr lang="en-US" sz="2700">
                <a:solidFill>
                  <a:schemeClr val="dk2"/>
                </a:solidFill>
                <a:latin typeface="Montserrat"/>
                <a:ea typeface="Montserrat"/>
                <a:cs typeface="Montserrat"/>
                <a:sym typeface="Montserrat"/>
              </a:rPr>
              <a:t>Your </a:t>
            </a:r>
            <a:r>
              <a:rPr lang="en-US" sz="2700" u="sng">
                <a:solidFill>
                  <a:schemeClr val="dk2"/>
                </a:solidFill>
                <a:latin typeface="Montserrat"/>
                <a:ea typeface="Montserrat"/>
                <a:cs typeface="Montserrat"/>
                <a:sym typeface="Montserrat"/>
              </a:rPr>
              <a:t>main skills and accomplishments</a:t>
            </a:r>
            <a:r>
              <a:rPr lang="en-US" sz="2700">
                <a:solidFill>
                  <a:schemeClr val="dk2"/>
                </a:solidFill>
                <a:latin typeface="Montserrat"/>
                <a:ea typeface="Montserrat"/>
                <a:cs typeface="Montserrat"/>
                <a:sym typeface="Montserrat"/>
              </a:rPr>
              <a:t> (summary of few key points) </a:t>
            </a:r>
            <a:endParaRPr sz="2700">
              <a:solidFill>
                <a:schemeClr val="dk2"/>
              </a:solidFill>
              <a:latin typeface="Montserrat"/>
              <a:ea typeface="Montserrat"/>
              <a:cs typeface="Montserrat"/>
              <a:sym typeface="Montserrat"/>
            </a:endParaRPr>
          </a:p>
          <a:p>
            <a:pPr indent="-400050" lvl="0" marL="457200" rtl="0" algn="l">
              <a:spcBef>
                <a:spcPts val="0"/>
              </a:spcBef>
              <a:spcAft>
                <a:spcPts val="0"/>
              </a:spcAft>
              <a:buClr>
                <a:schemeClr val="dk2"/>
              </a:buClr>
              <a:buSzPts val="2700"/>
              <a:buFont typeface="Montserrat"/>
              <a:buChar char="•"/>
            </a:pPr>
            <a:r>
              <a:rPr lang="en-US" sz="2700">
                <a:solidFill>
                  <a:schemeClr val="dk2"/>
                </a:solidFill>
                <a:latin typeface="Montserrat"/>
                <a:ea typeface="Montserrat"/>
                <a:cs typeface="Montserrat"/>
                <a:sym typeface="Montserrat"/>
              </a:rPr>
              <a:t>How you fit the requirements for the job </a:t>
            </a:r>
            <a:endParaRPr sz="2700">
              <a:solidFill>
                <a:schemeClr val="dk2"/>
              </a:solidFill>
              <a:latin typeface="Montserrat"/>
              <a:ea typeface="Montserrat"/>
              <a:cs typeface="Montserrat"/>
              <a:sym typeface="Montserrat"/>
            </a:endParaRPr>
          </a:p>
          <a:p>
            <a:pPr indent="-400050" lvl="0" marL="457200" rtl="0" algn="l">
              <a:spcBef>
                <a:spcPts val="0"/>
              </a:spcBef>
              <a:spcAft>
                <a:spcPts val="0"/>
              </a:spcAft>
              <a:buClr>
                <a:schemeClr val="dk2"/>
              </a:buClr>
              <a:buSzPts val="2700"/>
              <a:buFont typeface="Montserrat"/>
              <a:buChar char="•"/>
            </a:pPr>
            <a:r>
              <a:rPr lang="en-US" sz="2700">
                <a:solidFill>
                  <a:schemeClr val="dk2"/>
                </a:solidFill>
                <a:latin typeface="Montserrat"/>
                <a:ea typeface="Montserrat"/>
                <a:cs typeface="Montserrat"/>
                <a:sym typeface="Montserrat"/>
              </a:rPr>
              <a:t>Items of </a:t>
            </a:r>
            <a:r>
              <a:rPr lang="en-US" sz="2700" u="sng">
                <a:solidFill>
                  <a:schemeClr val="dk2"/>
                </a:solidFill>
                <a:latin typeface="Montserrat"/>
                <a:ea typeface="Montserrat"/>
                <a:cs typeface="Montserrat"/>
                <a:sym typeface="Montserrat"/>
              </a:rPr>
              <a:t>special interest about you</a:t>
            </a:r>
            <a:r>
              <a:rPr lang="en-US" sz="2700">
                <a:solidFill>
                  <a:schemeClr val="dk2"/>
                </a:solidFill>
                <a:latin typeface="Montserrat"/>
                <a:ea typeface="Montserrat"/>
                <a:cs typeface="Montserrat"/>
                <a:sym typeface="Montserrat"/>
              </a:rPr>
              <a:t> that would relate to your potential for the job </a:t>
            </a:r>
            <a:endParaRPr sz="2700">
              <a:solidFill>
                <a:schemeClr val="dk2"/>
              </a:solidFill>
              <a:latin typeface="Montserrat"/>
              <a:ea typeface="Montserrat"/>
              <a:cs typeface="Montserrat"/>
              <a:sym typeface="Montserrat"/>
            </a:endParaRPr>
          </a:p>
          <a:p>
            <a:pPr indent="-400050" lvl="0" marL="457200" rtl="0" algn="l">
              <a:spcBef>
                <a:spcPts val="0"/>
              </a:spcBef>
              <a:spcAft>
                <a:spcPts val="0"/>
              </a:spcAft>
              <a:buClr>
                <a:schemeClr val="dk2"/>
              </a:buClr>
              <a:buSzPts val="2700"/>
              <a:buFont typeface="Montserrat"/>
              <a:buChar char="•"/>
            </a:pPr>
            <a:r>
              <a:rPr lang="en-US" sz="2700" u="sng">
                <a:solidFill>
                  <a:schemeClr val="dk2"/>
                </a:solidFill>
                <a:latin typeface="Montserrat"/>
                <a:ea typeface="Montserrat"/>
                <a:cs typeface="Montserrat"/>
                <a:sym typeface="Montserrat"/>
              </a:rPr>
              <a:t>Request for an interview</a:t>
            </a:r>
            <a:r>
              <a:rPr lang="en-US" sz="2700">
                <a:solidFill>
                  <a:schemeClr val="dk2"/>
                </a:solidFill>
                <a:latin typeface="Montserrat"/>
                <a:ea typeface="Montserrat"/>
                <a:cs typeface="Montserrat"/>
                <a:sym typeface="Montserrat"/>
              </a:rPr>
              <a:t> </a:t>
            </a:r>
            <a:endParaRPr sz="2700">
              <a:solidFill>
                <a:schemeClr val="dk2"/>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a961275bae_0_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latin typeface="Montserrat"/>
                <a:ea typeface="Montserrat"/>
                <a:cs typeface="Montserrat"/>
                <a:sym typeface="Montserrat"/>
              </a:rPr>
              <a:t>Searching for jobs</a:t>
            </a:r>
            <a:endParaRPr b="1" sz="4000">
              <a:latin typeface="Montserrat"/>
              <a:ea typeface="Montserrat"/>
              <a:cs typeface="Montserrat"/>
              <a:sym typeface="Montserrat"/>
            </a:endParaRPr>
          </a:p>
        </p:txBody>
      </p:sp>
      <p:sp>
        <p:nvSpPr>
          <p:cNvPr id="287" name="Google Shape;287;g3a961275bae_0_18"/>
          <p:cNvSpPr txBox="1"/>
          <p:nvPr>
            <p:ph idx="1" type="body"/>
          </p:nvPr>
        </p:nvSpPr>
        <p:spPr>
          <a:xfrm>
            <a:off x="838200" y="1788425"/>
            <a:ext cx="10515600" cy="1391400"/>
          </a:xfrm>
          <a:prstGeom prst="rect">
            <a:avLst/>
          </a:prstGeom>
        </p:spPr>
        <p:txBody>
          <a:bodyPr anchorCtr="0" anchor="t" bIns="45700" lIns="91425" spcFirstLastPara="1" rIns="91425" wrap="square" tIns="45700">
            <a:normAutofit/>
          </a:bodyPr>
          <a:lstStyle/>
          <a:p>
            <a:pPr indent="-400050" lvl="0" marL="457200" rtl="0" algn="l">
              <a:spcBef>
                <a:spcPts val="1000"/>
              </a:spcBef>
              <a:spcAft>
                <a:spcPts val="0"/>
              </a:spcAft>
              <a:buSzPts val="2700"/>
              <a:buFont typeface="Montserrat"/>
              <a:buAutoNum type="arabicPeriod"/>
            </a:pPr>
            <a:r>
              <a:rPr lang="en-US" sz="2700">
                <a:latin typeface="Montserrat"/>
                <a:ea typeface="Montserrat"/>
                <a:cs typeface="Montserrat"/>
                <a:sym typeface="Montserrat"/>
              </a:rPr>
              <a:t>What kind of job are you looking for?</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lang="en-US" sz="2700">
                <a:latin typeface="Montserrat"/>
                <a:ea typeface="Montserrat"/>
                <a:cs typeface="Montserrat"/>
                <a:sym typeface="Montserrat"/>
              </a:rPr>
              <a:t>How much are you targeting to earn?</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lang="en-US" sz="2700">
                <a:latin typeface="Montserrat"/>
                <a:ea typeface="Montserrat"/>
                <a:cs typeface="Montserrat"/>
                <a:sym typeface="Montserrat"/>
              </a:rPr>
              <a:t>Where is the location of your next job (Pak/Abroad)?  </a:t>
            </a:r>
            <a:endParaRPr sz="2700">
              <a:latin typeface="Montserrat"/>
              <a:ea typeface="Montserrat"/>
              <a:cs typeface="Montserrat"/>
              <a:sym typeface="Montserrat"/>
            </a:endParaRPr>
          </a:p>
        </p:txBody>
      </p:sp>
      <p:sp>
        <p:nvSpPr>
          <p:cNvPr id="288" name="Google Shape;288;g3a961275bae_0_18"/>
          <p:cNvSpPr txBox="1"/>
          <p:nvPr>
            <p:ph idx="1" type="body"/>
          </p:nvPr>
        </p:nvSpPr>
        <p:spPr>
          <a:xfrm>
            <a:off x="838200" y="3733775"/>
            <a:ext cx="10515600" cy="1391400"/>
          </a:xfrm>
          <a:prstGeom prst="rect">
            <a:avLst/>
          </a:prstGeom>
        </p:spPr>
        <p:txBody>
          <a:bodyPr anchorCtr="0" anchor="t" bIns="45700" lIns="91425" spcFirstLastPara="1" rIns="91425" wrap="square" tIns="45700">
            <a:normAutofit/>
          </a:bodyPr>
          <a:lstStyle/>
          <a:p>
            <a:pPr indent="-400050" lvl="0" marL="457200" rtl="0" algn="l">
              <a:spcBef>
                <a:spcPts val="1000"/>
              </a:spcBef>
              <a:spcAft>
                <a:spcPts val="0"/>
              </a:spcAft>
              <a:buClr>
                <a:srgbClr val="0000FF"/>
              </a:buClr>
              <a:buSzPts val="2700"/>
              <a:buFont typeface="Montserrat"/>
              <a:buAutoNum type="alphaUcPeriod"/>
            </a:pPr>
            <a:r>
              <a:rPr lang="en-US" sz="2700">
                <a:solidFill>
                  <a:srgbClr val="0000FF"/>
                </a:solidFill>
                <a:latin typeface="Montserrat"/>
                <a:ea typeface="Montserrat"/>
                <a:cs typeface="Montserrat"/>
                <a:sym typeface="Montserrat"/>
              </a:rPr>
              <a:t>What are the potential employer names? </a:t>
            </a:r>
            <a:endParaRPr sz="2700">
              <a:solidFill>
                <a:srgbClr val="0000FF"/>
              </a:solidFill>
              <a:latin typeface="Montserrat"/>
              <a:ea typeface="Montserrat"/>
              <a:cs typeface="Montserrat"/>
              <a:sym typeface="Montserrat"/>
            </a:endParaRPr>
          </a:p>
          <a:p>
            <a:pPr indent="-400050" lvl="0" marL="457200" rtl="0" algn="l">
              <a:spcBef>
                <a:spcPts val="0"/>
              </a:spcBef>
              <a:spcAft>
                <a:spcPts val="0"/>
              </a:spcAft>
              <a:buClr>
                <a:srgbClr val="0000FF"/>
              </a:buClr>
              <a:buSzPts val="2700"/>
              <a:buFont typeface="Montserrat"/>
              <a:buAutoNum type="alphaUcPeriod"/>
            </a:pPr>
            <a:r>
              <a:rPr lang="en-US" sz="2700">
                <a:solidFill>
                  <a:srgbClr val="0000FF"/>
                </a:solidFill>
                <a:latin typeface="Montserrat"/>
                <a:ea typeface="Montserrat"/>
                <a:cs typeface="Montserrat"/>
                <a:sym typeface="Montserrat"/>
              </a:rPr>
              <a:t>Where can you look for such opportunities? </a:t>
            </a:r>
            <a:endParaRPr sz="2700">
              <a:solidFill>
                <a:srgbClr val="0000FF"/>
              </a:solidFill>
              <a:latin typeface="Montserrat"/>
              <a:ea typeface="Montserrat"/>
              <a:cs typeface="Montserrat"/>
              <a:sym typeface="Montserrat"/>
            </a:endParaRPr>
          </a:p>
          <a:p>
            <a:pPr indent="-400050" lvl="0" marL="457200" rtl="0" algn="l">
              <a:spcBef>
                <a:spcPts val="0"/>
              </a:spcBef>
              <a:spcAft>
                <a:spcPts val="0"/>
              </a:spcAft>
              <a:buClr>
                <a:srgbClr val="0000FF"/>
              </a:buClr>
              <a:buSzPts val="2700"/>
              <a:buFont typeface="Montserrat"/>
              <a:buAutoNum type="alphaUcPeriod"/>
            </a:pPr>
            <a:r>
              <a:rPr lang="en-US" sz="2700">
                <a:solidFill>
                  <a:srgbClr val="0000FF"/>
                </a:solidFill>
                <a:latin typeface="Montserrat"/>
                <a:ea typeface="Montserrat"/>
                <a:cs typeface="Montserrat"/>
                <a:sym typeface="Montserrat"/>
              </a:rPr>
              <a:t>How to use the network?</a:t>
            </a:r>
            <a:endParaRPr sz="2700">
              <a:solidFill>
                <a:srgbClr val="0000F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a961275bae_0_2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latin typeface="Montserrat"/>
                <a:ea typeface="Montserrat"/>
                <a:cs typeface="Montserrat"/>
                <a:sym typeface="Montserrat"/>
              </a:rPr>
              <a:t>Searching for jobs - I </a:t>
            </a:r>
            <a:endParaRPr b="1" sz="4000">
              <a:latin typeface="Montserrat"/>
              <a:ea typeface="Montserrat"/>
              <a:cs typeface="Montserrat"/>
              <a:sym typeface="Montserrat"/>
            </a:endParaRPr>
          </a:p>
        </p:txBody>
      </p:sp>
      <p:sp>
        <p:nvSpPr>
          <p:cNvPr id="295" name="Google Shape;295;g3a961275bae_0_25"/>
          <p:cNvSpPr txBox="1"/>
          <p:nvPr>
            <p:ph idx="1" type="body"/>
          </p:nvPr>
        </p:nvSpPr>
        <p:spPr>
          <a:xfrm>
            <a:off x="838200" y="1788425"/>
            <a:ext cx="10515600" cy="4548000"/>
          </a:xfrm>
          <a:prstGeom prst="rect">
            <a:avLst/>
          </a:prstGeom>
        </p:spPr>
        <p:txBody>
          <a:bodyPr anchorCtr="0" anchor="t" bIns="45700" lIns="91425" spcFirstLastPara="1" rIns="91425" wrap="square" tIns="45700">
            <a:normAutofit/>
          </a:bodyPr>
          <a:lstStyle/>
          <a:p>
            <a:pPr indent="-400050" lvl="0" marL="457200" rtl="0" algn="l">
              <a:spcBef>
                <a:spcPts val="1000"/>
              </a:spcBef>
              <a:spcAft>
                <a:spcPts val="0"/>
              </a:spcAft>
              <a:buSzPts val="2700"/>
              <a:buFont typeface="Montserrat"/>
              <a:buAutoNum type="arabicPeriod"/>
            </a:pPr>
            <a:r>
              <a:rPr lang="en-US" sz="2700">
                <a:latin typeface="Montserrat"/>
                <a:ea typeface="Montserrat"/>
                <a:cs typeface="Montserrat"/>
                <a:sym typeface="Montserrat"/>
              </a:rPr>
              <a:t>LinkedIn </a:t>
            </a:r>
            <a:endParaRPr sz="2700">
              <a:latin typeface="Montserrat"/>
              <a:ea typeface="Montserrat"/>
              <a:cs typeface="Montserrat"/>
              <a:sym typeface="Montserrat"/>
            </a:endParaRPr>
          </a:p>
          <a:p>
            <a:pPr indent="-400050" lvl="1" marL="914400" rtl="0" algn="l">
              <a:spcBef>
                <a:spcPts val="0"/>
              </a:spcBef>
              <a:spcAft>
                <a:spcPts val="0"/>
              </a:spcAft>
              <a:buSzPts val="2700"/>
              <a:buFont typeface="Montserrat"/>
              <a:buAutoNum type="alphaLcPeriod"/>
            </a:pPr>
            <a:r>
              <a:rPr lang="en-US" sz="2700">
                <a:latin typeface="Montserrat"/>
                <a:ea typeface="Montserrat"/>
                <a:cs typeface="Montserrat"/>
                <a:sym typeface="Montserrat"/>
              </a:rPr>
              <a:t>24-hours (36000), apply early </a:t>
            </a:r>
            <a:endParaRPr sz="2700">
              <a:latin typeface="Montserrat"/>
              <a:ea typeface="Montserrat"/>
              <a:cs typeface="Montserrat"/>
              <a:sym typeface="Montserrat"/>
            </a:endParaRPr>
          </a:p>
          <a:p>
            <a:pPr indent="-400050" lvl="1" marL="914400" rtl="0" algn="l">
              <a:spcBef>
                <a:spcPts val="0"/>
              </a:spcBef>
              <a:spcAft>
                <a:spcPts val="0"/>
              </a:spcAft>
              <a:buSzPts val="2700"/>
              <a:buFont typeface="Montserrat"/>
              <a:buAutoNum type="alphaLcPeriod"/>
            </a:pPr>
            <a:r>
              <a:rPr lang="en-US" sz="2700">
                <a:latin typeface="Montserrat"/>
                <a:ea typeface="Montserrat"/>
                <a:cs typeface="Montserrat"/>
                <a:sym typeface="Montserrat"/>
              </a:rPr>
              <a:t>Personalized notes to potential managers</a:t>
            </a:r>
            <a:endParaRPr sz="2700">
              <a:latin typeface="Montserrat"/>
              <a:ea typeface="Montserrat"/>
              <a:cs typeface="Montserrat"/>
              <a:sym typeface="Montserrat"/>
            </a:endParaRPr>
          </a:p>
          <a:p>
            <a:pPr indent="-400050" lvl="1" marL="914400" rtl="0" algn="l">
              <a:spcBef>
                <a:spcPts val="0"/>
              </a:spcBef>
              <a:spcAft>
                <a:spcPts val="0"/>
              </a:spcAft>
              <a:buSzPts val="2700"/>
              <a:buFont typeface="Montserrat"/>
              <a:buAutoNum type="alphaLcPeriod"/>
            </a:pPr>
            <a:r>
              <a:rPr lang="en-US" sz="2700">
                <a:latin typeface="Montserrat"/>
                <a:ea typeface="Montserrat"/>
                <a:cs typeface="Montserrat"/>
                <a:sym typeface="Montserrat"/>
              </a:rPr>
              <a:t>Mark ‘companies’ as favourites (notification) </a:t>
            </a:r>
            <a:endParaRPr sz="2700">
              <a:latin typeface="Montserrat"/>
              <a:ea typeface="Montserrat"/>
              <a:cs typeface="Montserrat"/>
              <a:sym typeface="Montserrat"/>
            </a:endParaRPr>
          </a:p>
          <a:p>
            <a:pPr indent="-400050" lvl="2" marL="1371600" rtl="0" algn="l">
              <a:spcBef>
                <a:spcPts val="0"/>
              </a:spcBef>
              <a:spcAft>
                <a:spcPts val="0"/>
              </a:spcAft>
              <a:buSzPts val="2700"/>
              <a:buFont typeface="Montserrat"/>
              <a:buAutoNum type="romanLcPeriod"/>
            </a:pPr>
            <a:r>
              <a:rPr lang="en-US" sz="2700">
                <a:latin typeface="Montserrat"/>
                <a:ea typeface="Montserrat"/>
                <a:cs typeface="Montserrat"/>
                <a:sym typeface="Montserrat"/>
              </a:rPr>
              <a:t>Attend the published events </a:t>
            </a:r>
            <a:endParaRPr sz="2700">
              <a:latin typeface="Montserrat"/>
              <a:ea typeface="Montserrat"/>
              <a:cs typeface="Montserrat"/>
              <a:sym typeface="Montserrat"/>
            </a:endParaRPr>
          </a:p>
          <a:p>
            <a:pPr indent="-400050" lvl="2" marL="1371600" rtl="0" algn="l">
              <a:spcBef>
                <a:spcPts val="0"/>
              </a:spcBef>
              <a:spcAft>
                <a:spcPts val="0"/>
              </a:spcAft>
              <a:buSzPts val="2700"/>
              <a:buFont typeface="Montserrat"/>
              <a:buAutoNum type="romanLcPeriod"/>
            </a:pPr>
            <a:r>
              <a:rPr lang="en-US" sz="2700">
                <a:latin typeface="Montserrat"/>
                <a:ea typeface="Montserrat"/>
                <a:cs typeface="Montserrat"/>
                <a:sym typeface="Montserrat"/>
              </a:rPr>
              <a:t>Network with company employees </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lang="en-US" sz="2700">
                <a:latin typeface="Montserrat"/>
                <a:ea typeface="Montserrat"/>
                <a:cs typeface="Montserrat"/>
                <a:sym typeface="Montserrat"/>
              </a:rPr>
              <a:t>Referrals (FAST Network)</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lang="en-US" sz="2700">
                <a:latin typeface="Montserrat"/>
                <a:ea typeface="Montserrat"/>
                <a:cs typeface="Montserrat"/>
                <a:sym typeface="Montserrat"/>
              </a:rPr>
              <a:t>Networking events [Talks, Pasha, Software House Association, GameJams, Hackathons, TedX, Global Shapers, Biennale, Faiz Festival] </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lang="en-US" sz="2700">
                <a:latin typeface="Montserrat"/>
                <a:ea typeface="Montserrat"/>
                <a:cs typeface="Montserrat"/>
                <a:sym typeface="Montserrat"/>
              </a:rPr>
              <a:t>Existing network [Family/friends, school, university, football, FB, LinkedIn </a:t>
            </a:r>
            <a:endParaRPr sz="2700">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3a961275bae_0_3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latin typeface="Montserrat"/>
                <a:ea typeface="Montserrat"/>
                <a:cs typeface="Montserrat"/>
                <a:sym typeface="Montserrat"/>
              </a:rPr>
              <a:t>Searching for jobs - II</a:t>
            </a:r>
            <a:endParaRPr b="1" sz="4000">
              <a:latin typeface="Montserrat"/>
              <a:ea typeface="Montserrat"/>
              <a:cs typeface="Montserrat"/>
              <a:sym typeface="Montserrat"/>
            </a:endParaRPr>
          </a:p>
        </p:txBody>
      </p:sp>
      <p:sp>
        <p:nvSpPr>
          <p:cNvPr id="302" name="Google Shape;302;g3a961275bae_0_31"/>
          <p:cNvSpPr txBox="1"/>
          <p:nvPr>
            <p:ph idx="1" type="body"/>
          </p:nvPr>
        </p:nvSpPr>
        <p:spPr>
          <a:xfrm>
            <a:off x="838200" y="1788425"/>
            <a:ext cx="10515600" cy="4548000"/>
          </a:xfrm>
          <a:prstGeom prst="rect">
            <a:avLst/>
          </a:prstGeom>
        </p:spPr>
        <p:txBody>
          <a:bodyPr anchorCtr="0" anchor="t" bIns="45700" lIns="91425" spcFirstLastPara="1" rIns="91425" wrap="square" tIns="45700">
            <a:normAutofit/>
          </a:bodyPr>
          <a:lstStyle/>
          <a:p>
            <a:pPr indent="-400050" lvl="0" marL="457200" rtl="0" algn="l">
              <a:spcBef>
                <a:spcPts val="1000"/>
              </a:spcBef>
              <a:spcAft>
                <a:spcPts val="0"/>
              </a:spcAft>
              <a:buSzPts val="2700"/>
              <a:buFont typeface="Montserrat"/>
              <a:buAutoNum type="arabicPeriod"/>
            </a:pPr>
            <a:r>
              <a:rPr lang="en-US" sz="2700">
                <a:latin typeface="Montserrat"/>
                <a:ea typeface="Montserrat"/>
                <a:cs typeface="Montserrat"/>
                <a:sym typeface="Montserrat"/>
              </a:rPr>
              <a:t>Career Track programs [set up notifications]</a:t>
            </a:r>
            <a:endParaRPr sz="2700">
              <a:latin typeface="Montserrat"/>
              <a:ea typeface="Montserrat"/>
              <a:cs typeface="Montserrat"/>
              <a:sym typeface="Montserrat"/>
            </a:endParaRPr>
          </a:p>
          <a:p>
            <a:pPr indent="-400050" lvl="1" marL="914400" rtl="0" algn="l">
              <a:spcBef>
                <a:spcPts val="0"/>
              </a:spcBef>
              <a:spcAft>
                <a:spcPts val="0"/>
              </a:spcAft>
              <a:buSzPts val="2700"/>
              <a:buFont typeface="Montserrat"/>
              <a:buAutoNum type="alphaLcPeriod"/>
            </a:pPr>
            <a:r>
              <a:rPr lang="en-US" sz="2700">
                <a:latin typeface="Montserrat"/>
                <a:ea typeface="Montserrat"/>
                <a:cs typeface="Montserrat"/>
                <a:sym typeface="Montserrat"/>
              </a:rPr>
              <a:t>Google Careers </a:t>
            </a:r>
            <a:endParaRPr sz="2700">
              <a:latin typeface="Montserrat"/>
              <a:ea typeface="Montserrat"/>
              <a:cs typeface="Montserrat"/>
              <a:sym typeface="Montserrat"/>
            </a:endParaRPr>
          </a:p>
          <a:p>
            <a:pPr indent="-400050" lvl="1" marL="914400" rtl="0" algn="l">
              <a:spcBef>
                <a:spcPts val="0"/>
              </a:spcBef>
              <a:spcAft>
                <a:spcPts val="0"/>
              </a:spcAft>
              <a:buSzPts val="2700"/>
              <a:buFont typeface="Montserrat"/>
              <a:buAutoNum type="alphaLcPeriod"/>
            </a:pPr>
            <a:r>
              <a:rPr lang="en-US" sz="2700">
                <a:latin typeface="Montserrat"/>
                <a:ea typeface="Montserrat"/>
                <a:cs typeface="Montserrat"/>
                <a:sym typeface="Montserrat"/>
              </a:rPr>
              <a:t>Meta Careers </a:t>
            </a:r>
            <a:endParaRPr sz="2700">
              <a:latin typeface="Montserrat"/>
              <a:ea typeface="Montserrat"/>
              <a:cs typeface="Montserrat"/>
              <a:sym typeface="Montserrat"/>
            </a:endParaRPr>
          </a:p>
          <a:p>
            <a:pPr indent="-400050" lvl="1" marL="914400" rtl="0" algn="l">
              <a:spcBef>
                <a:spcPts val="0"/>
              </a:spcBef>
              <a:spcAft>
                <a:spcPts val="0"/>
              </a:spcAft>
              <a:buSzPts val="2700"/>
              <a:buFont typeface="Montserrat"/>
              <a:buAutoNum type="alphaLcPeriod"/>
            </a:pPr>
            <a:r>
              <a:rPr lang="en-US" sz="2700">
                <a:latin typeface="Montserrat"/>
                <a:ea typeface="Montserrat"/>
                <a:cs typeface="Montserrat"/>
                <a:sym typeface="Montserrat"/>
              </a:rPr>
              <a:t>MNCs in Pakistan</a:t>
            </a:r>
            <a:endParaRPr sz="2700">
              <a:latin typeface="Montserrat"/>
              <a:ea typeface="Montserrat"/>
              <a:cs typeface="Montserrat"/>
              <a:sym typeface="Montserrat"/>
            </a:endParaRPr>
          </a:p>
          <a:p>
            <a:pPr indent="-400050" lvl="1" marL="914400" rtl="0" algn="l">
              <a:spcBef>
                <a:spcPts val="0"/>
              </a:spcBef>
              <a:spcAft>
                <a:spcPts val="0"/>
              </a:spcAft>
              <a:buSzPts val="2700"/>
              <a:buFont typeface="Montserrat"/>
              <a:buAutoNum type="alphaLcPeriod"/>
            </a:pPr>
            <a:r>
              <a:rPr lang="en-US" sz="2700">
                <a:latin typeface="Montserrat"/>
                <a:ea typeface="Montserrat"/>
                <a:cs typeface="Montserrat"/>
                <a:sym typeface="Montserrat"/>
              </a:rPr>
              <a:t>Cool places in Pak (passion focused) </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lang="en-US" sz="2700">
                <a:latin typeface="Montserrat"/>
                <a:ea typeface="Montserrat"/>
                <a:cs typeface="Montserrat"/>
                <a:sym typeface="Montserrat"/>
              </a:rPr>
              <a:t>Jack &amp; Jill</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lang="en-US" sz="2700">
                <a:latin typeface="Montserrat"/>
                <a:ea typeface="Montserrat"/>
                <a:cs typeface="Montserrat"/>
                <a:sym typeface="Montserrat"/>
              </a:rPr>
              <a:t>Headhunters/recruiters </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lang="en-US" sz="2700">
                <a:latin typeface="Montserrat"/>
                <a:ea typeface="Montserrat"/>
                <a:cs typeface="Montserrat"/>
                <a:sym typeface="Montserrat"/>
              </a:rPr>
              <a:t>Upskill/Freelance/stay busy, as you look for opportunities </a:t>
            </a:r>
            <a:endParaRPr sz="2700">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3a57479c3d7_0_0"/>
          <p:cNvSpPr txBox="1"/>
          <p:nvPr>
            <p:ph type="ctrTitle"/>
          </p:nvPr>
        </p:nvSpPr>
        <p:spPr>
          <a:xfrm>
            <a:off x="127200" y="1766450"/>
            <a:ext cx="11937600" cy="15414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2F5496"/>
              </a:buClr>
              <a:buSzPts val="4400"/>
              <a:buFont typeface="Times New Roman"/>
              <a:buNone/>
            </a:pPr>
            <a:r>
              <a:rPr b="1" lang="en-US" sz="10000">
                <a:solidFill>
                  <a:srgbClr val="2F5496"/>
                </a:solidFill>
                <a:latin typeface="Questrial"/>
                <a:ea typeface="Questrial"/>
                <a:cs typeface="Questrial"/>
                <a:sym typeface="Questrial"/>
              </a:rPr>
              <a:t>Resume Writing</a:t>
            </a:r>
            <a:endParaRPr sz="10000">
              <a:latin typeface="Questrial"/>
              <a:ea typeface="Questrial"/>
              <a:cs typeface="Questrial"/>
              <a:sym typeface="Questrial"/>
            </a:endParaRPr>
          </a:p>
        </p:txBody>
      </p:sp>
      <p:sp>
        <p:nvSpPr>
          <p:cNvPr id="308" name="Google Shape;308;g3a57479c3d7_0_0"/>
          <p:cNvSpPr txBox="1"/>
          <p:nvPr>
            <p:ph idx="4294967295" type="title"/>
          </p:nvPr>
        </p:nvSpPr>
        <p:spPr>
          <a:xfrm>
            <a:off x="838200" y="4194925"/>
            <a:ext cx="10515600" cy="13257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US" sz="4000">
                <a:latin typeface="Montserrat"/>
                <a:ea typeface="Montserrat"/>
                <a:cs typeface="Montserrat"/>
                <a:sym typeface="Montserrat"/>
              </a:rPr>
              <a:t>What is it?</a:t>
            </a:r>
            <a:endParaRPr b="1" sz="4000">
              <a:latin typeface="Montserrat"/>
              <a:ea typeface="Montserrat"/>
              <a:cs typeface="Montserrat"/>
              <a:sym typeface="Montserrat"/>
            </a:endParaRPr>
          </a:p>
          <a:p>
            <a:pPr indent="0" lvl="0" marL="0" rtl="0" algn="ctr">
              <a:spcBef>
                <a:spcPts val="0"/>
              </a:spcBef>
              <a:spcAft>
                <a:spcPts val="0"/>
              </a:spcAft>
              <a:buNone/>
            </a:pPr>
            <a:r>
              <a:rPr b="1" lang="en-US" sz="4000">
                <a:latin typeface="Montserrat"/>
                <a:ea typeface="Montserrat"/>
                <a:cs typeface="Montserrat"/>
                <a:sym typeface="Montserrat"/>
              </a:rPr>
              <a:t>Why is it important?</a:t>
            </a:r>
            <a:endParaRPr b="1" sz="4000">
              <a:latin typeface="Montserrat"/>
              <a:ea typeface="Montserrat"/>
              <a:cs typeface="Montserrat"/>
              <a:sym typeface="Montserrat"/>
            </a:endParaRPr>
          </a:p>
          <a:p>
            <a:pPr indent="0" lvl="0" marL="0" rtl="0" algn="ctr">
              <a:spcBef>
                <a:spcPts val="0"/>
              </a:spcBef>
              <a:spcAft>
                <a:spcPts val="0"/>
              </a:spcAft>
              <a:buNone/>
            </a:pPr>
            <a:r>
              <a:rPr b="1" lang="en-US" sz="4000">
                <a:latin typeface="Montserrat"/>
                <a:ea typeface="Montserrat"/>
                <a:cs typeface="Montserrat"/>
                <a:sym typeface="Montserrat"/>
              </a:rPr>
              <a:t>What are the ground roles?</a:t>
            </a:r>
            <a:endParaRPr b="1" sz="4000">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a57479c3d7_0_5"/>
          <p:cNvSpPr txBox="1"/>
          <p:nvPr>
            <p:ph idx="1" type="body"/>
          </p:nvPr>
        </p:nvSpPr>
        <p:spPr>
          <a:xfrm>
            <a:off x="1578022" y="5034975"/>
            <a:ext cx="10515600" cy="1520100"/>
          </a:xfrm>
          <a:prstGeom prst="rect">
            <a:avLst/>
          </a:prstGeom>
        </p:spPr>
        <p:txBody>
          <a:bodyPr anchorCtr="0" anchor="t" bIns="45700" lIns="91425" spcFirstLastPara="1" rIns="91425" wrap="square" tIns="45700">
            <a:normAutofit/>
          </a:bodyPr>
          <a:lstStyle/>
          <a:p>
            <a:pPr indent="-387350" lvl="0" marL="457200" rtl="0" algn="l">
              <a:spcBef>
                <a:spcPts val="1000"/>
              </a:spcBef>
              <a:spcAft>
                <a:spcPts val="0"/>
              </a:spcAft>
              <a:buSzPts val="2500"/>
              <a:buFont typeface="Montserrat"/>
              <a:buChar char="●"/>
            </a:pPr>
            <a:r>
              <a:rPr b="1" lang="en-US" sz="2500">
                <a:latin typeface="Montserrat"/>
                <a:ea typeface="Montserrat"/>
                <a:cs typeface="Montserrat"/>
                <a:sym typeface="Montserrat"/>
              </a:rPr>
              <a:t>Tailored Applications for Every Job</a:t>
            </a:r>
            <a:endParaRPr b="1" sz="2500">
              <a:latin typeface="Montserrat"/>
              <a:ea typeface="Montserrat"/>
              <a:cs typeface="Montserrat"/>
              <a:sym typeface="Montserrat"/>
            </a:endParaRPr>
          </a:p>
          <a:p>
            <a:pPr indent="-368300" lvl="1" marL="914400" rtl="0" algn="l">
              <a:spcBef>
                <a:spcPts val="0"/>
              </a:spcBef>
              <a:spcAft>
                <a:spcPts val="0"/>
              </a:spcAft>
              <a:buSzPts val="2200"/>
              <a:buFont typeface="Montserrat"/>
              <a:buChar char="○"/>
            </a:pPr>
            <a:r>
              <a:rPr lang="en-US" sz="2200" u="sng">
                <a:latin typeface="Montserrat"/>
                <a:ea typeface="Montserrat"/>
                <a:cs typeface="Montserrat"/>
                <a:sym typeface="Montserrat"/>
              </a:rPr>
              <a:t>One-size-fits-all resumes are being replaced</a:t>
            </a:r>
            <a:r>
              <a:rPr lang="en-US" sz="2200">
                <a:latin typeface="Montserrat"/>
                <a:ea typeface="Montserrat"/>
                <a:cs typeface="Montserrat"/>
                <a:sym typeface="Montserrat"/>
              </a:rPr>
              <a:t> by versions tailored to each role: different summaries, different highlighted skills. </a:t>
            </a:r>
            <a:endParaRPr sz="2200">
              <a:latin typeface="Montserrat"/>
              <a:ea typeface="Montserrat"/>
              <a:cs typeface="Montserrat"/>
              <a:sym typeface="Montserrat"/>
            </a:endParaRPr>
          </a:p>
          <a:p>
            <a:pPr indent="-368300" lvl="1" marL="914400" rtl="0" algn="l">
              <a:spcBef>
                <a:spcPts val="0"/>
              </a:spcBef>
              <a:spcAft>
                <a:spcPts val="0"/>
              </a:spcAft>
              <a:buSzPts val="2200"/>
              <a:buFont typeface="Montserrat"/>
              <a:buChar char="○"/>
            </a:pPr>
            <a:r>
              <a:rPr lang="en-US" sz="2200">
                <a:latin typeface="Montserrat"/>
                <a:ea typeface="Montserrat"/>
                <a:cs typeface="Montserrat"/>
                <a:sym typeface="Montserrat"/>
              </a:rPr>
              <a:t>This improves relevance and helps beat AI screening.</a:t>
            </a:r>
            <a:endParaRPr sz="2200">
              <a:latin typeface="Montserrat"/>
              <a:ea typeface="Montserrat"/>
              <a:cs typeface="Montserrat"/>
              <a:sym typeface="Montserrat"/>
            </a:endParaRPr>
          </a:p>
        </p:txBody>
      </p:sp>
      <p:sp>
        <p:nvSpPr>
          <p:cNvPr id="315" name="Google Shape;315;g3a57479c3d7_0_5"/>
          <p:cNvSpPr txBox="1"/>
          <p:nvPr>
            <p:ph idx="1" type="body"/>
          </p:nvPr>
        </p:nvSpPr>
        <p:spPr>
          <a:xfrm>
            <a:off x="1676400" y="2562959"/>
            <a:ext cx="10515600" cy="2168700"/>
          </a:xfrm>
          <a:prstGeom prst="rect">
            <a:avLst/>
          </a:prstGeom>
        </p:spPr>
        <p:txBody>
          <a:bodyPr anchorCtr="0" anchor="t" bIns="45700" lIns="91425" spcFirstLastPara="1" rIns="91425" wrap="square" tIns="45700">
            <a:normAutofit lnSpcReduction="10000"/>
          </a:bodyPr>
          <a:lstStyle/>
          <a:p>
            <a:pPr indent="-381000" lvl="0" marL="457200" rtl="0" algn="l">
              <a:spcBef>
                <a:spcPts val="1000"/>
              </a:spcBef>
              <a:spcAft>
                <a:spcPts val="0"/>
              </a:spcAft>
              <a:buSzPts val="2400"/>
              <a:buFont typeface="Montserrat"/>
              <a:buChar char="●"/>
            </a:pPr>
            <a:r>
              <a:rPr b="1" lang="en-US" sz="2400">
                <a:latin typeface="Montserrat"/>
                <a:ea typeface="Montserrat"/>
                <a:cs typeface="Montserrat"/>
                <a:sym typeface="Montserrat"/>
              </a:rPr>
              <a:t>Ethical Use of AI / Transparency / Validated Skills Assessment</a:t>
            </a:r>
            <a:endParaRPr sz="2200">
              <a:latin typeface="Montserrat"/>
              <a:ea typeface="Montserrat"/>
              <a:cs typeface="Montserrat"/>
              <a:sym typeface="Montserrat"/>
            </a:endParaRPr>
          </a:p>
          <a:p>
            <a:pPr indent="-368300" lvl="1" marL="914400" rtl="0" algn="l">
              <a:spcBef>
                <a:spcPts val="0"/>
              </a:spcBef>
              <a:spcAft>
                <a:spcPts val="0"/>
              </a:spcAft>
              <a:buSzPts val="2200"/>
              <a:buFont typeface="Montserrat"/>
              <a:buChar char="○"/>
            </a:pPr>
            <a:r>
              <a:rPr lang="en-US" sz="2200">
                <a:latin typeface="Montserrat"/>
                <a:ea typeface="Montserrat"/>
                <a:cs typeface="Montserrat"/>
                <a:sym typeface="Montserrat"/>
              </a:rPr>
              <a:t>As AI’s use grows, there’s a trend toward being honest about how much you used it (or not) in writing your resume. </a:t>
            </a:r>
            <a:endParaRPr sz="2200">
              <a:latin typeface="Montserrat"/>
              <a:ea typeface="Montserrat"/>
              <a:cs typeface="Montserrat"/>
              <a:sym typeface="Montserrat"/>
            </a:endParaRPr>
          </a:p>
          <a:p>
            <a:pPr indent="-368300" lvl="1" marL="914400" rtl="0" algn="l">
              <a:spcBef>
                <a:spcPts val="0"/>
              </a:spcBef>
              <a:spcAft>
                <a:spcPts val="0"/>
              </a:spcAft>
              <a:buSzPts val="2200"/>
              <a:buFont typeface="Montserrat"/>
              <a:buChar char="○"/>
            </a:pPr>
            <a:r>
              <a:rPr lang="en-US" sz="2200">
                <a:latin typeface="Montserrat"/>
                <a:ea typeface="Montserrat"/>
                <a:cs typeface="Montserrat"/>
                <a:sym typeface="Montserrat"/>
              </a:rPr>
              <a:t>Bias in AI screening is increasing; some research points to fairness issues in resume evaluation.</a:t>
            </a:r>
            <a:endParaRPr sz="2200">
              <a:latin typeface="Montserrat"/>
              <a:ea typeface="Montserrat"/>
              <a:cs typeface="Montserrat"/>
              <a:sym typeface="Montserrat"/>
            </a:endParaRPr>
          </a:p>
          <a:p>
            <a:pPr indent="-368300" lvl="1" marL="914400" rtl="0" algn="l">
              <a:spcBef>
                <a:spcPts val="0"/>
              </a:spcBef>
              <a:spcAft>
                <a:spcPts val="0"/>
              </a:spcAft>
              <a:buSzPts val="2200"/>
              <a:buFont typeface="Montserrat"/>
              <a:buChar char="○"/>
            </a:pPr>
            <a:r>
              <a:rPr lang="en-US" sz="2200">
                <a:latin typeface="Montserrat"/>
                <a:ea typeface="Montserrat"/>
                <a:cs typeface="Montserrat"/>
                <a:sym typeface="Montserrat"/>
              </a:rPr>
              <a:t>More companies are using skills tests or assessments to validate what a resume claims, rather than relying solely on the document</a:t>
            </a:r>
            <a:endParaRPr sz="2200">
              <a:latin typeface="Montserrat"/>
              <a:ea typeface="Montserrat"/>
              <a:cs typeface="Montserrat"/>
              <a:sym typeface="Montserrat"/>
            </a:endParaRPr>
          </a:p>
        </p:txBody>
      </p:sp>
      <p:sp>
        <p:nvSpPr>
          <p:cNvPr id="316" name="Google Shape;316;g3a57479c3d7_0_5"/>
          <p:cNvSpPr txBox="1"/>
          <p:nvPr/>
        </p:nvSpPr>
        <p:spPr>
          <a:xfrm rot="-5400000">
            <a:off x="-2448650" y="3028800"/>
            <a:ext cx="681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4000">
                <a:solidFill>
                  <a:srgbClr val="0B5394"/>
                </a:solidFill>
                <a:latin typeface="Questrial"/>
                <a:ea typeface="Questrial"/>
                <a:cs typeface="Questrial"/>
                <a:sym typeface="Questrial"/>
              </a:rPr>
              <a:t>Involvement of AI</a:t>
            </a:r>
            <a:endParaRPr b="1" sz="4000">
              <a:solidFill>
                <a:srgbClr val="0B5394"/>
              </a:solidFill>
              <a:latin typeface="Questrial"/>
              <a:ea typeface="Questrial"/>
              <a:cs typeface="Questrial"/>
              <a:sym typeface="Questrial"/>
            </a:endParaRPr>
          </a:p>
        </p:txBody>
      </p:sp>
      <p:sp>
        <p:nvSpPr>
          <p:cNvPr id="317" name="Google Shape;317;g3a57479c3d7_0_5"/>
          <p:cNvSpPr txBox="1"/>
          <p:nvPr>
            <p:ph idx="1" type="body"/>
          </p:nvPr>
        </p:nvSpPr>
        <p:spPr>
          <a:xfrm>
            <a:off x="1676400" y="452425"/>
            <a:ext cx="10515600" cy="2168700"/>
          </a:xfrm>
          <a:prstGeom prst="rect">
            <a:avLst/>
          </a:prstGeom>
        </p:spPr>
        <p:txBody>
          <a:bodyPr anchorCtr="0" anchor="t" bIns="45700" lIns="91425" spcFirstLastPara="1" rIns="91425" wrap="square" tIns="45700">
            <a:normAutofit/>
          </a:bodyPr>
          <a:lstStyle/>
          <a:p>
            <a:pPr indent="-387350" lvl="0" marL="457200" rtl="0" algn="l">
              <a:spcBef>
                <a:spcPts val="1000"/>
              </a:spcBef>
              <a:spcAft>
                <a:spcPts val="0"/>
              </a:spcAft>
              <a:buSzPts val="2500"/>
              <a:buFont typeface="Montserrat"/>
              <a:buChar char="●"/>
            </a:pPr>
            <a:r>
              <a:rPr b="1" lang="en-US" sz="2500">
                <a:latin typeface="Montserrat"/>
                <a:ea typeface="Montserrat"/>
                <a:cs typeface="Montserrat"/>
                <a:sym typeface="Montserrat"/>
              </a:rPr>
              <a:t>AI-Optimized Resumes</a:t>
            </a:r>
            <a:endParaRPr b="1" sz="2500">
              <a:latin typeface="Montserrat"/>
              <a:ea typeface="Montserrat"/>
              <a:cs typeface="Montserrat"/>
              <a:sym typeface="Montserrat"/>
            </a:endParaRPr>
          </a:p>
          <a:p>
            <a:pPr indent="-368300" lvl="1" marL="914400" rtl="0" algn="l">
              <a:spcBef>
                <a:spcPts val="0"/>
              </a:spcBef>
              <a:spcAft>
                <a:spcPts val="0"/>
              </a:spcAft>
              <a:buSzPts val="2200"/>
              <a:buFont typeface="Montserrat"/>
              <a:buChar char="○"/>
            </a:pPr>
            <a:r>
              <a:rPr lang="en-US" sz="2200">
                <a:latin typeface="Montserrat"/>
                <a:ea typeface="Montserrat"/>
                <a:cs typeface="Montserrat"/>
                <a:sym typeface="Montserrat"/>
              </a:rPr>
              <a:t>More applicants are using AI tools (like ChatGPT or AI resume builders) to tailor resumes for each job. </a:t>
            </a:r>
            <a:endParaRPr sz="2200">
              <a:latin typeface="Montserrat"/>
              <a:ea typeface="Montserrat"/>
              <a:cs typeface="Montserrat"/>
              <a:sym typeface="Montserrat"/>
            </a:endParaRPr>
          </a:p>
          <a:p>
            <a:pPr indent="-368300" lvl="1" marL="914400" rtl="0" algn="l">
              <a:spcBef>
                <a:spcPts val="0"/>
              </a:spcBef>
              <a:spcAft>
                <a:spcPts val="0"/>
              </a:spcAft>
              <a:buClr>
                <a:srgbClr val="9900FF"/>
              </a:buClr>
              <a:buSzPts val="2200"/>
              <a:buFont typeface="Montserrat"/>
              <a:buChar char="○"/>
            </a:pPr>
            <a:r>
              <a:rPr lang="en-US" sz="2200">
                <a:solidFill>
                  <a:srgbClr val="9900FF"/>
                </a:solidFill>
                <a:latin typeface="Montserrat"/>
                <a:ea typeface="Montserrat"/>
                <a:cs typeface="Montserrat"/>
                <a:sym typeface="Montserrat"/>
              </a:rPr>
              <a:t>Use of keywords from job descriptions is more strategic — not just random buzzwords.</a:t>
            </a:r>
            <a:endParaRPr sz="2200">
              <a:solidFill>
                <a:srgbClr val="9900F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3a57479c3d7_0_13"/>
          <p:cNvSpPr txBox="1"/>
          <p:nvPr>
            <p:ph idx="1" type="body"/>
          </p:nvPr>
        </p:nvSpPr>
        <p:spPr>
          <a:xfrm>
            <a:off x="1550722" y="4606855"/>
            <a:ext cx="10515600" cy="1793100"/>
          </a:xfrm>
          <a:prstGeom prst="rect">
            <a:avLst/>
          </a:prstGeom>
        </p:spPr>
        <p:txBody>
          <a:bodyPr anchorCtr="0" anchor="t" bIns="45700" lIns="91425" spcFirstLastPara="1" rIns="91425" wrap="square" tIns="45700">
            <a:normAutofit/>
          </a:bodyPr>
          <a:lstStyle/>
          <a:p>
            <a:pPr indent="-387350" lvl="0" marL="457200" rtl="0" algn="l">
              <a:spcBef>
                <a:spcPts val="1000"/>
              </a:spcBef>
              <a:spcAft>
                <a:spcPts val="0"/>
              </a:spcAft>
              <a:buSzPts val="2500"/>
              <a:buFont typeface="Montserrat"/>
              <a:buChar char="●"/>
            </a:pPr>
            <a:r>
              <a:rPr b="1" lang="en-US" sz="2500">
                <a:latin typeface="Montserrat"/>
                <a:ea typeface="Montserrat"/>
                <a:cs typeface="Montserrat"/>
                <a:sym typeface="Montserrat"/>
              </a:rPr>
              <a:t>Interactive or Multimedia Elements</a:t>
            </a:r>
            <a:endParaRPr sz="2500">
              <a:latin typeface="Montserrat"/>
              <a:ea typeface="Montserrat"/>
              <a:cs typeface="Montserrat"/>
              <a:sym typeface="Montserrat"/>
            </a:endParaRPr>
          </a:p>
          <a:p>
            <a:pPr indent="-368300" lvl="1" marL="914400" rtl="0" algn="l">
              <a:spcBef>
                <a:spcPts val="500"/>
              </a:spcBef>
              <a:spcAft>
                <a:spcPts val="0"/>
              </a:spcAft>
              <a:buSzPts val="2200"/>
              <a:buFont typeface="Montserrat"/>
              <a:buChar char="○"/>
            </a:pPr>
            <a:r>
              <a:rPr lang="en-US" sz="2200">
                <a:latin typeface="Montserrat"/>
                <a:ea typeface="Montserrat"/>
                <a:cs typeface="Montserrat"/>
                <a:sym typeface="Montserrat"/>
              </a:rPr>
              <a:t>For creative or digital roles: video resumes, interactive portfolios, or QR codes linking to projects are on the rise. </a:t>
            </a:r>
            <a:endParaRPr sz="2200">
              <a:latin typeface="Montserrat"/>
              <a:ea typeface="Montserrat"/>
              <a:cs typeface="Montserrat"/>
              <a:sym typeface="Montserrat"/>
            </a:endParaRPr>
          </a:p>
          <a:p>
            <a:pPr indent="-368300" lvl="1" marL="914400" rtl="0" algn="l">
              <a:spcBef>
                <a:spcPts val="500"/>
              </a:spcBef>
              <a:spcAft>
                <a:spcPts val="0"/>
              </a:spcAft>
              <a:buSzPts val="2200"/>
              <a:buFont typeface="Montserrat"/>
              <a:buChar char="○"/>
            </a:pPr>
            <a:r>
              <a:rPr lang="en-US" sz="2200">
                <a:latin typeface="Montserrat"/>
                <a:ea typeface="Montserrat"/>
                <a:cs typeface="Montserrat"/>
                <a:sym typeface="Montserrat"/>
              </a:rPr>
              <a:t>But note: too much design or exotic formatting can trip up ATS (Applicant Tracking Systems). </a:t>
            </a:r>
            <a:endParaRPr sz="2200">
              <a:latin typeface="Montserrat"/>
              <a:ea typeface="Montserrat"/>
              <a:cs typeface="Montserrat"/>
              <a:sym typeface="Montserrat"/>
            </a:endParaRPr>
          </a:p>
        </p:txBody>
      </p:sp>
      <p:sp>
        <p:nvSpPr>
          <p:cNvPr id="324" name="Google Shape;324;g3a57479c3d7_0_13"/>
          <p:cNvSpPr txBox="1"/>
          <p:nvPr>
            <p:ph idx="1" type="body"/>
          </p:nvPr>
        </p:nvSpPr>
        <p:spPr>
          <a:xfrm>
            <a:off x="1676400" y="636162"/>
            <a:ext cx="10515600" cy="1723200"/>
          </a:xfrm>
          <a:prstGeom prst="rect">
            <a:avLst/>
          </a:prstGeom>
        </p:spPr>
        <p:txBody>
          <a:bodyPr anchorCtr="0" anchor="t" bIns="45700" lIns="91425" spcFirstLastPara="1" rIns="91425" wrap="square" tIns="45700">
            <a:normAutofit/>
          </a:bodyPr>
          <a:lstStyle/>
          <a:p>
            <a:pPr indent="-387350" lvl="0" marL="457200" rtl="0" algn="l">
              <a:spcBef>
                <a:spcPts val="1000"/>
              </a:spcBef>
              <a:spcAft>
                <a:spcPts val="0"/>
              </a:spcAft>
              <a:buSzPts val="2500"/>
              <a:buFont typeface="Montserrat"/>
              <a:buChar char="●"/>
            </a:pPr>
            <a:r>
              <a:rPr b="1" lang="en-US" sz="2500">
                <a:latin typeface="Montserrat"/>
                <a:ea typeface="Montserrat"/>
                <a:cs typeface="Montserrat"/>
                <a:sym typeface="Montserrat"/>
              </a:rPr>
              <a:t>Personal Branding</a:t>
            </a:r>
            <a:endParaRPr b="1" sz="2500">
              <a:latin typeface="Montserrat"/>
              <a:ea typeface="Montserrat"/>
              <a:cs typeface="Montserrat"/>
              <a:sym typeface="Montserrat"/>
            </a:endParaRPr>
          </a:p>
          <a:p>
            <a:pPr indent="-368300" lvl="1" marL="914400" rtl="0" algn="l">
              <a:spcBef>
                <a:spcPts val="0"/>
              </a:spcBef>
              <a:spcAft>
                <a:spcPts val="0"/>
              </a:spcAft>
              <a:buSzPts val="2200"/>
              <a:buFont typeface="Montserrat"/>
              <a:buChar char="○"/>
            </a:pPr>
            <a:r>
              <a:rPr lang="en-US" sz="2200">
                <a:latin typeface="Montserrat"/>
                <a:ea typeface="Montserrat"/>
                <a:cs typeface="Montserrat"/>
                <a:sym typeface="Montserrat"/>
              </a:rPr>
              <a:t>Hiring managers expect a </a:t>
            </a:r>
            <a:r>
              <a:rPr lang="en-US" sz="2200" u="sng">
                <a:latin typeface="Montserrat"/>
                <a:ea typeface="Montserrat"/>
                <a:cs typeface="Montserrat"/>
                <a:sym typeface="Montserrat"/>
              </a:rPr>
              <a:t>consistent</a:t>
            </a:r>
            <a:r>
              <a:rPr lang="en-US" sz="2200">
                <a:latin typeface="Montserrat"/>
                <a:ea typeface="Montserrat"/>
                <a:cs typeface="Montserrat"/>
                <a:sym typeface="Montserrat"/>
              </a:rPr>
              <a:t> professional brand: LinkedIn profile, resume, maybe even a personal website or portfolio. </a:t>
            </a:r>
            <a:endParaRPr sz="2200">
              <a:latin typeface="Montserrat"/>
              <a:ea typeface="Montserrat"/>
              <a:cs typeface="Montserrat"/>
              <a:sym typeface="Montserrat"/>
            </a:endParaRPr>
          </a:p>
          <a:p>
            <a:pPr indent="-368300" lvl="1" marL="914400" rtl="0" algn="l">
              <a:spcBef>
                <a:spcPts val="0"/>
              </a:spcBef>
              <a:spcAft>
                <a:spcPts val="0"/>
              </a:spcAft>
              <a:buSzPts val="2200"/>
              <a:buFont typeface="Montserrat"/>
              <a:buChar char="○"/>
            </a:pPr>
            <a:r>
              <a:rPr lang="en-US" sz="2200">
                <a:latin typeface="Montserrat"/>
                <a:ea typeface="Montserrat"/>
                <a:cs typeface="Montserrat"/>
                <a:sym typeface="Montserrat"/>
              </a:rPr>
              <a:t>More people are including a short summary or “brand statement” about who they are and what they stand for.</a:t>
            </a:r>
            <a:endParaRPr sz="2200">
              <a:latin typeface="Montserrat"/>
              <a:ea typeface="Montserrat"/>
              <a:cs typeface="Montserrat"/>
              <a:sym typeface="Montserrat"/>
            </a:endParaRPr>
          </a:p>
        </p:txBody>
      </p:sp>
      <p:sp>
        <p:nvSpPr>
          <p:cNvPr id="325" name="Google Shape;325;g3a57479c3d7_0_13"/>
          <p:cNvSpPr txBox="1"/>
          <p:nvPr>
            <p:ph idx="1" type="body"/>
          </p:nvPr>
        </p:nvSpPr>
        <p:spPr>
          <a:xfrm>
            <a:off x="1676400" y="2435718"/>
            <a:ext cx="10515600" cy="2168700"/>
          </a:xfrm>
          <a:prstGeom prst="rect">
            <a:avLst/>
          </a:prstGeom>
        </p:spPr>
        <p:txBody>
          <a:bodyPr anchorCtr="0" anchor="t" bIns="45700" lIns="91425" spcFirstLastPara="1" rIns="91425" wrap="square" tIns="45700">
            <a:normAutofit/>
          </a:bodyPr>
          <a:lstStyle/>
          <a:p>
            <a:pPr indent="-387350" lvl="0" marL="457200" rtl="0" algn="l">
              <a:spcBef>
                <a:spcPts val="1000"/>
              </a:spcBef>
              <a:spcAft>
                <a:spcPts val="0"/>
              </a:spcAft>
              <a:buSzPts val="2500"/>
              <a:buFont typeface="Montserrat"/>
              <a:buChar char="●"/>
            </a:pPr>
            <a:r>
              <a:rPr b="1" lang="en-US" sz="2500">
                <a:latin typeface="Montserrat"/>
                <a:ea typeface="Montserrat"/>
                <a:cs typeface="Montserrat"/>
                <a:sym typeface="Montserrat"/>
              </a:rPr>
              <a:t>Clean, Minimalist, and Mobile-Friendly Design</a:t>
            </a:r>
            <a:endParaRPr b="1" sz="2500">
              <a:latin typeface="Montserrat"/>
              <a:ea typeface="Montserrat"/>
              <a:cs typeface="Montserrat"/>
              <a:sym typeface="Montserrat"/>
            </a:endParaRPr>
          </a:p>
          <a:p>
            <a:pPr indent="-368300" lvl="1" marL="914400" rtl="0" algn="l">
              <a:spcBef>
                <a:spcPts val="0"/>
              </a:spcBef>
              <a:spcAft>
                <a:spcPts val="0"/>
              </a:spcAft>
              <a:buSzPts val="2200"/>
              <a:buFont typeface="Montserrat"/>
              <a:buChar char="○"/>
            </a:pPr>
            <a:r>
              <a:rPr lang="en-US" sz="2200">
                <a:latin typeface="Montserrat"/>
                <a:ea typeface="Montserrat"/>
                <a:cs typeface="Montserrat"/>
                <a:sym typeface="Montserrat"/>
              </a:rPr>
              <a:t>Modern layouts lean toward minimalism: simple headings, lots of white space, clean fonts. </a:t>
            </a:r>
            <a:endParaRPr sz="2200">
              <a:latin typeface="Montserrat"/>
              <a:ea typeface="Montserrat"/>
              <a:cs typeface="Montserrat"/>
              <a:sym typeface="Montserrat"/>
            </a:endParaRPr>
          </a:p>
          <a:p>
            <a:pPr indent="-368300" lvl="1" marL="914400" rtl="0" algn="l">
              <a:spcBef>
                <a:spcPts val="0"/>
              </a:spcBef>
              <a:spcAft>
                <a:spcPts val="0"/>
              </a:spcAft>
              <a:buSzPts val="2200"/>
              <a:buFont typeface="Montserrat"/>
              <a:buChar char="○"/>
            </a:pPr>
            <a:r>
              <a:rPr lang="en-US" sz="2200">
                <a:latin typeface="Montserrat"/>
                <a:ea typeface="Montserrat"/>
                <a:cs typeface="Montserrat"/>
                <a:sym typeface="Montserrat"/>
              </a:rPr>
              <a:t>But some visual “flair” is coming back: subtle color accents, infographics for skills, icons — especially in creative fields. </a:t>
            </a:r>
            <a:endParaRPr sz="2200">
              <a:latin typeface="Montserrat"/>
              <a:ea typeface="Montserrat"/>
              <a:cs typeface="Montserrat"/>
              <a:sym typeface="Montserrat"/>
            </a:endParaRPr>
          </a:p>
          <a:p>
            <a:pPr indent="-368300" lvl="1" marL="914400" rtl="0" algn="l">
              <a:spcBef>
                <a:spcPts val="0"/>
              </a:spcBef>
              <a:spcAft>
                <a:spcPts val="0"/>
              </a:spcAft>
              <a:buSzPts val="2200"/>
              <a:buFont typeface="Montserrat"/>
              <a:buChar char="○"/>
            </a:pPr>
            <a:r>
              <a:rPr lang="en-US" sz="2200">
                <a:latin typeface="Montserrat"/>
                <a:ea typeface="Montserrat"/>
                <a:cs typeface="Montserrat"/>
                <a:sym typeface="Montserrat"/>
              </a:rPr>
              <a:t>Resumes are being </a:t>
            </a:r>
            <a:r>
              <a:rPr lang="en-US" sz="2200" u="sng">
                <a:latin typeface="Montserrat"/>
                <a:ea typeface="Montserrat"/>
                <a:cs typeface="Montserrat"/>
                <a:sym typeface="Montserrat"/>
              </a:rPr>
              <a:t>optimized for mobile reading too. </a:t>
            </a:r>
            <a:endParaRPr sz="2200" u="sng">
              <a:latin typeface="Montserrat"/>
              <a:ea typeface="Montserrat"/>
              <a:cs typeface="Montserrat"/>
              <a:sym typeface="Montserrat"/>
            </a:endParaRPr>
          </a:p>
        </p:txBody>
      </p:sp>
      <p:sp>
        <p:nvSpPr>
          <p:cNvPr id="326" name="Google Shape;326;g3a57479c3d7_0_13"/>
          <p:cNvSpPr txBox="1"/>
          <p:nvPr/>
        </p:nvSpPr>
        <p:spPr>
          <a:xfrm rot="-5400000">
            <a:off x="-2448650" y="3028800"/>
            <a:ext cx="681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4000">
                <a:solidFill>
                  <a:srgbClr val="0B5394"/>
                </a:solidFill>
                <a:latin typeface="Questrial"/>
                <a:ea typeface="Questrial"/>
                <a:cs typeface="Questrial"/>
                <a:sym typeface="Questrial"/>
              </a:rPr>
              <a:t>On the format</a:t>
            </a:r>
            <a:endParaRPr b="1" sz="4000">
              <a:solidFill>
                <a:srgbClr val="0B5394"/>
              </a:solidFill>
              <a:latin typeface="Questrial"/>
              <a:ea typeface="Questrial"/>
              <a:cs typeface="Questrial"/>
              <a:sym typeface="Quest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3a57479c3d7_0_21"/>
          <p:cNvSpPr txBox="1"/>
          <p:nvPr>
            <p:ph idx="1" type="body"/>
          </p:nvPr>
        </p:nvSpPr>
        <p:spPr>
          <a:xfrm>
            <a:off x="1576172" y="586206"/>
            <a:ext cx="10515600" cy="1793100"/>
          </a:xfrm>
          <a:prstGeom prst="rect">
            <a:avLst/>
          </a:prstGeom>
        </p:spPr>
        <p:txBody>
          <a:bodyPr anchorCtr="0" anchor="t" bIns="45700" lIns="91425" spcFirstLastPara="1" rIns="91425" wrap="square" tIns="45700">
            <a:normAutofit/>
          </a:bodyPr>
          <a:lstStyle/>
          <a:p>
            <a:pPr indent="-387350" lvl="0" marL="457200" rtl="0" algn="l">
              <a:spcBef>
                <a:spcPts val="1000"/>
              </a:spcBef>
              <a:spcAft>
                <a:spcPts val="0"/>
              </a:spcAft>
              <a:buSzPts val="2500"/>
              <a:buFont typeface="Montserrat"/>
              <a:buChar char="●"/>
            </a:pPr>
            <a:r>
              <a:rPr b="1" lang="en-US" sz="2500">
                <a:latin typeface="Montserrat"/>
                <a:ea typeface="Montserrat"/>
                <a:cs typeface="Montserrat"/>
                <a:sym typeface="Montserrat"/>
              </a:rPr>
              <a:t>Quantified and Impactful Achievements</a:t>
            </a:r>
            <a:endParaRPr b="1" sz="2500">
              <a:latin typeface="Montserrat"/>
              <a:ea typeface="Montserrat"/>
              <a:cs typeface="Montserrat"/>
              <a:sym typeface="Montserrat"/>
            </a:endParaRPr>
          </a:p>
          <a:p>
            <a:pPr indent="-368300" lvl="1" marL="914400" rtl="0" algn="l">
              <a:spcBef>
                <a:spcPts val="500"/>
              </a:spcBef>
              <a:spcAft>
                <a:spcPts val="0"/>
              </a:spcAft>
              <a:buSzPts val="2200"/>
              <a:buFont typeface="Montserrat"/>
              <a:buChar char="○"/>
            </a:pPr>
            <a:r>
              <a:rPr lang="en-US" sz="2200">
                <a:latin typeface="Montserrat"/>
                <a:ea typeface="Montserrat"/>
                <a:cs typeface="Montserrat"/>
                <a:sym typeface="Montserrat"/>
              </a:rPr>
              <a:t>Results over responsibilities: recruiters want “increased sales by 20%” or “reduced costs by $X” more than general job duties.</a:t>
            </a:r>
            <a:endParaRPr sz="2200">
              <a:latin typeface="Montserrat"/>
              <a:ea typeface="Montserrat"/>
              <a:cs typeface="Montserrat"/>
              <a:sym typeface="Montserrat"/>
            </a:endParaRPr>
          </a:p>
          <a:p>
            <a:pPr indent="-368300" lvl="1" marL="914400" rtl="0" algn="l">
              <a:spcBef>
                <a:spcPts val="500"/>
              </a:spcBef>
              <a:spcAft>
                <a:spcPts val="0"/>
              </a:spcAft>
              <a:buSzPts val="2200"/>
              <a:buFont typeface="Montserrat"/>
              <a:buChar char="○"/>
            </a:pPr>
            <a:r>
              <a:rPr lang="en-US" sz="2200">
                <a:latin typeface="Montserrat"/>
                <a:ea typeface="Montserrat"/>
                <a:cs typeface="Montserrat"/>
                <a:sym typeface="Montserrat"/>
              </a:rPr>
              <a:t>This makes your impact concrete and easy to assess.</a:t>
            </a:r>
            <a:endParaRPr sz="2200">
              <a:latin typeface="Montserrat"/>
              <a:ea typeface="Montserrat"/>
              <a:cs typeface="Montserrat"/>
              <a:sym typeface="Montserrat"/>
            </a:endParaRPr>
          </a:p>
        </p:txBody>
      </p:sp>
      <p:sp>
        <p:nvSpPr>
          <p:cNvPr id="333" name="Google Shape;333;g3a57479c3d7_0_21"/>
          <p:cNvSpPr txBox="1"/>
          <p:nvPr>
            <p:ph idx="1" type="body"/>
          </p:nvPr>
        </p:nvSpPr>
        <p:spPr>
          <a:xfrm>
            <a:off x="1576172" y="2315674"/>
            <a:ext cx="10515600" cy="1520100"/>
          </a:xfrm>
          <a:prstGeom prst="rect">
            <a:avLst/>
          </a:prstGeom>
        </p:spPr>
        <p:txBody>
          <a:bodyPr anchorCtr="0" anchor="t" bIns="45700" lIns="91425" spcFirstLastPara="1" rIns="91425" wrap="square" tIns="45700">
            <a:normAutofit lnSpcReduction="10000"/>
          </a:bodyPr>
          <a:lstStyle/>
          <a:p>
            <a:pPr indent="-387350" lvl="0" marL="457200" rtl="0" algn="l">
              <a:spcBef>
                <a:spcPts val="1000"/>
              </a:spcBef>
              <a:spcAft>
                <a:spcPts val="0"/>
              </a:spcAft>
              <a:buSzPts val="2500"/>
              <a:buFont typeface="Montserrat"/>
              <a:buChar char="●"/>
            </a:pPr>
            <a:r>
              <a:rPr b="1" lang="en-US" sz="2500">
                <a:latin typeface="Montserrat"/>
                <a:ea typeface="Montserrat"/>
                <a:cs typeface="Montserrat"/>
                <a:sym typeface="Montserrat"/>
              </a:rPr>
              <a:t>Continuous Learning &amp; Micro-Credentials</a:t>
            </a:r>
            <a:endParaRPr b="1" sz="2500">
              <a:latin typeface="Montserrat"/>
              <a:ea typeface="Montserrat"/>
              <a:cs typeface="Montserrat"/>
              <a:sym typeface="Montserrat"/>
            </a:endParaRPr>
          </a:p>
          <a:p>
            <a:pPr indent="-368300" lvl="1" marL="914400" rtl="0" algn="l">
              <a:spcBef>
                <a:spcPts val="500"/>
              </a:spcBef>
              <a:spcAft>
                <a:spcPts val="0"/>
              </a:spcAft>
              <a:buSzPts val="2200"/>
              <a:buFont typeface="Montserrat"/>
              <a:buChar char="○"/>
            </a:pPr>
            <a:r>
              <a:rPr lang="en-US" sz="2200">
                <a:latin typeface="Montserrat"/>
                <a:ea typeface="Montserrat"/>
                <a:cs typeface="Montserrat"/>
                <a:sym typeface="Montserrat"/>
              </a:rPr>
              <a:t>Including up-to-date certifications, online courses (Coursera, Udemy, etc.), and micro-credentials is more common. </a:t>
            </a:r>
            <a:endParaRPr sz="2200">
              <a:latin typeface="Montserrat"/>
              <a:ea typeface="Montserrat"/>
              <a:cs typeface="Montserrat"/>
              <a:sym typeface="Montserrat"/>
            </a:endParaRPr>
          </a:p>
          <a:p>
            <a:pPr indent="0" lvl="0" marL="914400" rtl="0" algn="l">
              <a:spcBef>
                <a:spcPts val="1000"/>
              </a:spcBef>
              <a:spcAft>
                <a:spcPts val="0"/>
              </a:spcAft>
              <a:buNone/>
            </a:pPr>
            <a:r>
              <a:rPr i="1" lang="en-US" sz="2200">
                <a:latin typeface="Montserrat"/>
                <a:ea typeface="Montserrat"/>
                <a:cs typeface="Montserrat"/>
                <a:sym typeface="Montserrat"/>
              </a:rPr>
              <a:t>This signals a growth mindset and adaptability</a:t>
            </a:r>
            <a:endParaRPr i="1" sz="2200">
              <a:latin typeface="Montserrat"/>
              <a:ea typeface="Montserrat"/>
              <a:cs typeface="Montserrat"/>
              <a:sym typeface="Montserrat"/>
            </a:endParaRPr>
          </a:p>
        </p:txBody>
      </p:sp>
      <p:sp>
        <p:nvSpPr>
          <p:cNvPr id="334" name="Google Shape;334;g3a57479c3d7_0_21"/>
          <p:cNvSpPr txBox="1"/>
          <p:nvPr>
            <p:ph idx="1" type="body"/>
          </p:nvPr>
        </p:nvSpPr>
        <p:spPr>
          <a:xfrm>
            <a:off x="1600064" y="3994052"/>
            <a:ext cx="10515600" cy="2636100"/>
          </a:xfrm>
          <a:prstGeom prst="rect">
            <a:avLst/>
          </a:prstGeom>
        </p:spPr>
        <p:txBody>
          <a:bodyPr anchorCtr="0" anchor="t" bIns="45700" lIns="91425" spcFirstLastPara="1" rIns="91425" wrap="square" tIns="45700">
            <a:normAutofit/>
          </a:bodyPr>
          <a:lstStyle/>
          <a:p>
            <a:pPr indent="-381000" lvl="0" marL="457200" rtl="0" algn="l">
              <a:spcBef>
                <a:spcPts val="1000"/>
              </a:spcBef>
              <a:spcAft>
                <a:spcPts val="0"/>
              </a:spcAft>
              <a:buSzPts val="2400"/>
              <a:buFont typeface="Montserrat"/>
              <a:buChar char="●"/>
            </a:pPr>
            <a:r>
              <a:rPr b="1" lang="en-US" sz="2400">
                <a:latin typeface="Montserrat"/>
                <a:ea typeface="Montserrat"/>
                <a:cs typeface="Montserrat"/>
                <a:sym typeface="Montserrat"/>
              </a:rPr>
              <a:t>Remote/Hybrid/Soft Skills: Cultural fit and work adaptability </a:t>
            </a:r>
            <a:endParaRPr b="1" sz="2400">
              <a:latin typeface="Montserrat"/>
              <a:ea typeface="Montserrat"/>
              <a:cs typeface="Montserrat"/>
              <a:sym typeface="Montserrat"/>
            </a:endParaRPr>
          </a:p>
          <a:p>
            <a:pPr indent="-355600" lvl="1" marL="914400" rtl="0" algn="l">
              <a:spcBef>
                <a:spcPts val="0"/>
              </a:spcBef>
              <a:spcAft>
                <a:spcPts val="0"/>
              </a:spcAft>
              <a:buSzPts val="2000"/>
              <a:buFont typeface="Montserrat"/>
              <a:buChar char="○"/>
            </a:pPr>
            <a:r>
              <a:rPr lang="en-US" sz="2000">
                <a:latin typeface="Montserrat"/>
                <a:ea typeface="Montserrat"/>
                <a:cs typeface="Montserrat"/>
                <a:sym typeface="Montserrat"/>
              </a:rPr>
              <a:t>Given the rise of remote/hybrid work, highlighting experience with virtual collaboration tools (Zoom, Slack, Teams) is more valuable.</a:t>
            </a:r>
            <a:endParaRPr sz="2000">
              <a:latin typeface="Montserrat"/>
              <a:ea typeface="Montserrat"/>
              <a:cs typeface="Montserrat"/>
              <a:sym typeface="Montserrat"/>
            </a:endParaRPr>
          </a:p>
          <a:p>
            <a:pPr indent="-355600" lvl="1" marL="914400" rtl="0" algn="l">
              <a:spcBef>
                <a:spcPts val="0"/>
              </a:spcBef>
              <a:spcAft>
                <a:spcPts val="0"/>
              </a:spcAft>
              <a:buSzPts val="2000"/>
              <a:buFont typeface="Montserrat"/>
              <a:buChar char="○"/>
            </a:pPr>
            <a:r>
              <a:rPr lang="en-US" sz="2000">
                <a:latin typeface="Montserrat"/>
                <a:ea typeface="Montserrat"/>
                <a:cs typeface="Montserrat"/>
                <a:sym typeface="Montserrat"/>
              </a:rPr>
              <a:t>Also important: showing you can work independently, manage time, and communicate virtually.</a:t>
            </a:r>
            <a:endParaRPr sz="2000">
              <a:latin typeface="Montserrat"/>
              <a:ea typeface="Montserrat"/>
              <a:cs typeface="Montserrat"/>
              <a:sym typeface="Montserrat"/>
            </a:endParaRPr>
          </a:p>
          <a:p>
            <a:pPr indent="-355600" lvl="1" marL="914400" rtl="0" algn="l">
              <a:spcBef>
                <a:spcPts val="0"/>
              </a:spcBef>
              <a:spcAft>
                <a:spcPts val="0"/>
              </a:spcAft>
              <a:buSzPts val="2000"/>
              <a:buFont typeface="Montserrat"/>
              <a:buChar char="○"/>
            </a:pPr>
            <a:r>
              <a:rPr lang="en-US" sz="2000">
                <a:latin typeface="Montserrat"/>
                <a:ea typeface="Montserrat"/>
                <a:cs typeface="Montserrat"/>
                <a:sym typeface="Montserrat"/>
              </a:rPr>
              <a:t>Soft skills (communication, adaptability, leadership) are being showcased more — not just technical know-how</a:t>
            </a:r>
            <a:endParaRPr sz="2000">
              <a:latin typeface="Montserrat"/>
              <a:ea typeface="Montserrat"/>
              <a:cs typeface="Montserrat"/>
              <a:sym typeface="Montserrat"/>
            </a:endParaRPr>
          </a:p>
          <a:p>
            <a:pPr indent="-355600" lvl="1" marL="914400" rtl="0" algn="l">
              <a:spcBef>
                <a:spcPts val="0"/>
              </a:spcBef>
              <a:spcAft>
                <a:spcPts val="0"/>
              </a:spcAft>
              <a:buSzPts val="2000"/>
              <a:buFont typeface="Montserrat"/>
              <a:buChar char="○"/>
            </a:pPr>
            <a:r>
              <a:rPr lang="en-US" sz="2000">
                <a:latin typeface="Montserrat"/>
                <a:ea typeface="Montserrat"/>
                <a:cs typeface="Montserrat"/>
                <a:sym typeface="Montserrat"/>
              </a:rPr>
              <a:t>Employers are looking for people who not only can do the job but fit culturally.</a:t>
            </a:r>
            <a:endParaRPr sz="2000">
              <a:latin typeface="Montserrat"/>
              <a:ea typeface="Montserrat"/>
              <a:cs typeface="Montserrat"/>
              <a:sym typeface="Montserrat"/>
            </a:endParaRPr>
          </a:p>
        </p:txBody>
      </p:sp>
      <p:sp>
        <p:nvSpPr>
          <p:cNvPr id="335" name="Google Shape;335;g3a57479c3d7_0_21"/>
          <p:cNvSpPr txBox="1"/>
          <p:nvPr/>
        </p:nvSpPr>
        <p:spPr>
          <a:xfrm rot="-5400000">
            <a:off x="-2448650" y="3028800"/>
            <a:ext cx="681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4000">
                <a:solidFill>
                  <a:srgbClr val="0B5394"/>
                </a:solidFill>
                <a:latin typeface="Questrial"/>
                <a:ea typeface="Questrial"/>
                <a:cs typeface="Questrial"/>
                <a:sym typeface="Questrial"/>
              </a:rPr>
              <a:t>Must include</a:t>
            </a:r>
            <a:endParaRPr b="1" sz="4000">
              <a:solidFill>
                <a:srgbClr val="0B5394"/>
              </a:solidFill>
              <a:latin typeface="Questrial"/>
              <a:ea typeface="Questrial"/>
              <a:cs typeface="Questrial"/>
              <a:sym typeface="Quest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g3a57479c3d7_0_2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latin typeface="Montserrat"/>
                <a:ea typeface="Montserrat"/>
                <a:cs typeface="Montserrat"/>
                <a:sym typeface="Montserrat"/>
              </a:rPr>
              <a:t>While writing Resumes</a:t>
            </a:r>
            <a:endParaRPr b="1" sz="4000">
              <a:latin typeface="Montserrat"/>
              <a:ea typeface="Montserrat"/>
              <a:cs typeface="Montserrat"/>
              <a:sym typeface="Montserrat"/>
            </a:endParaRPr>
          </a:p>
        </p:txBody>
      </p:sp>
      <p:sp>
        <p:nvSpPr>
          <p:cNvPr id="342" name="Google Shape;342;g3a57479c3d7_0_29"/>
          <p:cNvSpPr txBox="1"/>
          <p:nvPr>
            <p:ph idx="1" type="body"/>
          </p:nvPr>
        </p:nvSpPr>
        <p:spPr>
          <a:xfrm>
            <a:off x="838200" y="1788425"/>
            <a:ext cx="10515600" cy="4136400"/>
          </a:xfrm>
          <a:prstGeom prst="rect">
            <a:avLst/>
          </a:prstGeom>
        </p:spPr>
        <p:txBody>
          <a:bodyPr anchorCtr="0" anchor="t" bIns="45700" lIns="91425" spcFirstLastPara="1" rIns="91425" wrap="square" tIns="45700">
            <a:noAutofit/>
          </a:bodyPr>
          <a:lstStyle/>
          <a:p>
            <a:pPr indent="-361950" lvl="0" marL="457200" rtl="0" algn="l">
              <a:spcBef>
                <a:spcPts val="1000"/>
              </a:spcBef>
              <a:spcAft>
                <a:spcPts val="0"/>
              </a:spcAft>
              <a:buClr>
                <a:srgbClr val="0000FF"/>
              </a:buClr>
              <a:buSzPts val="2100"/>
              <a:buFont typeface="Questrial"/>
              <a:buAutoNum type="arabicPeriod"/>
            </a:pPr>
            <a:r>
              <a:rPr lang="en-US" sz="2100">
                <a:latin typeface="Questrial"/>
                <a:ea typeface="Questrial"/>
                <a:cs typeface="Questrial"/>
                <a:sym typeface="Questrial"/>
              </a:rPr>
              <a:t>Use a clean, ATS-friendly layout.</a:t>
            </a:r>
            <a:endParaRPr sz="2100">
              <a:latin typeface="Questrial"/>
              <a:ea typeface="Questrial"/>
              <a:cs typeface="Questrial"/>
              <a:sym typeface="Questrial"/>
            </a:endParaRPr>
          </a:p>
          <a:p>
            <a:pPr indent="-361950" lvl="0" marL="457200" rtl="0" algn="l">
              <a:spcBef>
                <a:spcPts val="1000"/>
              </a:spcBef>
              <a:spcAft>
                <a:spcPts val="0"/>
              </a:spcAft>
              <a:buClr>
                <a:srgbClr val="0000FF"/>
              </a:buClr>
              <a:buSzPts val="2100"/>
              <a:buFont typeface="Questrial"/>
              <a:buAutoNum type="arabicPeriod"/>
            </a:pPr>
            <a:r>
              <a:rPr lang="en-US" sz="2100">
                <a:latin typeface="Questrial"/>
                <a:ea typeface="Questrial"/>
                <a:cs typeface="Questrial"/>
                <a:sym typeface="Questrial"/>
              </a:rPr>
              <a:t>Lead with skills + achievements, not just job titles.</a:t>
            </a:r>
            <a:endParaRPr sz="2100">
              <a:latin typeface="Questrial"/>
              <a:ea typeface="Questrial"/>
              <a:cs typeface="Questrial"/>
              <a:sym typeface="Questrial"/>
            </a:endParaRPr>
          </a:p>
          <a:p>
            <a:pPr indent="-361950" lvl="0" marL="457200" rtl="0" algn="l">
              <a:spcBef>
                <a:spcPts val="1000"/>
              </a:spcBef>
              <a:spcAft>
                <a:spcPts val="0"/>
              </a:spcAft>
              <a:buClr>
                <a:srgbClr val="0000FF"/>
              </a:buClr>
              <a:buSzPts val="2100"/>
              <a:buFont typeface="Questrial"/>
              <a:buAutoNum type="arabicPeriod"/>
            </a:pPr>
            <a:r>
              <a:rPr lang="en-US" sz="2100">
                <a:latin typeface="Questrial"/>
                <a:ea typeface="Questrial"/>
                <a:cs typeface="Questrial"/>
                <a:sym typeface="Questrial"/>
              </a:rPr>
              <a:t>Quantify your impact.</a:t>
            </a:r>
            <a:endParaRPr sz="2100">
              <a:latin typeface="Questrial"/>
              <a:ea typeface="Questrial"/>
              <a:cs typeface="Questrial"/>
              <a:sym typeface="Questrial"/>
            </a:endParaRPr>
          </a:p>
          <a:p>
            <a:pPr indent="-361950" lvl="0" marL="457200" rtl="0" algn="l">
              <a:spcBef>
                <a:spcPts val="1000"/>
              </a:spcBef>
              <a:spcAft>
                <a:spcPts val="0"/>
              </a:spcAft>
              <a:buClr>
                <a:srgbClr val="0000FF"/>
              </a:buClr>
              <a:buSzPts val="2100"/>
              <a:buFont typeface="Questrial"/>
              <a:buAutoNum type="arabicPeriod"/>
            </a:pPr>
            <a:r>
              <a:rPr lang="en-US" sz="2100">
                <a:latin typeface="Questrial"/>
                <a:ea typeface="Questrial"/>
                <a:cs typeface="Questrial"/>
                <a:sym typeface="Questrial"/>
              </a:rPr>
              <a:t>Include soft + digital/remote skills.</a:t>
            </a:r>
            <a:endParaRPr sz="2100">
              <a:latin typeface="Questrial"/>
              <a:ea typeface="Questrial"/>
              <a:cs typeface="Questrial"/>
              <a:sym typeface="Questrial"/>
            </a:endParaRPr>
          </a:p>
          <a:p>
            <a:pPr indent="-361950" lvl="0" marL="457200" rtl="0" algn="l">
              <a:spcBef>
                <a:spcPts val="1000"/>
              </a:spcBef>
              <a:spcAft>
                <a:spcPts val="0"/>
              </a:spcAft>
              <a:buClr>
                <a:srgbClr val="0000FF"/>
              </a:buClr>
              <a:buSzPts val="2100"/>
              <a:buFont typeface="Questrial"/>
              <a:buAutoNum type="arabicPeriod"/>
            </a:pPr>
            <a:r>
              <a:rPr lang="en-US" sz="2100">
                <a:latin typeface="Questrial"/>
                <a:ea typeface="Questrial"/>
                <a:cs typeface="Questrial"/>
                <a:sym typeface="Questrial"/>
              </a:rPr>
              <a:t>Link to a professional online presence (LinkedIn, portfolio).</a:t>
            </a:r>
            <a:endParaRPr sz="2100">
              <a:latin typeface="Questrial"/>
              <a:ea typeface="Questrial"/>
              <a:cs typeface="Questrial"/>
              <a:sym typeface="Questrial"/>
            </a:endParaRPr>
          </a:p>
          <a:p>
            <a:pPr indent="-361950" lvl="0" marL="457200" rtl="0" algn="l">
              <a:spcBef>
                <a:spcPts val="1000"/>
              </a:spcBef>
              <a:spcAft>
                <a:spcPts val="0"/>
              </a:spcAft>
              <a:buClr>
                <a:srgbClr val="0000FF"/>
              </a:buClr>
              <a:buSzPts val="2100"/>
              <a:buFont typeface="Questrial"/>
              <a:buAutoNum type="arabicPeriod"/>
            </a:pPr>
            <a:r>
              <a:rPr lang="en-US" sz="2100">
                <a:latin typeface="Questrial"/>
                <a:ea typeface="Questrial"/>
                <a:cs typeface="Questrial"/>
                <a:sym typeface="Questrial"/>
              </a:rPr>
              <a:t>Be intentional with tailoring — use AI or manual editing to match job descriptions.</a:t>
            </a:r>
            <a:endParaRPr sz="2100">
              <a:latin typeface="Questrial"/>
              <a:ea typeface="Questrial"/>
              <a:cs typeface="Questrial"/>
              <a:sym typeface="Questrial"/>
            </a:endParaRPr>
          </a:p>
          <a:p>
            <a:pPr indent="-361950" lvl="0" marL="457200" rtl="0" algn="l">
              <a:spcBef>
                <a:spcPts val="1000"/>
              </a:spcBef>
              <a:spcAft>
                <a:spcPts val="0"/>
              </a:spcAft>
              <a:buClr>
                <a:srgbClr val="0000FF"/>
              </a:buClr>
              <a:buSzPts val="2100"/>
              <a:buFont typeface="Questrial"/>
              <a:buAutoNum type="arabicPeriod"/>
            </a:pPr>
            <a:r>
              <a:rPr lang="en-US" sz="2100">
                <a:latin typeface="Questrial"/>
                <a:ea typeface="Questrial"/>
                <a:cs typeface="Questrial"/>
                <a:sym typeface="Questrial"/>
              </a:rPr>
              <a:t>Show continuous learning (certifications, courses).</a:t>
            </a:r>
            <a:endParaRPr sz="2100">
              <a:latin typeface="Questrial"/>
              <a:ea typeface="Questrial"/>
              <a:cs typeface="Questrial"/>
              <a:sym typeface="Questrial"/>
            </a:endParaRPr>
          </a:p>
          <a:p>
            <a:pPr indent="-361950" lvl="0" marL="457200" rtl="0" algn="l">
              <a:spcBef>
                <a:spcPts val="1000"/>
              </a:spcBef>
              <a:spcAft>
                <a:spcPts val="0"/>
              </a:spcAft>
              <a:buClr>
                <a:srgbClr val="0000FF"/>
              </a:buClr>
              <a:buSzPts val="2100"/>
              <a:buFont typeface="Questrial"/>
              <a:buAutoNum type="arabicPeriod"/>
            </a:pPr>
            <a:r>
              <a:rPr lang="en-US" sz="2100">
                <a:latin typeface="Questrial"/>
                <a:ea typeface="Questrial"/>
                <a:cs typeface="Questrial"/>
                <a:sym typeface="Questrial"/>
              </a:rPr>
              <a:t>If relevant, use multimedia carefully — but don’t break ATS.</a:t>
            </a:r>
            <a:endParaRPr sz="2100">
              <a:latin typeface="Questrial"/>
              <a:ea typeface="Questrial"/>
              <a:cs typeface="Questrial"/>
              <a:sym typeface="Questrial"/>
            </a:endParaRPr>
          </a:p>
          <a:p>
            <a:pPr indent="-361950" lvl="0" marL="457200" rtl="0" algn="l">
              <a:spcBef>
                <a:spcPts val="1000"/>
              </a:spcBef>
              <a:spcAft>
                <a:spcPts val="0"/>
              </a:spcAft>
              <a:buClr>
                <a:srgbClr val="0000FF"/>
              </a:buClr>
              <a:buSzPts val="2100"/>
              <a:buFont typeface="Questrial"/>
              <a:buAutoNum type="arabicPeriod"/>
            </a:pPr>
            <a:r>
              <a:rPr lang="en-US" sz="2100">
                <a:latin typeface="Questrial"/>
                <a:ea typeface="Questrial"/>
                <a:cs typeface="Questrial"/>
                <a:sym typeface="Questrial"/>
              </a:rPr>
              <a:t>Don’t hide your use of AI — but also don’t rely on it entirely.</a:t>
            </a:r>
            <a:endParaRPr sz="2100">
              <a:latin typeface="Questrial"/>
              <a:ea typeface="Questrial"/>
              <a:cs typeface="Questrial"/>
              <a:sym typeface="Quest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a57479c3d7_0_3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latin typeface="Montserrat"/>
                <a:ea typeface="Montserrat"/>
                <a:cs typeface="Montserrat"/>
                <a:sym typeface="Montserrat"/>
              </a:rPr>
              <a:t>Types of Resumes</a:t>
            </a:r>
            <a:endParaRPr b="1" sz="4000">
              <a:latin typeface="Montserrat"/>
              <a:ea typeface="Montserrat"/>
              <a:cs typeface="Montserrat"/>
              <a:sym typeface="Montserrat"/>
            </a:endParaRPr>
          </a:p>
        </p:txBody>
      </p:sp>
      <p:sp>
        <p:nvSpPr>
          <p:cNvPr id="349" name="Google Shape;349;g3a57479c3d7_0_35"/>
          <p:cNvSpPr txBox="1"/>
          <p:nvPr>
            <p:ph idx="1" type="body"/>
          </p:nvPr>
        </p:nvSpPr>
        <p:spPr>
          <a:xfrm>
            <a:off x="838200" y="1788425"/>
            <a:ext cx="10515600" cy="1761600"/>
          </a:xfrm>
          <a:prstGeom prst="rect">
            <a:avLst/>
          </a:prstGeom>
        </p:spPr>
        <p:txBody>
          <a:bodyPr anchorCtr="0" anchor="t" bIns="45700" lIns="91425" spcFirstLastPara="1" rIns="91425" wrap="square" tIns="45700">
            <a:normAutofit/>
          </a:bodyPr>
          <a:lstStyle/>
          <a:p>
            <a:pPr indent="-400050" lvl="0" marL="457200" rtl="0" algn="l">
              <a:spcBef>
                <a:spcPts val="1000"/>
              </a:spcBef>
              <a:spcAft>
                <a:spcPts val="0"/>
              </a:spcAft>
              <a:buSzPts val="2700"/>
              <a:buFont typeface="Montserrat"/>
              <a:buAutoNum type="arabicPeriod"/>
            </a:pPr>
            <a:r>
              <a:rPr lang="en-US" sz="2700">
                <a:latin typeface="Montserrat"/>
                <a:ea typeface="Montserrat"/>
                <a:cs typeface="Montserrat"/>
                <a:sym typeface="Montserrat"/>
              </a:rPr>
              <a:t>Chronological Structure (Most common)</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lang="en-US" sz="2700">
                <a:latin typeface="Montserrat"/>
                <a:ea typeface="Montserrat"/>
                <a:cs typeface="Montserrat"/>
                <a:sym typeface="Montserrat"/>
              </a:rPr>
              <a:t>Functional Structure (Skills-first)</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lang="en-US" sz="2700">
                <a:latin typeface="Montserrat"/>
                <a:ea typeface="Montserrat"/>
                <a:cs typeface="Montserrat"/>
                <a:sym typeface="Montserrat"/>
              </a:rPr>
              <a:t>Project-Based Structure</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lang="en-US" sz="2700">
                <a:latin typeface="Montserrat"/>
                <a:ea typeface="Montserrat"/>
                <a:cs typeface="Montserrat"/>
                <a:sym typeface="Montserrat"/>
              </a:rPr>
              <a:t>Academic / Research Structure</a:t>
            </a:r>
            <a:endParaRPr sz="2700">
              <a:latin typeface="Montserrat"/>
              <a:ea typeface="Montserrat"/>
              <a:cs typeface="Montserrat"/>
              <a:sym typeface="Montserrat"/>
            </a:endParaRPr>
          </a:p>
        </p:txBody>
      </p:sp>
      <p:sp>
        <p:nvSpPr>
          <p:cNvPr id="350" name="Google Shape;350;g3a57479c3d7_0_35"/>
          <p:cNvSpPr txBox="1"/>
          <p:nvPr>
            <p:ph idx="1" type="body"/>
          </p:nvPr>
        </p:nvSpPr>
        <p:spPr>
          <a:xfrm>
            <a:off x="787306" y="3296678"/>
            <a:ext cx="10515600" cy="1761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2700">
                <a:latin typeface="Montserrat"/>
                <a:ea typeface="Montserrat"/>
                <a:cs typeface="Montserrat"/>
                <a:sym typeface="Montserrat"/>
              </a:rPr>
              <a:t>5.  Combination / Hybrid Structure (</a:t>
            </a:r>
            <a:r>
              <a:rPr b="1" lang="en-US" sz="2700">
                <a:solidFill>
                  <a:srgbClr val="9900FF"/>
                </a:solidFill>
                <a:latin typeface="Montserrat"/>
                <a:ea typeface="Montserrat"/>
                <a:cs typeface="Montserrat"/>
                <a:sym typeface="Montserrat"/>
              </a:rPr>
              <a:t>Most popular</a:t>
            </a:r>
            <a:r>
              <a:rPr lang="en-US" sz="2700">
                <a:latin typeface="Montserrat"/>
                <a:ea typeface="Montserrat"/>
                <a:cs typeface="Montserrat"/>
                <a:sym typeface="Montserrat"/>
              </a:rPr>
              <a:t>)</a:t>
            </a:r>
            <a:endParaRPr sz="2700">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3a57479c3d7_0_4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latin typeface="Montserrat"/>
                <a:ea typeface="Montserrat"/>
                <a:cs typeface="Montserrat"/>
                <a:sym typeface="Montserrat"/>
              </a:rPr>
              <a:t>Types of Resumes</a:t>
            </a:r>
            <a:endParaRPr b="1" sz="4000">
              <a:latin typeface="Montserrat"/>
              <a:ea typeface="Montserrat"/>
              <a:cs typeface="Montserrat"/>
              <a:sym typeface="Montserrat"/>
            </a:endParaRPr>
          </a:p>
        </p:txBody>
      </p:sp>
      <p:sp>
        <p:nvSpPr>
          <p:cNvPr id="357" name="Google Shape;357;g3a57479c3d7_0_42"/>
          <p:cNvSpPr txBox="1"/>
          <p:nvPr>
            <p:ph idx="1" type="body"/>
          </p:nvPr>
        </p:nvSpPr>
        <p:spPr>
          <a:xfrm>
            <a:off x="838200" y="1788425"/>
            <a:ext cx="10515600" cy="1761600"/>
          </a:xfrm>
          <a:prstGeom prst="rect">
            <a:avLst/>
          </a:prstGeom>
        </p:spPr>
        <p:txBody>
          <a:bodyPr anchorCtr="0" anchor="t" bIns="45700" lIns="91425" spcFirstLastPara="1" rIns="91425" wrap="square" tIns="45700">
            <a:normAutofit/>
          </a:bodyPr>
          <a:lstStyle/>
          <a:p>
            <a:pPr indent="-400050" lvl="0" marL="457200" rtl="0" algn="l">
              <a:spcBef>
                <a:spcPts val="1000"/>
              </a:spcBef>
              <a:spcAft>
                <a:spcPts val="0"/>
              </a:spcAft>
              <a:buSzPts val="2700"/>
              <a:buFont typeface="Montserrat"/>
              <a:buAutoNum type="arabicPeriod"/>
            </a:pPr>
            <a:r>
              <a:rPr lang="en-US" sz="2700">
                <a:latin typeface="Montserrat"/>
                <a:ea typeface="Montserrat"/>
                <a:cs typeface="Montserrat"/>
                <a:sym typeface="Montserrat"/>
              </a:rPr>
              <a:t>Chronological Structure (Most common)</a:t>
            </a:r>
            <a:endParaRPr sz="2700">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lang="en-US" sz="2700">
                <a:latin typeface="Montserrat"/>
                <a:ea typeface="Montserrat"/>
                <a:cs typeface="Montserrat"/>
                <a:sym typeface="Montserrat"/>
              </a:rPr>
              <a:t>Functional Structure (Skills-first)</a:t>
            </a:r>
            <a:endParaRPr sz="2700">
              <a:latin typeface="Montserrat"/>
              <a:ea typeface="Montserrat"/>
              <a:cs typeface="Montserrat"/>
              <a:sym typeface="Montserrat"/>
            </a:endParaRPr>
          </a:p>
          <a:p>
            <a:pPr indent="-400050" lvl="0" marL="457200" rtl="0" algn="l">
              <a:spcBef>
                <a:spcPts val="0"/>
              </a:spcBef>
              <a:spcAft>
                <a:spcPts val="0"/>
              </a:spcAft>
              <a:buClr>
                <a:srgbClr val="38761D"/>
              </a:buClr>
              <a:buSzPts val="2700"/>
              <a:buFont typeface="Montserrat"/>
              <a:buAutoNum type="arabicPeriod"/>
            </a:pPr>
            <a:r>
              <a:rPr b="1" lang="en-US" sz="2700">
                <a:solidFill>
                  <a:srgbClr val="38761D"/>
                </a:solidFill>
                <a:latin typeface="Montserrat"/>
                <a:ea typeface="Montserrat"/>
                <a:cs typeface="Montserrat"/>
                <a:sym typeface="Montserrat"/>
              </a:rPr>
              <a:t>Project-Based Structure</a:t>
            </a:r>
            <a:endParaRPr b="1" sz="2700">
              <a:solidFill>
                <a:srgbClr val="38761D"/>
              </a:solidFill>
              <a:latin typeface="Montserrat"/>
              <a:ea typeface="Montserrat"/>
              <a:cs typeface="Montserrat"/>
              <a:sym typeface="Montserrat"/>
            </a:endParaRPr>
          </a:p>
          <a:p>
            <a:pPr indent="-400050" lvl="0" marL="457200" rtl="0" algn="l">
              <a:spcBef>
                <a:spcPts val="0"/>
              </a:spcBef>
              <a:spcAft>
                <a:spcPts val="0"/>
              </a:spcAft>
              <a:buSzPts val="2700"/>
              <a:buFont typeface="Montserrat"/>
              <a:buAutoNum type="arabicPeriod"/>
            </a:pPr>
            <a:r>
              <a:rPr lang="en-US" sz="2700">
                <a:latin typeface="Montserrat"/>
                <a:ea typeface="Montserrat"/>
                <a:cs typeface="Montserrat"/>
                <a:sym typeface="Montserrat"/>
              </a:rPr>
              <a:t>Academic / Research Structure</a:t>
            </a:r>
            <a:endParaRPr sz="2700">
              <a:latin typeface="Montserrat"/>
              <a:ea typeface="Montserrat"/>
              <a:cs typeface="Montserrat"/>
              <a:sym typeface="Montserrat"/>
            </a:endParaRPr>
          </a:p>
        </p:txBody>
      </p:sp>
      <p:sp>
        <p:nvSpPr>
          <p:cNvPr id="358" name="Google Shape;358;g3a57479c3d7_0_42"/>
          <p:cNvSpPr txBox="1"/>
          <p:nvPr>
            <p:ph idx="1" type="body"/>
          </p:nvPr>
        </p:nvSpPr>
        <p:spPr>
          <a:xfrm>
            <a:off x="761859" y="3302259"/>
            <a:ext cx="10515600" cy="17616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US" sz="2700">
                <a:solidFill>
                  <a:srgbClr val="38761D"/>
                </a:solidFill>
                <a:latin typeface="Montserrat"/>
                <a:ea typeface="Montserrat"/>
                <a:cs typeface="Montserrat"/>
                <a:sym typeface="Montserrat"/>
              </a:rPr>
              <a:t>5.  Combination / Hybrid Structure </a:t>
            </a:r>
            <a:endParaRPr b="1" sz="2700">
              <a:solidFill>
                <a:srgbClr val="38761D"/>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3a57479c3d7_0_49"/>
          <p:cNvSpPr txBox="1"/>
          <p:nvPr>
            <p:ph type="title"/>
          </p:nvPr>
        </p:nvSpPr>
        <p:spPr>
          <a:xfrm>
            <a:off x="838200" y="212450"/>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latin typeface="Montserrat"/>
                <a:ea typeface="Montserrat"/>
                <a:cs typeface="Montserrat"/>
                <a:sym typeface="Montserrat"/>
              </a:rPr>
              <a:t>Resume components </a:t>
            </a:r>
            <a:endParaRPr sz="2800">
              <a:latin typeface="Montserrat"/>
              <a:ea typeface="Montserrat"/>
              <a:cs typeface="Montserrat"/>
              <a:sym typeface="Montserrat"/>
            </a:endParaRPr>
          </a:p>
          <a:p>
            <a:pPr indent="0" lvl="0" marL="0" rtl="0" algn="l">
              <a:spcBef>
                <a:spcPts val="0"/>
              </a:spcBef>
              <a:spcAft>
                <a:spcPts val="0"/>
              </a:spcAft>
              <a:buNone/>
            </a:pPr>
            <a:r>
              <a:rPr i="1" lang="en-US" sz="2300">
                <a:latin typeface="Montserrat"/>
                <a:ea typeface="Montserrat"/>
                <a:cs typeface="Montserrat"/>
                <a:sym typeface="Montserrat"/>
              </a:rPr>
              <a:t>best for Tech / Engg / DS/ Fresh</a:t>
            </a:r>
            <a:endParaRPr i="1" sz="2300">
              <a:latin typeface="Montserrat"/>
              <a:ea typeface="Montserrat"/>
              <a:cs typeface="Montserrat"/>
              <a:sym typeface="Montserrat"/>
            </a:endParaRPr>
          </a:p>
        </p:txBody>
      </p:sp>
      <p:sp>
        <p:nvSpPr>
          <p:cNvPr id="365" name="Google Shape;365;g3a57479c3d7_0_49"/>
          <p:cNvSpPr txBox="1"/>
          <p:nvPr>
            <p:ph idx="1" type="body"/>
          </p:nvPr>
        </p:nvSpPr>
        <p:spPr>
          <a:xfrm>
            <a:off x="838200" y="2386425"/>
            <a:ext cx="10515600" cy="41364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Font typeface="Montserrat"/>
              <a:buAutoNum type="arabicPeriod"/>
            </a:pPr>
            <a:r>
              <a:rPr lang="en-US" sz="1800">
                <a:latin typeface="Montserrat"/>
                <a:ea typeface="Montserrat"/>
                <a:cs typeface="Montserrat"/>
                <a:sym typeface="Montserrat"/>
              </a:rPr>
              <a:t>Profile Summary</a:t>
            </a:r>
            <a:endParaRPr sz="1800">
              <a:latin typeface="Montserrat"/>
              <a:ea typeface="Montserrat"/>
              <a:cs typeface="Montserrat"/>
              <a:sym typeface="Montserrat"/>
            </a:endParaRPr>
          </a:p>
          <a:p>
            <a:pPr indent="-342900" lvl="0" marL="457200" rtl="0" algn="l">
              <a:spcBef>
                <a:spcPts val="0"/>
              </a:spcBef>
              <a:spcAft>
                <a:spcPts val="0"/>
              </a:spcAft>
              <a:buSzPts val="1800"/>
              <a:buFont typeface="Montserrat"/>
              <a:buAutoNum type="arabicPeriod"/>
            </a:pPr>
            <a:r>
              <a:rPr lang="en-US" sz="1800">
                <a:latin typeface="Montserrat"/>
                <a:ea typeface="Montserrat"/>
                <a:cs typeface="Montserrat"/>
                <a:sym typeface="Montserrat"/>
              </a:rPr>
              <a:t>Education</a:t>
            </a:r>
            <a:endParaRPr sz="1800">
              <a:latin typeface="Montserrat"/>
              <a:ea typeface="Montserrat"/>
              <a:cs typeface="Montserrat"/>
              <a:sym typeface="Montserrat"/>
            </a:endParaRPr>
          </a:p>
          <a:p>
            <a:pPr indent="-342900" lvl="0" marL="457200" rtl="0" algn="l">
              <a:spcBef>
                <a:spcPts val="0"/>
              </a:spcBef>
              <a:spcAft>
                <a:spcPts val="0"/>
              </a:spcAft>
              <a:buSzPts val="1800"/>
              <a:buFont typeface="Montserrat"/>
              <a:buAutoNum type="arabicPeriod"/>
            </a:pPr>
            <a:r>
              <a:rPr lang="en-US" sz="1800">
                <a:latin typeface="Montserrat"/>
                <a:ea typeface="Montserrat"/>
                <a:cs typeface="Montserrat"/>
                <a:sym typeface="Montserrat"/>
              </a:rPr>
              <a:t>Key Projects (4–6 projects) [Project | Tools | </a:t>
            </a:r>
            <a:r>
              <a:rPr lang="en-US" sz="1800" u="sng">
                <a:solidFill>
                  <a:srgbClr val="9900FF"/>
                </a:solidFill>
                <a:latin typeface="Montserrat"/>
                <a:ea typeface="Montserrat"/>
                <a:cs typeface="Montserrat"/>
                <a:sym typeface="Montserrat"/>
              </a:rPr>
              <a:t>Result</a:t>
            </a:r>
            <a:r>
              <a:rPr lang="en-US" sz="1800">
                <a:latin typeface="Montserrat"/>
                <a:ea typeface="Montserrat"/>
                <a:cs typeface="Montserrat"/>
                <a:sym typeface="Montserrat"/>
              </a:rPr>
              <a:t>]</a:t>
            </a:r>
            <a:endParaRPr sz="1800">
              <a:latin typeface="Montserrat"/>
              <a:ea typeface="Montserrat"/>
              <a:cs typeface="Montserrat"/>
              <a:sym typeface="Montserrat"/>
            </a:endParaRPr>
          </a:p>
          <a:p>
            <a:pPr indent="-336550" lvl="1" marL="914400" rtl="0" algn="l">
              <a:spcBef>
                <a:spcPts val="0"/>
              </a:spcBef>
              <a:spcAft>
                <a:spcPts val="0"/>
              </a:spcAft>
              <a:buSzPts val="1700"/>
              <a:buFont typeface="Montserrat"/>
              <a:buAutoNum type="alphaLcPeriod"/>
            </a:pPr>
            <a:r>
              <a:rPr i="1" lang="en-US" sz="1700">
                <a:latin typeface="Montserrat"/>
                <a:ea typeface="Montserrat"/>
                <a:cs typeface="Montserrat"/>
                <a:sym typeface="Montserrat"/>
              </a:rPr>
              <a:t>What you built</a:t>
            </a:r>
            <a:endParaRPr i="1" sz="1700">
              <a:latin typeface="Montserrat"/>
              <a:ea typeface="Montserrat"/>
              <a:cs typeface="Montserrat"/>
              <a:sym typeface="Montserrat"/>
            </a:endParaRPr>
          </a:p>
          <a:p>
            <a:pPr indent="-336550" lvl="1" marL="914400" rtl="0" algn="l">
              <a:spcBef>
                <a:spcPts val="0"/>
              </a:spcBef>
              <a:spcAft>
                <a:spcPts val="0"/>
              </a:spcAft>
              <a:buSzPts val="1700"/>
              <a:buFont typeface="Montserrat"/>
              <a:buAutoNum type="alphaLcPeriod"/>
            </a:pPr>
            <a:r>
              <a:rPr i="1" lang="en-US" sz="1700">
                <a:latin typeface="Montserrat"/>
                <a:ea typeface="Montserrat"/>
                <a:cs typeface="Montserrat"/>
                <a:sym typeface="Montserrat"/>
              </a:rPr>
              <a:t>What problem you solved</a:t>
            </a:r>
            <a:endParaRPr i="1" sz="1700">
              <a:latin typeface="Montserrat"/>
              <a:ea typeface="Montserrat"/>
              <a:cs typeface="Montserrat"/>
              <a:sym typeface="Montserrat"/>
            </a:endParaRPr>
          </a:p>
          <a:p>
            <a:pPr indent="-336550" lvl="1" marL="914400" rtl="0" algn="l">
              <a:spcBef>
                <a:spcPts val="0"/>
              </a:spcBef>
              <a:spcAft>
                <a:spcPts val="0"/>
              </a:spcAft>
              <a:buSzPts val="1700"/>
              <a:buFont typeface="Montserrat"/>
              <a:buAutoNum type="alphaLcPeriod"/>
            </a:pPr>
            <a:r>
              <a:rPr i="1" lang="en-US" sz="1700">
                <a:latin typeface="Montserrat"/>
                <a:ea typeface="Montserrat"/>
                <a:cs typeface="Montserrat"/>
                <a:sym typeface="Montserrat"/>
              </a:rPr>
              <a:t>Any measurable outcome</a:t>
            </a:r>
            <a:endParaRPr i="1" sz="1700">
              <a:latin typeface="Montserrat"/>
              <a:ea typeface="Montserrat"/>
              <a:cs typeface="Montserrat"/>
              <a:sym typeface="Montserrat"/>
            </a:endParaRPr>
          </a:p>
          <a:p>
            <a:pPr indent="-342900" lvl="0" marL="457200" rtl="0" algn="l">
              <a:spcBef>
                <a:spcPts val="0"/>
              </a:spcBef>
              <a:spcAft>
                <a:spcPts val="0"/>
              </a:spcAft>
              <a:buSzPts val="1800"/>
              <a:buFont typeface="Montserrat"/>
              <a:buAutoNum type="arabicPeriod"/>
            </a:pPr>
            <a:r>
              <a:rPr lang="en-US" sz="1800">
                <a:latin typeface="Montserrat"/>
                <a:ea typeface="Montserrat"/>
                <a:cs typeface="Montserrat"/>
                <a:sym typeface="Montserrat"/>
              </a:rPr>
              <a:t>Experience (Internships or part-time)</a:t>
            </a:r>
            <a:endParaRPr sz="1800">
              <a:latin typeface="Montserrat"/>
              <a:ea typeface="Montserrat"/>
              <a:cs typeface="Montserrat"/>
              <a:sym typeface="Montserrat"/>
            </a:endParaRPr>
          </a:p>
          <a:p>
            <a:pPr indent="-342900" lvl="1" marL="914400" rtl="0" algn="l">
              <a:spcBef>
                <a:spcPts val="0"/>
              </a:spcBef>
              <a:spcAft>
                <a:spcPts val="0"/>
              </a:spcAft>
              <a:buSzPts val="1800"/>
              <a:buFont typeface="Montserrat"/>
              <a:buAutoNum type="alphaLcPeriod"/>
            </a:pPr>
            <a:r>
              <a:rPr i="1" lang="en-US" sz="1800">
                <a:latin typeface="Montserrat"/>
                <a:ea typeface="Montserrat"/>
                <a:cs typeface="Montserrat"/>
                <a:sym typeface="Montserrat"/>
              </a:rPr>
              <a:t>Keep short (2–3 bullets per role)</a:t>
            </a:r>
            <a:endParaRPr i="1" sz="1800">
              <a:latin typeface="Montserrat"/>
              <a:ea typeface="Montserrat"/>
              <a:cs typeface="Montserrat"/>
              <a:sym typeface="Montserrat"/>
            </a:endParaRPr>
          </a:p>
          <a:p>
            <a:pPr indent="-342900" lvl="0" marL="457200" rtl="0" algn="l">
              <a:spcBef>
                <a:spcPts val="0"/>
              </a:spcBef>
              <a:spcAft>
                <a:spcPts val="0"/>
              </a:spcAft>
              <a:buSzPts val="1800"/>
              <a:buFont typeface="Montserrat"/>
              <a:buAutoNum type="arabicPeriod"/>
            </a:pPr>
            <a:r>
              <a:rPr lang="en-US" sz="1800">
                <a:latin typeface="Montserrat"/>
                <a:ea typeface="Montserrat"/>
                <a:cs typeface="Montserrat"/>
                <a:sym typeface="Montserrat"/>
              </a:rPr>
              <a:t>Core Skills (Split into)</a:t>
            </a:r>
            <a:endParaRPr sz="1800">
              <a:latin typeface="Montserrat"/>
              <a:ea typeface="Montserrat"/>
              <a:cs typeface="Montserrat"/>
              <a:sym typeface="Montserrat"/>
            </a:endParaRPr>
          </a:p>
          <a:p>
            <a:pPr indent="-342900" lvl="1" marL="914400" rtl="0" algn="l">
              <a:spcBef>
                <a:spcPts val="0"/>
              </a:spcBef>
              <a:spcAft>
                <a:spcPts val="0"/>
              </a:spcAft>
              <a:buSzPts val="1800"/>
              <a:buFont typeface="Montserrat"/>
              <a:buAutoNum type="alphaLcPeriod"/>
            </a:pPr>
            <a:r>
              <a:rPr lang="en-US" sz="1800">
                <a:latin typeface="Montserrat"/>
                <a:ea typeface="Montserrat"/>
                <a:cs typeface="Montserrat"/>
                <a:sym typeface="Montserrat"/>
              </a:rPr>
              <a:t>Technical</a:t>
            </a:r>
            <a:endParaRPr sz="1800">
              <a:latin typeface="Montserrat"/>
              <a:ea typeface="Montserrat"/>
              <a:cs typeface="Montserrat"/>
              <a:sym typeface="Montserrat"/>
            </a:endParaRPr>
          </a:p>
          <a:p>
            <a:pPr indent="-342900" lvl="1" marL="914400" rtl="0" algn="l">
              <a:spcBef>
                <a:spcPts val="0"/>
              </a:spcBef>
              <a:spcAft>
                <a:spcPts val="0"/>
              </a:spcAft>
              <a:buSzPts val="1800"/>
              <a:buFont typeface="Montserrat"/>
              <a:buAutoNum type="alphaLcPeriod"/>
            </a:pPr>
            <a:r>
              <a:rPr lang="en-US" sz="1800">
                <a:latin typeface="Montserrat"/>
                <a:ea typeface="Montserrat"/>
                <a:cs typeface="Montserrat"/>
                <a:sym typeface="Montserrat"/>
              </a:rPr>
              <a:t>Tools</a:t>
            </a:r>
            <a:endParaRPr sz="1800">
              <a:latin typeface="Montserrat"/>
              <a:ea typeface="Montserrat"/>
              <a:cs typeface="Montserrat"/>
              <a:sym typeface="Montserrat"/>
            </a:endParaRPr>
          </a:p>
          <a:p>
            <a:pPr indent="-342900" lvl="1" marL="914400" rtl="0" algn="l">
              <a:spcBef>
                <a:spcPts val="0"/>
              </a:spcBef>
              <a:spcAft>
                <a:spcPts val="0"/>
              </a:spcAft>
              <a:buSzPts val="1800"/>
              <a:buFont typeface="Montserrat"/>
              <a:buAutoNum type="alphaLcPeriod"/>
            </a:pPr>
            <a:r>
              <a:rPr lang="en-US" sz="1800">
                <a:latin typeface="Montserrat"/>
                <a:ea typeface="Montserrat"/>
                <a:cs typeface="Montserrat"/>
                <a:sym typeface="Montserrat"/>
              </a:rPr>
              <a:t>Soft skills</a:t>
            </a:r>
            <a:endParaRPr sz="1800">
              <a:latin typeface="Montserrat"/>
              <a:ea typeface="Montserrat"/>
              <a:cs typeface="Montserrat"/>
              <a:sym typeface="Montserrat"/>
            </a:endParaRPr>
          </a:p>
          <a:p>
            <a:pPr indent="-342900" lvl="0" marL="457200" rtl="0" algn="l">
              <a:spcBef>
                <a:spcPts val="0"/>
              </a:spcBef>
              <a:spcAft>
                <a:spcPts val="0"/>
              </a:spcAft>
              <a:buSzPts val="1800"/>
              <a:buFont typeface="Montserrat"/>
              <a:buAutoNum type="arabicPeriod"/>
            </a:pPr>
            <a:r>
              <a:rPr lang="en-US" sz="1800">
                <a:latin typeface="Montserrat"/>
                <a:ea typeface="Montserrat"/>
                <a:cs typeface="Montserrat"/>
                <a:sym typeface="Montserrat"/>
              </a:rPr>
              <a:t>Certifications </a:t>
            </a:r>
            <a:endParaRPr sz="1800">
              <a:latin typeface="Montserrat"/>
              <a:ea typeface="Montserrat"/>
              <a:cs typeface="Montserrat"/>
              <a:sym typeface="Montserrat"/>
            </a:endParaRPr>
          </a:p>
        </p:txBody>
      </p:sp>
      <p:sp>
        <p:nvSpPr>
          <p:cNvPr id="366" name="Google Shape;366;g3a57479c3d7_0_49"/>
          <p:cNvSpPr txBox="1"/>
          <p:nvPr/>
        </p:nvSpPr>
        <p:spPr>
          <a:xfrm>
            <a:off x="992450" y="1615900"/>
            <a:ext cx="7328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rgbClr val="0B5394"/>
                </a:solidFill>
                <a:latin typeface="Questrial"/>
                <a:ea typeface="Questrial"/>
                <a:cs typeface="Questrial"/>
                <a:sym typeface="Questrial"/>
              </a:rPr>
              <a:t>Header</a:t>
            </a:r>
            <a:endParaRPr b="1" sz="2800">
              <a:solidFill>
                <a:srgbClr val="0B5394"/>
              </a:solidFill>
              <a:latin typeface="Questrial"/>
              <a:ea typeface="Questrial"/>
              <a:cs typeface="Questrial"/>
              <a:sym typeface="Quest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3a57479c3d7_0_324"/>
          <p:cNvSpPr txBox="1"/>
          <p:nvPr>
            <p:ph type="ctrTitle"/>
          </p:nvPr>
        </p:nvSpPr>
        <p:spPr>
          <a:xfrm>
            <a:off x="127200" y="1766450"/>
            <a:ext cx="11937600" cy="15414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2F5496"/>
              </a:buClr>
              <a:buSzPts val="4400"/>
              <a:buFont typeface="Times New Roman"/>
              <a:buNone/>
            </a:pPr>
            <a:r>
              <a:rPr b="1" lang="en-US" sz="10000">
                <a:solidFill>
                  <a:srgbClr val="2F5496"/>
                </a:solidFill>
                <a:latin typeface="Questrial"/>
                <a:ea typeface="Questrial"/>
                <a:cs typeface="Questrial"/>
                <a:sym typeface="Questrial"/>
              </a:rPr>
              <a:t>LinkedIn Profiles</a:t>
            </a:r>
            <a:endParaRPr sz="10000">
              <a:latin typeface="Questrial"/>
              <a:ea typeface="Questrial"/>
              <a:cs typeface="Questrial"/>
              <a:sym typeface="Questrial"/>
            </a:endParaRPr>
          </a:p>
        </p:txBody>
      </p:sp>
      <p:sp>
        <p:nvSpPr>
          <p:cNvPr id="372" name="Google Shape;372;g3a57479c3d7_0_324"/>
          <p:cNvSpPr txBox="1"/>
          <p:nvPr>
            <p:ph idx="4294967295" type="title"/>
          </p:nvPr>
        </p:nvSpPr>
        <p:spPr>
          <a:xfrm>
            <a:off x="838200" y="4194925"/>
            <a:ext cx="10515600" cy="13257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b="1" lang="en-US" sz="4000">
                <a:latin typeface="Montserrat"/>
                <a:ea typeface="Montserrat"/>
                <a:cs typeface="Montserrat"/>
                <a:sym typeface="Montserrat"/>
              </a:rPr>
              <a:t>What is it?</a:t>
            </a:r>
            <a:endParaRPr b="1" sz="4000">
              <a:latin typeface="Montserrat"/>
              <a:ea typeface="Montserrat"/>
              <a:cs typeface="Montserrat"/>
              <a:sym typeface="Montserrat"/>
            </a:endParaRPr>
          </a:p>
          <a:p>
            <a:pPr indent="0" lvl="0" marL="0" rtl="0" algn="ctr">
              <a:spcBef>
                <a:spcPts val="0"/>
              </a:spcBef>
              <a:spcAft>
                <a:spcPts val="0"/>
              </a:spcAft>
              <a:buNone/>
            </a:pPr>
            <a:r>
              <a:rPr b="1" lang="en-US" sz="4000">
                <a:latin typeface="Montserrat"/>
                <a:ea typeface="Montserrat"/>
                <a:cs typeface="Montserrat"/>
                <a:sym typeface="Montserrat"/>
              </a:rPr>
              <a:t>Why is it important?</a:t>
            </a:r>
            <a:endParaRPr b="1" sz="4000">
              <a:latin typeface="Montserrat"/>
              <a:ea typeface="Montserrat"/>
              <a:cs typeface="Montserrat"/>
              <a:sym typeface="Montserrat"/>
            </a:endParaRPr>
          </a:p>
          <a:p>
            <a:pPr indent="0" lvl="0" marL="0" rtl="0" algn="ctr">
              <a:spcBef>
                <a:spcPts val="0"/>
              </a:spcBef>
              <a:spcAft>
                <a:spcPts val="0"/>
              </a:spcAft>
              <a:buNone/>
            </a:pPr>
            <a:r>
              <a:rPr b="1" lang="en-US" sz="4000">
                <a:latin typeface="Montserrat"/>
                <a:ea typeface="Montserrat"/>
                <a:cs typeface="Montserrat"/>
                <a:sym typeface="Montserrat"/>
              </a:rPr>
              <a:t>What are the ground roles?</a:t>
            </a:r>
            <a:endParaRPr b="1" sz="4000">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a57479c3d7_0_223"/>
          <p:cNvSpPr txBox="1"/>
          <p:nvPr>
            <p:ph type="title"/>
          </p:nvPr>
        </p:nvSpPr>
        <p:spPr>
          <a:xfrm>
            <a:off x="1117600" y="486833"/>
            <a:ext cx="14020800" cy="1767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solidFill>
                  <a:srgbClr val="0000FF"/>
                </a:solidFill>
                <a:latin typeface="Montserrat"/>
                <a:ea typeface="Montserrat"/>
                <a:cs typeface="Montserrat"/>
                <a:sym typeface="Montserrat"/>
              </a:rPr>
              <a:t>Linkedin profile essentials </a:t>
            </a:r>
            <a:endParaRPr>
              <a:solidFill>
                <a:srgbClr val="0000FF"/>
              </a:solidFill>
              <a:latin typeface="Montserrat"/>
              <a:ea typeface="Montserrat"/>
              <a:cs typeface="Montserrat"/>
              <a:sym typeface="Montserrat"/>
            </a:endParaRPr>
          </a:p>
        </p:txBody>
      </p:sp>
      <p:sp>
        <p:nvSpPr>
          <p:cNvPr id="378" name="Google Shape;378;g3a57479c3d7_0_223"/>
          <p:cNvSpPr txBox="1"/>
          <p:nvPr>
            <p:ph idx="1" type="body"/>
          </p:nvPr>
        </p:nvSpPr>
        <p:spPr>
          <a:xfrm>
            <a:off x="838200" y="1825626"/>
            <a:ext cx="10515600" cy="576900"/>
          </a:xfrm>
          <a:prstGeom prst="rect">
            <a:avLst/>
          </a:prstGeom>
        </p:spPr>
        <p:txBody>
          <a:bodyPr anchorCtr="0" anchor="t" bIns="45700" lIns="91425" spcFirstLastPara="1" rIns="91425" wrap="square" tIns="45700">
            <a:normAutofit lnSpcReduction="10000"/>
          </a:bodyPr>
          <a:lstStyle/>
          <a:p>
            <a:pPr indent="-533400" lvl="0" marL="609600" rtl="0" algn="l">
              <a:spcBef>
                <a:spcPts val="1000"/>
              </a:spcBef>
              <a:spcAft>
                <a:spcPts val="0"/>
              </a:spcAft>
              <a:buClr>
                <a:srgbClr val="9900FF"/>
              </a:buClr>
              <a:buSzPts val="3600"/>
              <a:buFont typeface="Montserrat"/>
              <a:buChar char="➔"/>
            </a:pPr>
            <a:r>
              <a:rPr lang="en-US" sz="2500">
                <a:latin typeface="Montserrat"/>
                <a:ea typeface="Montserrat"/>
                <a:cs typeface="Montserrat"/>
                <a:sym typeface="Montserrat"/>
              </a:rPr>
              <a:t>Choose the right </a:t>
            </a:r>
            <a:r>
              <a:rPr lang="en-US" sz="2500" u="sng">
                <a:latin typeface="Montserrat"/>
                <a:ea typeface="Montserrat"/>
                <a:cs typeface="Montserrat"/>
                <a:sym typeface="Montserrat"/>
              </a:rPr>
              <a:t>profile picture</a:t>
            </a:r>
            <a:r>
              <a:rPr lang="en-US" sz="2500">
                <a:latin typeface="Montserrat"/>
                <a:ea typeface="Montserrat"/>
                <a:cs typeface="Montserrat"/>
                <a:sym typeface="Montserrat"/>
              </a:rPr>
              <a:t> for LinkedIn</a:t>
            </a:r>
            <a:endParaRPr sz="2500">
              <a:latin typeface="Montserrat"/>
              <a:ea typeface="Montserrat"/>
              <a:cs typeface="Montserrat"/>
              <a:sym typeface="Montserrat"/>
            </a:endParaRPr>
          </a:p>
        </p:txBody>
      </p:sp>
      <p:sp>
        <p:nvSpPr>
          <p:cNvPr id="379" name="Google Shape;379;g3a57479c3d7_0_223"/>
          <p:cNvSpPr txBox="1"/>
          <p:nvPr/>
        </p:nvSpPr>
        <p:spPr>
          <a:xfrm>
            <a:off x="1162901" y="2295200"/>
            <a:ext cx="9349200" cy="1631700"/>
          </a:xfrm>
          <a:prstGeom prst="rect">
            <a:avLst/>
          </a:prstGeom>
          <a:noFill/>
          <a:ln>
            <a:noFill/>
          </a:ln>
        </p:spPr>
        <p:txBody>
          <a:bodyPr anchorCtr="0" anchor="t" bIns="121900" lIns="121900" spcFirstLastPara="1" rIns="121900" wrap="square" tIns="121900">
            <a:spAutoFit/>
          </a:bodyPr>
          <a:lstStyle/>
          <a:p>
            <a:pPr indent="-431800" lvl="1" marL="1219200" rtl="0" algn="l">
              <a:lnSpc>
                <a:spcPct val="90000"/>
              </a:lnSpc>
              <a:spcBef>
                <a:spcPts val="500"/>
              </a:spcBef>
              <a:spcAft>
                <a:spcPts val="0"/>
              </a:spcAft>
              <a:buClr>
                <a:srgbClr val="FF00FF"/>
              </a:buClr>
              <a:buSzPts val="2000"/>
              <a:buFont typeface="Montserrat"/>
              <a:buAutoNum type="alphaLcPeriod"/>
            </a:pPr>
            <a:r>
              <a:rPr lang="en-US" sz="2000">
                <a:solidFill>
                  <a:schemeClr val="dk2"/>
                </a:solidFill>
                <a:latin typeface="Montserrat"/>
                <a:ea typeface="Montserrat"/>
                <a:cs typeface="Montserrat"/>
                <a:sym typeface="Montserrat"/>
              </a:rPr>
              <a:t>The picture should be recent and should looks like you </a:t>
            </a:r>
            <a:endParaRPr sz="2000">
              <a:solidFill>
                <a:schemeClr val="dk2"/>
              </a:solidFill>
              <a:latin typeface="Montserrat"/>
              <a:ea typeface="Montserrat"/>
              <a:cs typeface="Montserrat"/>
              <a:sym typeface="Montserrat"/>
            </a:endParaRPr>
          </a:p>
          <a:p>
            <a:pPr indent="-431800" lvl="1" marL="1219200" rtl="0" algn="l">
              <a:lnSpc>
                <a:spcPct val="90000"/>
              </a:lnSpc>
              <a:spcBef>
                <a:spcPts val="0"/>
              </a:spcBef>
              <a:spcAft>
                <a:spcPts val="0"/>
              </a:spcAft>
              <a:buClr>
                <a:srgbClr val="FF00FF"/>
              </a:buClr>
              <a:buSzPts val="2000"/>
              <a:buFont typeface="Montserrat"/>
              <a:buAutoNum type="alphaLcPeriod"/>
            </a:pPr>
            <a:r>
              <a:rPr lang="en-US" sz="2000">
                <a:solidFill>
                  <a:schemeClr val="dk2"/>
                </a:solidFill>
                <a:latin typeface="Montserrat"/>
                <a:ea typeface="Montserrat"/>
                <a:cs typeface="Montserrat"/>
                <a:sym typeface="Montserrat"/>
              </a:rPr>
              <a:t>Your face should take up around 60% of it (long-distance shots don’t stand out),</a:t>
            </a:r>
            <a:endParaRPr sz="2000">
              <a:solidFill>
                <a:schemeClr val="dk2"/>
              </a:solidFill>
              <a:latin typeface="Montserrat"/>
              <a:ea typeface="Montserrat"/>
              <a:cs typeface="Montserrat"/>
              <a:sym typeface="Montserrat"/>
            </a:endParaRPr>
          </a:p>
          <a:p>
            <a:pPr indent="-431800" lvl="1" marL="1219200" rtl="0" algn="l">
              <a:lnSpc>
                <a:spcPct val="90000"/>
              </a:lnSpc>
              <a:spcBef>
                <a:spcPts val="0"/>
              </a:spcBef>
              <a:spcAft>
                <a:spcPts val="0"/>
              </a:spcAft>
              <a:buClr>
                <a:srgbClr val="FF00FF"/>
              </a:buClr>
              <a:buSzPts val="2000"/>
              <a:buFont typeface="Montserrat"/>
              <a:buAutoNum type="alphaLcPeriod"/>
            </a:pPr>
            <a:r>
              <a:rPr lang="en-US" sz="2000">
                <a:solidFill>
                  <a:schemeClr val="dk2"/>
                </a:solidFill>
                <a:latin typeface="Montserrat"/>
                <a:ea typeface="Montserrat"/>
                <a:cs typeface="Montserrat"/>
                <a:sym typeface="Montserrat"/>
              </a:rPr>
              <a:t>Wear what you would like to wear to work, </a:t>
            </a:r>
            <a:endParaRPr sz="2000">
              <a:solidFill>
                <a:schemeClr val="dk2"/>
              </a:solidFill>
              <a:latin typeface="Montserrat"/>
              <a:ea typeface="Montserrat"/>
              <a:cs typeface="Montserrat"/>
              <a:sym typeface="Montserrat"/>
            </a:endParaRPr>
          </a:p>
          <a:p>
            <a:pPr indent="-431800" lvl="1" marL="1219200" rtl="0" algn="l">
              <a:lnSpc>
                <a:spcPct val="90000"/>
              </a:lnSpc>
              <a:spcBef>
                <a:spcPts val="0"/>
              </a:spcBef>
              <a:spcAft>
                <a:spcPts val="0"/>
              </a:spcAft>
              <a:buClr>
                <a:srgbClr val="FF00FF"/>
              </a:buClr>
              <a:buSzPts val="2000"/>
              <a:buFont typeface="Montserrat"/>
              <a:buAutoNum type="alphaLcPeriod"/>
            </a:pPr>
            <a:r>
              <a:rPr lang="en-US" sz="2000">
                <a:solidFill>
                  <a:schemeClr val="dk2"/>
                </a:solidFill>
                <a:latin typeface="Montserrat"/>
                <a:ea typeface="Montserrat"/>
                <a:cs typeface="Montserrat"/>
                <a:sym typeface="Montserrat"/>
              </a:rPr>
              <a:t>Smile with your eyes!</a:t>
            </a:r>
            <a:endParaRPr sz="2000"/>
          </a:p>
        </p:txBody>
      </p:sp>
      <p:sp>
        <p:nvSpPr>
          <p:cNvPr id="380" name="Google Shape;380;g3a57479c3d7_0_223"/>
          <p:cNvSpPr txBox="1"/>
          <p:nvPr/>
        </p:nvSpPr>
        <p:spPr>
          <a:xfrm>
            <a:off x="838200" y="3926800"/>
            <a:ext cx="8492100" cy="758700"/>
          </a:xfrm>
          <a:prstGeom prst="rect">
            <a:avLst/>
          </a:prstGeom>
          <a:noFill/>
          <a:ln>
            <a:noFill/>
          </a:ln>
        </p:spPr>
        <p:txBody>
          <a:bodyPr anchorCtr="0" anchor="ctr" bIns="121900" lIns="121900" spcFirstLastPara="1" rIns="121900" wrap="square" tIns="121900">
            <a:spAutoFit/>
          </a:bodyPr>
          <a:lstStyle/>
          <a:p>
            <a:pPr indent="-539750" lvl="0" marL="609600" rtl="0" algn="l">
              <a:lnSpc>
                <a:spcPct val="90000"/>
              </a:lnSpc>
              <a:spcBef>
                <a:spcPts val="1100"/>
              </a:spcBef>
              <a:spcAft>
                <a:spcPts val="0"/>
              </a:spcAft>
              <a:buClr>
                <a:srgbClr val="9900FF"/>
              </a:buClr>
              <a:buSzPts val="3700"/>
              <a:buFont typeface="Montserrat"/>
              <a:buChar char="➔"/>
            </a:pPr>
            <a:r>
              <a:rPr lang="en-US" sz="2500">
                <a:solidFill>
                  <a:schemeClr val="dk2"/>
                </a:solidFill>
                <a:latin typeface="Montserrat"/>
                <a:ea typeface="Montserrat"/>
                <a:cs typeface="Montserrat"/>
                <a:sym typeface="Montserrat"/>
              </a:rPr>
              <a:t>Make your </a:t>
            </a:r>
            <a:r>
              <a:rPr lang="en-US" sz="2500" u="sng">
                <a:solidFill>
                  <a:schemeClr val="dk2"/>
                </a:solidFill>
                <a:latin typeface="Montserrat"/>
                <a:ea typeface="Montserrat"/>
                <a:cs typeface="Montserrat"/>
                <a:sym typeface="Montserrat"/>
              </a:rPr>
              <a:t>headline</a:t>
            </a:r>
            <a:r>
              <a:rPr lang="en-US" sz="2500">
                <a:solidFill>
                  <a:schemeClr val="dk2"/>
                </a:solidFill>
                <a:latin typeface="Montserrat"/>
                <a:ea typeface="Montserrat"/>
                <a:cs typeface="Montserrat"/>
                <a:sym typeface="Montserrat"/>
              </a:rPr>
              <a:t> more than just a job title</a:t>
            </a:r>
            <a:endParaRPr sz="2500">
              <a:solidFill>
                <a:schemeClr val="dk2"/>
              </a:solidFill>
              <a:latin typeface="Montserrat"/>
              <a:ea typeface="Montserrat"/>
              <a:cs typeface="Montserrat"/>
              <a:sym typeface="Montserrat"/>
            </a:endParaRPr>
          </a:p>
        </p:txBody>
      </p:sp>
      <p:sp>
        <p:nvSpPr>
          <p:cNvPr id="381" name="Google Shape;381;g3a57479c3d7_0_223"/>
          <p:cNvSpPr txBox="1"/>
          <p:nvPr/>
        </p:nvSpPr>
        <p:spPr>
          <a:xfrm>
            <a:off x="838200" y="4690400"/>
            <a:ext cx="8492100" cy="758700"/>
          </a:xfrm>
          <a:prstGeom prst="rect">
            <a:avLst/>
          </a:prstGeom>
          <a:noFill/>
          <a:ln>
            <a:noFill/>
          </a:ln>
        </p:spPr>
        <p:txBody>
          <a:bodyPr anchorCtr="0" anchor="ctr" bIns="121900" lIns="121900" spcFirstLastPara="1" rIns="121900" wrap="square" tIns="121900">
            <a:spAutoFit/>
          </a:bodyPr>
          <a:lstStyle/>
          <a:p>
            <a:pPr indent="-539750" lvl="0" marL="609600" rtl="0" algn="l">
              <a:lnSpc>
                <a:spcPct val="90000"/>
              </a:lnSpc>
              <a:spcBef>
                <a:spcPts val="1100"/>
              </a:spcBef>
              <a:spcAft>
                <a:spcPts val="0"/>
              </a:spcAft>
              <a:buClr>
                <a:srgbClr val="9900FF"/>
              </a:buClr>
              <a:buSzPts val="3700"/>
              <a:buFont typeface="Montserrat"/>
              <a:buChar char="➔"/>
            </a:pPr>
            <a:r>
              <a:rPr lang="en-US" sz="2500">
                <a:solidFill>
                  <a:schemeClr val="dk2"/>
                </a:solidFill>
                <a:latin typeface="Montserrat"/>
                <a:ea typeface="Montserrat"/>
                <a:cs typeface="Montserrat"/>
                <a:sym typeface="Montserrat"/>
              </a:rPr>
              <a:t>Turn your </a:t>
            </a:r>
            <a:r>
              <a:rPr lang="en-US" sz="2500" u="sng">
                <a:solidFill>
                  <a:schemeClr val="dk2"/>
                </a:solidFill>
                <a:latin typeface="Montserrat"/>
                <a:ea typeface="Montserrat"/>
                <a:cs typeface="Montserrat"/>
                <a:sym typeface="Montserrat"/>
              </a:rPr>
              <a:t>About</a:t>
            </a:r>
            <a:r>
              <a:rPr lang="en-US" sz="2500">
                <a:solidFill>
                  <a:schemeClr val="dk2"/>
                </a:solidFill>
                <a:latin typeface="Montserrat"/>
                <a:ea typeface="Montserrat"/>
                <a:cs typeface="Montserrat"/>
                <a:sym typeface="Montserrat"/>
              </a:rPr>
              <a:t> section into your story </a:t>
            </a:r>
            <a:endParaRPr sz="2500">
              <a:solidFill>
                <a:schemeClr val="dk2"/>
              </a:solidFill>
              <a:latin typeface="Montserrat"/>
              <a:ea typeface="Montserrat"/>
              <a:cs typeface="Montserrat"/>
              <a:sym typeface="Montserrat"/>
            </a:endParaRPr>
          </a:p>
        </p:txBody>
      </p:sp>
      <p:sp>
        <p:nvSpPr>
          <p:cNvPr id="382" name="Google Shape;382;g3a57479c3d7_0_223"/>
          <p:cNvSpPr txBox="1"/>
          <p:nvPr/>
        </p:nvSpPr>
        <p:spPr>
          <a:xfrm>
            <a:off x="1530130" y="5454000"/>
            <a:ext cx="9349200" cy="831000"/>
          </a:xfrm>
          <a:prstGeom prst="rect">
            <a:avLst/>
          </a:prstGeom>
          <a:solidFill>
            <a:srgbClr val="CFE2F3">
              <a:alpha val="27219"/>
            </a:srgbClr>
          </a:solid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US" sz="1900">
                <a:latin typeface="Montserrat"/>
                <a:ea typeface="Montserrat"/>
                <a:cs typeface="Montserrat"/>
                <a:sym typeface="Montserrat"/>
              </a:rPr>
              <a:t>Your About section is your chance to tell more about yourself. You can write upto 400 words. Ideally there should be at least ~250</a:t>
            </a:r>
            <a:endParaRPr sz="1900">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3a57479c3d7_0_232"/>
          <p:cNvSpPr txBox="1"/>
          <p:nvPr>
            <p:ph type="title"/>
          </p:nvPr>
        </p:nvSpPr>
        <p:spPr>
          <a:xfrm>
            <a:off x="1117600" y="486833"/>
            <a:ext cx="14020800" cy="1767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solidFill>
                  <a:srgbClr val="0000FF"/>
                </a:solidFill>
                <a:latin typeface="Montserrat"/>
                <a:ea typeface="Montserrat"/>
                <a:cs typeface="Montserrat"/>
                <a:sym typeface="Montserrat"/>
              </a:rPr>
              <a:t>Linkedin profile essentials </a:t>
            </a:r>
            <a:endParaRPr>
              <a:solidFill>
                <a:srgbClr val="0000FF"/>
              </a:solidFill>
              <a:latin typeface="Montserrat"/>
              <a:ea typeface="Montserrat"/>
              <a:cs typeface="Montserrat"/>
              <a:sym typeface="Montserrat"/>
            </a:endParaRPr>
          </a:p>
        </p:txBody>
      </p:sp>
      <p:sp>
        <p:nvSpPr>
          <p:cNvPr id="388" name="Google Shape;388;g3a57479c3d7_0_232"/>
          <p:cNvSpPr txBox="1"/>
          <p:nvPr>
            <p:ph idx="1" type="body"/>
          </p:nvPr>
        </p:nvSpPr>
        <p:spPr>
          <a:xfrm>
            <a:off x="746400" y="3477230"/>
            <a:ext cx="10515600" cy="852900"/>
          </a:xfrm>
          <a:prstGeom prst="rect">
            <a:avLst/>
          </a:prstGeom>
        </p:spPr>
        <p:txBody>
          <a:bodyPr anchorCtr="0" anchor="t" bIns="45700" lIns="91425" spcFirstLastPara="1" rIns="91425" wrap="square" tIns="45700">
            <a:normAutofit/>
          </a:bodyPr>
          <a:lstStyle/>
          <a:p>
            <a:pPr indent="-539750" lvl="0" marL="609600" rtl="0" algn="l">
              <a:spcBef>
                <a:spcPts val="1000"/>
              </a:spcBef>
              <a:spcAft>
                <a:spcPts val="0"/>
              </a:spcAft>
              <a:buClr>
                <a:srgbClr val="9900FF"/>
              </a:buClr>
              <a:buSzPts val="3700"/>
              <a:buFont typeface="Montserrat"/>
              <a:buChar char="➔"/>
            </a:pPr>
            <a:r>
              <a:rPr lang="en-US" sz="2500">
                <a:latin typeface="Montserrat"/>
                <a:ea typeface="Montserrat"/>
                <a:cs typeface="Montserrat"/>
                <a:sym typeface="Montserrat"/>
              </a:rPr>
              <a:t>Showcase your </a:t>
            </a:r>
            <a:r>
              <a:rPr lang="en-US" sz="2500" u="sng">
                <a:latin typeface="Montserrat"/>
                <a:ea typeface="Montserrat"/>
                <a:cs typeface="Montserrat"/>
                <a:sym typeface="Montserrat"/>
              </a:rPr>
              <a:t>credentials</a:t>
            </a:r>
            <a:r>
              <a:rPr lang="en-US" sz="2500">
                <a:latin typeface="Montserrat"/>
                <a:ea typeface="Montserrat"/>
                <a:cs typeface="Montserrat"/>
                <a:sym typeface="Montserrat"/>
              </a:rPr>
              <a:t> (languages, certifications, license) </a:t>
            </a:r>
            <a:endParaRPr sz="2500">
              <a:latin typeface="Montserrat"/>
              <a:ea typeface="Montserrat"/>
              <a:cs typeface="Montserrat"/>
              <a:sym typeface="Montserrat"/>
            </a:endParaRPr>
          </a:p>
        </p:txBody>
      </p:sp>
      <p:sp>
        <p:nvSpPr>
          <p:cNvPr id="389" name="Google Shape;389;g3a57479c3d7_0_232"/>
          <p:cNvSpPr txBox="1"/>
          <p:nvPr/>
        </p:nvSpPr>
        <p:spPr>
          <a:xfrm>
            <a:off x="746400" y="4576426"/>
            <a:ext cx="8492100" cy="758700"/>
          </a:xfrm>
          <a:prstGeom prst="rect">
            <a:avLst/>
          </a:prstGeom>
          <a:noFill/>
          <a:ln>
            <a:noFill/>
          </a:ln>
        </p:spPr>
        <p:txBody>
          <a:bodyPr anchorCtr="0" anchor="ctr" bIns="121900" lIns="121900" spcFirstLastPara="1" rIns="121900" wrap="square" tIns="121900">
            <a:spAutoFit/>
          </a:bodyPr>
          <a:lstStyle/>
          <a:p>
            <a:pPr indent="-539750" lvl="0" marL="609600" rtl="0" algn="l">
              <a:lnSpc>
                <a:spcPct val="90000"/>
              </a:lnSpc>
              <a:spcBef>
                <a:spcPts val="1100"/>
              </a:spcBef>
              <a:spcAft>
                <a:spcPts val="0"/>
              </a:spcAft>
              <a:buClr>
                <a:srgbClr val="9900FF"/>
              </a:buClr>
              <a:buSzPts val="3700"/>
              <a:buFont typeface="Montserrat"/>
              <a:buChar char="➔"/>
            </a:pPr>
            <a:r>
              <a:rPr lang="en-US" sz="2500">
                <a:solidFill>
                  <a:schemeClr val="dk2"/>
                </a:solidFill>
                <a:latin typeface="Montserrat"/>
                <a:ea typeface="Montserrat"/>
                <a:cs typeface="Montserrat"/>
                <a:sym typeface="Montserrat"/>
              </a:rPr>
              <a:t>Request </a:t>
            </a:r>
            <a:r>
              <a:rPr lang="en-US" sz="2500" u="sng">
                <a:solidFill>
                  <a:schemeClr val="dk2"/>
                </a:solidFill>
                <a:latin typeface="Montserrat"/>
                <a:ea typeface="Montserrat"/>
                <a:cs typeface="Montserrat"/>
                <a:sym typeface="Montserrat"/>
              </a:rPr>
              <a:t>recommendations</a:t>
            </a:r>
            <a:endParaRPr sz="2500" u="sng">
              <a:solidFill>
                <a:schemeClr val="dk2"/>
              </a:solidFill>
              <a:latin typeface="Montserrat"/>
              <a:ea typeface="Montserrat"/>
              <a:cs typeface="Montserrat"/>
              <a:sym typeface="Montserrat"/>
            </a:endParaRPr>
          </a:p>
        </p:txBody>
      </p:sp>
      <p:sp>
        <p:nvSpPr>
          <p:cNvPr id="390" name="Google Shape;390;g3a57479c3d7_0_232"/>
          <p:cNvSpPr txBox="1"/>
          <p:nvPr/>
        </p:nvSpPr>
        <p:spPr>
          <a:xfrm>
            <a:off x="746400" y="1950026"/>
            <a:ext cx="9413700" cy="1271400"/>
          </a:xfrm>
          <a:prstGeom prst="rect">
            <a:avLst/>
          </a:prstGeom>
          <a:noFill/>
          <a:ln>
            <a:noFill/>
          </a:ln>
        </p:spPr>
        <p:txBody>
          <a:bodyPr anchorCtr="0" anchor="ctr" bIns="121900" lIns="121900" spcFirstLastPara="1" rIns="121900" wrap="square" tIns="121900">
            <a:spAutoFit/>
          </a:bodyPr>
          <a:lstStyle/>
          <a:p>
            <a:pPr indent="-539750" lvl="0" marL="609600" rtl="0" algn="l">
              <a:lnSpc>
                <a:spcPct val="90000"/>
              </a:lnSpc>
              <a:spcBef>
                <a:spcPts val="1100"/>
              </a:spcBef>
              <a:spcAft>
                <a:spcPts val="0"/>
              </a:spcAft>
              <a:buClr>
                <a:srgbClr val="9900FF"/>
              </a:buClr>
              <a:buSzPts val="3700"/>
              <a:buFont typeface="Montserrat"/>
              <a:buChar char="➔"/>
            </a:pPr>
            <a:r>
              <a:rPr lang="en-US" sz="2500">
                <a:solidFill>
                  <a:schemeClr val="dk2"/>
                </a:solidFill>
                <a:latin typeface="Montserrat"/>
                <a:ea typeface="Montserrat"/>
                <a:cs typeface="Montserrat"/>
                <a:sym typeface="Montserrat"/>
              </a:rPr>
              <a:t>Share </a:t>
            </a:r>
            <a:r>
              <a:rPr lang="en-US" sz="2500" u="sng">
                <a:solidFill>
                  <a:schemeClr val="dk2"/>
                </a:solidFill>
                <a:latin typeface="Montserrat"/>
                <a:ea typeface="Montserrat"/>
                <a:cs typeface="Montserrat"/>
                <a:sym typeface="Montserrat"/>
              </a:rPr>
              <a:t>experience</a:t>
            </a:r>
            <a:r>
              <a:rPr lang="en-US" sz="2500">
                <a:solidFill>
                  <a:schemeClr val="dk2"/>
                </a:solidFill>
                <a:latin typeface="Montserrat"/>
                <a:ea typeface="Montserrat"/>
                <a:cs typeface="Montserrat"/>
                <a:sym typeface="Montserrat"/>
              </a:rPr>
              <a:t> (internships), volunteer work</a:t>
            </a:r>
            <a:endParaRPr sz="2500">
              <a:solidFill>
                <a:schemeClr val="dk2"/>
              </a:solidFill>
              <a:latin typeface="Montserrat"/>
              <a:ea typeface="Montserrat"/>
              <a:cs typeface="Montserrat"/>
              <a:sym typeface="Montserrat"/>
            </a:endParaRPr>
          </a:p>
          <a:p>
            <a:pPr indent="-539750" lvl="0" marL="609600" rtl="0" algn="l">
              <a:lnSpc>
                <a:spcPct val="90000"/>
              </a:lnSpc>
              <a:spcBef>
                <a:spcPts val="0"/>
              </a:spcBef>
              <a:spcAft>
                <a:spcPts val="0"/>
              </a:spcAft>
              <a:buClr>
                <a:srgbClr val="9900FF"/>
              </a:buClr>
              <a:buSzPts val="3700"/>
              <a:buFont typeface="Montserrat"/>
              <a:buChar char="➔"/>
            </a:pPr>
            <a:r>
              <a:rPr lang="en-US" sz="2500">
                <a:solidFill>
                  <a:schemeClr val="dk2"/>
                </a:solidFill>
                <a:latin typeface="Montserrat"/>
                <a:ea typeface="Montserrat"/>
                <a:cs typeface="Montserrat"/>
                <a:sym typeface="Montserrat"/>
              </a:rPr>
              <a:t>Share </a:t>
            </a:r>
            <a:r>
              <a:rPr b="1" lang="en-US" sz="2500" u="sng">
                <a:solidFill>
                  <a:srgbClr val="38761D"/>
                </a:solidFill>
                <a:latin typeface="Montserrat"/>
                <a:ea typeface="Montserrat"/>
                <a:cs typeface="Montserrat"/>
                <a:sym typeface="Montserrat"/>
              </a:rPr>
              <a:t>projects</a:t>
            </a:r>
            <a:r>
              <a:rPr lang="en-US" sz="2500">
                <a:solidFill>
                  <a:schemeClr val="dk2"/>
                </a:solidFill>
                <a:latin typeface="Montserrat"/>
                <a:ea typeface="Montserrat"/>
                <a:cs typeface="Montserrat"/>
                <a:sym typeface="Montserrat"/>
              </a:rPr>
              <a:t>, </a:t>
            </a:r>
            <a:r>
              <a:rPr lang="en-US" sz="2500" u="sng">
                <a:solidFill>
                  <a:schemeClr val="dk2"/>
                </a:solidFill>
                <a:latin typeface="Montserrat"/>
                <a:ea typeface="Montserrat"/>
                <a:cs typeface="Montserrat"/>
                <a:sym typeface="Montserrat"/>
              </a:rPr>
              <a:t>publications</a:t>
            </a:r>
            <a:endParaRPr sz="2500" u="sng">
              <a:solidFill>
                <a:schemeClr val="dk2"/>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pic>
        <p:nvPicPr>
          <p:cNvPr id="396" name="Google Shape;396;g3a57479c3d7_0_239"/>
          <p:cNvPicPr preferRelativeResize="0"/>
          <p:nvPr/>
        </p:nvPicPr>
        <p:blipFill rotWithShape="1">
          <a:blip r:embed="rId3">
            <a:alphaModFix/>
          </a:blip>
          <a:srcRect b="0" l="0" r="0" t="54174"/>
          <a:stretch/>
        </p:blipFill>
        <p:spPr>
          <a:xfrm>
            <a:off x="6132475" y="2268701"/>
            <a:ext cx="5916749" cy="4284201"/>
          </a:xfrm>
          <a:prstGeom prst="rect">
            <a:avLst/>
          </a:prstGeom>
          <a:noFill/>
          <a:ln>
            <a:noFill/>
          </a:ln>
        </p:spPr>
      </p:pic>
      <p:pic>
        <p:nvPicPr>
          <p:cNvPr id="397" name="Google Shape;397;g3a57479c3d7_0_239"/>
          <p:cNvPicPr preferRelativeResize="0"/>
          <p:nvPr/>
        </p:nvPicPr>
        <p:blipFill rotWithShape="1">
          <a:blip r:embed="rId3">
            <a:alphaModFix/>
          </a:blip>
          <a:srcRect b="45825" l="0" r="0" t="0"/>
          <a:stretch/>
        </p:blipFill>
        <p:spPr>
          <a:xfrm>
            <a:off x="253900" y="177875"/>
            <a:ext cx="5751324" cy="49231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3b0aa6bf6d9_0_0"/>
          <p:cNvSpPr txBox="1"/>
          <p:nvPr>
            <p:ph idx="4294967295" type="ctrTitle"/>
          </p:nvPr>
        </p:nvSpPr>
        <p:spPr>
          <a:xfrm>
            <a:off x="960765" y="457900"/>
            <a:ext cx="8868900" cy="1546500"/>
          </a:xfrm>
          <a:prstGeom prst="rect">
            <a:avLst/>
          </a:prstGeom>
          <a:noFill/>
          <a:ln>
            <a:noFill/>
          </a:ln>
        </p:spPr>
        <p:txBody>
          <a:bodyPr anchorCtr="0" anchor="b" bIns="121900" lIns="121900" spcFirstLastPara="1" rIns="121900" wrap="square" tIns="121900">
            <a:noAutofit/>
          </a:bodyPr>
          <a:lstStyle/>
          <a:p>
            <a:pPr indent="0" lvl="0" marL="0" marR="0" rtl="0" algn="l">
              <a:lnSpc>
                <a:spcPct val="100000"/>
              </a:lnSpc>
              <a:spcBef>
                <a:spcPts val="0"/>
              </a:spcBef>
              <a:spcAft>
                <a:spcPts val="0"/>
              </a:spcAft>
              <a:buClr>
                <a:srgbClr val="0B87A1"/>
              </a:buClr>
              <a:buSzPts val="4800"/>
              <a:buFont typeface="Dosis Light"/>
              <a:buNone/>
            </a:pPr>
            <a:r>
              <a:rPr i="0" lang="en-US" sz="8000" u="none" cap="none" strike="noStrike">
                <a:solidFill>
                  <a:srgbClr val="0B87A1"/>
                </a:solidFill>
                <a:latin typeface="Questrial"/>
                <a:ea typeface="Questrial"/>
                <a:cs typeface="Questrial"/>
                <a:sym typeface="Questrial"/>
              </a:rPr>
              <a:t>Formal Reports</a:t>
            </a:r>
            <a:endParaRPr i="0" sz="8000" u="none" cap="none" strike="noStrike">
              <a:solidFill>
                <a:srgbClr val="0B87A1"/>
              </a:solidFill>
              <a:latin typeface="Questrial"/>
              <a:ea typeface="Questrial"/>
              <a:cs typeface="Questrial"/>
              <a:sym typeface="Questrial"/>
            </a:endParaRPr>
          </a:p>
        </p:txBody>
      </p:sp>
      <p:sp>
        <p:nvSpPr>
          <p:cNvPr id="403" name="Google Shape;403;g3b0aa6bf6d9_0_0"/>
          <p:cNvSpPr txBox="1"/>
          <p:nvPr>
            <p:ph idx="4294967295" type="subTitle"/>
          </p:nvPr>
        </p:nvSpPr>
        <p:spPr>
          <a:xfrm>
            <a:off x="960760" y="2108667"/>
            <a:ext cx="10125900" cy="35133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800"/>
              </a:spcBef>
              <a:spcAft>
                <a:spcPts val="0"/>
              </a:spcAft>
              <a:buClr>
                <a:srgbClr val="D3EBD5"/>
              </a:buClr>
              <a:buSzPts val="3200"/>
              <a:buFont typeface="Titillium Web Light"/>
              <a:buNone/>
            </a:pPr>
            <a:r>
              <a:rPr i="0" lang="en-US" sz="3200" u="none" cap="none" strike="noStrike">
                <a:solidFill>
                  <a:srgbClr val="003B55"/>
                </a:solidFill>
                <a:latin typeface="Questrial"/>
                <a:ea typeface="Questrial"/>
                <a:cs typeface="Questrial"/>
                <a:sym typeface="Questrial"/>
              </a:rPr>
              <a:t>In comparison to informal documents, formal documents usually: </a:t>
            </a:r>
            <a:endParaRPr>
              <a:latin typeface="Questrial"/>
              <a:ea typeface="Questrial"/>
              <a:cs typeface="Questrial"/>
              <a:sym typeface="Questrial"/>
            </a:endParaRPr>
          </a:p>
          <a:p>
            <a:pPr indent="-508000" lvl="0" marL="609600" marR="0" rtl="0" algn="l">
              <a:lnSpc>
                <a:spcPct val="100000"/>
              </a:lnSpc>
              <a:spcBef>
                <a:spcPts val="800"/>
              </a:spcBef>
              <a:spcAft>
                <a:spcPts val="0"/>
              </a:spcAft>
              <a:buClr>
                <a:srgbClr val="003B55"/>
              </a:buClr>
              <a:buSzPts val="3200"/>
              <a:buFont typeface="Questrial"/>
              <a:buAutoNum type="arabicPeriod"/>
            </a:pPr>
            <a:r>
              <a:rPr i="0" lang="en-US" sz="3200" u="none" cap="none" strike="noStrike">
                <a:solidFill>
                  <a:srgbClr val="003B55"/>
                </a:solidFill>
                <a:latin typeface="Questrial"/>
                <a:ea typeface="Questrial"/>
                <a:cs typeface="Questrial"/>
                <a:sym typeface="Questrial"/>
              </a:rPr>
              <a:t>cover more complicated projects</a:t>
            </a:r>
            <a:endParaRPr>
              <a:latin typeface="Questrial"/>
              <a:ea typeface="Questrial"/>
              <a:cs typeface="Questrial"/>
              <a:sym typeface="Questrial"/>
            </a:endParaRPr>
          </a:p>
          <a:p>
            <a:pPr indent="-508000" lvl="0" marL="609600" marR="0" rtl="0" algn="l">
              <a:lnSpc>
                <a:spcPct val="100000"/>
              </a:lnSpc>
              <a:spcBef>
                <a:spcPts val="800"/>
              </a:spcBef>
              <a:spcAft>
                <a:spcPts val="0"/>
              </a:spcAft>
              <a:buClr>
                <a:srgbClr val="003B55"/>
              </a:buClr>
              <a:buSzPts val="3200"/>
              <a:buFont typeface="Questrial"/>
              <a:buAutoNum type="arabicPeriod"/>
            </a:pPr>
            <a:r>
              <a:rPr i="0" lang="en-US" sz="3200" u="none" cap="none" strike="noStrike">
                <a:solidFill>
                  <a:srgbClr val="003B55"/>
                </a:solidFill>
                <a:latin typeface="Questrial"/>
                <a:ea typeface="Questrial"/>
                <a:cs typeface="Questrial"/>
                <a:sym typeface="Questrial"/>
              </a:rPr>
              <a:t>are longer than their informal counterparts</a:t>
            </a:r>
            <a:endParaRPr>
              <a:latin typeface="Questrial"/>
              <a:ea typeface="Questrial"/>
              <a:cs typeface="Questrial"/>
              <a:sym typeface="Questrial"/>
            </a:endParaRPr>
          </a:p>
          <a:p>
            <a:pPr indent="-508000" lvl="0" marL="609600" marR="0" rtl="0" algn="l">
              <a:lnSpc>
                <a:spcPct val="100000"/>
              </a:lnSpc>
              <a:spcBef>
                <a:spcPts val="800"/>
              </a:spcBef>
              <a:spcAft>
                <a:spcPts val="0"/>
              </a:spcAft>
              <a:buClr>
                <a:srgbClr val="003B55"/>
              </a:buClr>
              <a:buSzPts val="3200"/>
              <a:buFont typeface="Questrial"/>
              <a:buAutoNum type="arabicPeriod"/>
            </a:pPr>
            <a:r>
              <a:rPr i="0" lang="en-US" sz="3200" u="none" cap="none" strike="noStrike">
                <a:solidFill>
                  <a:srgbClr val="003B55"/>
                </a:solidFill>
                <a:latin typeface="Questrial"/>
                <a:ea typeface="Questrial"/>
                <a:cs typeface="Questrial"/>
                <a:sym typeface="Questrial"/>
              </a:rPr>
              <a:t>have a more diverse set of readers</a:t>
            </a:r>
            <a:endParaRPr>
              <a:latin typeface="Questrial"/>
              <a:ea typeface="Questrial"/>
              <a:cs typeface="Questrial"/>
              <a:sym typeface="Questrial"/>
            </a:endParaRPr>
          </a:p>
        </p:txBody>
      </p:sp>
      <p:sp>
        <p:nvSpPr>
          <p:cNvPr id="404" name="Google Shape;404;g3b0aa6bf6d9_0_0"/>
          <p:cNvSpPr txBox="1"/>
          <p:nvPr>
            <p:ph idx="12" type="sldNum"/>
          </p:nvPr>
        </p:nvSpPr>
        <p:spPr>
          <a:xfrm>
            <a:off x="11480800" y="8475133"/>
            <a:ext cx="3657600" cy="4869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g3b0aa6bf6d9_0_6"/>
          <p:cNvSpPr txBox="1"/>
          <p:nvPr/>
        </p:nvSpPr>
        <p:spPr>
          <a:xfrm>
            <a:off x="556700" y="1061233"/>
            <a:ext cx="5497500" cy="40329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2700">
                <a:latin typeface="Questrial"/>
                <a:ea typeface="Questrial"/>
                <a:cs typeface="Questrial"/>
                <a:sym typeface="Questrial"/>
              </a:rPr>
              <a:t>FIRST-LEVEL HEADING</a:t>
            </a:r>
            <a:endParaRPr b="1" sz="2700">
              <a:latin typeface="Questrial"/>
              <a:ea typeface="Questrial"/>
              <a:cs typeface="Questrial"/>
              <a:sym typeface="Questrial"/>
            </a:endParaRPr>
          </a:p>
          <a:p>
            <a:pPr indent="0" lvl="0" marL="0" rtl="0" algn="l">
              <a:spcBef>
                <a:spcPts val="0"/>
              </a:spcBef>
              <a:spcAft>
                <a:spcPts val="0"/>
              </a:spcAft>
              <a:buNone/>
            </a:pPr>
            <a:r>
              <a:rPr lang="en-US" sz="2400">
                <a:latin typeface="Questrial"/>
                <a:ea typeface="Questrial"/>
                <a:cs typeface="Questrial"/>
                <a:sym typeface="Questrial"/>
              </a:rPr>
              <a:t>(all caps, bold, on a line by itself)</a:t>
            </a:r>
            <a:endParaRPr sz="2400">
              <a:latin typeface="Questrial"/>
              <a:ea typeface="Questrial"/>
              <a:cs typeface="Questrial"/>
              <a:sym typeface="Questrial"/>
            </a:endParaRPr>
          </a:p>
          <a:p>
            <a:pPr indent="0" lvl="0" marL="0" rtl="0" algn="l">
              <a:spcBef>
                <a:spcPts val="0"/>
              </a:spcBef>
              <a:spcAft>
                <a:spcPts val="0"/>
              </a:spcAft>
              <a:buNone/>
            </a:pPr>
            <a:r>
              <a:t/>
            </a:r>
            <a:endParaRPr sz="2400">
              <a:latin typeface="Questrial"/>
              <a:ea typeface="Questrial"/>
              <a:cs typeface="Questrial"/>
              <a:sym typeface="Questrial"/>
            </a:endParaRPr>
          </a:p>
          <a:p>
            <a:pPr indent="0" lvl="0" marL="0" rtl="0" algn="l">
              <a:spcBef>
                <a:spcPts val="0"/>
              </a:spcBef>
              <a:spcAft>
                <a:spcPts val="0"/>
              </a:spcAft>
              <a:buNone/>
            </a:pPr>
            <a:r>
              <a:rPr b="1" lang="en-US" sz="2700">
                <a:latin typeface="Questrial"/>
                <a:ea typeface="Questrial"/>
                <a:cs typeface="Questrial"/>
                <a:sym typeface="Questrial"/>
              </a:rPr>
              <a:t>Second-level heading</a:t>
            </a:r>
            <a:endParaRPr b="1" sz="2700">
              <a:latin typeface="Questrial"/>
              <a:ea typeface="Questrial"/>
              <a:cs typeface="Questrial"/>
              <a:sym typeface="Questrial"/>
            </a:endParaRPr>
          </a:p>
          <a:p>
            <a:pPr indent="0" lvl="0" marL="0" rtl="0" algn="l">
              <a:spcBef>
                <a:spcPts val="0"/>
              </a:spcBef>
              <a:spcAft>
                <a:spcPts val="0"/>
              </a:spcAft>
              <a:buNone/>
            </a:pPr>
            <a:r>
              <a:rPr lang="en-US" sz="2400">
                <a:latin typeface="Questrial"/>
                <a:ea typeface="Questrial"/>
                <a:cs typeface="Questrial"/>
                <a:sym typeface="Questrial"/>
              </a:rPr>
              <a:t>(initial cap only, bold, on a line by itself)</a:t>
            </a:r>
            <a:endParaRPr sz="2400">
              <a:latin typeface="Questrial"/>
              <a:ea typeface="Questrial"/>
              <a:cs typeface="Questrial"/>
              <a:sym typeface="Questrial"/>
            </a:endParaRPr>
          </a:p>
          <a:p>
            <a:pPr indent="0" lvl="0" marL="0" rtl="0" algn="l">
              <a:spcBef>
                <a:spcPts val="0"/>
              </a:spcBef>
              <a:spcAft>
                <a:spcPts val="0"/>
              </a:spcAft>
              <a:buNone/>
            </a:pPr>
            <a:r>
              <a:t/>
            </a:r>
            <a:endParaRPr b="1" sz="2400">
              <a:latin typeface="Questrial"/>
              <a:ea typeface="Questrial"/>
              <a:cs typeface="Questrial"/>
              <a:sym typeface="Questrial"/>
            </a:endParaRPr>
          </a:p>
          <a:p>
            <a:pPr indent="0" lvl="0" marL="0" rtl="0" algn="l">
              <a:spcBef>
                <a:spcPts val="0"/>
              </a:spcBef>
              <a:spcAft>
                <a:spcPts val="0"/>
              </a:spcAft>
              <a:buNone/>
            </a:pPr>
            <a:r>
              <a:rPr b="1" lang="en-US" sz="2400">
                <a:latin typeface="Questrial"/>
                <a:ea typeface="Questrial"/>
                <a:cs typeface="Questrial"/>
                <a:sym typeface="Questrial"/>
              </a:rPr>
              <a:t>Third-Level heading</a:t>
            </a:r>
            <a:endParaRPr b="1" sz="2400">
              <a:latin typeface="Questrial"/>
              <a:ea typeface="Questrial"/>
              <a:cs typeface="Questrial"/>
              <a:sym typeface="Questrial"/>
            </a:endParaRPr>
          </a:p>
          <a:p>
            <a:pPr indent="0" lvl="0" marL="0" rtl="0" algn="l">
              <a:spcBef>
                <a:spcPts val="0"/>
              </a:spcBef>
              <a:spcAft>
                <a:spcPts val="0"/>
              </a:spcAft>
              <a:buNone/>
            </a:pPr>
            <a:r>
              <a:rPr b="1" lang="en-US" sz="2400">
                <a:latin typeface="Questrial"/>
                <a:ea typeface="Questrial"/>
                <a:cs typeface="Questrial"/>
                <a:sym typeface="Questrial"/>
              </a:rPr>
              <a:t> </a:t>
            </a:r>
            <a:r>
              <a:rPr lang="en-US" sz="2400">
                <a:latin typeface="Questrial"/>
                <a:ea typeface="Questrial"/>
                <a:cs typeface="Questrial"/>
                <a:sym typeface="Questrial"/>
              </a:rPr>
              <a:t>(initial cap only, bold, followed by two spaces, as part of the first line of the paragraph)</a:t>
            </a:r>
            <a:endParaRPr sz="2400">
              <a:latin typeface="Questrial"/>
              <a:ea typeface="Questrial"/>
              <a:cs typeface="Questrial"/>
              <a:sym typeface="Questrial"/>
            </a:endParaRPr>
          </a:p>
        </p:txBody>
      </p:sp>
      <p:sp>
        <p:nvSpPr>
          <p:cNvPr id="410" name="Google Shape;410;g3b0aa6bf6d9_0_6"/>
          <p:cNvSpPr txBox="1"/>
          <p:nvPr>
            <p:ph type="title"/>
          </p:nvPr>
        </p:nvSpPr>
        <p:spPr>
          <a:xfrm>
            <a:off x="556708" y="5323600"/>
            <a:ext cx="9014700" cy="1143300"/>
          </a:xfrm>
          <a:prstGeom prst="rect">
            <a:avLst/>
          </a:prstGeom>
          <a:noFill/>
          <a:ln>
            <a:noFill/>
          </a:ln>
        </p:spPr>
        <p:txBody>
          <a:bodyPr anchorCtr="0" anchor="b" bIns="121900" lIns="121900" spcFirstLastPara="1" rIns="121900" wrap="square" tIns="121900">
            <a:normAutofit/>
          </a:bodyPr>
          <a:lstStyle/>
          <a:p>
            <a:pPr indent="0" lvl="0" marL="0" rtl="0" algn="l">
              <a:lnSpc>
                <a:spcPct val="100000"/>
              </a:lnSpc>
              <a:spcBef>
                <a:spcPts val="0"/>
              </a:spcBef>
              <a:spcAft>
                <a:spcPts val="0"/>
              </a:spcAft>
              <a:buSzPts val="4800"/>
              <a:buNone/>
            </a:pPr>
            <a:r>
              <a:rPr lang="en-US" sz="3200">
                <a:latin typeface="Questrial"/>
                <a:ea typeface="Questrial"/>
                <a:cs typeface="Questrial"/>
                <a:sym typeface="Questrial"/>
              </a:rPr>
              <a:t>Headings Decimal </a:t>
            </a:r>
            <a:endParaRPr sz="3200">
              <a:latin typeface="Questrial"/>
              <a:ea typeface="Questrial"/>
              <a:cs typeface="Questrial"/>
              <a:sym typeface="Questrial"/>
            </a:endParaRPr>
          </a:p>
        </p:txBody>
      </p:sp>
      <p:pic>
        <p:nvPicPr>
          <p:cNvPr id="411" name="Google Shape;411;g3b0aa6bf6d9_0_6"/>
          <p:cNvPicPr preferRelativeResize="0"/>
          <p:nvPr/>
        </p:nvPicPr>
        <p:blipFill rotWithShape="1">
          <a:blip r:embed="rId3">
            <a:alphaModFix/>
          </a:blip>
          <a:srcRect b="0" l="0" r="0" t="0"/>
          <a:stretch/>
        </p:blipFill>
        <p:spPr>
          <a:xfrm>
            <a:off x="7021443" y="-21983"/>
            <a:ext cx="4468134" cy="690195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3b0aa6bf6d9_0_12"/>
          <p:cNvSpPr txBox="1"/>
          <p:nvPr>
            <p:ph idx="1" type="body"/>
          </p:nvPr>
        </p:nvSpPr>
        <p:spPr>
          <a:xfrm>
            <a:off x="415600" y="5640767"/>
            <a:ext cx="7998300" cy="806700"/>
          </a:xfrm>
          <a:prstGeom prst="rect">
            <a:avLst/>
          </a:prstGeom>
          <a:noFill/>
          <a:ln>
            <a:noFill/>
          </a:ln>
        </p:spPr>
        <p:txBody>
          <a:bodyPr anchorCtr="0" anchor="t" bIns="121900" lIns="121900" spcFirstLastPara="1" rIns="121900" wrap="square" tIns="121900">
            <a:normAutofit fontScale="85000" lnSpcReduction="10000"/>
          </a:bodyPr>
          <a:lstStyle/>
          <a:p>
            <a:pPr indent="-304800" lvl="0" marL="609600" rtl="0" algn="l">
              <a:lnSpc>
                <a:spcPct val="100000"/>
              </a:lnSpc>
              <a:spcBef>
                <a:spcPts val="500"/>
              </a:spcBef>
              <a:spcAft>
                <a:spcPts val="0"/>
              </a:spcAft>
              <a:buSzPct val="50000"/>
              <a:buNone/>
            </a:pPr>
            <a:r>
              <a:rPr b="1" lang="en-US" sz="4800">
                <a:solidFill>
                  <a:srgbClr val="0B87A1"/>
                </a:solidFill>
                <a:latin typeface="Questrial"/>
                <a:ea typeface="Questrial"/>
                <a:cs typeface="Questrial"/>
                <a:sym typeface="Questrial"/>
              </a:rPr>
              <a:t>Parts of a Formal Reports [FYP]</a:t>
            </a:r>
            <a:endParaRPr b="1">
              <a:latin typeface="Questrial"/>
              <a:ea typeface="Questrial"/>
              <a:cs typeface="Questrial"/>
              <a:sym typeface="Questrial"/>
            </a:endParaRPr>
          </a:p>
        </p:txBody>
      </p:sp>
      <p:sp>
        <p:nvSpPr>
          <p:cNvPr id="417" name="Google Shape;417;g3b0aa6bf6d9_0_12"/>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p>
            <a:pPr indent="0" lvl="0" marL="0" rtl="0" algn="r">
              <a:spcBef>
                <a:spcPts val="0"/>
              </a:spcBef>
              <a:spcAft>
                <a:spcPts val="0"/>
              </a:spcAft>
              <a:buNone/>
            </a:pPr>
            <a:fld id="{00000000-1234-1234-1234-123412341234}" type="slidenum">
              <a:rPr lang="en-US" sz="1300">
                <a:solidFill>
                  <a:schemeClr val="dk2"/>
                </a:solidFill>
                <a:latin typeface="Arial"/>
                <a:ea typeface="Arial"/>
                <a:cs typeface="Arial"/>
                <a:sym typeface="Arial"/>
              </a:rPr>
              <a:t>‹#›</a:t>
            </a:fld>
            <a:endParaRPr sz="1300">
              <a:solidFill>
                <a:schemeClr val="dk2"/>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g3b0aa6bf6d9_0_17"/>
          <p:cNvSpPr txBox="1"/>
          <p:nvPr/>
        </p:nvSpPr>
        <p:spPr>
          <a:xfrm>
            <a:off x="1043833" y="1048400"/>
            <a:ext cx="9498900" cy="4946100"/>
          </a:xfrm>
          <a:prstGeom prst="rect">
            <a:avLst/>
          </a:prstGeom>
          <a:noFill/>
          <a:ln>
            <a:noFill/>
          </a:ln>
        </p:spPr>
        <p:txBody>
          <a:bodyPr anchorCtr="0" anchor="t" bIns="121900" lIns="121900" spcFirstLastPara="1" rIns="121900" wrap="square" tIns="121900">
            <a:spAutoFit/>
          </a:bodyPr>
          <a:lstStyle/>
          <a:p>
            <a:pPr indent="0" lvl="0" marL="101600" rtl="0" algn="l">
              <a:spcBef>
                <a:spcPts val="800"/>
              </a:spcBef>
              <a:spcAft>
                <a:spcPts val="0"/>
              </a:spcAft>
              <a:buNone/>
            </a:pPr>
            <a:r>
              <a:rPr b="1" lang="en-US" sz="2800">
                <a:solidFill>
                  <a:schemeClr val="dk2"/>
                </a:solidFill>
                <a:latin typeface="Questrial"/>
                <a:ea typeface="Questrial"/>
                <a:cs typeface="Questrial"/>
                <a:sym typeface="Questrial"/>
              </a:rPr>
              <a:t>1</a:t>
            </a:r>
            <a:r>
              <a:rPr lang="en-US" sz="2800">
                <a:solidFill>
                  <a:schemeClr val="dk2"/>
                </a:solidFill>
                <a:latin typeface="Questrial"/>
                <a:ea typeface="Questrial"/>
                <a:cs typeface="Questrial"/>
                <a:sym typeface="Questrial"/>
              </a:rPr>
              <a:t>. Cover/title page</a:t>
            </a:r>
            <a:endParaRPr sz="2500">
              <a:solidFill>
                <a:schemeClr val="dk2"/>
              </a:solidFill>
              <a:latin typeface="Questrial"/>
              <a:ea typeface="Questrial"/>
              <a:cs typeface="Questrial"/>
              <a:sym typeface="Questrial"/>
            </a:endParaRPr>
          </a:p>
          <a:p>
            <a:pPr indent="0" lvl="0" marL="101600" rtl="0" algn="l">
              <a:spcBef>
                <a:spcPts val="800"/>
              </a:spcBef>
              <a:spcAft>
                <a:spcPts val="0"/>
              </a:spcAft>
              <a:buNone/>
            </a:pPr>
            <a:r>
              <a:rPr b="1" lang="en-US" sz="2800">
                <a:solidFill>
                  <a:schemeClr val="dk2"/>
                </a:solidFill>
                <a:latin typeface="Questrial"/>
                <a:ea typeface="Questrial"/>
                <a:cs typeface="Questrial"/>
                <a:sym typeface="Questrial"/>
              </a:rPr>
              <a:t>2</a:t>
            </a:r>
            <a:r>
              <a:rPr lang="en-US" sz="2800">
                <a:solidFill>
                  <a:schemeClr val="dk2"/>
                </a:solidFill>
                <a:latin typeface="Questrial"/>
                <a:ea typeface="Questrial"/>
                <a:cs typeface="Questrial"/>
                <a:sym typeface="Questrial"/>
              </a:rPr>
              <a:t>. Letter or memo of transmittal</a:t>
            </a:r>
            <a:endParaRPr sz="2500">
              <a:solidFill>
                <a:schemeClr val="dk2"/>
              </a:solidFill>
              <a:latin typeface="Questrial"/>
              <a:ea typeface="Questrial"/>
              <a:cs typeface="Questrial"/>
              <a:sym typeface="Questrial"/>
            </a:endParaRPr>
          </a:p>
          <a:p>
            <a:pPr indent="0" lvl="0" marL="101600" rtl="0" algn="l">
              <a:spcBef>
                <a:spcPts val="800"/>
              </a:spcBef>
              <a:spcAft>
                <a:spcPts val="0"/>
              </a:spcAft>
              <a:buNone/>
            </a:pPr>
            <a:r>
              <a:rPr b="1" lang="en-US" sz="2800">
                <a:solidFill>
                  <a:schemeClr val="dk2"/>
                </a:solidFill>
                <a:latin typeface="Questrial"/>
                <a:ea typeface="Questrial"/>
                <a:cs typeface="Questrial"/>
                <a:sym typeface="Questrial"/>
              </a:rPr>
              <a:t>3</a:t>
            </a:r>
            <a:r>
              <a:rPr lang="en-US" sz="2800">
                <a:solidFill>
                  <a:schemeClr val="dk2"/>
                </a:solidFill>
                <a:latin typeface="Questrial"/>
                <a:ea typeface="Questrial"/>
                <a:cs typeface="Questrial"/>
                <a:sym typeface="Questrial"/>
              </a:rPr>
              <a:t>. Table of contents</a:t>
            </a:r>
            <a:endParaRPr sz="2500">
              <a:solidFill>
                <a:schemeClr val="dk2"/>
              </a:solidFill>
              <a:latin typeface="Questrial"/>
              <a:ea typeface="Questrial"/>
              <a:cs typeface="Questrial"/>
              <a:sym typeface="Questrial"/>
            </a:endParaRPr>
          </a:p>
          <a:p>
            <a:pPr indent="0" lvl="0" marL="101600" rtl="0" algn="l">
              <a:spcBef>
                <a:spcPts val="800"/>
              </a:spcBef>
              <a:spcAft>
                <a:spcPts val="0"/>
              </a:spcAft>
              <a:buNone/>
            </a:pPr>
            <a:r>
              <a:rPr b="1" lang="en-US" sz="2800">
                <a:solidFill>
                  <a:schemeClr val="dk2"/>
                </a:solidFill>
                <a:latin typeface="Questrial"/>
                <a:ea typeface="Questrial"/>
                <a:cs typeface="Questrial"/>
                <a:sym typeface="Questrial"/>
              </a:rPr>
              <a:t>4</a:t>
            </a:r>
            <a:r>
              <a:rPr lang="en-US" sz="2800">
                <a:solidFill>
                  <a:schemeClr val="dk2"/>
                </a:solidFill>
                <a:latin typeface="Questrial"/>
                <a:ea typeface="Questrial"/>
                <a:cs typeface="Questrial"/>
                <a:sym typeface="Questrial"/>
              </a:rPr>
              <a:t>. List of illustrations</a:t>
            </a:r>
            <a:endParaRPr sz="2500">
              <a:solidFill>
                <a:schemeClr val="dk2"/>
              </a:solidFill>
              <a:latin typeface="Questrial"/>
              <a:ea typeface="Questrial"/>
              <a:cs typeface="Questrial"/>
              <a:sym typeface="Questrial"/>
            </a:endParaRPr>
          </a:p>
          <a:p>
            <a:pPr indent="0" lvl="0" marL="101600" rtl="0" algn="l">
              <a:spcBef>
                <a:spcPts val="800"/>
              </a:spcBef>
              <a:spcAft>
                <a:spcPts val="0"/>
              </a:spcAft>
              <a:buNone/>
            </a:pPr>
            <a:r>
              <a:rPr b="1" lang="en-US" sz="2800">
                <a:solidFill>
                  <a:schemeClr val="dk2"/>
                </a:solidFill>
                <a:latin typeface="Questrial"/>
                <a:ea typeface="Questrial"/>
                <a:cs typeface="Questrial"/>
                <a:sym typeface="Questrial"/>
              </a:rPr>
              <a:t>5</a:t>
            </a:r>
            <a:r>
              <a:rPr lang="en-US" sz="2800">
                <a:solidFill>
                  <a:schemeClr val="dk2"/>
                </a:solidFill>
                <a:latin typeface="Questrial"/>
                <a:ea typeface="Questrial"/>
                <a:cs typeface="Questrial"/>
                <a:sym typeface="Questrial"/>
              </a:rPr>
              <a:t>. Executive summary</a:t>
            </a:r>
            <a:endParaRPr sz="2500">
              <a:solidFill>
                <a:schemeClr val="dk2"/>
              </a:solidFill>
              <a:latin typeface="Questrial"/>
              <a:ea typeface="Questrial"/>
              <a:cs typeface="Questrial"/>
              <a:sym typeface="Questrial"/>
            </a:endParaRPr>
          </a:p>
          <a:p>
            <a:pPr indent="0" lvl="0" marL="101600" rtl="0" algn="l">
              <a:spcBef>
                <a:spcPts val="800"/>
              </a:spcBef>
              <a:spcAft>
                <a:spcPts val="0"/>
              </a:spcAft>
              <a:buNone/>
            </a:pPr>
            <a:r>
              <a:rPr b="1" lang="en-US" sz="2800">
                <a:solidFill>
                  <a:schemeClr val="dk2"/>
                </a:solidFill>
                <a:latin typeface="Questrial"/>
                <a:ea typeface="Questrial"/>
                <a:cs typeface="Questrial"/>
                <a:sym typeface="Questrial"/>
              </a:rPr>
              <a:t>6</a:t>
            </a:r>
            <a:r>
              <a:rPr lang="en-US" sz="2800">
                <a:solidFill>
                  <a:schemeClr val="dk2"/>
                </a:solidFill>
                <a:latin typeface="Questrial"/>
                <a:ea typeface="Questrial"/>
                <a:cs typeface="Questrial"/>
                <a:sym typeface="Questrial"/>
              </a:rPr>
              <a:t>. Introduction</a:t>
            </a:r>
            <a:endParaRPr sz="2500">
              <a:solidFill>
                <a:schemeClr val="dk2"/>
              </a:solidFill>
              <a:latin typeface="Questrial"/>
              <a:ea typeface="Questrial"/>
              <a:cs typeface="Questrial"/>
              <a:sym typeface="Questrial"/>
            </a:endParaRPr>
          </a:p>
          <a:p>
            <a:pPr indent="0" lvl="0" marL="101600" rtl="0" algn="l">
              <a:spcBef>
                <a:spcPts val="800"/>
              </a:spcBef>
              <a:spcAft>
                <a:spcPts val="0"/>
              </a:spcAft>
              <a:buNone/>
            </a:pPr>
            <a:r>
              <a:rPr b="1" lang="en-US" sz="2800">
                <a:solidFill>
                  <a:schemeClr val="dk2"/>
                </a:solidFill>
                <a:latin typeface="Questrial"/>
                <a:ea typeface="Questrial"/>
                <a:cs typeface="Questrial"/>
                <a:sym typeface="Questrial"/>
              </a:rPr>
              <a:t>7</a:t>
            </a:r>
            <a:r>
              <a:rPr lang="en-US" sz="2800">
                <a:solidFill>
                  <a:schemeClr val="dk2"/>
                </a:solidFill>
                <a:latin typeface="Questrial"/>
                <a:ea typeface="Questrial"/>
                <a:cs typeface="Questrial"/>
                <a:sym typeface="Questrial"/>
              </a:rPr>
              <a:t>. Discussion sections</a:t>
            </a:r>
            <a:endParaRPr sz="2500">
              <a:solidFill>
                <a:schemeClr val="dk2"/>
              </a:solidFill>
              <a:latin typeface="Questrial"/>
              <a:ea typeface="Questrial"/>
              <a:cs typeface="Questrial"/>
              <a:sym typeface="Questrial"/>
            </a:endParaRPr>
          </a:p>
          <a:p>
            <a:pPr indent="0" lvl="0" marL="101600" rtl="0" algn="l">
              <a:spcBef>
                <a:spcPts val="800"/>
              </a:spcBef>
              <a:spcAft>
                <a:spcPts val="0"/>
              </a:spcAft>
              <a:buNone/>
            </a:pPr>
            <a:r>
              <a:rPr b="1" lang="en-US" sz="2800">
                <a:solidFill>
                  <a:schemeClr val="dk2"/>
                </a:solidFill>
                <a:latin typeface="Questrial"/>
                <a:ea typeface="Questrial"/>
                <a:cs typeface="Questrial"/>
                <a:sym typeface="Questrial"/>
              </a:rPr>
              <a:t>8</a:t>
            </a:r>
            <a:r>
              <a:rPr lang="en-US" sz="2800">
                <a:solidFill>
                  <a:schemeClr val="dk2"/>
                </a:solidFill>
                <a:latin typeface="Questrial"/>
                <a:ea typeface="Questrial"/>
                <a:cs typeface="Questrial"/>
                <a:sym typeface="Questrial"/>
              </a:rPr>
              <a:t>. Conclusions and recommendations</a:t>
            </a:r>
            <a:endParaRPr sz="2500">
              <a:solidFill>
                <a:schemeClr val="dk2"/>
              </a:solidFill>
              <a:latin typeface="Questrial"/>
              <a:ea typeface="Questrial"/>
              <a:cs typeface="Questrial"/>
              <a:sym typeface="Questrial"/>
            </a:endParaRPr>
          </a:p>
          <a:p>
            <a:pPr indent="0" lvl="0" marL="101600" rtl="0" algn="l">
              <a:spcBef>
                <a:spcPts val="800"/>
              </a:spcBef>
              <a:spcAft>
                <a:spcPts val="0"/>
              </a:spcAft>
              <a:buNone/>
            </a:pPr>
            <a:r>
              <a:rPr b="1" lang="en-US" sz="2800">
                <a:solidFill>
                  <a:schemeClr val="dk2"/>
                </a:solidFill>
                <a:latin typeface="Questrial"/>
                <a:ea typeface="Questrial"/>
                <a:cs typeface="Questrial"/>
                <a:sym typeface="Questrial"/>
              </a:rPr>
              <a:t>9</a:t>
            </a:r>
            <a:r>
              <a:rPr lang="en-US" sz="2800">
                <a:solidFill>
                  <a:schemeClr val="dk2"/>
                </a:solidFill>
                <a:latin typeface="Questrial"/>
                <a:ea typeface="Questrial"/>
                <a:cs typeface="Questrial"/>
                <a:sym typeface="Questrial"/>
              </a:rPr>
              <a:t>. End material</a:t>
            </a:r>
            <a:endParaRPr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graphicFrame>
        <p:nvGraphicFramePr>
          <p:cNvPr id="427" name="Google Shape;427;g3b0aa6bf6d9_0_21"/>
          <p:cNvGraphicFramePr/>
          <p:nvPr/>
        </p:nvGraphicFramePr>
        <p:xfrm>
          <a:off x="546637" y="234279"/>
          <a:ext cx="3000000" cy="3000000"/>
        </p:xfrm>
        <a:graphic>
          <a:graphicData uri="http://schemas.openxmlformats.org/drawingml/2006/table">
            <a:tbl>
              <a:tblPr bandRow="1" firstRow="1">
                <a:noFill/>
                <a:tableStyleId>{C2AB3137-F718-40C6-A6CA-367BE02654DF}</a:tableStyleId>
              </a:tblPr>
              <a:tblGrid>
                <a:gridCol w="4796100"/>
                <a:gridCol w="6302625"/>
              </a:tblGrid>
              <a:tr h="652375">
                <a:tc>
                  <a:txBody>
                    <a:bodyPr/>
                    <a:lstStyle/>
                    <a:p>
                      <a:pPr indent="0" lvl="0" marL="0" marR="0" rtl="0" algn="ctr">
                        <a:lnSpc>
                          <a:spcPct val="100000"/>
                        </a:lnSpc>
                        <a:spcBef>
                          <a:spcPts val="0"/>
                        </a:spcBef>
                        <a:spcAft>
                          <a:spcPts val="0"/>
                        </a:spcAft>
                        <a:buNone/>
                      </a:pPr>
                      <a:r>
                        <a:rPr lang="en-US" sz="3200" u="none" cap="none" strike="noStrike">
                          <a:solidFill>
                            <a:schemeClr val="lt1"/>
                          </a:solidFill>
                          <a:latin typeface="Questrial"/>
                          <a:ea typeface="Questrial"/>
                          <a:cs typeface="Questrial"/>
                          <a:sym typeface="Questrial"/>
                        </a:rPr>
                        <a:t>Formal Report</a:t>
                      </a:r>
                      <a:endParaRPr sz="1900">
                        <a:solidFill>
                          <a:schemeClr val="lt1"/>
                        </a:solidFill>
                        <a:latin typeface="Questrial"/>
                        <a:ea typeface="Questrial"/>
                        <a:cs typeface="Questrial"/>
                        <a:sym typeface="Questrial"/>
                      </a:endParaRPr>
                    </a:p>
                  </a:txBody>
                  <a:tcPr marT="60975" marB="60975" marR="121925" marL="121925">
                    <a:lnL cap="flat" cmpd="sng" w="12700">
                      <a:solidFill>
                        <a:schemeClr val="lt1"/>
                      </a:solidFill>
                      <a:prstDash val="dash"/>
                      <a:round/>
                      <a:headEnd len="sm" w="sm" type="none"/>
                      <a:tailEnd len="sm" w="sm" type="none"/>
                    </a:lnL>
                    <a:lnR cap="flat" cmpd="sng" w="12700">
                      <a:solidFill>
                        <a:schemeClr val="lt1"/>
                      </a:solidFill>
                      <a:prstDash val="dash"/>
                      <a:round/>
                      <a:headEnd len="sm" w="sm" type="none"/>
                      <a:tailEnd len="sm" w="sm" type="none"/>
                    </a:lnR>
                    <a:lnT cap="flat" cmpd="sng" w="12700">
                      <a:solidFill>
                        <a:schemeClr val="lt1"/>
                      </a:solidFill>
                      <a:prstDash val="dash"/>
                      <a:round/>
                      <a:headEnd len="sm" w="sm" type="none"/>
                      <a:tailEnd len="sm" w="sm" type="none"/>
                    </a:lnT>
                    <a:lnB cap="flat" cmpd="sng" w="12700">
                      <a:solidFill>
                        <a:schemeClr val="lt1"/>
                      </a:solidFill>
                      <a:prstDash val="dash"/>
                      <a:round/>
                      <a:headEnd len="sm" w="sm" type="none"/>
                      <a:tailEnd len="sm" w="sm" type="none"/>
                    </a:lnB>
                    <a:solidFill>
                      <a:srgbClr val="3D7F8B"/>
                    </a:solidFill>
                  </a:tcPr>
                </a:tc>
                <a:tc>
                  <a:txBody>
                    <a:bodyPr/>
                    <a:lstStyle/>
                    <a:p>
                      <a:pPr indent="0" lvl="0" marL="0" marR="0" rtl="0" algn="ctr">
                        <a:lnSpc>
                          <a:spcPct val="100000"/>
                        </a:lnSpc>
                        <a:spcBef>
                          <a:spcPts val="0"/>
                        </a:spcBef>
                        <a:spcAft>
                          <a:spcPts val="0"/>
                        </a:spcAft>
                        <a:buNone/>
                      </a:pPr>
                      <a:r>
                        <a:rPr lang="en-US" sz="3200" u="none" cap="none" strike="noStrike">
                          <a:solidFill>
                            <a:schemeClr val="lt1"/>
                          </a:solidFill>
                          <a:latin typeface="Questrial"/>
                          <a:ea typeface="Questrial"/>
                          <a:cs typeface="Questrial"/>
                          <a:sym typeface="Questrial"/>
                        </a:rPr>
                        <a:t>FYP</a:t>
                      </a:r>
                      <a:endParaRPr sz="1900">
                        <a:solidFill>
                          <a:schemeClr val="lt1"/>
                        </a:solidFill>
                        <a:latin typeface="Questrial"/>
                        <a:ea typeface="Questrial"/>
                        <a:cs typeface="Questrial"/>
                        <a:sym typeface="Questrial"/>
                      </a:endParaRPr>
                    </a:p>
                  </a:txBody>
                  <a:tcPr marT="60975" marB="60975" marR="121925" marL="121925">
                    <a:lnL cap="flat" cmpd="sng" w="12700">
                      <a:solidFill>
                        <a:schemeClr val="lt1"/>
                      </a:solidFill>
                      <a:prstDash val="dash"/>
                      <a:round/>
                      <a:headEnd len="sm" w="sm" type="none"/>
                      <a:tailEnd len="sm" w="sm" type="none"/>
                    </a:lnL>
                    <a:lnR cap="flat" cmpd="sng" w="12700">
                      <a:solidFill>
                        <a:schemeClr val="lt1"/>
                      </a:solidFill>
                      <a:prstDash val="dash"/>
                      <a:round/>
                      <a:headEnd len="sm" w="sm" type="none"/>
                      <a:tailEnd len="sm" w="sm" type="none"/>
                    </a:lnR>
                    <a:lnT cap="flat" cmpd="sng" w="12700">
                      <a:solidFill>
                        <a:schemeClr val="lt1"/>
                      </a:solidFill>
                      <a:prstDash val="dash"/>
                      <a:round/>
                      <a:headEnd len="sm" w="sm" type="none"/>
                      <a:tailEnd len="sm" w="sm" type="none"/>
                    </a:lnT>
                    <a:lnB cap="flat" cmpd="sng" w="12700">
                      <a:solidFill>
                        <a:schemeClr val="lt1"/>
                      </a:solidFill>
                      <a:prstDash val="dash"/>
                      <a:round/>
                      <a:headEnd len="sm" w="sm" type="none"/>
                      <a:tailEnd len="sm" w="sm" type="none"/>
                    </a:lnB>
                    <a:solidFill>
                      <a:srgbClr val="3D7F8B"/>
                    </a:solidFill>
                  </a:tcPr>
                </a:tc>
              </a:tr>
              <a:tr h="5731125">
                <a:tc>
                  <a:txBody>
                    <a:bodyPr/>
                    <a:lstStyle/>
                    <a:p>
                      <a:pPr indent="-457200" lvl="0" marL="609600" marR="0" rtl="0" algn="l">
                        <a:lnSpc>
                          <a:spcPct val="100000"/>
                        </a:lnSpc>
                        <a:spcBef>
                          <a:spcPts val="0"/>
                        </a:spcBef>
                        <a:spcAft>
                          <a:spcPts val="0"/>
                        </a:spcAft>
                        <a:buSzPts val="2400"/>
                        <a:buFont typeface="Questrial"/>
                        <a:buAutoNum type="arabicPeriod"/>
                      </a:pPr>
                      <a:r>
                        <a:rPr lang="en-US" sz="2400" u="none" cap="none" strike="noStrike">
                          <a:latin typeface="Questrial"/>
                          <a:ea typeface="Questrial"/>
                          <a:cs typeface="Questrial"/>
                          <a:sym typeface="Questrial"/>
                        </a:rPr>
                        <a:t>Cover/title page</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AutoNum type="arabicPeriod"/>
                      </a:pPr>
                      <a:r>
                        <a:rPr lang="en-US" sz="2400" u="none" cap="none" strike="noStrike">
                          <a:latin typeface="Questrial"/>
                          <a:ea typeface="Questrial"/>
                          <a:cs typeface="Questrial"/>
                          <a:sym typeface="Questrial"/>
                        </a:rPr>
                        <a:t>Letter or memo of transmittal</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AutoNum type="arabicPeriod"/>
                      </a:pPr>
                      <a:r>
                        <a:rPr lang="en-US" sz="2400" u="none" cap="none" strike="noStrike">
                          <a:latin typeface="Questrial"/>
                          <a:ea typeface="Questrial"/>
                          <a:cs typeface="Questrial"/>
                          <a:sym typeface="Questrial"/>
                        </a:rPr>
                        <a:t>Table of contents</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AutoNum type="arabicPeriod"/>
                      </a:pPr>
                      <a:r>
                        <a:rPr lang="en-US" sz="2400" u="none" cap="none" strike="noStrike">
                          <a:latin typeface="Questrial"/>
                          <a:ea typeface="Questrial"/>
                          <a:cs typeface="Questrial"/>
                          <a:sym typeface="Questrial"/>
                        </a:rPr>
                        <a:t>List of illustrations</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AutoNum type="arabicPeriod"/>
                      </a:pPr>
                      <a:r>
                        <a:rPr lang="en-US" sz="2400" u="none" cap="none" strike="noStrike">
                          <a:latin typeface="Questrial"/>
                          <a:ea typeface="Questrial"/>
                          <a:cs typeface="Questrial"/>
                          <a:sym typeface="Questrial"/>
                        </a:rPr>
                        <a:t>Executive summary</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AutoNum type="arabicPeriod"/>
                      </a:pPr>
                      <a:r>
                        <a:rPr lang="en-US" sz="2400" u="none" cap="none" strike="noStrike">
                          <a:latin typeface="Questrial"/>
                          <a:ea typeface="Questrial"/>
                          <a:cs typeface="Questrial"/>
                          <a:sym typeface="Questrial"/>
                        </a:rPr>
                        <a:t>Introduction</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AutoNum type="arabicPeriod"/>
                      </a:pPr>
                      <a:r>
                        <a:rPr lang="en-US" sz="2400" u="none" cap="none" strike="noStrike">
                          <a:latin typeface="Questrial"/>
                          <a:ea typeface="Questrial"/>
                          <a:cs typeface="Questrial"/>
                          <a:sym typeface="Questrial"/>
                        </a:rPr>
                        <a:t>Discussion sections</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AutoNum type="arabicPeriod"/>
                      </a:pPr>
                      <a:r>
                        <a:rPr lang="en-US" sz="2400" u="none" cap="none" strike="noStrike">
                          <a:latin typeface="Questrial"/>
                          <a:ea typeface="Questrial"/>
                          <a:cs typeface="Questrial"/>
                          <a:sym typeface="Questrial"/>
                        </a:rPr>
                        <a:t>Conclusions and recommendations</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AutoNum type="arabicPeriod"/>
                      </a:pPr>
                      <a:r>
                        <a:rPr lang="en-US" sz="2400" u="none" cap="none" strike="noStrike">
                          <a:latin typeface="Questrial"/>
                          <a:ea typeface="Questrial"/>
                          <a:cs typeface="Questrial"/>
                          <a:sym typeface="Questrial"/>
                        </a:rPr>
                        <a:t>End material</a:t>
                      </a:r>
                      <a:endParaRPr sz="1900">
                        <a:latin typeface="Questrial"/>
                        <a:ea typeface="Questrial"/>
                        <a:cs typeface="Questrial"/>
                        <a:sym typeface="Questrial"/>
                      </a:endParaRPr>
                    </a:p>
                  </a:txBody>
                  <a:tcPr marT="60975" marB="60975" marR="121925" marL="121925">
                    <a:lnL cap="flat" cmpd="sng" w="12700">
                      <a:solidFill>
                        <a:schemeClr val="lt1"/>
                      </a:solidFill>
                      <a:prstDash val="solid"/>
                      <a:round/>
                      <a:headEnd len="sm" w="sm" type="none"/>
                      <a:tailEnd len="sm" w="sm" type="none"/>
                    </a:lnL>
                    <a:lnR cap="flat" cmpd="sng" w="12700">
                      <a:solidFill>
                        <a:srgbClr val="01597F"/>
                      </a:solidFill>
                      <a:prstDash val="dash"/>
                      <a:round/>
                      <a:headEnd len="sm" w="sm" type="none"/>
                      <a:tailEnd len="sm" w="sm" type="none"/>
                    </a:lnR>
                    <a:lnT cap="flat" cmpd="sng" w="12700">
                      <a:solidFill>
                        <a:schemeClr val="lt1"/>
                      </a:solidFill>
                      <a:prstDash val="dash"/>
                      <a:round/>
                      <a:headEnd len="sm" w="sm" type="none"/>
                      <a:tailEnd len="sm" w="sm" type="none"/>
                    </a:lnT>
                    <a:lnB cap="flat" cmpd="sng" w="12700">
                      <a:solidFill>
                        <a:schemeClr val="lt1"/>
                      </a:solidFill>
                      <a:prstDash val="solid"/>
                      <a:round/>
                      <a:headEnd len="sm" w="sm" type="none"/>
                      <a:tailEnd len="sm" w="sm" type="none"/>
                    </a:lnB>
                  </a:tcPr>
                </a:tc>
                <a:tc>
                  <a:txBody>
                    <a:bodyPr/>
                    <a:lstStyle/>
                    <a:p>
                      <a:pPr indent="-457200" lvl="0" marL="609600" marR="0" rtl="0" algn="l">
                        <a:lnSpc>
                          <a:spcPct val="100000"/>
                        </a:lnSpc>
                        <a:spcBef>
                          <a:spcPts val="0"/>
                        </a:spcBef>
                        <a:spcAft>
                          <a:spcPts val="0"/>
                        </a:spcAft>
                        <a:buSzPts val="2400"/>
                        <a:buFont typeface="Questrial"/>
                        <a:buChar char="●"/>
                      </a:pPr>
                      <a:r>
                        <a:rPr lang="en-US" sz="2400" u="none" cap="none" strike="noStrike">
                          <a:latin typeface="Questrial"/>
                          <a:ea typeface="Questrial"/>
                          <a:cs typeface="Questrial"/>
                          <a:sym typeface="Questrial"/>
                        </a:rPr>
                        <a:t>Title Page</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Char char="●"/>
                      </a:pPr>
                      <a:r>
                        <a:rPr lang="en-US" sz="2400" u="none" cap="none" strike="noStrike">
                          <a:latin typeface="Questrial"/>
                          <a:ea typeface="Questrial"/>
                          <a:cs typeface="Questrial"/>
                          <a:sym typeface="Questrial"/>
                        </a:rPr>
                        <a:t>Undertaking</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Char char="●"/>
                      </a:pPr>
                      <a:r>
                        <a:rPr lang="en-US" sz="2400" u="none" cap="none" strike="noStrike">
                          <a:latin typeface="Questrial"/>
                          <a:ea typeface="Questrial"/>
                          <a:cs typeface="Questrial"/>
                          <a:sym typeface="Questrial"/>
                        </a:rPr>
                        <a:t>Table of contents</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Char char="●"/>
                      </a:pPr>
                      <a:r>
                        <a:rPr lang="en-US" sz="2400" u="none" cap="none" strike="noStrike">
                          <a:latin typeface="Questrial"/>
                          <a:ea typeface="Questrial"/>
                          <a:cs typeface="Questrial"/>
                          <a:sym typeface="Questrial"/>
                        </a:rPr>
                        <a:t>List of Tables</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Char char="●"/>
                      </a:pPr>
                      <a:r>
                        <a:rPr lang="en-US" sz="2400" u="none" cap="none" strike="noStrike">
                          <a:latin typeface="Questrial"/>
                          <a:ea typeface="Questrial"/>
                          <a:cs typeface="Questrial"/>
                          <a:sym typeface="Questrial"/>
                        </a:rPr>
                        <a:t>List of Figures</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Char char="●"/>
                      </a:pPr>
                      <a:r>
                        <a:rPr lang="en-US" sz="2400" u="none" cap="none" strike="noStrike">
                          <a:latin typeface="Questrial"/>
                          <a:ea typeface="Questrial"/>
                          <a:cs typeface="Questrial"/>
                          <a:sym typeface="Questrial"/>
                        </a:rPr>
                        <a:t>Abstract</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Char char="●"/>
                      </a:pPr>
                      <a:r>
                        <a:rPr lang="en-US" sz="2400" u="none" cap="none" strike="noStrike">
                          <a:latin typeface="Questrial"/>
                          <a:ea typeface="Questrial"/>
                          <a:cs typeface="Questrial"/>
                          <a:sym typeface="Questrial"/>
                        </a:rPr>
                        <a:t>Introduction (Chapter-1)</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Char char="●"/>
                      </a:pPr>
                      <a:r>
                        <a:rPr lang="en-US" sz="2400" u="none" cap="none" strike="noStrike">
                          <a:latin typeface="Questrial"/>
                          <a:ea typeface="Questrial"/>
                          <a:cs typeface="Questrial"/>
                          <a:sym typeface="Questrial"/>
                        </a:rPr>
                        <a:t>Literature Review (Chapter-2)</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Char char="●"/>
                      </a:pPr>
                      <a:r>
                        <a:rPr lang="en-US" sz="2400" u="none" cap="none" strike="noStrike">
                          <a:latin typeface="Questrial"/>
                          <a:ea typeface="Questrial"/>
                          <a:cs typeface="Questrial"/>
                          <a:sym typeface="Questrial"/>
                        </a:rPr>
                        <a:t>Requirements and Design (Chapter: 3)</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Char char="●"/>
                      </a:pPr>
                      <a:r>
                        <a:rPr lang="en-US" sz="2400" u="none" cap="none" strike="noStrike">
                          <a:latin typeface="Questrial"/>
                          <a:ea typeface="Questrial"/>
                          <a:cs typeface="Questrial"/>
                          <a:sym typeface="Questrial"/>
                        </a:rPr>
                        <a:t>Implementation and Test Scores (Chapter: 4)</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Char char="●"/>
                      </a:pPr>
                      <a:r>
                        <a:rPr lang="en-US" sz="2400" u="none" cap="none" strike="noStrike">
                          <a:latin typeface="Questrial"/>
                          <a:ea typeface="Questrial"/>
                          <a:cs typeface="Questrial"/>
                          <a:sym typeface="Questrial"/>
                        </a:rPr>
                        <a:t>Results and Analysis (Chapter: -5)</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Char char="●"/>
                      </a:pPr>
                      <a:r>
                        <a:rPr lang="en-US" sz="2400" u="none" cap="none" strike="noStrike">
                          <a:latin typeface="Questrial"/>
                          <a:ea typeface="Questrial"/>
                          <a:cs typeface="Questrial"/>
                          <a:sym typeface="Questrial"/>
                        </a:rPr>
                        <a:t>Conclusions (Chapter-6)</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Char char="●"/>
                      </a:pPr>
                      <a:r>
                        <a:rPr lang="en-US" sz="2400" u="none" cap="none" strike="noStrike">
                          <a:latin typeface="Questrial"/>
                          <a:ea typeface="Questrial"/>
                          <a:cs typeface="Questrial"/>
                          <a:sym typeface="Questrial"/>
                        </a:rPr>
                        <a:t>References</a:t>
                      </a:r>
                      <a:endParaRPr sz="1900">
                        <a:latin typeface="Questrial"/>
                        <a:ea typeface="Questrial"/>
                        <a:cs typeface="Questrial"/>
                        <a:sym typeface="Questrial"/>
                      </a:endParaRPr>
                    </a:p>
                    <a:p>
                      <a:pPr indent="-457200" lvl="0" marL="609600" marR="0" rtl="0" algn="l">
                        <a:lnSpc>
                          <a:spcPct val="100000"/>
                        </a:lnSpc>
                        <a:spcBef>
                          <a:spcPts val="0"/>
                        </a:spcBef>
                        <a:spcAft>
                          <a:spcPts val="0"/>
                        </a:spcAft>
                        <a:buSzPts val="2400"/>
                        <a:buFont typeface="Questrial"/>
                        <a:buChar char="●"/>
                      </a:pPr>
                      <a:r>
                        <a:rPr lang="en-US" sz="2400" u="none" cap="none" strike="noStrike">
                          <a:latin typeface="Questrial"/>
                          <a:ea typeface="Questrial"/>
                          <a:cs typeface="Questrial"/>
                          <a:sym typeface="Questrial"/>
                        </a:rPr>
                        <a:t>Appendix</a:t>
                      </a:r>
                      <a:endParaRPr sz="2400" u="none" cap="none" strike="noStrike">
                        <a:latin typeface="Questrial"/>
                        <a:ea typeface="Questrial"/>
                        <a:cs typeface="Questrial"/>
                        <a:sym typeface="Questrial"/>
                      </a:endParaRPr>
                    </a:p>
                  </a:txBody>
                  <a:tcPr marT="60975" marB="60975" marR="121925" marL="121925">
                    <a:lnL cap="flat" cmpd="sng" w="12700">
                      <a:solidFill>
                        <a:srgbClr val="01597F"/>
                      </a:solidFill>
                      <a:prstDash val="dash"/>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dash"/>
                      <a:round/>
                      <a:headEnd len="sm" w="sm" type="none"/>
                      <a:tailEnd len="sm" w="sm" type="none"/>
                    </a:lnT>
                    <a:lnB cap="flat" cmpd="sng" w="12700">
                      <a:solidFill>
                        <a:schemeClr val="lt1"/>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431" name="Shape 431"/>
        <p:cNvGrpSpPr/>
        <p:nvPr/>
      </p:nvGrpSpPr>
      <p:grpSpPr>
        <a:xfrm>
          <a:off x="0" y="0"/>
          <a:ext cx="0" cy="0"/>
          <a:chOff x="0" y="0"/>
          <a:chExt cx="0" cy="0"/>
        </a:xfrm>
      </p:grpSpPr>
      <p:sp>
        <p:nvSpPr>
          <p:cNvPr id="432" name="Google Shape;432;g3b0aa6bf6d9_0_25"/>
          <p:cNvSpPr txBox="1"/>
          <p:nvPr/>
        </p:nvSpPr>
        <p:spPr>
          <a:xfrm>
            <a:off x="119133" y="1345000"/>
            <a:ext cx="6937500" cy="64032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40000">
                <a:solidFill>
                  <a:srgbClr val="ABD2D5"/>
                </a:solidFill>
                <a:latin typeface="Questrial"/>
                <a:ea typeface="Questrial"/>
                <a:cs typeface="Questrial"/>
                <a:sym typeface="Questrial"/>
              </a:rPr>
              <a:t>1.</a:t>
            </a:r>
            <a:endParaRPr b="1" sz="40000">
              <a:solidFill>
                <a:srgbClr val="ABD2D5"/>
              </a:solidFill>
              <a:latin typeface="Questrial"/>
              <a:ea typeface="Questrial"/>
              <a:cs typeface="Questrial"/>
              <a:sym typeface="Questrial"/>
            </a:endParaRPr>
          </a:p>
        </p:txBody>
      </p:sp>
      <p:sp>
        <p:nvSpPr>
          <p:cNvPr id="433" name="Google Shape;433;g3b0aa6bf6d9_0_25"/>
          <p:cNvSpPr txBox="1"/>
          <p:nvPr/>
        </p:nvSpPr>
        <p:spPr>
          <a:xfrm>
            <a:off x="4779367" y="2306433"/>
            <a:ext cx="6937500" cy="41712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2300">
                <a:solidFill>
                  <a:schemeClr val="dk2"/>
                </a:solidFill>
                <a:latin typeface="Questrial"/>
                <a:ea typeface="Questrial"/>
                <a:cs typeface="Questrial"/>
                <a:sym typeface="Questrial"/>
              </a:rPr>
              <a:t>Cover letter should include key information such as what is the report? who is it for? who is it by? what is time frame? etc.</a:t>
            </a:r>
            <a:endParaRPr sz="2400">
              <a:solidFill>
                <a:schemeClr val="dk2"/>
              </a:solidFill>
              <a:latin typeface="Questrial"/>
              <a:ea typeface="Questrial"/>
              <a:cs typeface="Questrial"/>
              <a:sym typeface="Questrial"/>
            </a:endParaRPr>
          </a:p>
          <a:p>
            <a:pPr indent="0" lvl="0" marL="0" rtl="0" algn="l">
              <a:spcBef>
                <a:spcPts val="0"/>
              </a:spcBef>
              <a:spcAft>
                <a:spcPts val="0"/>
              </a:spcAft>
              <a:buNone/>
            </a:pPr>
            <a:r>
              <a:t/>
            </a:r>
            <a:endParaRPr sz="2400">
              <a:solidFill>
                <a:schemeClr val="dk2"/>
              </a:solidFill>
              <a:latin typeface="Questrial"/>
              <a:ea typeface="Questrial"/>
              <a:cs typeface="Questrial"/>
              <a:sym typeface="Questrial"/>
            </a:endParaRPr>
          </a:p>
          <a:p>
            <a:pPr indent="0" lvl="0" marL="0" rtl="0" algn="l">
              <a:spcBef>
                <a:spcPts val="0"/>
              </a:spcBef>
              <a:spcAft>
                <a:spcPts val="0"/>
              </a:spcAft>
              <a:buNone/>
            </a:pPr>
            <a:r>
              <a:rPr b="1" lang="en-US" sz="2400">
                <a:solidFill>
                  <a:schemeClr val="dk2"/>
                </a:solidFill>
                <a:latin typeface="Questrial"/>
                <a:ea typeface="Questrial"/>
                <a:cs typeface="Questrial"/>
                <a:sym typeface="Questrial"/>
              </a:rPr>
              <a:t>Should include:</a:t>
            </a:r>
            <a:endParaRPr b="1"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300">
                <a:solidFill>
                  <a:schemeClr val="dk2"/>
                </a:solidFill>
                <a:latin typeface="Questrial"/>
                <a:ea typeface="Questrial"/>
                <a:cs typeface="Questrial"/>
                <a:sym typeface="Questrial"/>
              </a:rPr>
              <a:t>Project title </a:t>
            </a:r>
            <a:endParaRPr sz="23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300">
                <a:solidFill>
                  <a:schemeClr val="dk2"/>
                </a:solidFill>
                <a:latin typeface="Questrial"/>
                <a:ea typeface="Questrial"/>
                <a:cs typeface="Questrial"/>
                <a:sym typeface="Questrial"/>
              </a:rPr>
              <a:t>For who: Your client’s or recipient’s name (“Prepared for . . .”)</a:t>
            </a:r>
            <a:endParaRPr sz="23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300">
                <a:solidFill>
                  <a:schemeClr val="dk2"/>
                </a:solidFill>
                <a:latin typeface="Questrial"/>
                <a:ea typeface="Questrial"/>
                <a:cs typeface="Questrial"/>
                <a:sym typeface="Questrial"/>
              </a:rPr>
              <a:t>Your name and/or the name of your organization (“Prepared by . . .”)</a:t>
            </a:r>
            <a:endParaRPr sz="23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300">
                <a:solidFill>
                  <a:schemeClr val="dk2"/>
                </a:solidFill>
                <a:latin typeface="Questrial"/>
                <a:ea typeface="Questrial"/>
                <a:cs typeface="Questrial"/>
                <a:sym typeface="Questrial"/>
              </a:rPr>
              <a:t>Date of submission</a:t>
            </a:r>
            <a:endParaRPr sz="2300">
              <a:solidFill>
                <a:schemeClr val="dk2"/>
              </a:solidFill>
              <a:latin typeface="Questrial"/>
              <a:ea typeface="Questrial"/>
              <a:cs typeface="Questrial"/>
              <a:sym typeface="Questrial"/>
            </a:endParaRPr>
          </a:p>
        </p:txBody>
      </p:sp>
      <p:sp>
        <p:nvSpPr>
          <p:cNvPr id="434" name="Google Shape;434;g3b0aa6bf6d9_0_25"/>
          <p:cNvSpPr txBox="1"/>
          <p:nvPr>
            <p:ph idx="1" type="body"/>
          </p:nvPr>
        </p:nvSpPr>
        <p:spPr>
          <a:xfrm>
            <a:off x="346033" y="265033"/>
            <a:ext cx="7998300" cy="806700"/>
          </a:xfrm>
          <a:prstGeom prst="rect">
            <a:avLst/>
          </a:prstGeom>
          <a:noFill/>
          <a:ln>
            <a:noFill/>
          </a:ln>
        </p:spPr>
        <p:txBody>
          <a:bodyPr anchorCtr="0" anchor="t" bIns="121900" lIns="121900" spcFirstLastPara="1" rIns="121900" wrap="square" tIns="121900">
            <a:normAutofit fontScale="92500" lnSpcReduction="20000"/>
          </a:bodyPr>
          <a:lstStyle/>
          <a:p>
            <a:pPr indent="0" lvl="0" marL="0" rtl="0" algn="l">
              <a:lnSpc>
                <a:spcPct val="100000"/>
              </a:lnSpc>
              <a:spcBef>
                <a:spcPts val="500"/>
              </a:spcBef>
              <a:spcAft>
                <a:spcPts val="0"/>
              </a:spcAft>
              <a:buSzPct val="50000"/>
              <a:buNone/>
            </a:pPr>
            <a:r>
              <a:rPr b="1" lang="en-US" sz="4800">
                <a:solidFill>
                  <a:srgbClr val="0B87A1"/>
                </a:solidFill>
                <a:latin typeface="Questrial"/>
                <a:ea typeface="Questrial"/>
                <a:cs typeface="Questrial"/>
                <a:sym typeface="Questrial"/>
              </a:rPr>
              <a:t>Cover letter / Title Page</a:t>
            </a:r>
            <a:endParaRPr b="1">
              <a:latin typeface="Questrial"/>
              <a:ea typeface="Questrial"/>
              <a:cs typeface="Questrial"/>
              <a:sym typeface="Quest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438" name="Shape 438"/>
        <p:cNvGrpSpPr/>
        <p:nvPr/>
      </p:nvGrpSpPr>
      <p:grpSpPr>
        <a:xfrm>
          <a:off x="0" y="0"/>
          <a:ext cx="0" cy="0"/>
          <a:chOff x="0" y="0"/>
          <a:chExt cx="0" cy="0"/>
        </a:xfrm>
      </p:grpSpPr>
      <p:sp>
        <p:nvSpPr>
          <p:cNvPr id="439" name="Google Shape;439;g3b0aa6bf6d9_0_31"/>
          <p:cNvSpPr txBox="1"/>
          <p:nvPr/>
        </p:nvSpPr>
        <p:spPr>
          <a:xfrm>
            <a:off x="119133" y="1345000"/>
            <a:ext cx="6937500" cy="64032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40000">
                <a:solidFill>
                  <a:srgbClr val="ABD2D5"/>
                </a:solidFill>
                <a:latin typeface="Questrial"/>
                <a:ea typeface="Questrial"/>
                <a:cs typeface="Questrial"/>
                <a:sym typeface="Questrial"/>
              </a:rPr>
              <a:t>2.</a:t>
            </a:r>
            <a:endParaRPr b="1" sz="40000">
              <a:solidFill>
                <a:srgbClr val="ABD2D5"/>
              </a:solidFill>
              <a:latin typeface="Questrial"/>
              <a:ea typeface="Questrial"/>
              <a:cs typeface="Questrial"/>
              <a:sym typeface="Questrial"/>
            </a:endParaRPr>
          </a:p>
        </p:txBody>
      </p:sp>
      <p:sp>
        <p:nvSpPr>
          <p:cNvPr id="440" name="Google Shape;440;g3b0aa6bf6d9_0_31"/>
          <p:cNvSpPr txBox="1"/>
          <p:nvPr/>
        </p:nvSpPr>
        <p:spPr>
          <a:xfrm>
            <a:off x="4779233" y="3489433"/>
            <a:ext cx="6937500" cy="28323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2400">
                <a:solidFill>
                  <a:schemeClr val="dk2"/>
                </a:solidFill>
                <a:latin typeface="Questrial"/>
                <a:ea typeface="Questrial"/>
                <a:cs typeface="Questrial"/>
                <a:sym typeface="Questrial"/>
              </a:rPr>
              <a:t>Include a major point from the report (Why you are writing/ What exactly of importance is within it, what value it brings. </a:t>
            </a:r>
            <a:endParaRPr b="1" sz="2400">
              <a:solidFill>
                <a:schemeClr val="dk2"/>
              </a:solidFill>
              <a:latin typeface="Questrial"/>
              <a:ea typeface="Questrial"/>
              <a:cs typeface="Questrial"/>
              <a:sym typeface="Questrial"/>
            </a:endParaRPr>
          </a:p>
          <a:p>
            <a:pPr indent="0" lvl="0" marL="0" rtl="0" algn="l">
              <a:spcBef>
                <a:spcPts val="0"/>
              </a:spcBef>
              <a:spcAft>
                <a:spcPts val="0"/>
              </a:spcAft>
              <a:buNone/>
            </a:pPr>
            <a:r>
              <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Should come immediately after the title page</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Follow letter and memo conventions (e.g. single-spacing; use only one page)</a:t>
            </a:r>
            <a:endParaRPr sz="2400">
              <a:solidFill>
                <a:schemeClr val="dk2"/>
              </a:solidFill>
              <a:latin typeface="Questrial"/>
              <a:ea typeface="Questrial"/>
              <a:cs typeface="Questrial"/>
              <a:sym typeface="Questrial"/>
            </a:endParaRPr>
          </a:p>
        </p:txBody>
      </p:sp>
      <p:sp>
        <p:nvSpPr>
          <p:cNvPr id="441" name="Google Shape;441;g3b0aa6bf6d9_0_31"/>
          <p:cNvSpPr txBox="1"/>
          <p:nvPr>
            <p:ph idx="1" type="body"/>
          </p:nvPr>
        </p:nvSpPr>
        <p:spPr>
          <a:xfrm>
            <a:off x="241633" y="230233"/>
            <a:ext cx="11475300" cy="806700"/>
          </a:xfrm>
          <a:prstGeom prst="rect">
            <a:avLst/>
          </a:prstGeom>
          <a:noFill/>
          <a:ln>
            <a:noFill/>
          </a:ln>
        </p:spPr>
        <p:txBody>
          <a:bodyPr anchorCtr="0" anchor="t" bIns="121900" lIns="121900" spcFirstLastPara="1" rIns="121900" wrap="square" tIns="121900">
            <a:normAutofit fontScale="92500" lnSpcReduction="20000"/>
          </a:bodyPr>
          <a:lstStyle/>
          <a:p>
            <a:pPr indent="0" lvl="0" marL="0" rtl="0" algn="l">
              <a:lnSpc>
                <a:spcPct val="100000"/>
              </a:lnSpc>
              <a:spcBef>
                <a:spcPts val="500"/>
              </a:spcBef>
              <a:spcAft>
                <a:spcPts val="0"/>
              </a:spcAft>
              <a:buSzPct val="50000"/>
              <a:buNone/>
            </a:pPr>
            <a:r>
              <a:rPr b="1" lang="en-US" sz="4800">
                <a:solidFill>
                  <a:srgbClr val="0B87A1"/>
                </a:solidFill>
                <a:latin typeface="Questrial"/>
                <a:ea typeface="Questrial"/>
                <a:cs typeface="Questrial"/>
                <a:sym typeface="Questrial"/>
              </a:rPr>
              <a:t>Letter or memo of transmittal </a:t>
            </a:r>
            <a:endParaRPr b="1">
              <a:latin typeface="Questrial"/>
              <a:ea typeface="Questrial"/>
              <a:cs typeface="Questrial"/>
              <a:sym typeface="Quest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445" name="Shape 445"/>
        <p:cNvGrpSpPr/>
        <p:nvPr/>
      </p:nvGrpSpPr>
      <p:grpSpPr>
        <a:xfrm>
          <a:off x="0" y="0"/>
          <a:ext cx="0" cy="0"/>
          <a:chOff x="0" y="0"/>
          <a:chExt cx="0" cy="0"/>
        </a:xfrm>
      </p:grpSpPr>
      <p:sp>
        <p:nvSpPr>
          <p:cNvPr id="446" name="Google Shape;446;g3b0aa6bf6d9_0_37"/>
          <p:cNvSpPr txBox="1"/>
          <p:nvPr/>
        </p:nvSpPr>
        <p:spPr>
          <a:xfrm>
            <a:off x="119133" y="1345000"/>
            <a:ext cx="6937500" cy="64032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40000">
                <a:solidFill>
                  <a:srgbClr val="ABD2D5"/>
                </a:solidFill>
                <a:latin typeface="Questrial"/>
                <a:ea typeface="Questrial"/>
                <a:cs typeface="Questrial"/>
                <a:sym typeface="Questrial"/>
              </a:rPr>
              <a:t>3.</a:t>
            </a:r>
            <a:endParaRPr b="1" sz="40000">
              <a:solidFill>
                <a:srgbClr val="ABD2D5"/>
              </a:solidFill>
              <a:latin typeface="Questrial"/>
              <a:ea typeface="Questrial"/>
              <a:cs typeface="Questrial"/>
              <a:sym typeface="Questrial"/>
            </a:endParaRPr>
          </a:p>
        </p:txBody>
      </p:sp>
      <p:sp>
        <p:nvSpPr>
          <p:cNvPr id="447" name="Google Shape;447;g3b0aa6bf6d9_0_37"/>
          <p:cNvSpPr txBox="1"/>
          <p:nvPr/>
        </p:nvSpPr>
        <p:spPr>
          <a:xfrm>
            <a:off x="4779233" y="1836700"/>
            <a:ext cx="6937500" cy="46791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2400">
                <a:solidFill>
                  <a:schemeClr val="dk2"/>
                </a:solidFill>
                <a:latin typeface="Questrial"/>
                <a:ea typeface="Questrial"/>
                <a:cs typeface="Questrial"/>
                <a:sym typeface="Questrial"/>
              </a:rPr>
              <a:t>An effective table of contents fleshes out the details, so your readers know exactly what is covered in each section – saves their time and helps them find the information they want and need.</a:t>
            </a:r>
            <a:endParaRPr b="1" sz="2400">
              <a:solidFill>
                <a:schemeClr val="dk2"/>
              </a:solidFill>
              <a:latin typeface="Questrial"/>
              <a:ea typeface="Questrial"/>
              <a:cs typeface="Questrial"/>
              <a:sym typeface="Questrial"/>
            </a:endParaRPr>
          </a:p>
          <a:p>
            <a:pPr indent="0" lvl="0" marL="0" rtl="0" algn="l">
              <a:spcBef>
                <a:spcPts val="0"/>
              </a:spcBef>
              <a:spcAft>
                <a:spcPts val="0"/>
              </a:spcAft>
              <a:buNone/>
            </a:pPr>
            <a:r>
              <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It acts as an outline</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It should be a complete and accurate listing of the main and minor topics covered in the report.</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You don’t want just a brief and sketchy outline of major headings.</a:t>
            </a:r>
            <a:endParaRPr sz="2400">
              <a:solidFill>
                <a:schemeClr val="dk2"/>
              </a:solidFill>
              <a:latin typeface="Questrial"/>
              <a:ea typeface="Questrial"/>
              <a:cs typeface="Questrial"/>
              <a:sym typeface="Questrial"/>
            </a:endParaRPr>
          </a:p>
        </p:txBody>
      </p:sp>
      <p:sp>
        <p:nvSpPr>
          <p:cNvPr id="448" name="Google Shape;448;g3b0aa6bf6d9_0_37"/>
          <p:cNvSpPr txBox="1"/>
          <p:nvPr>
            <p:ph idx="1" type="body"/>
          </p:nvPr>
        </p:nvSpPr>
        <p:spPr>
          <a:xfrm>
            <a:off x="241633" y="230233"/>
            <a:ext cx="11475300" cy="806700"/>
          </a:xfrm>
          <a:prstGeom prst="rect">
            <a:avLst/>
          </a:prstGeom>
          <a:noFill/>
          <a:ln>
            <a:noFill/>
          </a:ln>
        </p:spPr>
        <p:txBody>
          <a:bodyPr anchorCtr="0" anchor="t" bIns="121900" lIns="121900" spcFirstLastPara="1" rIns="121900" wrap="square" tIns="121900">
            <a:normAutofit fontScale="92500" lnSpcReduction="20000"/>
          </a:bodyPr>
          <a:lstStyle/>
          <a:p>
            <a:pPr indent="0" lvl="0" marL="0" rtl="0" algn="l">
              <a:lnSpc>
                <a:spcPct val="100000"/>
              </a:lnSpc>
              <a:spcBef>
                <a:spcPts val="500"/>
              </a:spcBef>
              <a:spcAft>
                <a:spcPts val="0"/>
              </a:spcAft>
              <a:buSzPct val="50000"/>
              <a:buNone/>
            </a:pPr>
            <a:r>
              <a:rPr b="1" lang="en-US" sz="4800">
                <a:solidFill>
                  <a:srgbClr val="0B87A1"/>
                </a:solidFill>
                <a:latin typeface="Questrial"/>
                <a:ea typeface="Questrial"/>
                <a:cs typeface="Questrial"/>
                <a:sym typeface="Questrial"/>
              </a:rPr>
              <a:t>Table of contents</a:t>
            </a:r>
            <a:endParaRPr b="1" sz="4800">
              <a:solidFill>
                <a:srgbClr val="0B87A1"/>
              </a:solidFill>
              <a:latin typeface="Questrial"/>
              <a:ea typeface="Questrial"/>
              <a:cs typeface="Questrial"/>
              <a:sym typeface="Quest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pic>
        <p:nvPicPr>
          <p:cNvPr id="453" name="Google Shape;453;g3b0aa6bf6d9_0_43"/>
          <p:cNvPicPr preferRelativeResize="0"/>
          <p:nvPr/>
        </p:nvPicPr>
        <p:blipFill rotWithShape="1">
          <a:blip r:embed="rId3">
            <a:alphaModFix/>
          </a:blip>
          <a:srcRect b="0" l="0" r="0" t="0"/>
          <a:stretch/>
        </p:blipFill>
        <p:spPr>
          <a:xfrm>
            <a:off x="2616200" y="108407"/>
            <a:ext cx="6020099" cy="674959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457" name="Shape 457"/>
        <p:cNvGrpSpPr/>
        <p:nvPr/>
      </p:nvGrpSpPr>
      <p:grpSpPr>
        <a:xfrm>
          <a:off x="0" y="0"/>
          <a:ext cx="0" cy="0"/>
          <a:chOff x="0" y="0"/>
          <a:chExt cx="0" cy="0"/>
        </a:xfrm>
      </p:grpSpPr>
      <p:sp>
        <p:nvSpPr>
          <p:cNvPr id="458" name="Google Shape;458;g3b0aa6bf6d9_0_47"/>
          <p:cNvSpPr txBox="1"/>
          <p:nvPr/>
        </p:nvSpPr>
        <p:spPr>
          <a:xfrm>
            <a:off x="119133" y="1345000"/>
            <a:ext cx="6937500" cy="64032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40000">
                <a:solidFill>
                  <a:srgbClr val="ABD2D5"/>
                </a:solidFill>
                <a:latin typeface="Questrial"/>
                <a:ea typeface="Questrial"/>
                <a:cs typeface="Questrial"/>
                <a:sym typeface="Questrial"/>
              </a:rPr>
              <a:t>4.</a:t>
            </a:r>
            <a:endParaRPr b="1" sz="40000">
              <a:solidFill>
                <a:srgbClr val="ABD2D5"/>
              </a:solidFill>
              <a:latin typeface="Questrial"/>
              <a:ea typeface="Questrial"/>
              <a:cs typeface="Questrial"/>
              <a:sym typeface="Questrial"/>
            </a:endParaRPr>
          </a:p>
        </p:txBody>
      </p:sp>
      <p:sp>
        <p:nvSpPr>
          <p:cNvPr id="459" name="Google Shape;459;g3b0aa6bf6d9_0_47"/>
          <p:cNvSpPr txBox="1"/>
          <p:nvPr/>
        </p:nvSpPr>
        <p:spPr>
          <a:xfrm>
            <a:off x="4779233" y="2845767"/>
            <a:ext cx="6937500" cy="35709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If your report contains several tables and figures, you will need to provide a list of illustrations.</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This list can be included below your table of contents, if there is room on the page, or on a separate page.</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As with the table of contents, your list of illustrations must be clear and informative.</a:t>
            </a:r>
            <a:endParaRPr sz="2400">
              <a:solidFill>
                <a:schemeClr val="dk2"/>
              </a:solidFill>
              <a:latin typeface="Questrial"/>
              <a:ea typeface="Questrial"/>
              <a:cs typeface="Questrial"/>
              <a:sym typeface="Questrial"/>
            </a:endParaRPr>
          </a:p>
        </p:txBody>
      </p:sp>
      <p:sp>
        <p:nvSpPr>
          <p:cNvPr id="460" name="Google Shape;460;g3b0aa6bf6d9_0_47"/>
          <p:cNvSpPr txBox="1"/>
          <p:nvPr>
            <p:ph idx="1" type="body"/>
          </p:nvPr>
        </p:nvSpPr>
        <p:spPr>
          <a:xfrm>
            <a:off x="241633" y="230233"/>
            <a:ext cx="11475300" cy="806700"/>
          </a:xfrm>
          <a:prstGeom prst="rect">
            <a:avLst/>
          </a:prstGeom>
          <a:noFill/>
          <a:ln>
            <a:noFill/>
          </a:ln>
        </p:spPr>
        <p:txBody>
          <a:bodyPr anchorCtr="0" anchor="t" bIns="121900" lIns="121900" spcFirstLastPara="1" rIns="121900" wrap="square" tIns="121900">
            <a:normAutofit fontScale="92500" lnSpcReduction="20000"/>
          </a:bodyPr>
          <a:lstStyle/>
          <a:p>
            <a:pPr indent="0" lvl="0" marL="0" rtl="0" algn="l">
              <a:lnSpc>
                <a:spcPct val="100000"/>
              </a:lnSpc>
              <a:spcBef>
                <a:spcPts val="500"/>
              </a:spcBef>
              <a:spcAft>
                <a:spcPts val="0"/>
              </a:spcAft>
              <a:buSzPct val="50000"/>
              <a:buNone/>
            </a:pPr>
            <a:r>
              <a:rPr b="1" lang="en-US" sz="4800">
                <a:solidFill>
                  <a:srgbClr val="0B87A1"/>
                </a:solidFill>
                <a:latin typeface="Questrial"/>
                <a:ea typeface="Questrial"/>
                <a:cs typeface="Questrial"/>
                <a:sym typeface="Questrial"/>
              </a:rPr>
              <a:t>List of illustrations</a:t>
            </a:r>
            <a:endParaRPr b="1" sz="4800">
              <a:solidFill>
                <a:srgbClr val="0B87A1"/>
              </a:solidFill>
              <a:latin typeface="Questrial"/>
              <a:ea typeface="Questrial"/>
              <a:cs typeface="Questrial"/>
              <a:sym typeface="Quest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464" name="Shape 464"/>
        <p:cNvGrpSpPr/>
        <p:nvPr/>
      </p:nvGrpSpPr>
      <p:grpSpPr>
        <a:xfrm>
          <a:off x="0" y="0"/>
          <a:ext cx="0" cy="0"/>
          <a:chOff x="0" y="0"/>
          <a:chExt cx="0" cy="0"/>
        </a:xfrm>
      </p:grpSpPr>
      <p:sp>
        <p:nvSpPr>
          <p:cNvPr id="465" name="Google Shape;465;g3b0aa6bf6d9_0_53"/>
          <p:cNvSpPr txBox="1"/>
          <p:nvPr/>
        </p:nvSpPr>
        <p:spPr>
          <a:xfrm>
            <a:off x="119133" y="1345000"/>
            <a:ext cx="6937500" cy="64032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40000">
                <a:solidFill>
                  <a:srgbClr val="ABD2D5"/>
                </a:solidFill>
                <a:latin typeface="Questrial"/>
                <a:ea typeface="Questrial"/>
                <a:cs typeface="Questrial"/>
                <a:sym typeface="Questrial"/>
              </a:rPr>
              <a:t>3.</a:t>
            </a:r>
            <a:endParaRPr b="1" sz="40000">
              <a:solidFill>
                <a:srgbClr val="ABD2D5"/>
              </a:solidFill>
              <a:latin typeface="Questrial"/>
              <a:ea typeface="Questrial"/>
              <a:cs typeface="Questrial"/>
              <a:sym typeface="Questrial"/>
            </a:endParaRPr>
          </a:p>
        </p:txBody>
      </p:sp>
      <p:sp>
        <p:nvSpPr>
          <p:cNvPr id="466" name="Google Shape;466;g3b0aa6bf6d9_0_53"/>
          <p:cNvSpPr txBox="1"/>
          <p:nvPr/>
        </p:nvSpPr>
        <p:spPr>
          <a:xfrm>
            <a:off x="4779233" y="1836700"/>
            <a:ext cx="6937500" cy="46791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2400">
                <a:solidFill>
                  <a:schemeClr val="dk2"/>
                </a:solidFill>
                <a:latin typeface="Questrial"/>
                <a:ea typeface="Questrial"/>
                <a:cs typeface="Questrial"/>
                <a:sym typeface="Questrial"/>
              </a:rPr>
              <a:t>An effective table of contents fleshes out the details, so your readers know exactly what is covered in each section – saves their time and helps them find the information they want and need.</a:t>
            </a:r>
            <a:endParaRPr b="1" sz="2400">
              <a:solidFill>
                <a:schemeClr val="dk2"/>
              </a:solidFill>
              <a:latin typeface="Questrial"/>
              <a:ea typeface="Questrial"/>
              <a:cs typeface="Questrial"/>
              <a:sym typeface="Questrial"/>
            </a:endParaRPr>
          </a:p>
          <a:p>
            <a:pPr indent="0" lvl="0" marL="0" rtl="0" algn="l">
              <a:spcBef>
                <a:spcPts val="0"/>
              </a:spcBef>
              <a:spcAft>
                <a:spcPts val="0"/>
              </a:spcAft>
              <a:buNone/>
            </a:pPr>
            <a:r>
              <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It acts as an outline</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It should be a complete and accurate listing of the main and minor topics covered in the report.</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You don’t want just a brief and sketchy outline of major headings.</a:t>
            </a:r>
            <a:endParaRPr sz="2400">
              <a:solidFill>
                <a:schemeClr val="dk2"/>
              </a:solidFill>
              <a:latin typeface="Questrial"/>
              <a:ea typeface="Questrial"/>
              <a:cs typeface="Questrial"/>
              <a:sym typeface="Questrial"/>
            </a:endParaRPr>
          </a:p>
        </p:txBody>
      </p:sp>
      <p:sp>
        <p:nvSpPr>
          <p:cNvPr id="467" name="Google Shape;467;g3b0aa6bf6d9_0_53"/>
          <p:cNvSpPr txBox="1"/>
          <p:nvPr>
            <p:ph idx="1" type="body"/>
          </p:nvPr>
        </p:nvSpPr>
        <p:spPr>
          <a:xfrm>
            <a:off x="241633" y="230233"/>
            <a:ext cx="11475300" cy="806700"/>
          </a:xfrm>
          <a:prstGeom prst="rect">
            <a:avLst/>
          </a:prstGeom>
          <a:noFill/>
          <a:ln>
            <a:noFill/>
          </a:ln>
        </p:spPr>
        <p:txBody>
          <a:bodyPr anchorCtr="0" anchor="t" bIns="121900" lIns="121900" spcFirstLastPara="1" rIns="121900" wrap="square" tIns="121900">
            <a:normAutofit fontScale="92500" lnSpcReduction="20000"/>
          </a:bodyPr>
          <a:lstStyle/>
          <a:p>
            <a:pPr indent="0" lvl="0" marL="0" rtl="0" algn="l">
              <a:lnSpc>
                <a:spcPct val="100000"/>
              </a:lnSpc>
              <a:spcBef>
                <a:spcPts val="500"/>
              </a:spcBef>
              <a:spcAft>
                <a:spcPts val="0"/>
              </a:spcAft>
              <a:buSzPct val="50000"/>
              <a:buNone/>
            </a:pPr>
            <a:r>
              <a:rPr b="1" lang="en-US" sz="4800">
                <a:solidFill>
                  <a:srgbClr val="0B87A1"/>
                </a:solidFill>
                <a:latin typeface="Questrial"/>
                <a:ea typeface="Questrial"/>
                <a:cs typeface="Questrial"/>
                <a:sym typeface="Questrial"/>
              </a:rPr>
              <a:t>Table of contents</a:t>
            </a:r>
            <a:endParaRPr b="1" sz="4800">
              <a:solidFill>
                <a:srgbClr val="0B87A1"/>
              </a:solidFill>
              <a:latin typeface="Questrial"/>
              <a:ea typeface="Questrial"/>
              <a:cs typeface="Questrial"/>
              <a:sym typeface="Quest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471" name="Shape 471"/>
        <p:cNvGrpSpPr/>
        <p:nvPr/>
      </p:nvGrpSpPr>
      <p:grpSpPr>
        <a:xfrm>
          <a:off x="0" y="0"/>
          <a:ext cx="0" cy="0"/>
          <a:chOff x="0" y="0"/>
          <a:chExt cx="0" cy="0"/>
        </a:xfrm>
      </p:grpSpPr>
      <p:sp>
        <p:nvSpPr>
          <p:cNvPr id="472" name="Google Shape;472;g3b0aa6bf6d9_0_59"/>
          <p:cNvSpPr txBox="1"/>
          <p:nvPr/>
        </p:nvSpPr>
        <p:spPr>
          <a:xfrm>
            <a:off x="119133" y="1345000"/>
            <a:ext cx="6937500" cy="64032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40000">
                <a:solidFill>
                  <a:srgbClr val="ABD2D5"/>
                </a:solidFill>
                <a:latin typeface="Questrial"/>
                <a:ea typeface="Questrial"/>
                <a:cs typeface="Questrial"/>
                <a:sym typeface="Questrial"/>
              </a:rPr>
              <a:t>5.</a:t>
            </a:r>
            <a:endParaRPr b="1" sz="40000">
              <a:solidFill>
                <a:srgbClr val="ABD2D5"/>
              </a:solidFill>
              <a:latin typeface="Questrial"/>
              <a:ea typeface="Questrial"/>
              <a:cs typeface="Questrial"/>
              <a:sym typeface="Questrial"/>
            </a:endParaRPr>
          </a:p>
        </p:txBody>
      </p:sp>
      <p:sp>
        <p:nvSpPr>
          <p:cNvPr id="473" name="Google Shape;473;g3b0aa6bf6d9_0_59"/>
          <p:cNvSpPr txBox="1"/>
          <p:nvPr>
            <p:ph idx="1" type="body"/>
          </p:nvPr>
        </p:nvSpPr>
        <p:spPr>
          <a:xfrm>
            <a:off x="241633" y="230233"/>
            <a:ext cx="11475300" cy="806700"/>
          </a:xfrm>
          <a:prstGeom prst="rect">
            <a:avLst/>
          </a:prstGeom>
          <a:noFill/>
          <a:ln>
            <a:noFill/>
          </a:ln>
        </p:spPr>
        <p:txBody>
          <a:bodyPr anchorCtr="0" anchor="t" bIns="121900" lIns="121900" spcFirstLastPara="1" rIns="121900" wrap="square" tIns="121900">
            <a:normAutofit fontScale="92500" lnSpcReduction="20000"/>
          </a:bodyPr>
          <a:lstStyle/>
          <a:p>
            <a:pPr indent="0" lvl="0" marL="0" rtl="0" algn="l">
              <a:lnSpc>
                <a:spcPct val="100000"/>
              </a:lnSpc>
              <a:spcBef>
                <a:spcPts val="500"/>
              </a:spcBef>
              <a:spcAft>
                <a:spcPts val="0"/>
              </a:spcAft>
              <a:buSzPct val="50000"/>
              <a:buNone/>
            </a:pPr>
            <a:r>
              <a:rPr b="1" lang="en-US" sz="4800">
                <a:solidFill>
                  <a:srgbClr val="0B87A1"/>
                </a:solidFill>
                <a:latin typeface="Questrial"/>
                <a:ea typeface="Questrial"/>
                <a:cs typeface="Questrial"/>
                <a:sym typeface="Questrial"/>
              </a:rPr>
              <a:t>Executive summary / Abstract</a:t>
            </a:r>
            <a:endParaRPr b="1" sz="4800">
              <a:solidFill>
                <a:srgbClr val="0B87A1"/>
              </a:solidFill>
              <a:latin typeface="Questrial"/>
              <a:ea typeface="Questrial"/>
              <a:cs typeface="Questrial"/>
              <a:sym typeface="Questrial"/>
            </a:endParaRPr>
          </a:p>
        </p:txBody>
      </p:sp>
      <p:sp>
        <p:nvSpPr>
          <p:cNvPr id="474" name="Google Shape;474;g3b0aa6bf6d9_0_59"/>
          <p:cNvSpPr txBox="1"/>
          <p:nvPr/>
        </p:nvSpPr>
        <p:spPr>
          <a:xfrm>
            <a:off x="4779233" y="2187600"/>
            <a:ext cx="6937500" cy="43098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2400">
                <a:solidFill>
                  <a:schemeClr val="dk2"/>
                </a:solidFill>
                <a:latin typeface="Questrial"/>
                <a:ea typeface="Questrial"/>
                <a:cs typeface="Questrial"/>
                <a:sym typeface="Questrial"/>
              </a:rPr>
              <a:t>The abstract is a brief overview of the report’s key points geared towards a varied audience from a low-tech reader to managers, supervisors, and highly placed executives.</a:t>
            </a:r>
            <a:endParaRPr b="1" sz="2400">
              <a:solidFill>
                <a:schemeClr val="dk2"/>
              </a:solidFill>
              <a:latin typeface="Questrial"/>
              <a:ea typeface="Questrial"/>
              <a:cs typeface="Questrial"/>
              <a:sym typeface="Questrial"/>
            </a:endParaRPr>
          </a:p>
          <a:p>
            <a:pPr indent="0" lvl="0" marL="0" rtl="0" algn="l">
              <a:spcBef>
                <a:spcPts val="0"/>
              </a:spcBef>
              <a:spcAft>
                <a:spcPts val="0"/>
              </a:spcAft>
              <a:buNone/>
            </a:pPr>
            <a:r>
              <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They need your help in two ways:</a:t>
            </a:r>
            <a:endParaRPr sz="2400">
              <a:solidFill>
                <a:schemeClr val="dk2"/>
              </a:solidFill>
              <a:latin typeface="Questrial"/>
              <a:ea typeface="Questrial"/>
              <a:cs typeface="Questrial"/>
              <a:sym typeface="Questrial"/>
            </a:endParaRPr>
          </a:p>
          <a:p>
            <a:pPr indent="-450850" lvl="1" marL="12192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They need information quickly</a:t>
            </a:r>
            <a:endParaRPr sz="2400">
              <a:solidFill>
                <a:schemeClr val="dk2"/>
              </a:solidFill>
              <a:latin typeface="Questrial"/>
              <a:ea typeface="Questrial"/>
              <a:cs typeface="Questrial"/>
              <a:sym typeface="Questrial"/>
            </a:endParaRPr>
          </a:p>
          <a:p>
            <a:pPr indent="-450850" lvl="1" marL="12192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They need it presented in an understandable terminology</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You can achieve both these objectives through an abstract or executive summary.</a:t>
            </a:r>
            <a:endParaRPr sz="2400">
              <a:solidFill>
                <a:schemeClr val="dk2"/>
              </a:solidFill>
              <a:latin typeface="Questrial"/>
              <a:ea typeface="Questrial"/>
              <a:cs typeface="Questrial"/>
              <a:sym typeface="Quest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478" name="Shape 478"/>
        <p:cNvGrpSpPr/>
        <p:nvPr/>
      </p:nvGrpSpPr>
      <p:grpSpPr>
        <a:xfrm>
          <a:off x="0" y="0"/>
          <a:ext cx="0" cy="0"/>
          <a:chOff x="0" y="0"/>
          <a:chExt cx="0" cy="0"/>
        </a:xfrm>
      </p:grpSpPr>
      <p:sp>
        <p:nvSpPr>
          <p:cNvPr id="479" name="Google Shape;479;g3b0aa6bf6d9_0_65"/>
          <p:cNvSpPr txBox="1"/>
          <p:nvPr/>
        </p:nvSpPr>
        <p:spPr>
          <a:xfrm>
            <a:off x="119133" y="1345000"/>
            <a:ext cx="6937500" cy="64032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40000">
                <a:solidFill>
                  <a:srgbClr val="ABD2D5"/>
                </a:solidFill>
                <a:latin typeface="Questrial"/>
                <a:ea typeface="Questrial"/>
                <a:cs typeface="Questrial"/>
                <a:sym typeface="Questrial"/>
              </a:rPr>
              <a:t>6.</a:t>
            </a:r>
            <a:endParaRPr b="1" sz="40000">
              <a:solidFill>
                <a:srgbClr val="ABD2D5"/>
              </a:solidFill>
              <a:latin typeface="Questrial"/>
              <a:ea typeface="Questrial"/>
              <a:cs typeface="Questrial"/>
              <a:sym typeface="Questrial"/>
            </a:endParaRPr>
          </a:p>
        </p:txBody>
      </p:sp>
      <p:sp>
        <p:nvSpPr>
          <p:cNvPr id="480" name="Google Shape;480;g3b0aa6bf6d9_0_65"/>
          <p:cNvSpPr txBox="1"/>
          <p:nvPr>
            <p:ph idx="1" type="body"/>
          </p:nvPr>
        </p:nvSpPr>
        <p:spPr>
          <a:xfrm>
            <a:off x="241633" y="230233"/>
            <a:ext cx="11475300" cy="806700"/>
          </a:xfrm>
          <a:prstGeom prst="rect">
            <a:avLst/>
          </a:prstGeom>
          <a:noFill/>
          <a:ln>
            <a:noFill/>
          </a:ln>
        </p:spPr>
        <p:txBody>
          <a:bodyPr anchorCtr="0" anchor="t" bIns="121900" lIns="121900" spcFirstLastPara="1" rIns="121900" wrap="square" tIns="121900">
            <a:normAutofit fontScale="92500" lnSpcReduction="20000"/>
          </a:bodyPr>
          <a:lstStyle/>
          <a:p>
            <a:pPr indent="0" lvl="0" marL="0" rtl="0" algn="l">
              <a:lnSpc>
                <a:spcPct val="100000"/>
              </a:lnSpc>
              <a:spcBef>
                <a:spcPts val="500"/>
              </a:spcBef>
              <a:spcAft>
                <a:spcPts val="0"/>
              </a:spcAft>
              <a:buSzPct val="50000"/>
              <a:buNone/>
            </a:pPr>
            <a:r>
              <a:rPr b="1" lang="en-US" sz="4800">
                <a:solidFill>
                  <a:srgbClr val="0B87A1"/>
                </a:solidFill>
                <a:latin typeface="Questrial"/>
                <a:ea typeface="Questrial"/>
                <a:cs typeface="Questrial"/>
                <a:sym typeface="Questrial"/>
              </a:rPr>
              <a:t>Introduction</a:t>
            </a:r>
            <a:endParaRPr b="1" sz="4800">
              <a:solidFill>
                <a:srgbClr val="0B87A1"/>
              </a:solidFill>
              <a:latin typeface="Questrial"/>
              <a:ea typeface="Questrial"/>
              <a:cs typeface="Questrial"/>
              <a:sym typeface="Questrial"/>
            </a:endParaRPr>
          </a:p>
        </p:txBody>
      </p:sp>
      <p:sp>
        <p:nvSpPr>
          <p:cNvPr id="481" name="Google Shape;481;g3b0aa6bf6d9_0_65"/>
          <p:cNvSpPr txBox="1"/>
          <p:nvPr/>
        </p:nvSpPr>
        <p:spPr>
          <a:xfrm>
            <a:off x="4779233" y="2576400"/>
            <a:ext cx="6937500" cy="39405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2400">
                <a:solidFill>
                  <a:schemeClr val="dk2"/>
                </a:solidFill>
                <a:latin typeface="Questrial"/>
                <a:ea typeface="Questrial"/>
                <a:cs typeface="Questrial"/>
                <a:sym typeface="Questrial"/>
              </a:rPr>
              <a:t>Introduction welcomes the readers and tells them what to expect, it is not a summary but a opening</a:t>
            </a:r>
            <a:endParaRPr b="1" sz="2400">
              <a:solidFill>
                <a:schemeClr val="dk2"/>
              </a:solidFill>
              <a:latin typeface="Questrial"/>
              <a:ea typeface="Questrial"/>
              <a:cs typeface="Questrial"/>
              <a:sym typeface="Questrial"/>
            </a:endParaRPr>
          </a:p>
          <a:p>
            <a:pPr indent="0" lvl="0" marL="0" rtl="0" algn="l">
              <a:spcBef>
                <a:spcPts val="0"/>
              </a:spcBef>
              <a:spcAft>
                <a:spcPts val="0"/>
              </a:spcAft>
              <a:buNone/>
            </a:pPr>
            <a:r>
              <a:t/>
            </a:r>
            <a:endParaRPr sz="2400">
              <a:solidFill>
                <a:schemeClr val="dk2"/>
              </a:solidFill>
              <a:latin typeface="Questrial"/>
              <a:ea typeface="Questrial"/>
              <a:cs typeface="Questrial"/>
              <a:sym typeface="Questrial"/>
            </a:endParaRPr>
          </a:p>
          <a:p>
            <a:pPr indent="0" lvl="0" marL="0" rtl="0" algn="l">
              <a:spcBef>
                <a:spcPts val="0"/>
              </a:spcBef>
              <a:spcAft>
                <a:spcPts val="0"/>
              </a:spcAft>
              <a:buNone/>
            </a:pPr>
            <a:r>
              <a:rPr lang="en-US" sz="2400">
                <a:solidFill>
                  <a:schemeClr val="dk2"/>
                </a:solidFill>
                <a:latin typeface="Questrial"/>
                <a:ea typeface="Questrial"/>
                <a:cs typeface="Questrial"/>
                <a:sym typeface="Questrial"/>
              </a:rPr>
              <a:t>Give information on, the report’s:</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u="sng">
                <a:solidFill>
                  <a:schemeClr val="dk2"/>
                </a:solidFill>
                <a:latin typeface="Questrial"/>
                <a:ea typeface="Questrial"/>
                <a:cs typeface="Questrial"/>
                <a:sym typeface="Questrial"/>
              </a:rPr>
              <a:t>Purpose</a:t>
            </a:r>
            <a:r>
              <a:rPr lang="en-US" sz="2400">
                <a:solidFill>
                  <a:schemeClr val="dk2"/>
                </a:solidFill>
                <a:latin typeface="Questrial"/>
                <a:ea typeface="Questrial"/>
                <a:cs typeface="Questrial"/>
                <a:sym typeface="Questrial"/>
              </a:rPr>
              <a:t>: State your purpose, as the first part of the introduction</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u="sng">
                <a:solidFill>
                  <a:schemeClr val="dk2"/>
                </a:solidFill>
                <a:latin typeface="Questrial"/>
                <a:ea typeface="Questrial"/>
                <a:cs typeface="Questrial"/>
                <a:sym typeface="Questrial"/>
              </a:rPr>
              <a:t>Scope</a:t>
            </a:r>
            <a:r>
              <a:rPr lang="en-US" sz="2400">
                <a:solidFill>
                  <a:schemeClr val="dk2"/>
                </a:solidFill>
                <a:latin typeface="Questrial"/>
                <a:ea typeface="Questrial"/>
                <a:cs typeface="Questrial"/>
                <a:sym typeface="Questrial"/>
              </a:rPr>
              <a:t>: detail and description of your project should be written clearly</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u="sng">
                <a:solidFill>
                  <a:schemeClr val="dk2"/>
                </a:solidFill>
                <a:latin typeface="Questrial"/>
                <a:ea typeface="Questrial"/>
                <a:cs typeface="Questrial"/>
                <a:sym typeface="Questrial"/>
              </a:rPr>
              <a:t>Format</a:t>
            </a:r>
            <a:r>
              <a:rPr lang="en-US" sz="2400">
                <a:solidFill>
                  <a:schemeClr val="dk2"/>
                </a:solidFill>
                <a:latin typeface="Questrial"/>
                <a:ea typeface="Questrial"/>
                <a:cs typeface="Questrial"/>
                <a:sym typeface="Questrial"/>
              </a:rPr>
              <a:t>: a brief preview of the main sections that follow</a:t>
            </a:r>
            <a:endParaRPr sz="2400">
              <a:solidFill>
                <a:schemeClr val="dk2"/>
              </a:solidFill>
              <a:latin typeface="Questrial"/>
              <a:ea typeface="Questrial"/>
              <a:cs typeface="Questrial"/>
              <a:sym typeface="Quest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485" name="Shape 485"/>
        <p:cNvGrpSpPr/>
        <p:nvPr/>
      </p:nvGrpSpPr>
      <p:grpSpPr>
        <a:xfrm>
          <a:off x="0" y="0"/>
          <a:ext cx="0" cy="0"/>
          <a:chOff x="0" y="0"/>
          <a:chExt cx="0" cy="0"/>
        </a:xfrm>
      </p:grpSpPr>
      <p:sp>
        <p:nvSpPr>
          <p:cNvPr id="486" name="Google Shape;486;g3b0aa6bf6d9_0_71"/>
          <p:cNvSpPr txBox="1"/>
          <p:nvPr/>
        </p:nvSpPr>
        <p:spPr>
          <a:xfrm>
            <a:off x="119133" y="1345000"/>
            <a:ext cx="6937500" cy="64032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40000">
                <a:solidFill>
                  <a:srgbClr val="ABD2D5"/>
                </a:solidFill>
                <a:latin typeface="Questrial"/>
                <a:ea typeface="Questrial"/>
                <a:cs typeface="Questrial"/>
                <a:sym typeface="Questrial"/>
              </a:rPr>
              <a:t>7.</a:t>
            </a:r>
            <a:endParaRPr b="1" sz="40000">
              <a:solidFill>
                <a:srgbClr val="ABD2D5"/>
              </a:solidFill>
              <a:latin typeface="Questrial"/>
              <a:ea typeface="Questrial"/>
              <a:cs typeface="Questrial"/>
              <a:sym typeface="Questrial"/>
            </a:endParaRPr>
          </a:p>
        </p:txBody>
      </p:sp>
      <p:sp>
        <p:nvSpPr>
          <p:cNvPr id="487" name="Google Shape;487;g3b0aa6bf6d9_0_71"/>
          <p:cNvSpPr txBox="1"/>
          <p:nvPr>
            <p:ph idx="1" type="body"/>
          </p:nvPr>
        </p:nvSpPr>
        <p:spPr>
          <a:xfrm>
            <a:off x="241633" y="230233"/>
            <a:ext cx="11475300" cy="806700"/>
          </a:xfrm>
          <a:prstGeom prst="rect">
            <a:avLst/>
          </a:prstGeom>
          <a:noFill/>
          <a:ln>
            <a:noFill/>
          </a:ln>
        </p:spPr>
        <p:txBody>
          <a:bodyPr anchorCtr="0" anchor="t" bIns="121900" lIns="121900" spcFirstLastPara="1" rIns="121900" wrap="square" tIns="121900">
            <a:normAutofit fontScale="92500" lnSpcReduction="20000"/>
          </a:bodyPr>
          <a:lstStyle/>
          <a:p>
            <a:pPr indent="0" lvl="0" marL="0" rtl="0" algn="l">
              <a:lnSpc>
                <a:spcPct val="100000"/>
              </a:lnSpc>
              <a:spcBef>
                <a:spcPts val="500"/>
              </a:spcBef>
              <a:spcAft>
                <a:spcPts val="0"/>
              </a:spcAft>
              <a:buSzPct val="50000"/>
              <a:buNone/>
            </a:pPr>
            <a:r>
              <a:rPr b="1" lang="en-US" sz="4800">
                <a:solidFill>
                  <a:srgbClr val="0B87A1"/>
                </a:solidFill>
                <a:latin typeface="Questrial"/>
                <a:ea typeface="Questrial"/>
                <a:cs typeface="Questrial"/>
                <a:sym typeface="Questrial"/>
              </a:rPr>
              <a:t>Body | Discussion sections</a:t>
            </a:r>
            <a:endParaRPr b="1" sz="4800">
              <a:solidFill>
                <a:srgbClr val="0B87A1"/>
              </a:solidFill>
              <a:latin typeface="Questrial"/>
              <a:ea typeface="Questrial"/>
              <a:cs typeface="Questrial"/>
              <a:sym typeface="Questrial"/>
            </a:endParaRPr>
          </a:p>
        </p:txBody>
      </p:sp>
      <p:sp>
        <p:nvSpPr>
          <p:cNvPr id="488" name="Google Shape;488;g3b0aa6bf6d9_0_71"/>
          <p:cNvSpPr txBox="1"/>
          <p:nvPr/>
        </p:nvSpPr>
        <p:spPr>
          <a:xfrm>
            <a:off x="4779233" y="5462867"/>
            <a:ext cx="6937500" cy="9852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2400">
                <a:solidFill>
                  <a:schemeClr val="dk2"/>
                </a:solidFill>
                <a:latin typeface="Questrial"/>
                <a:ea typeface="Questrial"/>
                <a:cs typeface="Questrial"/>
                <a:sym typeface="Questrial"/>
              </a:rPr>
              <a:t>This will be the body of your report and respond to the objective. </a:t>
            </a:r>
            <a:endParaRPr sz="2400">
              <a:solidFill>
                <a:schemeClr val="dk2"/>
              </a:solidFill>
              <a:latin typeface="Questrial"/>
              <a:ea typeface="Questrial"/>
              <a:cs typeface="Questrial"/>
              <a:sym typeface="Quest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492" name="Shape 492"/>
        <p:cNvGrpSpPr/>
        <p:nvPr/>
      </p:nvGrpSpPr>
      <p:grpSpPr>
        <a:xfrm>
          <a:off x="0" y="0"/>
          <a:ext cx="0" cy="0"/>
          <a:chOff x="0" y="0"/>
          <a:chExt cx="0" cy="0"/>
        </a:xfrm>
      </p:grpSpPr>
      <p:sp>
        <p:nvSpPr>
          <p:cNvPr id="493" name="Google Shape;493;g3b0aa6bf6d9_0_77"/>
          <p:cNvSpPr txBox="1"/>
          <p:nvPr/>
        </p:nvSpPr>
        <p:spPr>
          <a:xfrm>
            <a:off x="119133" y="1345000"/>
            <a:ext cx="6937500" cy="64032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40000">
                <a:solidFill>
                  <a:srgbClr val="ABD2D5"/>
                </a:solidFill>
                <a:latin typeface="Questrial"/>
                <a:ea typeface="Questrial"/>
                <a:cs typeface="Questrial"/>
                <a:sym typeface="Questrial"/>
              </a:rPr>
              <a:t>8.</a:t>
            </a:r>
            <a:endParaRPr b="1" sz="40000">
              <a:solidFill>
                <a:srgbClr val="ABD2D5"/>
              </a:solidFill>
              <a:latin typeface="Questrial"/>
              <a:ea typeface="Questrial"/>
              <a:cs typeface="Questrial"/>
              <a:sym typeface="Questrial"/>
            </a:endParaRPr>
          </a:p>
        </p:txBody>
      </p:sp>
      <p:sp>
        <p:nvSpPr>
          <p:cNvPr id="494" name="Google Shape;494;g3b0aa6bf6d9_0_77"/>
          <p:cNvSpPr txBox="1"/>
          <p:nvPr>
            <p:ph idx="1" type="body"/>
          </p:nvPr>
        </p:nvSpPr>
        <p:spPr>
          <a:xfrm>
            <a:off x="241633" y="230233"/>
            <a:ext cx="11475300" cy="806700"/>
          </a:xfrm>
          <a:prstGeom prst="rect">
            <a:avLst/>
          </a:prstGeom>
          <a:noFill/>
          <a:ln>
            <a:noFill/>
          </a:ln>
        </p:spPr>
        <p:txBody>
          <a:bodyPr anchorCtr="0" anchor="t" bIns="121900" lIns="121900" spcFirstLastPara="1" rIns="121900" wrap="square" tIns="121900">
            <a:normAutofit fontScale="92500" lnSpcReduction="20000"/>
          </a:bodyPr>
          <a:lstStyle/>
          <a:p>
            <a:pPr indent="0" lvl="0" marL="0" rtl="0" algn="l">
              <a:lnSpc>
                <a:spcPct val="100000"/>
              </a:lnSpc>
              <a:spcBef>
                <a:spcPts val="500"/>
              </a:spcBef>
              <a:spcAft>
                <a:spcPts val="0"/>
              </a:spcAft>
              <a:buSzPct val="50000"/>
              <a:buNone/>
            </a:pPr>
            <a:r>
              <a:rPr b="1" lang="en-US" sz="4800">
                <a:solidFill>
                  <a:srgbClr val="0B87A1"/>
                </a:solidFill>
                <a:latin typeface="Questrial"/>
                <a:ea typeface="Questrial"/>
                <a:cs typeface="Questrial"/>
                <a:sym typeface="Questrial"/>
              </a:rPr>
              <a:t>Conclusions [</a:t>
            </a:r>
            <a:r>
              <a:rPr lang="en-US" sz="4800">
                <a:solidFill>
                  <a:srgbClr val="0B87A1"/>
                </a:solidFill>
                <a:latin typeface="Questrial"/>
                <a:ea typeface="Questrial"/>
                <a:cs typeface="Questrial"/>
                <a:sym typeface="Questrial"/>
              </a:rPr>
              <a:t>and recommendations, if any</a:t>
            </a:r>
            <a:r>
              <a:rPr b="1" lang="en-US" sz="4800">
                <a:solidFill>
                  <a:srgbClr val="0B87A1"/>
                </a:solidFill>
                <a:latin typeface="Questrial"/>
                <a:ea typeface="Questrial"/>
                <a:cs typeface="Questrial"/>
                <a:sym typeface="Questrial"/>
              </a:rPr>
              <a:t>]</a:t>
            </a:r>
            <a:endParaRPr b="1" sz="4800">
              <a:solidFill>
                <a:srgbClr val="0B87A1"/>
              </a:solidFill>
              <a:latin typeface="Questrial"/>
              <a:ea typeface="Questrial"/>
              <a:cs typeface="Questrial"/>
              <a:sym typeface="Questrial"/>
            </a:endParaRPr>
          </a:p>
        </p:txBody>
      </p:sp>
      <p:sp>
        <p:nvSpPr>
          <p:cNvPr id="495" name="Google Shape;495;g3b0aa6bf6d9_0_77"/>
          <p:cNvSpPr txBox="1"/>
          <p:nvPr/>
        </p:nvSpPr>
        <p:spPr>
          <a:xfrm>
            <a:off x="4779233" y="2576400"/>
            <a:ext cx="6937500" cy="39405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2400">
                <a:solidFill>
                  <a:schemeClr val="dk2"/>
                </a:solidFill>
                <a:latin typeface="Questrial"/>
                <a:ea typeface="Questrial"/>
                <a:cs typeface="Questrial"/>
                <a:sym typeface="Questrial"/>
              </a:rPr>
              <a:t>Based on findings of the report, a closing should be composed outlining the key takeaways for the readers. </a:t>
            </a:r>
            <a:endParaRPr b="1" sz="2400">
              <a:solidFill>
                <a:schemeClr val="dk2"/>
              </a:solidFill>
              <a:latin typeface="Questrial"/>
              <a:ea typeface="Questrial"/>
              <a:cs typeface="Questrial"/>
              <a:sym typeface="Questrial"/>
            </a:endParaRPr>
          </a:p>
          <a:p>
            <a:pPr indent="0" lvl="0" marL="0" rtl="0" algn="l">
              <a:spcBef>
                <a:spcPts val="0"/>
              </a:spcBef>
              <a:spcAft>
                <a:spcPts val="0"/>
              </a:spcAft>
              <a:buNone/>
            </a:pPr>
            <a:r>
              <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Discuss results based on findings of your study.</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Recommendations are actions suggested on the basis of your conclusion.</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Should provide the readers with a sense of closure</a:t>
            </a:r>
            <a:endParaRPr sz="2400">
              <a:solidFill>
                <a:schemeClr val="dk2"/>
              </a:solidFill>
              <a:latin typeface="Questrial"/>
              <a:ea typeface="Questrial"/>
              <a:cs typeface="Questrial"/>
              <a:sym typeface="Quest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499" name="Shape 499"/>
        <p:cNvGrpSpPr/>
        <p:nvPr/>
      </p:nvGrpSpPr>
      <p:grpSpPr>
        <a:xfrm>
          <a:off x="0" y="0"/>
          <a:ext cx="0" cy="0"/>
          <a:chOff x="0" y="0"/>
          <a:chExt cx="0" cy="0"/>
        </a:xfrm>
      </p:grpSpPr>
      <p:sp>
        <p:nvSpPr>
          <p:cNvPr id="500" name="Google Shape;500;g3b0aa6bf6d9_0_83"/>
          <p:cNvSpPr txBox="1"/>
          <p:nvPr/>
        </p:nvSpPr>
        <p:spPr>
          <a:xfrm>
            <a:off x="119133" y="1345000"/>
            <a:ext cx="6937500" cy="64032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40000">
                <a:solidFill>
                  <a:srgbClr val="ABD2D5"/>
                </a:solidFill>
                <a:latin typeface="Questrial"/>
                <a:ea typeface="Questrial"/>
                <a:cs typeface="Questrial"/>
                <a:sym typeface="Questrial"/>
              </a:rPr>
              <a:t>9.</a:t>
            </a:r>
            <a:endParaRPr b="1" sz="40000">
              <a:solidFill>
                <a:srgbClr val="ABD2D5"/>
              </a:solidFill>
              <a:latin typeface="Questrial"/>
              <a:ea typeface="Questrial"/>
              <a:cs typeface="Questrial"/>
              <a:sym typeface="Questrial"/>
            </a:endParaRPr>
          </a:p>
        </p:txBody>
      </p:sp>
      <p:sp>
        <p:nvSpPr>
          <p:cNvPr id="501" name="Google Shape;501;g3b0aa6bf6d9_0_83"/>
          <p:cNvSpPr txBox="1"/>
          <p:nvPr>
            <p:ph idx="1" type="body"/>
          </p:nvPr>
        </p:nvSpPr>
        <p:spPr>
          <a:xfrm>
            <a:off x="241633" y="230233"/>
            <a:ext cx="11475300" cy="806700"/>
          </a:xfrm>
          <a:prstGeom prst="rect">
            <a:avLst/>
          </a:prstGeom>
          <a:noFill/>
          <a:ln>
            <a:noFill/>
          </a:ln>
        </p:spPr>
        <p:txBody>
          <a:bodyPr anchorCtr="0" anchor="t" bIns="121900" lIns="121900" spcFirstLastPara="1" rIns="121900" wrap="square" tIns="121900">
            <a:normAutofit fontScale="92500" lnSpcReduction="20000"/>
          </a:bodyPr>
          <a:lstStyle/>
          <a:p>
            <a:pPr indent="0" lvl="0" marL="0" rtl="0" algn="l">
              <a:lnSpc>
                <a:spcPct val="100000"/>
              </a:lnSpc>
              <a:spcBef>
                <a:spcPts val="500"/>
              </a:spcBef>
              <a:spcAft>
                <a:spcPts val="0"/>
              </a:spcAft>
              <a:buSzPct val="50000"/>
              <a:buNone/>
            </a:pPr>
            <a:r>
              <a:rPr b="1" lang="en-US" sz="4800">
                <a:solidFill>
                  <a:srgbClr val="0B87A1"/>
                </a:solidFill>
                <a:latin typeface="Questrial"/>
                <a:ea typeface="Questrial"/>
                <a:cs typeface="Questrial"/>
                <a:sym typeface="Questrial"/>
              </a:rPr>
              <a:t>End Material - </a:t>
            </a:r>
            <a:r>
              <a:rPr lang="en-US" sz="4800">
                <a:solidFill>
                  <a:srgbClr val="0B87A1"/>
                </a:solidFill>
                <a:latin typeface="Questrial"/>
                <a:ea typeface="Questrial"/>
                <a:cs typeface="Questrial"/>
                <a:sym typeface="Questrial"/>
              </a:rPr>
              <a:t>References </a:t>
            </a:r>
            <a:endParaRPr sz="4800">
              <a:solidFill>
                <a:srgbClr val="0B87A1"/>
              </a:solidFill>
              <a:latin typeface="Questrial"/>
              <a:ea typeface="Questrial"/>
              <a:cs typeface="Questrial"/>
              <a:sym typeface="Questrial"/>
            </a:endParaRPr>
          </a:p>
        </p:txBody>
      </p:sp>
      <p:sp>
        <p:nvSpPr>
          <p:cNvPr id="502" name="Google Shape;502;g3b0aa6bf6d9_0_83"/>
          <p:cNvSpPr txBox="1"/>
          <p:nvPr/>
        </p:nvSpPr>
        <p:spPr>
          <a:xfrm>
            <a:off x="4779233" y="1203667"/>
            <a:ext cx="6937500" cy="54180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US" sz="2400">
                <a:solidFill>
                  <a:srgbClr val="01597F"/>
                </a:solidFill>
                <a:latin typeface="Questrial"/>
                <a:ea typeface="Questrial"/>
                <a:cs typeface="Questrial"/>
                <a:sym typeface="Questrial"/>
              </a:rPr>
              <a:t>The two parts to referencing are:</a:t>
            </a:r>
            <a:endParaRPr sz="2400">
              <a:solidFill>
                <a:srgbClr val="01597F"/>
              </a:solidFill>
              <a:latin typeface="Questrial"/>
              <a:ea typeface="Questrial"/>
              <a:cs typeface="Questrial"/>
              <a:sym typeface="Questrial"/>
            </a:endParaRPr>
          </a:p>
          <a:p>
            <a:pPr indent="-450850" lvl="0" marL="609600" rtl="0" algn="l">
              <a:spcBef>
                <a:spcPts val="0"/>
              </a:spcBef>
              <a:spcAft>
                <a:spcPts val="0"/>
              </a:spcAft>
              <a:buClr>
                <a:srgbClr val="01597F"/>
              </a:buClr>
              <a:buSzPts val="2300"/>
              <a:buFont typeface="Questrial"/>
              <a:buChar char="●"/>
            </a:pPr>
            <a:r>
              <a:rPr b="1" lang="en-US" sz="2400">
                <a:solidFill>
                  <a:srgbClr val="01597F"/>
                </a:solidFill>
                <a:latin typeface="Questrial"/>
                <a:ea typeface="Questrial"/>
                <a:cs typeface="Questrial"/>
                <a:sym typeface="Questrial"/>
              </a:rPr>
              <a:t>citations</a:t>
            </a:r>
            <a:r>
              <a:rPr lang="en-US" sz="2400">
                <a:solidFill>
                  <a:srgbClr val="01597F"/>
                </a:solidFill>
                <a:latin typeface="Questrial"/>
                <a:ea typeface="Questrial"/>
                <a:cs typeface="Questrial"/>
                <a:sym typeface="Questrial"/>
              </a:rPr>
              <a:t> in the text of the report</a:t>
            </a:r>
            <a:endParaRPr sz="2400">
              <a:solidFill>
                <a:srgbClr val="01597F"/>
              </a:solidFill>
              <a:latin typeface="Questrial"/>
              <a:ea typeface="Questrial"/>
              <a:cs typeface="Questrial"/>
              <a:sym typeface="Questrial"/>
            </a:endParaRPr>
          </a:p>
          <a:p>
            <a:pPr indent="-450850" lvl="0" marL="609600" rtl="0" algn="l">
              <a:spcBef>
                <a:spcPts val="0"/>
              </a:spcBef>
              <a:spcAft>
                <a:spcPts val="0"/>
              </a:spcAft>
              <a:buClr>
                <a:srgbClr val="01597F"/>
              </a:buClr>
              <a:buSzPts val="2300"/>
              <a:buFont typeface="Questrial"/>
              <a:buChar char="●"/>
            </a:pPr>
            <a:r>
              <a:rPr lang="en-US" sz="2400">
                <a:solidFill>
                  <a:srgbClr val="01597F"/>
                </a:solidFill>
                <a:latin typeface="Questrial"/>
                <a:ea typeface="Questrial"/>
                <a:cs typeface="Questrial"/>
                <a:sym typeface="Questrial"/>
              </a:rPr>
              <a:t>a </a:t>
            </a:r>
            <a:r>
              <a:rPr b="1" lang="en-US" sz="2400">
                <a:solidFill>
                  <a:srgbClr val="01597F"/>
                </a:solidFill>
                <a:latin typeface="Questrial"/>
                <a:ea typeface="Questrial"/>
                <a:cs typeface="Questrial"/>
                <a:sym typeface="Questrial"/>
              </a:rPr>
              <a:t>list of references</a:t>
            </a:r>
            <a:r>
              <a:rPr lang="en-US" sz="2400">
                <a:solidFill>
                  <a:srgbClr val="01597F"/>
                </a:solidFill>
                <a:latin typeface="Questrial"/>
                <a:ea typeface="Questrial"/>
                <a:cs typeface="Questrial"/>
                <a:sym typeface="Questrial"/>
              </a:rPr>
              <a:t> in the final section</a:t>
            </a:r>
            <a:endParaRPr sz="2400">
              <a:solidFill>
                <a:schemeClr val="dk2"/>
              </a:solidFill>
              <a:latin typeface="Questrial"/>
              <a:ea typeface="Questrial"/>
              <a:cs typeface="Questrial"/>
              <a:sym typeface="Questrial"/>
            </a:endParaRPr>
          </a:p>
          <a:p>
            <a:pPr indent="0" lvl="0" marL="0" rtl="0" algn="l">
              <a:spcBef>
                <a:spcPts val="0"/>
              </a:spcBef>
              <a:spcAft>
                <a:spcPts val="0"/>
              </a:spcAft>
              <a:buNone/>
            </a:pPr>
            <a:r>
              <a:rPr b="1" lang="en-US" sz="2400">
                <a:solidFill>
                  <a:schemeClr val="dk2"/>
                </a:solidFill>
                <a:latin typeface="Questrial"/>
                <a:ea typeface="Questrial"/>
                <a:cs typeface="Questrial"/>
                <a:sym typeface="Questrial"/>
              </a:rPr>
              <a:t>A citation shows that information comes from another source. The reference list gives the details of these sources. </a:t>
            </a:r>
            <a:endParaRPr b="1" sz="2400">
              <a:solidFill>
                <a:schemeClr val="dk2"/>
              </a:solidFill>
              <a:latin typeface="Questrial"/>
              <a:ea typeface="Questrial"/>
              <a:cs typeface="Questrial"/>
              <a:sym typeface="Questrial"/>
            </a:endParaRPr>
          </a:p>
          <a:p>
            <a:pPr indent="0" lvl="0" marL="0" rtl="0" algn="l">
              <a:spcBef>
                <a:spcPts val="0"/>
              </a:spcBef>
              <a:spcAft>
                <a:spcPts val="0"/>
              </a:spcAft>
              <a:buNone/>
            </a:pPr>
            <a:r>
              <a:t/>
            </a:r>
            <a:endParaRPr sz="2400">
              <a:solidFill>
                <a:schemeClr val="dk2"/>
              </a:solidFill>
              <a:latin typeface="Questrial"/>
              <a:ea typeface="Questrial"/>
              <a:cs typeface="Questrial"/>
              <a:sym typeface="Questrial"/>
            </a:endParaRPr>
          </a:p>
          <a:p>
            <a:pPr indent="0" lvl="0" marL="0" rtl="0" algn="l">
              <a:spcBef>
                <a:spcPts val="0"/>
              </a:spcBef>
              <a:spcAft>
                <a:spcPts val="0"/>
              </a:spcAft>
              <a:buNone/>
            </a:pPr>
            <a:r>
              <a:rPr lang="en-US" sz="2400">
                <a:solidFill>
                  <a:schemeClr val="dk2"/>
                </a:solidFill>
                <a:latin typeface="Questrial"/>
                <a:ea typeface="Questrial"/>
                <a:cs typeface="Questrial"/>
                <a:sym typeface="Questrial"/>
              </a:rPr>
              <a:t>You need to use in-text citations and provide details in the references section when:</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you incorporate information from other sources; e.g.:</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factual material</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graphs and tables of data</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pictures and diagrams</a:t>
            </a:r>
            <a:endParaRPr sz="2400">
              <a:solidFill>
                <a:schemeClr val="dk2"/>
              </a:solidFill>
              <a:latin typeface="Questrial"/>
              <a:ea typeface="Questrial"/>
              <a:cs typeface="Questrial"/>
              <a:sym typeface="Quest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506" name="Shape 506"/>
        <p:cNvGrpSpPr/>
        <p:nvPr/>
      </p:nvGrpSpPr>
      <p:grpSpPr>
        <a:xfrm>
          <a:off x="0" y="0"/>
          <a:ext cx="0" cy="0"/>
          <a:chOff x="0" y="0"/>
          <a:chExt cx="0" cy="0"/>
        </a:xfrm>
      </p:grpSpPr>
      <p:sp>
        <p:nvSpPr>
          <p:cNvPr id="507" name="Google Shape;507;g3b0aa6bf6d9_0_89"/>
          <p:cNvSpPr txBox="1"/>
          <p:nvPr/>
        </p:nvSpPr>
        <p:spPr>
          <a:xfrm>
            <a:off x="119133" y="1345000"/>
            <a:ext cx="6937500" cy="64032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b="1" lang="en-US" sz="40000">
                <a:solidFill>
                  <a:srgbClr val="ABD2D5"/>
                </a:solidFill>
                <a:latin typeface="Questrial"/>
                <a:ea typeface="Questrial"/>
                <a:cs typeface="Questrial"/>
                <a:sym typeface="Questrial"/>
              </a:rPr>
              <a:t>9.</a:t>
            </a:r>
            <a:endParaRPr b="1" sz="40000">
              <a:solidFill>
                <a:srgbClr val="ABD2D5"/>
              </a:solidFill>
              <a:latin typeface="Questrial"/>
              <a:ea typeface="Questrial"/>
              <a:cs typeface="Questrial"/>
              <a:sym typeface="Questrial"/>
            </a:endParaRPr>
          </a:p>
        </p:txBody>
      </p:sp>
      <p:sp>
        <p:nvSpPr>
          <p:cNvPr id="508" name="Google Shape;508;g3b0aa6bf6d9_0_89"/>
          <p:cNvSpPr txBox="1"/>
          <p:nvPr>
            <p:ph idx="1" type="body"/>
          </p:nvPr>
        </p:nvSpPr>
        <p:spPr>
          <a:xfrm>
            <a:off x="241633" y="230233"/>
            <a:ext cx="11475300" cy="806700"/>
          </a:xfrm>
          <a:prstGeom prst="rect">
            <a:avLst/>
          </a:prstGeom>
          <a:noFill/>
          <a:ln>
            <a:noFill/>
          </a:ln>
        </p:spPr>
        <p:txBody>
          <a:bodyPr anchorCtr="0" anchor="t" bIns="121900" lIns="121900" spcFirstLastPara="1" rIns="121900" wrap="square" tIns="121900">
            <a:normAutofit fontScale="92500" lnSpcReduction="20000"/>
          </a:bodyPr>
          <a:lstStyle/>
          <a:p>
            <a:pPr indent="0" lvl="0" marL="0" rtl="0" algn="l">
              <a:lnSpc>
                <a:spcPct val="100000"/>
              </a:lnSpc>
              <a:spcBef>
                <a:spcPts val="500"/>
              </a:spcBef>
              <a:spcAft>
                <a:spcPts val="0"/>
              </a:spcAft>
              <a:buSzPct val="50000"/>
              <a:buNone/>
            </a:pPr>
            <a:r>
              <a:rPr b="1" lang="en-US" sz="4800">
                <a:solidFill>
                  <a:srgbClr val="0B87A1"/>
                </a:solidFill>
                <a:latin typeface="Questrial"/>
                <a:ea typeface="Questrial"/>
                <a:cs typeface="Questrial"/>
                <a:sym typeface="Questrial"/>
              </a:rPr>
              <a:t>End Material - </a:t>
            </a:r>
            <a:r>
              <a:rPr lang="en-US" sz="4800">
                <a:solidFill>
                  <a:srgbClr val="0B87A1"/>
                </a:solidFill>
                <a:latin typeface="Questrial"/>
                <a:ea typeface="Questrial"/>
                <a:cs typeface="Questrial"/>
                <a:sym typeface="Questrial"/>
              </a:rPr>
              <a:t>Appendix</a:t>
            </a:r>
            <a:endParaRPr sz="4800">
              <a:solidFill>
                <a:srgbClr val="0B87A1"/>
              </a:solidFill>
              <a:latin typeface="Questrial"/>
              <a:ea typeface="Questrial"/>
              <a:cs typeface="Questrial"/>
              <a:sym typeface="Questrial"/>
            </a:endParaRPr>
          </a:p>
        </p:txBody>
      </p:sp>
      <p:sp>
        <p:nvSpPr>
          <p:cNvPr id="509" name="Google Shape;509;g3b0aa6bf6d9_0_89"/>
          <p:cNvSpPr txBox="1"/>
          <p:nvPr/>
        </p:nvSpPr>
        <p:spPr>
          <a:xfrm>
            <a:off x="4779233" y="1606333"/>
            <a:ext cx="6937500" cy="5048700"/>
          </a:xfrm>
          <a:prstGeom prst="rect">
            <a:avLst/>
          </a:prstGeom>
          <a:noFill/>
          <a:ln>
            <a:noFill/>
          </a:ln>
        </p:spPr>
        <p:txBody>
          <a:bodyPr anchorCtr="0" anchor="t" bIns="121900" lIns="121900" spcFirstLastPara="1" rIns="121900" wrap="square" tIns="121900">
            <a:spAutoFit/>
          </a:bodyPr>
          <a:lstStyle/>
          <a:p>
            <a:pPr indent="0" lvl="0" marL="0" rtl="0" algn="l">
              <a:spcBef>
                <a:spcPts val="0"/>
              </a:spcBef>
              <a:spcAft>
                <a:spcPts val="0"/>
              </a:spcAft>
              <a:buNone/>
            </a:pPr>
            <a:r>
              <a:rPr lang="en-US" sz="2400">
                <a:solidFill>
                  <a:schemeClr val="dk2"/>
                </a:solidFill>
                <a:latin typeface="Questrial"/>
                <a:ea typeface="Questrial"/>
                <a:cs typeface="Questrial"/>
                <a:sym typeface="Questrial"/>
              </a:rPr>
              <a:t>Appendix allows to include any additional information (surveys, results, tables, figures, previous report findings, relevant letters or memos, etc.) that you have not built in your report’s main text.</a:t>
            </a:r>
            <a:endParaRPr sz="2400">
              <a:solidFill>
                <a:schemeClr val="dk2"/>
              </a:solidFill>
              <a:latin typeface="Questrial"/>
              <a:ea typeface="Questrial"/>
              <a:cs typeface="Questrial"/>
              <a:sym typeface="Questrial"/>
            </a:endParaRPr>
          </a:p>
          <a:p>
            <a:pPr indent="0" lvl="0" marL="0" rtl="0" algn="l">
              <a:spcBef>
                <a:spcPts val="0"/>
              </a:spcBef>
              <a:spcAft>
                <a:spcPts val="0"/>
              </a:spcAft>
              <a:buNone/>
            </a:pPr>
            <a:r>
              <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It is optional </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The contents of your appendix should not be of primary importance, which needs to be the part of the body of the report.</a:t>
            </a:r>
            <a:endParaRPr sz="2400">
              <a:solidFill>
                <a:schemeClr val="dk2"/>
              </a:solidFill>
              <a:latin typeface="Questrial"/>
              <a:ea typeface="Questrial"/>
              <a:cs typeface="Questrial"/>
              <a:sym typeface="Questrial"/>
            </a:endParaRPr>
          </a:p>
          <a:p>
            <a:pPr indent="-450850" lvl="0" marL="609600" rtl="0" algn="l">
              <a:spcBef>
                <a:spcPts val="0"/>
              </a:spcBef>
              <a:spcAft>
                <a:spcPts val="0"/>
              </a:spcAft>
              <a:buClr>
                <a:schemeClr val="dk2"/>
              </a:buClr>
              <a:buSzPts val="2300"/>
              <a:buFont typeface="Questrial"/>
              <a:buChar char="●"/>
            </a:pPr>
            <a:r>
              <a:rPr lang="en-US" sz="2400">
                <a:solidFill>
                  <a:schemeClr val="dk2"/>
                </a:solidFill>
                <a:latin typeface="Questrial"/>
                <a:ea typeface="Questrial"/>
                <a:cs typeface="Questrial"/>
                <a:sym typeface="Questrial"/>
              </a:rPr>
              <a:t>An appendix is a perfect place to file nonessential data that provides documentation for future reference.</a:t>
            </a:r>
            <a:endParaRPr sz="2400">
              <a:solidFill>
                <a:schemeClr val="dk2"/>
              </a:solidFill>
              <a:latin typeface="Questrial"/>
              <a:ea typeface="Questrial"/>
              <a:cs typeface="Questrial"/>
              <a:sym typeface="Quest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g39b32936498_0_18"/>
          <p:cNvSpPr txBox="1"/>
          <p:nvPr>
            <p:ph type="ctrTitle"/>
          </p:nvPr>
        </p:nvSpPr>
        <p:spPr>
          <a:xfrm>
            <a:off x="127200" y="1766450"/>
            <a:ext cx="11937600" cy="15414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2F5496"/>
              </a:buClr>
              <a:buSzPts val="4400"/>
              <a:buFont typeface="Times New Roman"/>
              <a:buNone/>
            </a:pPr>
            <a:r>
              <a:rPr b="1" lang="en-US" sz="4400">
                <a:solidFill>
                  <a:srgbClr val="2F5496"/>
                </a:solidFill>
                <a:latin typeface="Times New Roman"/>
                <a:ea typeface="Times New Roman"/>
                <a:cs typeface="Times New Roman"/>
                <a:sym typeface="Times New Roman"/>
              </a:rPr>
              <a:t>Technical Communication in the</a:t>
            </a:r>
            <a:br>
              <a:rPr b="1" lang="en-US" sz="4400">
                <a:solidFill>
                  <a:srgbClr val="2F5496"/>
                </a:solidFill>
                <a:latin typeface="Times New Roman"/>
                <a:ea typeface="Times New Roman"/>
                <a:cs typeface="Times New Roman"/>
                <a:sym typeface="Times New Roman"/>
              </a:rPr>
            </a:br>
            <a:r>
              <a:rPr b="1" lang="en-US" sz="4400">
                <a:solidFill>
                  <a:srgbClr val="2F5496"/>
                </a:solidFill>
                <a:latin typeface="Times New Roman"/>
                <a:ea typeface="Times New Roman"/>
                <a:cs typeface="Times New Roman"/>
                <a:sym typeface="Times New Roman"/>
              </a:rPr>
              <a:t>Workplace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g39b7157ad26_0_71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SzPts val="1800"/>
              <a:buNone/>
            </a:pPr>
            <a:r>
              <a:rPr b="1" lang="en-US" sz="3600">
                <a:latin typeface="Montserrat"/>
                <a:ea typeface="Montserrat"/>
                <a:cs typeface="Montserrat"/>
                <a:sym typeface="Montserrat"/>
              </a:rPr>
              <a:t>Research Introduction </a:t>
            </a:r>
            <a:endParaRPr b="1" sz="3600">
              <a:latin typeface="Montserrat"/>
              <a:ea typeface="Montserrat"/>
              <a:cs typeface="Montserrat"/>
              <a:sym typeface="Montserrat"/>
            </a:endParaRPr>
          </a:p>
        </p:txBody>
      </p:sp>
      <p:grpSp>
        <p:nvGrpSpPr>
          <p:cNvPr id="521" name="Google Shape;521;g39b7157ad26_0_715"/>
          <p:cNvGrpSpPr/>
          <p:nvPr/>
        </p:nvGrpSpPr>
        <p:grpSpPr>
          <a:xfrm>
            <a:off x="0" y="1851911"/>
            <a:ext cx="3442621" cy="4643677"/>
            <a:chOff x="0" y="1189989"/>
            <a:chExt cx="3546900" cy="3482845"/>
          </a:xfrm>
        </p:grpSpPr>
        <p:sp>
          <p:nvSpPr>
            <p:cNvPr id="522" name="Google Shape;522;g39b7157ad26_0_715"/>
            <p:cNvSpPr/>
            <p:nvPr/>
          </p:nvSpPr>
          <p:spPr>
            <a:xfrm>
              <a:off x="0" y="1189989"/>
              <a:ext cx="3546900" cy="669000"/>
            </a:xfrm>
            <a:prstGeom prst="homePlate">
              <a:avLst>
                <a:gd fmla="val 50000" name="adj"/>
              </a:avLst>
            </a:prstGeom>
            <a:solidFill>
              <a:srgbClr val="561561"/>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FFFFFF"/>
                  </a:solidFill>
                  <a:latin typeface="Montserrat"/>
                  <a:ea typeface="Montserrat"/>
                  <a:cs typeface="Montserrat"/>
                  <a:sym typeface="Montserrat"/>
                </a:rPr>
                <a:t>Topic</a:t>
              </a:r>
              <a:endParaRPr b="1" i="0" sz="2300" u="none" cap="none" strike="noStrike">
                <a:solidFill>
                  <a:srgbClr val="FFFFFF"/>
                </a:solidFill>
                <a:latin typeface="Montserrat"/>
                <a:ea typeface="Montserrat"/>
                <a:cs typeface="Montserrat"/>
                <a:sym typeface="Montserrat"/>
              </a:endParaRPr>
            </a:p>
          </p:txBody>
        </p:sp>
        <p:sp>
          <p:nvSpPr>
            <p:cNvPr id="523" name="Google Shape;523;g39b7157ad26_0_715"/>
            <p:cNvSpPr txBox="1"/>
            <p:nvPr/>
          </p:nvSpPr>
          <p:spPr>
            <a:xfrm>
              <a:off x="341670" y="2057134"/>
              <a:ext cx="2692500" cy="2615700"/>
            </a:xfrm>
            <a:prstGeom prst="rect">
              <a:avLst/>
            </a:prstGeom>
            <a:noFill/>
            <a:ln>
              <a:noFill/>
            </a:ln>
          </p:spPr>
          <p:txBody>
            <a:bodyPr anchorCtr="0" anchor="t" bIns="121900" lIns="121900" spcFirstLastPara="1" rIns="121900" wrap="square" tIns="121900">
              <a:noAutofit/>
            </a:bodyPr>
            <a:lstStyle/>
            <a:p>
              <a:pPr indent="-342900" lvl="0" marL="457200" marR="0" rtl="0" algn="l">
                <a:lnSpc>
                  <a:spcPct val="90000"/>
                </a:lnSpc>
                <a:spcBef>
                  <a:spcPts val="100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Topic selection</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90000"/>
                </a:lnSpc>
                <a:spcBef>
                  <a:spcPts val="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Defining a topic </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90000"/>
                </a:lnSpc>
                <a:spcBef>
                  <a:spcPts val="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Identifying resources </a:t>
              </a:r>
              <a:endParaRPr b="0" i="0" sz="18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grpSp>
      <p:grpSp>
        <p:nvGrpSpPr>
          <p:cNvPr id="524" name="Google Shape;524;g39b7157ad26_0_715"/>
          <p:cNvGrpSpPr/>
          <p:nvPr/>
        </p:nvGrpSpPr>
        <p:grpSpPr>
          <a:xfrm>
            <a:off x="2857644" y="1851625"/>
            <a:ext cx="3208512" cy="4643963"/>
            <a:chOff x="2944204" y="1189775"/>
            <a:chExt cx="3305700" cy="3483059"/>
          </a:xfrm>
        </p:grpSpPr>
        <p:sp>
          <p:nvSpPr>
            <p:cNvPr id="525" name="Google Shape;525;g39b7157ad26_0_715"/>
            <p:cNvSpPr/>
            <p:nvPr/>
          </p:nvSpPr>
          <p:spPr>
            <a:xfrm>
              <a:off x="2944204" y="1189775"/>
              <a:ext cx="3305700" cy="669000"/>
            </a:xfrm>
            <a:prstGeom prst="chevron">
              <a:avLst>
                <a:gd fmla="val 50000" name="adj"/>
              </a:avLst>
            </a:prstGeom>
            <a:solidFill>
              <a:srgbClr val="771E86"/>
            </a:solidFill>
            <a:ln>
              <a:noFill/>
            </a:ln>
          </p:spPr>
          <p:txBody>
            <a:bodyPr anchorCtr="0" anchor="ctr" bIns="121900" lIns="121900" spcFirstLastPara="1" rIns="121900" wrap="square" tIns="121900">
              <a:noAutofit/>
            </a:bodyPr>
            <a:lstStyle/>
            <a:p>
              <a:pPr indent="0" lvl="0" marL="0" marR="0" rtl="0" algn="ctr">
                <a:lnSpc>
                  <a:spcPct val="90000"/>
                </a:lnSpc>
                <a:spcBef>
                  <a:spcPts val="1000"/>
                </a:spcBef>
                <a:spcAft>
                  <a:spcPts val="0"/>
                </a:spcAft>
                <a:buClr>
                  <a:srgbClr val="000000"/>
                </a:buClr>
                <a:buSzPts val="2300"/>
                <a:buFont typeface="Arial"/>
                <a:buNone/>
              </a:pPr>
              <a:r>
                <a:rPr b="1" i="0" lang="en-US" sz="2300" u="none" cap="none" strike="noStrike">
                  <a:solidFill>
                    <a:schemeClr val="lt1"/>
                  </a:solidFill>
                  <a:latin typeface="Montserrat"/>
                  <a:ea typeface="Montserrat"/>
                  <a:cs typeface="Montserrat"/>
                  <a:sym typeface="Montserrat"/>
                </a:rPr>
                <a:t>Research Objectives </a:t>
              </a:r>
              <a:endParaRPr b="1" i="0" sz="1900" u="none" cap="none" strike="noStrike">
                <a:solidFill>
                  <a:srgbClr val="FFFFFF"/>
                </a:solidFill>
                <a:latin typeface="Roboto"/>
                <a:ea typeface="Roboto"/>
                <a:cs typeface="Roboto"/>
                <a:sym typeface="Roboto"/>
              </a:endParaRPr>
            </a:p>
          </p:txBody>
        </p:sp>
        <p:sp>
          <p:nvSpPr>
            <p:cNvPr id="526" name="Google Shape;526;g39b7157ad26_0_715"/>
            <p:cNvSpPr txBox="1"/>
            <p:nvPr/>
          </p:nvSpPr>
          <p:spPr>
            <a:xfrm>
              <a:off x="3239027" y="2057134"/>
              <a:ext cx="2624100" cy="2615700"/>
            </a:xfrm>
            <a:prstGeom prst="rect">
              <a:avLst/>
            </a:prstGeom>
            <a:noFill/>
            <a:ln>
              <a:noFill/>
            </a:ln>
          </p:spPr>
          <p:txBody>
            <a:bodyPr anchorCtr="0" anchor="t" bIns="121900" lIns="121900" spcFirstLastPara="1" rIns="121900" wrap="square" tIns="121900">
              <a:noAutofit/>
            </a:bodyPr>
            <a:lstStyle/>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What is the quest? the learning outcomes? </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Listing them clearly</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Focus on the problem understanding </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Unbiased and neutral </a:t>
              </a:r>
              <a:endParaRPr b="0" i="0" sz="1600" u="none" cap="none" strike="noStrike">
                <a:solidFill>
                  <a:srgbClr val="000000"/>
                </a:solidFill>
                <a:latin typeface="Montserrat"/>
                <a:ea typeface="Montserrat"/>
                <a:cs typeface="Montserrat"/>
                <a:sym typeface="Montserrat"/>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0FF"/>
        </a:solidFill>
      </p:bgPr>
    </p:bg>
    <p:spTree>
      <p:nvGrpSpPr>
        <p:cNvPr id="530" name="Shape 530"/>
        <p:cNvGrpSpPr/>
        <p:nvPr/>
      </p:nvGrpSpPr>
      <p:grpSpPr>
        <a:xfrm>
          <a:off x="0" y="0"/>
          <a:ext cx="0" cy="0"/>
          <a:chOff x="0" y="0"/>
          <a:chExt cx="0" cy="0"/>
        </a:xfrm>
      </p:grpSpPr>
      <p:sp>
        <p:nvSpPr>
          <p:cNvPr id="531" name="Google Shape;531;g39b7157ad26_0_376"/>
          <p:cNvSpPr txBox="1"/>
          <p:nvPr/>
        </p:nvSpPr>
        <p:spPr>
          <a:xfrm>
            <a:off x="563250" y="829300"/>
            <a:ext cx="11065500" cy="8988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Clr>
                <a:srgbClr val="000000"/>
              </a:buClr>
              <a:buSzPts val="3200"/>
              <a:buFont typeface="Arial"/>
              <a:buNone/>
            </a:pPr>
            <a:r>
              <a:rPr b="1" i="0" lang="en-US" sz="3200" u="none" cap="none" strike="noStrike">
                <a:solidFill>
                  <a:srgbClr val="000000"/>
                </a:solidFill>
                <a:latin typeface="Montserrat"/>
                <a:ea typeface="Montserrat"/>
                <a:cs typeface="Montserrat"/>
                <a:sym typeface="Montserrat"/>
              </a:rPr>
              <a:t>Before starting your research, you ask yourself the following questions, to give direction to your work:</a:t>
            </a:r>
            <a:br>
              <a:rPr b="1" i="0" lang="en-US" sz="6900" u="none" cap="none" strike="noStrike">
                <a:solidFill>
                  <a:srgbClr val="000000"/>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532" name="Google Shape;532;g39b7157ad26_0_376"/>
          <p:cNvSpPr txBox="1"/>
          <p:nvPr/>
        </p:nvSpPr>
        <p:spPr>
          <a:xfrm>
            <a:off x="1526250" y="2478175"/>
            <a:ext cx="9139500" cy="2801400"/>
          </a:xfrm>
          <a:prstGeom prst="rect">
            <a:avLst/>
          </a:prstGeom>
          <a:noFill/>
          <a:ln>
            <a:noFill/>
          </a:ln>
        </p:spPr>
        <p:txBody>
          <a:bodyPr anchorCtr="0" anchor="t" bIns="0" lIns="0" spcFirstLastPara="1" rIns="0" wrap="square" tIns="0">
            <a:spAutoFit/>
          </a:bodyPr>
          <a:lstStyle/>
          <a:p>
            <a:pPr indent="-393700" lvl="0" marL="457200" marR="0" rtl="0" algn="l">
              <a:lnSpc>
                <a:spcPct val="100000"/>
              </a:lnSpc>
              <a:spcBef>
                <a:spcPts val="0"/>
              </a:spcBef>
              <a:spcAft>
                <a:spcPts val="0"/>
              </a:spcAft>
              <a:buClr>
                <a:srgbClr val="B509D1"/>
              </a:buClr>
              <a:buSzPts val="2600"/>
              <a:buFont typeface="Montserrat"/>
              <a:buChar char="●"/>
            </a:pPr>
            <a:r>
              <a:rPr b="0" i="0" lang="en-US" sz="2600" u="none" cap="none" strike="noStrike">
                <a:solidFill>
                  <a:schemeClr val="dk1"/>
                </a:solidFill>
                <a:latin typeface="Montserrat"/>
                <a:ea typeface="Montserrat"/>
                <a:cs typeface="Montserrat"/>
                <a:sym typeface="Montserrat"/>
              </a:rPr>
              <a:t>What questions must be answered during the research phase?</a:t>
            </a:r>
            <a:endParaRPr b="0" i="0" sz="300" u="none" cap="none" strike="noStrike">
              <a:solidFill>
                <a:srgbClr val="000000"/>
              </a:solidFill>
              <a:latin typeface="Montserrat"/>
              <a:ea typeface="Montserrat"/>
              <a:cs typeface="Montserrat"/>
              <a:sym typeface="Montserrat"/>
            </a:endParaRPr>
          </a:p>
          <a:p>
            <a:pPr indent="-393700" lvl="0" marL="457200" marR="0" rtl="0" algn="l">
              <a:lnSpc>
                <a:spcPct val="100000"/>
              </a:lnSpc>
              <a:spcBef>
                <a:spcPts val="0"/>
              </a:spcBef>
              <a:spcAft>
                <a:spcPts val="0"/>
              </a:spcAft>
              <a:buClr>
                <a:srgbClr val="B509D1"/>
              </a:buClr>
              <a:buSzPts val="2600"/>
              <a:buFont typeface="Montserrat"/>
              <a:buChar char="●"/>
            </a:pPr>
            <a:r>
              <a:rPr b="0" i="0" lang="en-US" sz="2600" u="none" cap="none" strike="noStrike">
                <a:solidFill>
                  <a:schemeClr val="dk1"/>
                </a:solidFill>
                <a:latin typeface="Montserrat"/>
                <a:ea typeface="Montserrat"/>
                <a:cs typeface="Montserrat"/>
                <a:sym typeface="Montserrat"/>
              </a:rPr>
              <a:t>What information might be most useful?</a:t>
            </a:r>
            <a:endParaRPr b="0" i="0" sz="300" u="none" cap="none" strike="noStrike">
              <a:solidFill>
                <a:srgbClr val="000000"/>
              </a:solidFill>
              <a:latin typeface="Montserrat"/>
              <a:ea typeface="Montserrat"/>
              <a:cs typeface="Montserrat"/>
              <a:sym typeface="Montserrat"/>
            </a:endParaRPr>
          </a:p>
          <a:p>
            <a:pPr indent="-393700" lvl="0" marL="457200" marR="0" rtl="0" algn="l">
              <a:lnSpc>
                <a:spcPct val="100000"/>
              </a:lnSpc>
              <a:spcBef>
                <a:spcPts val="0"/>
              </a:spcBef>
              <a:spcAft>
                <a:spcPts val="0"/>
              </a:spcAft>
              <a:buClr>
                <a:srgbClr val="B509D1"/>
              </a:buClr>
              <a:buSzPts val="2600"/>
              <a:buFont typeface="Montserrat"/>
              <a:buChar char="●"/>
            </a:pPr>
            <a:r>
              <a:rPr b="0" i="0" lang="en-US" sz="2600" u="none" cap="none" strike="noStrike">
                <a:solidFill>
                  <a:schemeClr val="dk1"/>
                </a:solidFill>
                <a:latin typeface="Montserrat"/>
                <a:ea typeface="Montserrat"/>
                <a:cs typeface="Montserrat"/>
                <a:sym typeface="Montserrat"/>
              </a:rPr>
              <a:t>What print and electronic sources would be most appropriate?</a:t>
            </a:r>
            <a:endParaRPr b="0" i="0" sz="300" u="none" cap="none" strike="noStrike">
              <a:solidFill>
                <a:srgbClr val="000000"/>
              </a:solidFill>
              <a:latin typeface="Montserrat"/>
              <a:ea typeface="Montserrat"/>
              <a:cs typeface="Montserrat"/>
              <a:sym typeface="Montserrat"/>
            </a:endParaRPr>
          </a:p>
          <a:p>
            <a:pPr indent="-393700" lvl="0" marL="457200" marR="0" rtl="0" algn="l">
              <a:lnSpc>
                <a:spcPct val="100000"/>
              </a:lnSpc>
              <a:spcBef>
                <a:spcPts val="0"/>
              </a:spcBef>
              <a:spcAft>
                <a:spcPts val="0"/>
              </a:spcAft>
              <a:buClr>
                <a:srgbClr val="B509D1"/>
              </a:buClr>
              <a:buSzPts val="2600"/>
              <a:buFont typeface="Montserrat"/>
              <a:buChar char="●"/>
            </a:pPr>
            <a:r>
              <a:rPr b="0" i="0" lang="en-US" sz="2600" u="none" cap="none" strike="noStrike">
                <a:solidFill>
                  <a:schemeClr val="dk1"/>
                </a:solidFill>
                <a:latin typeface="Montserrat"/>
                <a:ea typeface="Montserrat"/>
                <a:cs typeface="Montserrat"/>
                <a:sym typeface="Montserrat"/>
              </a:rPr>
              <a:t>What format must be used to document material borrowed from sources?</a:t>
            </a:r>
            <a:endParaRPr b="0" i="0" sz="300" u="none" cap="none" strike="noStrike">
              <a:solidFill>
                <a:srgbClr val="000000"/>
              </a:solidFill>
              <a:latin typeface="Montserrat"/>
              <a:ea typeface="Montserrat"/>
              <a:cs typeface="Montserrat"/>
              <a:sym typeface="Montserrat"/>
            </a:endParaRPr>
          </a:p>
        </p:txBody>
      </p:sp>
    </p:spTree>
  </p:cSld>
  <p:clrMapOvr>
    <a:masterClrMapping/>
  </p:clrMapOvr>
  <p:transition>
    <p:push/>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9b7157ad26_0_68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SzPts val="1800"/>
              <a:buNone/>
            </a:pPr>
            <a:r>
              <a:rPr b="1" lang="en-US" sz="3600">
                <a:latin typeface="Montserrat"/>
                <a:ea typeface="Montserrat"/>
                <a:cs typeface="Montserrat"/>
                <a:sym typeface="Montserrat"/>
              </a:rPr>
              <a:t>Secondary Research</a:t>
            </a:r>
            <a:endParaRPr b="1" sz="3600">
              <a:latin typeface="Montserrat"/>
              <a:ea typeface="Montserrat"/>
              <a:cs typeface="Montserrat"/>
              <a:sym typeface="Montserrat"/>
            </a:endParaRPr>
          </a:p>
        </p:txBody>
      </p:sp>
      <p:grpSp>
        <p:nvGrpSpPr>
          <p:cNvPr id="539" name="Google Shape;539;g39b7157ad26_0_680"/>
          <p:cNvGrpSpPr/>
          <p:nvPr/>
        </p:nvGrpSpPr>
        <p:grpSpPr>
          <a:xfrm>
            <a:off x="5466727" y="1851625"/>
            <a:ext cx="3208512" cy="4643963"/>
            <a:chOff x="5632317" y="1189775"/>
            <a:chExt cx="3305700" cy="3483059"/>
          </a:xfrm>
        </p:grpSpPr>
        <p:sp>
          <p:nvSpPr>
            <p:cNvPr id="540" name="Google Shape;540;g39b7157ad26_0_680"/>
            <p:cNvSpPr/>
            <p:nvPr/>
          </p:nvSpPr>
          <p:spPr>
            <a:xfrm>
              <a:off x="5632317" y="1189775"/>
              <a:ext cx="3305700" cy="669000"/>
            </a:xfrm>
            <a:prstGeom prst="chevron">
              <a:avLst>
                <a:gd fmla="val 50000" name="adj"/>
              </a:avLst>
            </a:prstGeom>
            <a:solidFill>
              <a:srgbClr val="9325A5"/>
            </a:solidFill>
            <a:ln>
              <a:noFill/>
            </a:ln>
          </p:spPr>
          <p:txBody>
            <a:bodyPr anchorCtr="0" anchor="ctr" bIns="121900" lIns="121900" spcFirstLastPara="1" rIns="121900" wrap="square" tIns="121900">
              <a:noAutofit/>
            </a:bodyPr>
            <a:lstStyle/>
            <a:p>
              <a:pPr indent="0" lvl="0" marL="0" marR="0" rtl="0" algn="ctr">
                <a:lnSpc>
                  <a:spcPct val="90000"/>
                </a:lnSpc>
                <a:spcBef>
                  <a:spcPts val="1000"/>
                </a:spcBef>
                <a:spcAft>
                  <a:spcPts val="0"/>
                </a:spcAft>
                <a:buClr>
                  <a:srgbClr val="000000"/>
                </a:buClr>
                <a:buSzPts val="2300"/>
                <a:buFont typeface="Arial"/>
                <a:buNone/>
              </a:pPr>
              <a:r>
                <a:rPr b="1" i="0" lang="en-US" sz="2300" u="none" cap="none" strike="noStrike">
                  <a:solidFill>
                    <a:schemeClr val="lt1"/>
                  </a:solidFill>
                  <a:latin typeface="Montserrat"/>
                  <a:ea typeface="Montserrat"/>
                  <a:cs typeface="Montserrat"/>
                  <a:sym typeface="Montserrat"/>
                </a:rPr>
                <a:t>Secondary Research</a:t>
              </a:r>
              <a:endParaRPr b="1" i="0" sz="1900" u="none" cap="none" strike="noStrike">
                <a:solidFill>
                  <a:schemeClr val="lt1"/>
                </a:solidFill>
                <a:latin typeface="Roboto"/>
                <a:ea typeface="Roboto"/>
                <a:cs typeface="Roboto"/>
                <a:sym typeface="Roboto"/>
              </a:endParaRPr>
            </a:p>
          </p:txBody>
        </p:sp>
        <p:sp>
          <p:nvSpPr>
            <p:cNvPr id="541" name="Google Shape;541;g39b7157ad26_0_680"/>
            <p:cNvSpPr txBox="1"/>
            <p:nvPr/>
          </p:nvSpPr>
          <p:spPr>
            <a:xfrm>
              <a:off x="5863049" y="2057134"/>
              <a:ext cx="2801700" cy="2615700"/>
            </a:xfrm>
            <a:prstGeom prst="rect">
              <a:avLst/>
            </a:prstGeom>
            <a:noFill/>
            <a:ln>
              <a:noFill/>
            </a:ln>
          </p:spPr>
          <p:txBody>
            <a:bodyPr anchorCtr="0" anchor="t" bIns="121900" lIns="121900" spcFirstLastPara="1" rIns="121900" wrap="square" tIns="121900">
              <a:noAutofit/>
            </a:bodyPr>
            <a:lstStyle/>
            <a:p>
              <a:pPr indent="-330200" lvl="0" marL="457200" marR="0" rtl="0" algn="l">
                <a:lnSpc>
                  <a:spcPct val="115000"/>
                </a:lnSpc>
                <a:spcBef>
                  <a:spcPts val="0"/>
                </a:spcBef>
                <a:spcAft>
                  <a:spcPts val="0"/>
                </a:spcAft>
                <a:buClr>
                  <a:srgbClr val="000000"/>
                </a:buClr>
                <a:buSzPts val="1600"/>
                <a:buFont typeface="Montserrat Medium"/>
                <a:buChar char="●"/>
              </a:pPr>
              <a:r>
                <a:rPr b="0" i="0" lang="en-US" sz="1600" u="none" cap="none" strike="noStrike">
                  <a:solidFill>
                    <a:srgbClr val="000000"/>
                  </a:solidFill>
                  <a:latin typeface="Montserrat Medium"/>
                  <a:ea typeface="Montserrat Medium"/>
                  <a:cs typeface="Montserrat Medium"/>
                  <a:sym typeface="Montserrat Medium"/>
                </a:rPr>
                <a:t>Review of the existing literature, information. </a:t>
              </a:r>
              <a:endParaRPr b="0" i="0" sz="1600" u="none" cap="none" strike="noStrike">
                <a:solidFill>
                  <a:srgbClr val="000000"/>
                </a:solidFill>
                <a:latin typeface="Montserrat Medium"/>
                <a:ea typeface="Montserrat Medium"/>
                <a:cs typeface="Montserrat Medium"/>
                <a:sym typeface="Montserrat Medium"/>
              </a:endParaRPr>
            </a:p>
            <a:p>
              <a:pPr indent="-330200" lvl="0" marL="457200" marR="0" rtl="0" algn="l">
                <a:lnSpc>
                  <a:spcPct val="115000"/>
                </a:lnSpc>
                <a:spcBef>
                  <a:spcPts val="0"/>
                </a:spcBef>
                <a:spcAft>
                  <a:spcPts val="0"/>
                </a:spcAft>
                <a:buClr>
                  <a:srgbClr val="000000"/>
                </a:buClr>
                <a:buSzPts val="1600"/>
                <a:buFont typeface="Montserrat Medium"/>
                <a:buChar char="●"/>
              </a:pPr>
              <a:r>
                <a:rPr b="0" i="0" lang="en-US" sz="1600" u="none" cap="none" strike="noStrike">
                  <a:solidFill>
                    <a:srgbClr val="000000"/>
                  </a:solidFill>
                  <a:latin typeface="Montserrat Medium"/>
                  <a:ea typeface="Montserrat Medium"/>
                  <a:cs typeface="Montserrat Medium"/>
                  <a:sym typeface="Montserrat Medium"/>
                </a:rPr>
                <a:t>Being curious. Ignoring existing research can point to arrogance. </a:t>
              </a:r>
              <a:endParaRPr b="0" i="0" sz="1600" u="none" cap="none" strike="noStrike">
                <a:solidFill>
                  <a:srgbClr val="000000"/>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Montserrat Medium"/>
                <a:ea typeface="Montserrat Medium"/>
                <a:cs typeface="Montserrat Medium"/>
                <a:sym typeface="Montserrat Medium"/>
              </a:endParaRPr>
            </a:p>
          </p:txBody>
        </p:sp>
      </p:grpSp>
      <p:grpSp>
        <p:nvGrpSpPr>
          <p:cNvPr id="542" name="Google Shape;542;g39b7157ad26_0_680"/>
          <p:cNvGrpSpPr/>
          <p:nvPr/>
        </p:nvGrpSpPr>
        <p:grpSpPr>
          <a:xfrm>
            <a:off x="0" y="1851911"/>
            <a:ext cx="3442621" cy="4643677"/>
            <a:chOff x="0" y="1189989"/>
            <a:chExt cx="3546900" cy="3482845"/>
          </a:xfrm>
        </p:grpSpPr>
        <p:sp>
          <p:nvSpPr>
            <p:cNvPr id="543" name="Google Shape;543;g39b7157ad26_0_680"/>
            <p:cNvSpPr/>
            <p:nvPr/>
          </p:nvSpPr>
          <p:spPr>
            <a:xfrm>
              <a:off x="0" y="1189989"/>
              <a:ext cx="3546900" cy="669000"/>
            </a:xfrm>
            <a:prstGeom prst="homePlate">
              <a:avLst>
                <a:gd fmla="val 50000" name="adj"/>
              </a:avLst>
            </a:prstGeom>
            <a:solidFill>
              <a:srgbClr val="561561"/>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FFFFFF"/>
                  </a:solidFill>
                  <a:latin typeface="Montserrat"/>
                  <a:ea typeface="Montserrat"/>
                  <a:cs typeface="Montserrat"/>
                  <a:sym typeface="Montserrat"/>
                </a:rPr>
                <a:t>Topic</a:t>
              </a:r>
              <a:endParaRPr b="1" i="0" sz="2300" u="none" cap="none" strike="noStrike">
                <a:solidFill>
                  <a:srgbClr val="FFFFFF"/>
                </a:solidFill>
                <a:latin typeface="Montserrat"/>
                <a:ea typeface="Montserrat"/>
                <a:cs typeface="Montserrat"/>
                <a:sym typeface="Montserrat"/>
              </a:endParaRPr>
            </a:p>
          </p:txBody>
        </p:sp>
        <p:sp>
          <p:nvSpPr>
            <p:cNvPr id="544" name="Google Shape;544;g39b7157ad26_0_680"/>
            <p:cNvSpPr txBox="1"/>
            <p:nvPr/>
          </p:nvSpPr>
          <p:spPr>
            <a:xfrm>
              <a:off x="341670" y="2057134"/>
              <a:ext cx="2692500" cy="2615700"/>
            </a:xfrm>
            <a:prstGeom prst="rect">
              <a:avLst/>
            </a:prstGeom>
            <a:noFill/>
            <a:ln>
              <a:noFill/>
            </a:ln>
          </p:spPr>
          <p:txBody>
            <a:bodyPr anchorCtr="0" anchor="t" bIns="121900" lIns="121900" spcFirstLastPara="1" rIns="121900" wrap="square" tIns="121900">
              <a:noAutofit/>
            </a:bodyPr>
            <a:lstStyle/>
            <a:p>
              <a:pPr indent="-342900" lvl="0" marL="457200" marR="0" rtl="0" algn="l">
                <a:lnSpc>
                  <a:spcPct val="90000"/>
                </a:lnSpc>
                <a:spcBef>
                  <a:spcPts val="100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Topic selection</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90000"/>
                </a:lnSpc>
                <a:spcBef>
                  <a:spcPts val="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Defining a topic </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90000"/>
                </a:lnSpc>
                <a:spcBef>
                  <a:spcPts val="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Identifying resources </a:t>
              </a:r>
              <a:endParaRPr b="0" i="0" sz="18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grpSp>
      <p:grpSp>
        <p:nvGrpSpPr>
          <p:cNvPr id="545" name="Google Shape;545;g39b7157ad26_0_680"/>
          <p:cNvGrpSpPr/>
          <p:nvPr/>
        </p:nvGrpSpPr>
        <p:grpSpPr>
          <a:xfrm>
            <a:off x="2857644" y="1851625"/>
            <a:ext cx="3208512" cy="4643963"/>
            <a:chOff x="2944204" y="1189775"/>
            <a:chExt cx="3305700" cy="3483059"/>
          </a:xfrm>
        </p:grpSpPr>
        <p:sp>
          <p:nvSpPr>
            <p:cNvPr id="546" name="Google Shape;546;g39b7157ad26_0_680"/>
            <p:cNvSpPr/>
            <p:nvPr/>
          </p:nvSpPr>
          <p:spPr>
            <a:xfrm>
              <a:off x="2944204" y="1189775"/>
              <a:ext cx="3305700" cy="669000"/>
            </a:xfrm>
            <a:prstGeom prst="chevron">
              <a:avLst>
                <a:gd fmla="val 50000" name="adj"/>
              </a:avLst>
            </a:prstGeom>
            <a:solidFill>
              <a:srgbClr val="771E86"/>
            </a:solidFill>
            <a:ln>
              <a:noFill/>
            </a:ln>
          </p:spPr>
          <p:txBody>
            <a:bodyPr anchorCtr="0" anchor="ctr" bIns="121900" lIns="121900" spcFirstLastPara="1" rIns="121900" wrap="square" tIns="121900">
              <a:noAutofit/>
            </a:bodyPr>
            <a:lstStyle/>
            <a:p>
              <a:pPr indent="0" lvl="0" marL="0" marR="0" rtl="0" algn="ctr">
                <a:lnSpc>
                  <a:spcPct val="90000"/>
                </a:lnSpc>
                <a:spcBef>
                  <a:spcPts val="1000"/>
                </a:spcBef>
                <a:spcAft>
                  <a:spcPts val="0"/>
                </a:spcAft>
                <a:buClr>
                  <a:srgbClr val="000000"/>
                </a:buClr>
                <a:buSzPts val="2300"/>
                <a:buFont typeface="Arial"/>
                <a:buNone/>
              </a:pPr>
              <a:r>
                <a:rPr b="1" i="0" lang="en-US" sz="2300" u="none" cap="none" strike="noStrike">
                  <a:solidFill>
                    <a:schemeClr val="lt1"/>
                  </a:solidFill>
                  <a:latin typeface="Montserrat"/>
                  <a:ea typeface="Montserrat"/>
                  <a:cs typeface="Montserrat"/>
                  <a:sym typeface="Montserrat"/>
                </a:rPr>
                <a:t>Research Objectives </a:t>
              </a:r>
              <a:endParaRPr b="1" i="0" sz="1900" u="none" cap="none" strike="noStrike">
                <a:solidFill>
                  <a:srgbClr val="FFFFFF"/>
                </a:solidFill>
                <a:latin typeface="Roboto"/>
                <a:ea typeface="Roboto"/>
                <a:cs typeface="Roboto"/>
                <a:sym typeface="Roboto"/>
              </a:endParaRPr>
            </a:p>
          </p:txBody>
        </p:sp>
        <p:sp>
          <p:nvSpPr>
            <p:cNvPr id="547" name="Google Shape;547;g39b7157ad26_0_680"/>
            <p:cNvSpPr txBox="1"/>
            <p:nvPr/>
          </p:nvSpPr>
          <p:spPr>
            <a:xfrm>
              <a:off x="3239027" y="2057134"/>
              <a:ext cx="2624100" cy="2615700"/>
            </a:xfrm>
            <a:prstGeom prst="rect">
              <a:avLst/>
            </a:prstGeom>
            <a:noFill/>
            <a:ln>
              <a:noFill/>
            </a:ln>
          </p:spPr>
          <p:txBody>
            <a:bodyPr anchorCtr="0" anchor="t" bIns="121900" lIns="121900" spcFirstLastPara="1" rIns="121900" wrap="square" tIns="121900">
              <a:noAutofit/>
            </a:bodyPr>
            <a:lstStyle/>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What is the quest? the learning outcomes? </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Listing them clearly</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Focus on the problem understanding </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Unbiased and neutral </a:t>
              </a:r>
              <a:endParaRPr b="0" i="0" sz="1600" u="none" cap="none" strike="noStrike">
                <a:solidFill>
                  <a:srgbClr val="000000"/>
                </a:solidFill>
                <a:latin typeface="Montserrat"/>
                <a:ea typeface="Montserrat"/>
                <a:cs typeface="Montserrat"/>
                <a:sym typeface="Montserrat"/>
              </a:endParaRPr>
            </a:p>
          </p:txBody>
        </p:sp>
      </p:grpSp>
      <p:sp>
        <p:nvSpPr>
          <p:cNvPr id="548" name="Google Shape;548;g39b7157ad26_0_680"/>
          <p:cNvSpPr txBox="1"/>
          <p:nvPr/>
        </p:nvSpPr>
        <p:spPr>
          <a:xfrm>
            <a:off x="8572525" y="4463700"/>
            <a:ext cx="3294600" cy="2031900"/>
          </a:xfrm>
          <a:prstGeom prst="rect">
            <a:avLst/>
          </a:prstGeom>
          <a:solidFill>
            <a:srgbClr val="D9D2E9"/>
          </a:solid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Books </a:t>
            </a:r>
            <a:endParaRPr b="0" i="1" sz="2400" u="none" cap="none" strike="noStrike">
              <a:solidFill>
                <a:schemeClr val="dk1"/>
              </a:solidFill>
              <a:latin typeface="Montserrat"/>
              <a:ea typeface="Montserrat"/>
              <a:cs typeface="Montserrat"/>
              <a:sym typeface="Montserrat"/>
            </a:endParaRPr>
          </a:p>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Journals </a:t>
            </a:r>
            <a:endParaRPr b="0" i="1" sz="2400" u="none" cap="none" strike="noStrike">
              <a:solidFill>
                <a:schemeClr val="dk1"/>
              </a:solidFill>
              <a:latin typeface="Montserrat"/>
              <a:ea typeface="Montserrat"/>
              <a:cs typeface="Montserrat"/>
              <a:sym typeface="Montserrat"/>
            </a:endParaRPr>
          </a:p>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Research papers </a:t>
            </a:r>
            <a:endParaRPr b="0" i="1" sz="2400" u="none" cap="none" strike="noStrike">
              <a:solidFill>
                <a:schemeClr val="dk1"/>
              </a:solidFill>
              <a:latin typeface="Montserrat"/>
              <a:ea typeface="Montserrat"/>
              <a:cs typeface="Montserrat"/>
              <a:sym typeface="Montserrat"/>
            </a:endParaRPr>
          </a:p>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Documentaries </a:t>
            </a:r>
            <a:endParaRPr b="0" i="1" sz="2400" u="none" cap="none" strike="noStrike">
              <a:solidFill>
                <a:schemeClr val="dk1"/>
              </a:solidFill>
              <a:latin typeface="Montserrat"/>
              <a:ea typeface="Montserrat"/>
              <a:cs typeface="Montserrat"/>
              <a:sym typeface="Montserrat"/>
            </a:endParaRPr>
          </a:p>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Podcasts </a:t>
            </a:r>
            <a:endParaRPr b="0" i="1" sz="2400" u="none" cap="none" strike="noStrike">
              <a:solidFill>
                <a:schemeClr val="dk1"/>
              </a:solidFill>
              <a:latin typeface="Montserrat"/>
              <a:ea typeface="Montserrat"/>
              <a:cs typeface="Montserrat"/>
              <a:sym typeface="Montserrat"/>
            </a:endParaRPr>
          </a:p>
        </p:txBody>
      </p:sp>
      <p:sp>
        <p:nvSpPr>
          <p:cNvPr id="549" name="Google Shape;549;g39b7157ad26_0_680"/>
          <p:cNvSpPr txBox="1"/>
          <p:nvPr/>
        </p:nvSpPr>
        <p:spPr>
          <a:xfrm>
            <a:off x="8572531" y="2597850"/>
            <a:ext cx="3294600" cy="1662300"/>
          </a:xfrm>
          <a:prstGeom prst="rect">
            <a:avLst/>
          </a:prstGeom>
          <a:solidFill>
            <a:srgbClr val="CFE2F3"/>
          </a:solid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Authenticity </a:t>
            </a:r>
            <a:endParaRPr b="0" i="1" sz="2400" u="none" cap="none" strike="noStrike">
              <a:solidFill>
                <a:schemeClr val="dk1"/>
              </a:solidFill>
              <a:latin typeface="Montserrat"/>
              <a:ea typeface="Montserrat"/>
              <a:cs typeface="Montserrat"/>
              <a:sym typeface="Montserrat"/>
            </a:endParaRPr>
          </a:p>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Credibility </a:t>
            </a:r>
            <a:endParaRPr b="0" i="1" sz="2400" u="none" cap="none" strike="noStrike">
              <a:solidFill>
                <a:schemeClr val="dk1"/>
              </a:solidFill>
              <a:latin typeface="Montserrat"/>
              <a:ea typeface="Montserrat"/>
              <a:cs typeface="Montserrat"/>
              <a:sym typeface="Montserrat"/>
            </a:endParaRPr>
          </a:p>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Relevance </a:t>
            </a:r>
            <a:endParaRPr b="0" i="1" sz="2400" u="none" cap="none" strike="noStrike">
              <a:solidFill>
                <a:schemeClr val="dk1"/>
              </a:solidFill>
              <a:latin typeface="Montserrat"/>
              <a:ea typeface="Montserrat"/>
              <a:cs typeface="Montserrat"/>
              <a:sym typeface="Montserrat"/>
            </a:endParaRPr>
          </a:p>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Scope </a:t>
            </a:r>
            <a:endParaRPr b="0" i="1" sz="2400" u="none" cap="none" strike="noStrike">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g39b7157ad26_0_2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SzPts val="1800"/>
              <a:buNone/>
            </a:pPr>
            <a:r>
              <a:rPr b="1" lang="en-US" sz="3600">
                <a:latin typeface="Montserrat"/>
                <a:ea typeface="Montserrat"/>
                <a:cs typeface="Montserrat"/>
                <a:sym typeface="Montserrat"/>
              </a:rPr>
              <a:t>Respondent’s profile</a:t>
            </a:r>
            <a:endParaRPr b="1" sz="3600">
              <a:latin typeface="Montserrat"/>
              <a:ea typeface="Montserrat"/>
              <a:cs typeface="Montserrat"/>
              <a:sym typeface="Montserrat"/>
            </a:endParaRPr>
          </a:p>
        </p:txBody>
      </p:sp>
      <p:grpSp>
        <p:nvGrpSpPr>
          <p:cNvPr id="556" name="Google Shape;556;g39b7157ad26_0_26"/>
          <p:cNvGrpSpPr/>
          <p:nvPr/>
        </p:nvGrpSpPr>
        <p:grpSpPr>
          <a:xfrm>
            <a:off x="5466727" y="1851625"/>
            <a:ext cx="3208512" cy="4643963"/>
            <a:chOff x="5632317" y="1189775"/>
            <a:chExt cx="3305700" cy="3483059"/>
          </a:xfrm>
        </p:grpSpPr>
        <p:sp>
          <p:nvSpPr>
            <p:cNvPr id="557" name="Google Shape;557;g39b7157ad26_0_26"/>
            <p:cNvSpPr/>
            <p:nvPr/>
          </p:nvSpPr>
          <p:spPr>
            <a:xfrm>
              <a:off x="5632317" y="1189775"/>
              <a:ext cx="3305700" cy="669000"/>
            </a:xfrm>
            <a:prstGeom prst="chevron">
              <a:avLst>
                <a:gd fmla="val 50000" name="adj"/>
              </a:avLst>
            </a:prstGeom>
            <a:solidFill>
              <a:srgbClr val="9325A5"/>
            </a:solidFill>
            <a:ln>
              <a:noFill/>
            </a:ln>
          </p:spPr>
          <p:txBody>
            <a:bodyPr anchorCtr="0" anchor="ctr" bIns="121900" lIns="121900" spcFirstLastPara="1" rIns="121900" wrap="square" tIns="121900">
              <a:noAutofit/>
            </a:bodyPr>
            <a:lstStyle/>
            <a:p>
              <a:pPr indent="0" lvl="0" marL="0" marR="0" rtl="0" algn="ctr">
                <a:lnSpc>
                  <a:spcPct val="90000"/>
                </a:lnSpc>
                <a:spcBef>
                  <a:spcPts val="1000"/>
                </a:spcBef>
                <a:spcAft>
                  <a:spcPts val="0"/>
                </a:spcAft>
                <a:buClr>
                  <a:srgbClr val="000000"/>
                </a:buClr>
                <a:buSzPts val="2300"/>
                <a:buFont typeface="Arial"/>
                <a:buNone/>
              </a:pPr>
              <a:r>
                <a:rPr b="1" i="0" lang="en-US" sz="2300" u="none" cap="none" strike="noStrike">
                  <a:solidFill>
                    <a:schemeClr val="lt1"/>
                  </a:solidFill>
                  <a:latin typeface="Montserrat"/>
                  <a:ea typeface="Montserrat"/>
                  <a:cs typeface="Montserrat"/>
                  <a:sym typeface="Montserrat"/>
                </a:rPr>
                <a:t>Secondary Research</a:t>
              </a:r>
              <a:endParaRPr b="1" i="0" sz="1900" u="none" cap="none" strike="noStrike">
                <a:solidFill>
                  <a:schemeClr val="lt1"/>
                </a:solidFill>
                <a:latin typeface="Roboto"/>
                <a:ea typeface="Roboto"/>
                <a:cs typeface="Roboto"/>
                <a:sym typeface="Roboto"/>
              </a:endParaRPr>
            </a:p>
          </p:txBody>
        </p:sp>
        <p:sp>
          <p:nvSpPr>
            <p:cNvPr id="558" name="Google Shape;558;g39b7157ad26_0_26"/>
            <p:cNvSpPr txBox="1"/>
            <p:nvPr/>
          </p:nvSpPr>
          <p:spPr>
            <a:xfrm>
              <a:off x="5863049" y="2057134"/>
              <a:ext cx="2801700" cy="2615700"/>
            </a:xfrm>
            <a:prstGeom prst="rect">
              <a:avLst/>
            </a:prstGeom>
            <a:noFill/>
            <a:ln>
              <a:noFill/>
            </a:ln>
          </p:spPr>
          <p:txBody>
            <a:bodyPr anchorCtr="0" anchor="t" bIns="121900" lIns="121900" spcFirstLastPara="1" rIns="121900" wrap="square" tIns="121900">
              <a:noAutofit/>
            </a:bodyPr>
            <a:lstStyle/>
            <a:p>
              <a:pPr indent="-330200" lvl="0" marL="457200" marR="0" rtl="0" algn="l">
                <a:lnSpc>
                  <a:spcPct val="115000"/>
                </a:lnSpc>
                <a:spcBef>
                  <a:spcPts val="0"/>
                </a:spcBef>
                <a:spcAft>
                  <a:spcPts val="0"/>
                </a:spcAft>
                <a:buClr>
                  <a:srgbClr val="000000"/>
                </a:buClr>
                <a:buSzPts val="1600"/>
                <a:buFont typeface="Montserrat Medium"/>
                <a:buChar char="●"/>
              </a:pPr>
              <a:r>
                <a:rPr b="0" i="0" lang="en-US" sz="1600" u="none" cap="none" strike="noStrike">
                  <a:solidFill>
                    <a:srgbClr val="000000"/>
                  </a:solidFill>
                  <a:latin typeface="Montserrat Medium"/>
                  <a:ea typeface="Montserrat Medium"/>
                  <a:cs typeface="Montserrat Medium"/>
                  <a:sym typeface="Montserrat Medium"/>
                </a:rPr>
                <a:t>Review of the existing literature, information. </a:t>
              </a:r>
              <a:endParaRPr b="0" i="0" sz="1600" u="none" cap="none" strike="noStrike">
                <a:solidFill>
                  <a:srgbClr val="000000"/>
                </a:solidFill>
                <a:latin typeface="Montserrat Medium"/>
                <a:ea typeface="Montserrat Medium"/>
                <a:cs typeface="Montserrat Medium"/>
                <a:sym typeface="Montserrat Medium"/>
              </a:endParaRPr>
            </a:p>
            <a:p>
              <a:pPr indent="-330200" lvl="0" marL="457200" marR="0" rtl="0" algn="l">
                <a:lnSpc>
                  <a:spcPct val="115000"/>
                </a:lnSpc>
                <a:spcBef>
                  <a:spcPts val="0"/>
                </a:spcBef>
                <a:spcAft>
                  <a:spcPts val="0"/>
                </a:spcAft>
                <a:buClr>
                  <a:srgbClr val="000000"/>
                </a:buClr>
                <a:buSzPts val="1600"/>
                <a:buFont typeface="Montserrat Medium"/>
                <a:buChar char="●"/>
              </a:pPr>
              <a:r>
                <a:rPr b="0" i="0" lang="en-US" sz="1600" u="none" cap="none" strike="noStrike">
                  <a:solidFill>
                    <a:srgbClr val="000000"/>
                  </a:solidFill>
                  <a:latin typeface="Montserrat Medium"/>
                  <a:ea typeface="Montserrat Medium"/>
                  <a:cs typeface="Montserrat Medium"/>
                  <a:sym typeface="Montserrat Medium"/>
                </a:rPr>
                <a:t>Being curious. Ignoring existing research can point to arrogance. </a:t>
              </a:r>
              <a:endParaRPr b="0" i="0" sz="1600" u="none" cap="none" strike="noStrike">
                <a:solidFill>
                  <a:srgbClr val="000000"/>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Montserrat Medium"/>
                <a:ea typeface="Montserrat Medium"/>
                <a:cs typeface="Montserrat Medium"/>
                <a:sym typeface="Montserrat Medium"/>
              </a:endParaRPr>
            </a:p>
          </p:txBody>
        </p:sp>
      </p:grpSp>
      <p:grpSp>
        <p:nvGrpSpPr>
          <p:cNvPr id="559" name="Google Shape;559;g39b7157ad26_0_26"/>
          <p:cNvGrpSpPr/>
          <p:nvPr/>
        </p:nvGrpSpPr>
        <p:grpSpPr>
          <a:xfrm>
            <a:off x="0" y="1851911"/>
            <a:ext cx="3442621" cy="4643677"/>
            <a:chOff x="0" y="1189989"/>
            <a:chExt cx="3546900" cy="3482845"/>
          </a:xfrm>
        </p:grpSpPr>
        <p:sp>
          <p:nvSpPr>
            <p:cNvPr id="560" name="Google Shape;560;g39b7157ad26_0_26"/>
            <p:cNvSpPr/>
            <p:nvPr/>
          </p:nvSpPr>
          <p:spPr>
            <a:xfrm>
              <a:off x="0" y="1189989"/>
              <a:ext cx="3546900" cy="669000"/>
            </a:xfrm>
            <a:prstGeom prst="homePlate">
              <a:avLst>
                <a:gd fmla="val 50000" name="adj"/>
              </a:avLst>
            </a:prstGeom>
            <a:solidFill>
              <a:srgbClr val="561561"/>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FFFFFF"/>
                  </a:solidFill>
                  <a:latin typeface="Montserrat"/>
                  <a:ea typeface="Montserrat"/>
                  <a:cs typeface="Montserrat"/>
                  <a:sym typeface="Montserrat"/>
                </a:rPr>
                <a:t>Topic</a:t>
              </a:r>
              <a:endParaRPr b="1" i="0" sz="2300" u="none" cap="none" strike="noStrike">
                <a:solidFill>
                  <a:srgbClr val="FFFFFF"/>
                </a:solidFill>
                <a:latin typeface="Montserrat"/>
                <a:ea typeface="Montserrat"/>
                <a:cs typeface="Montserrat"/>
                <a:sym typeface="Montserrat"/>
              </a:endParaRPr>
            </a:p>
          </p:txBody>
        </p:sp>
        <p:sp>
          <p:nvSpPr>
            <p:cNvPr id="561" name="Google Shape;561;g39b7157ad26_0_26"/>
            <p:cNvSpPr txBox="1"/>
            <p:nvPr/>
          </p:nvSpPr>
          <p:spPr>
            <a:xfrm>
              <a:off x="341670" y="2057134"/>
              <a:ext cx="2692500" cy="2615700"/>
            </a:xfrm>
            <a:prstGeom prst="rect">
              <a:avLst/>
            </a:prstGeom>
            <a:noFill/>
            <a:ln>
              <a:noFill/>
            </a:ln>
          </p:spPr>
          <p:txBody>
            <a:bodyPr anchorCtr="0" anchor="t" bIns="121900" lIns="121900" spcFirstLastPara="1" rIns="121900" wrap="square" tIns="121900">
              <a:noAutofit/>
            </a:bodyPr>
            <a:lstStyle/>
            <a:p>
              <a:pPr indent="-342900" lvl="0" marL="457200" marR="0" rtl="0" algn="l">
                <a:lnSpc>
                  <a:spcPct val="90000"/>
                </a:lnSpc>
                <a:spcBef>
                  <a:spcPts val="100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Topic selection</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90000"/>
                </a:lnSpc>
                <a:spcBef>
                  <a:spcPts val="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Defining a topic </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90000"/>
                </a:lnSpc>
                <a:spcBef>
                  <a:spcPts val="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Identifying resources </a:t>
              </a:r>
              <a:endParaRPr b="0" i="0" sz="18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grpSp>
      <p:grpSp>
        <p:nvGrpSpPr>
          <p:cNvPr id="562" name="Google Shape;562;g39b7157ad26_0_26"/>
          <p:cNvGrpSpPr/>
          <p:nvPr/>
        </p:nvGrpSpPr>
        <p:grpSpPr>
          <a:xfrm>
            <a:off x="2857644" y="1851625"/>
            <a:ext cx="3208512" cy="4643963"/>
            <a:chOff x="2944204" y="1189775"/>
            <a:chExt cx="3305700" cy="3483059"/>
          </a:xfrm>
        </p:grpSpPr>
        <p:sp>
          <p:nvSpPr>
            <p:cNvPr id="563" name="Google Shape;563;g39b7157ad26_0_26"/>
            <p:cNvSpPr/>
            <p:nvPr/>
          </p:nvSpPr>
          <p:spPr>
            <a:xfrm>
              <a:off x="2944204" y="1189775"/>
              <a:ext cx="3305700" cy="669000"/>
            </a:xfrm>
            <a:prstGeom prst="chevron">
              <a:avLst>
                <a:gd fmla="val 50000" name="adj"/>
              </a:avLst>
            </a:prstGeom>
            <a:solidFill>
              <a:srgbClr val="771E86"/>
            </a:solidFill>
            <a:ln>
              <a:noFill/>
            </a:ln>
          </p:spPr>
          <p:txBody>
            <a:bodyPr anchorCtr="0" anchor="ctr" bIns="121900" lIns="121900" spcFirstLastPara="1" rIns="121900" wrap="square" tIns="121900">
              <a:noAutofit/>
            </a:bodyPr>
            <a:lstStyle/>
            <a:p>
              <a:pPr indent="0" lvl="0" marL="0" marR="0" rtl="0" algn="ctr">
                <a:lnSpc>
                  <a:spcPct val="90000"/>
                </a:lnSpc>
                <a:spcBef>
                  <a:spcPts val="1000"/>
                </a:spcBef>
                <a:spcAft>
                  <a:spcPts val="0"/>
                </a:spcAft>
                <a:buClr>
                  <a:srgbClr val="000000"/>
                </a:buClr>
                <a:buSzPts val="2300"/>
                <a:buFont typeface="Arial"/>
                <a:buNone/>
              </a:pPr>
              <a:r>
                <a:rPr b="1" i="0" lang="en-US" sz="2300" u="none" cap="none" strike="noStrike">
                  <a:solidFill>
                    <a:schemeClr val="lt1"/>
                  </a:solidFill>
                  <a:latin typeface="Montserrat"/>
                  <a:ea typeface="Montserrat"/>
                  <a:cs typeface="Montserrat"/>
                  <a:sym typeface="Montserrat"/>
                </a:rPr>
                <a:t>Research Objectives </a:t>
              </a:r>
              <a:endParaRPr b="1" i="0" sz="1900" u="none" cap="none" strike="noStrike">
                <a:solidFill>
                  <a:srgbClr val="FFFFFF"/>
                </a:solidFill>
                <a:latin typeface="Roboto"/>
                <a:ea typeface="Roboto"/>
                <a:cs typeface="Roboto"/>
                <a:sym typeface="Roboto"/>
              </a:endParaRPr>
            </a:p>
          </p:txBody>
        </p:sp>
        <p:sp>
          <p:nvSpPr>
            <p:cNvPr id="564" name="Google Shape;564;g39b7157ad26_0_26"/>
            <p:cNvSpPr txBox="1"/>
            <p:nvPr/>
          </p:nvSpPr>
          <p:spPr>
            <a:xfrm>
              <a:off x="3239027" y="2057134"/>
              <a:ext cx="2624100" cy="2615700"/>
            </a:xfrm>
            <a:prstGeom prst="rect">
              <a:avLst/>
            </a:prstGeom>
            <a:noFill/>
            <a:ln>
              <a:noFill/>
            </a:ln>
          </p:spPr>
          <p:txBody>
            <a:bodyPr anchorCtr="0" anchor="t" bIns="121900" lIns="121900" spcFirstLastPara="1" rIns="121900" wrap="square" tIns="121900">
              <a:noAutofit/>
            </a:bodyPr>
            <a:lstStyle/>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What is the quest? the learning outcomes? </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Listing them clearly</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Focus on the problem understanding </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Unbiased and neutral </a:t>
              </a:r>
              <a:endParaRPr b="0" i="0" sz="1600" u="none" cap="none" strike="noStrike">
                <a:solidFill>
                  <a:srgbClr val="000000"/>
                </a:solidFill>
                <a:latin typeface="Montserrat"/>
                <a:ea typeface="Montserrat"/>
                <a:cs typeface="Montserrat"/>
                <a:sym typeface="Montserrat"/>
              </a:endParaRPr>
            </a:p>
          </p:txBody>
        </p:sp>
      </p:grpSp>
      <p:grpSp>
        <p:nvGrpSpPr>
          <p:cNvPr id="565" name="Google Shape;565;g39b7157ad26_0_26"/>
          <p:cNvGrpSpPr/>
          <p:nvPr/>
        </p:nvGrpSpPr>
        <p:grpSpPr>
          <a:xfrm>
            <a:off x="8224866" y="1851625"/>
            <a:ext cx="3208512" cy="4643963"/>
            <a:chOff x="5632317" y="1189775"/>
            <a:chExt cx="3305700" cy="3483059"/>
          </a:xfrm>
        </p:grpSpPr>
        <p:sp>
          <p:nvSpPr>
            <p:cNvPr id="566" name="Google Shape;566;g39b7157ad26_0_26"/>
            <p:cNvSpPr/>
            <p:nvPr/>
          </p:nvSpPr>
          <p:spPr>
            <a:xfrm>
              <a:off x="5632317" y="1189775"/>
              <a:ext cx="3305700" cy="669000"/>
            </a:xfrm>
            <a:prstGeom prst="chevron">
              <a:avLst>
                <a:gd fmla="val 50000" name="adj"/>
              </a:avLst>
            </a:prstGeom>
            <a:solidFill>
              <a:srgbClr val="9318A7">
                <a:alpha val="74901"/>
              </a:srgbClr>
            </a:solidFill>
            <a:ln>
              <a:noFill/>
            </a:ln>
          </p:spPr>
          <p:txBody>
            <a:bodyPr anchorCtr="0" anchor="ctr" bIns="121900" lIns="121900" spcFirstLastPara="1" rIns="121900" wrap="square" tIns="121900">
              <a:noAutofit/>
            </a:bodyPr>
            <a:lstStyle/>
            <a:p>
              <a:pPr indent="0" lvl="0" marL="0" marR="0" rtl="0" algn="ctr">
                <a:lnSpc>
                  <a:spcPct val="90000"/>
                </a:lnSpc>
                <a:spcBef>
                  <a:spcPts val="1000"/>
                </a:spcBef>
                <a:spcAft>
                  <a:spcPts val="0"/>
                </a:spcAft>
                <a:buClr>
                  <a:srgbClr val="000000"/>
                </a:buClr>
                <a:buSzPts val="2300"/>
                <a:buFont typeface="Arial"/>
                <a:buNone/>
              </a:pPr>
              <a:r>
                <a:rPr b="1" i="0" lang="en-US" sz="2300" u="none" cap="none" strike="noStrike">
                  <a:solidFill>
                    <a:schemeClr val="lt1"/>
                  </a:solidFill>
                  <a:latin typeface="Montserrat"/>
                  <a:ea typeface="Montserrat"/>
                  <a:cs typeface="Montserrat"/>
                  <a:sym typeface="Montserrat"/>
                </a:rPr>
                <a:t>Target Audience </a:t>
              </a:r>
              <a:endParaRPr b="1" i="0" sz="1900" u="none" cap="none" strike="noStrike">
                <a:solidFill>
                  <a:schemeClr val="lt1"/>
                </a:solidFill>
                <a:latin typeface="Roboto"/>
                <a:ea typeface="Roboto"/>
                <a:cs typeface="Roboto"/>
                <a:sym typeface="Roboto"/>
              </a:endParaRPr>
            </a:p>
          </p:txBody>
        </p:sp>
        <p:sp>
          <p:nvSpPr>
            <p:cNvPr id="567" name="Google Shape;567;g39b7157ad26_0_26"/>
            <p:cNvSpPr txBox="1"/>
            <p:nvPr/>
          </p:nvSpPr>
          <p:spPr>
            <a:xfrm>
              <a:off x="5863049" y="2057134"/>
              <a:ext cx="2801700" cy="2615700"/>
            </a:xfrm>
            <a:prstGeom prst="rect">
              <a:avLst/>
            </a:prstGeom>
            <a:noFill/>
            <a:ln>
              <a:noFill/>
            </a:ln>
          </p:spPr>
          <p:txBody>
            <a:bodyPr anchorCtr="0" anchor="t" bIns="121900" lIns="121900" spcFirstLastPara="1" rIns="121900" wrap="square" tIns="121900">
              <a:noAutofit/>
            </a:bodyPr>
            <a:lstStyle/>
            <a:p>
              <a:pPr indent="-330200" lvl="0" marL="457200" marR="0" rtl="0" algn="l">
                <a:lnSpc>
                  <a:spcPct val="115000"/>
                </a:lnSpc>
                <a:spcBef>
                  <a:spcPts val="0"/>
                </a:spcBef>
                <a:spcAft>
                  <a:spcPts val="0"/>
                </a:spcAft>
                <a:buClr>
                  <a:srgbClr val="000000"/>
                </a:buClr>
                <a:buSzPts val="1600"/>
                <a:buFont typeface="Montserrat Medium"/>
                <a:buChar char="●"/>
              </a:pPr>
              <a:r>
                <a:rPr b="0" i="0" lang="en-US" sz="1600" u="none" cap="none" strike="noStrike">
                  <a:solidFill>
                    <a:srgbClr val="000000"/>
                  </a:solidFill>
                  <a:latin typeface="Montserrat Medium"/>
                  <a:ea typeface="Montserrat Medium"/>
                  <a:cs typeface="Montserrat Medium"/>
                  <a:sym typeface="Montserrat Medium"/>
                </a:rPr>
                <a:t>Respondent profiles </a:t>
              </a:r>
              <a:endParaRPr b="0" i="0" sz="1600" u="none" cap="none" strike="noStrike">
                <a:solidFill>
                  <a:srgbClr val="000000"/>
                </a:solidFill>
                <a:latin typeface="Montserrat Medium"/>
                <a:ea typeface="Montserrat Medium"/>
                <a:cs typeface="Montserrat Medium"/>
                <a:sym typeface="Montserrat Medium"/>
              </a:endParaRPr>
            </a:p>
            <a:p>
              <a:pPr indent="-330200" lvl="0" marL="457200" marR="0" rtl="0" algn="l">
                <a:lnSpc>
                  <a:spcPct val="115000"/>
                </a:lnSpc>
                <a:spcBef>
                  <a:spcPts val="0"/>
                </a:spcBef>
                <a:spcAft>
                  <a:spcPts val="0"/>
                </a:spcAft>
                <a:buClr>
                  <a:srgbClr val="000000"/>
                </a:buClr>
                <a:buSzPts val="1600"/>
                <a:buFont typeface="Montserrat Medium"/>
                <a:buChar char="●"/>
              </a:pPr>
              <a:r>
                <a:rPr b="0" i="0" lang="en-US" sz="1600" u="none" cap="none" strike="noStrike">
                  <a:solidFill>
                    <a:srgbClr val="000000"/>
                  </a:solidFill>
                  <a:latin typeface="Montserrat Medium"/>
                  <a:ea typeface="Montserrat Medium"/>
                  <a:cs typeface="Montserrat Medium"/>
                  <a:sym typeface="Montserrat Medium"/>
                </a:rPr>
                <a:t>Who is my right audience? </a:t>
              </a:r>
              <a:endParaRPr b="0" i="0" sz="1600" u="none" cap="none" strike="noStrike">
                <a:solidFill>
                  <a:srgbClr val="000000"/>
                </a:solidFill>
                <a:latin typeface="Montserrat Medium"/>
                <a:ea typeface="Montserrat Medium"/>
                <a:cs typeface="Montserrat Medium"/>
                <a:sym typeface="Montserrat Medium"/>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9b7157ad26_0_35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SzPts val="1800"/>
              <a:buNone/>
            </a:pPr>
            <a:r>
              <a:rPr b="1" lang="en-US" sz="3600">
                <a:solidFill>
                  <a:srgbClr val="674EA7"/>
                </a:solidFill>
                <a:latin typeface="Montserrat"/>
                <a:ea typeface="Montserrat"/>
                <a:cs typeface="Montserrat"/>
                <a:sym typeface="Montserrat"/>
              </a:rPr>
              <a:t>Primary Research</a:t>
            </a:r>
            <a:endParaRPr b="1" sz="3600">
              <a:solidFill>
                <a:srgbClr val="674EA7"/>
              </a:solidFill>
              <a:latin typeface="Montserrat"/>
              <a:ea typeface="Montserrat"/>
              <a:cs typeface="Montserrat"/>
              <a:sym typeface="Montserrat"/>
            </a:endParaRPr>
          </a:p>
        </p:txBody>
      </p:sp>
      <p:sp>
        <p:nvSpPr>
          <p:cNvPr id="574" name="Google Shape;574;g39b7157ad26_0_359"/>
          <p:cNvSpPr txBox="1"/>
          <p:nvPr/>
        </p:nvSpPr>
        <p:spPr>
          <a:xfrm>
            <a:off x="838200" y="2576475"/>
            <a:ext cx="10245000" cy="2878200"/>
          </a:xfrm>
          <a:prstGeom prst="rect">
            <a:avLst/>
          </a:prstGeom>
          <a:noFill/>
          <a:ln cap="flat" cmpd="sng" w="952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311150" lvl="0" marL="381000" marR="0" rtl="0" algn="l">
              <a:lnSpc>
                <a:spcPct val="100000"/>
              </a:lnSpc>
              <a:spcBef>
                <a:spcPts val="0"/>
              </a:spcBef>
              <a:spcAft>
                <a:spcPts val="0"/>
              </a:spcAft>
              <a:buClr>
                <a:schemeClr val="dk1"/>
              </a:buClr>
              <a:buSzPts val="2500"/>
              <a:buFont typeface="Montserrat"/>
              <a:buChar char="➔"/>
            </a:pPr>
            <a:r>
              <a:rPr b="0" i="0" lang="en-US" sz="2500" u="none" cap="none" strike="noStrike">
                <a:solidFill>
                  <a:schemeClr val="dk1"/>
                </a:solidFill>
                <a:latin typeface="Montserrat"/>
                <a:ea typeface="Montserrat"/>
                <a:cs typeface="Montserrat"/>
                <a:sym typeface="Montserrat"/>
              </a:rPr>
              <a:t>Interviews </a:t>
            </a:r>
            <a:endParaRPr b="0" i="0" sz="2500" u="none" cap="none" strike="noStrike">
              <a:solidFill>
                <a:schemeClr val="dk1"/>
              </a:solidFill>
              <a:latin typeface="Montserrat"/>
              <a:ea typeface="Montserrat"/>
              <a:cs typeface="Montserrat"/>
              <a:sym typeface="Montserrat"/>
            </a:endParaRPr>
          </a:p>
          <a:p>
            <a:pPr indent="-311150" lvl="0" marL="381000" marR="0" rtl="0" algn="l">
              <a:lnSpc>
                <a:spcPct val="100000"/>
              </a:lnSpc>
              <a:spcBef>
                <a:spcPts val="0"/>
              </a:spcBef>
              <a:spcAft>
                <a:spcPts val="0"/>
              </a:spcAft>
              <a:buClr>
                <a:schemeClr val="dk1"/>
              </a:buClr>
              <a:buSzPts val="2500"/>
              <a:buFont typeface="Montserrat"/>
              <a:buChar char="➔"/>
            </a:pPr>
            <a:r>
              <a:rPr b="0" i="0" lang="en-US" sz="2500" u="none" cap="none" strike="noStrike">
                <a:solidFill>
                  <a:schemeClr val="dk1"/>
                </a:solidFill>
                <a:latin typeface="Montserrat"/>
                <a:ea typeface="Montserrat"/>
                <a:cs typeface="Montserrat"/>
                <a:sym typeface="Montserrat"/>
              </a:rPr>
              <a:t>Focus groups</a:t>
            </a:r>
            <a:endParaRPr b="0" i="0" sz="2500" u="none" cap="none" strike="noStrike">
              <a:solidFill>
                <a:schemeClr val="dk1"/>
              </a:solidFill>
              <a:latin typeface="Montserrat"/>
              <a:ea typeface="Montserrat"/>
              <a:cs typeface="Montserrat"/>
              <a:sym typeface="Montserrat"/>
            </a:endParaRPr>
          </a:p>
          <a:p>
            <a:pPr indent="-311150" lvl="0" marL="381000" marR="0" rtl="0" algn="l">
              <a:lnSpc>
                <a:spcPct val="100000"/>
              </a:lnSpc>
              <a:spcBef>
                <a:spcPts val="0"/>
              </a:spcBef>
              <a:spcAft>
                <a:spcPts val="0"/>
              </a:spcAft>
              <a:buClr>
                <a:schemeClr val="dk1"/>
              </a:buClr>
              <a:buSzPts val="2500"/>
              <a:buFont typeface="Montserrat"/>
              <a:buChar char="➔"/>
            </a:pPr>
            <a:r>
              <a:rPr b="0" i="0" lang="en-US" sz="2500" u="none" cap="none" strike="noStrike">
                <a:solidFill>
                  <a:schemeClr val="dk1"/>
                </a:solidFill>
                <a:latin typeface="Montserrat"/>
                <a:ea typeface="Montserrat"/>
                <a:cs typeface="Montserrat"/>
                <a:sym typeface="Montserrat"/>
              </a:rPr>
              <a:t>Surveys/Questionnaires</a:t>
            </a:r>
            <a:endParaRPr b="0" i="0" sz="2500" u="none" cap="none" strike="noStrike">
              <a:solidFill>
                <a:schemeClr val="dk1"/>
              </a:solidFill>
              <a:latin typeface="Montserrat"/>
              <a:ea typeface="Montserrat"/>
              <a:cs typeface="Montserrat"/>
              <a:sym typeface="Montserrat"/>
            </a:endParaRPr>
          </a:p>
          <a:p>
            <a:pPr indent="-311150" lvl="0" marL="381000" marR="0" rtl="0" algn="l">
              <a:lnSpc>
                <a:spcPct val="100000"/>
              </a:lnSpc>
              <a:spcBef>
                <a:spcPts val="0"/>
              </a:spcBef>
              <a:spcAft>
                <a:spcPts val="0"/>
              </a:spcAft>
              <a:buClr>
                <a:schemeClr val="dk1"/>
              </a:buClr>
              <a:buSzPts val="2500"/>
              <a:buFont typeface="Montserrat"/>
              <a:buChar char="➔"/>
            </a:pPr>
            <a:r>
              <a:rPr b="0" i="0" lang="en-US" sz="2500" u="none" cap="none" strike="noStrike">
                <a:solidFill>
                  <a:schemeClr val="dk1"/>
                </a:solidFill>
                <a:latin typeface="Montserrat"/>
                <a:ea typeface="Montserrat"/>
                <a:cs typeface="Montserrat"/>
                <a:sym typeface="Montserrat"/>
              </a:rPr>
              <a:t>Laboratory experiments, or field observations</a:t>
            </a:r>
            <a:endParaRPr b="0" i="0" sz="2500" u="none" cap="none" strike="noStrike">
              <a:solidFill>
                <a:schemeClr val="dk1"/>
              </a:solidFill>
              <a:latin typeface="Montserrat"/>
              <a:ea typeface="Montserrat"/>
              <a:cs typeface="Montserrat"/>
              <a:sym typeface="Montserrat"/>
            </a:endParaRPr>
          </a:p>
          <a:p>
            <a:pPr indent="-311150" lvl="0" marL="381000" marR="0" rtl="0" algn="l">
              <a:lnSpc>
                <a:spcPct val="100000"/>
              </a:lnSpc>
              <a:spcBef>
                <a:spcPts val="0"/>
              </a:spcBef>
              <a:spcAft>
                <a:spcPts val="0"/>
              </a:spcAft>
              <a:buClr>
                <a:schemeClr val="dk1"/>
              </a:buClr>
              <a:buSzPts val="2500"/>
              <a:buFont typeface="Montserrat"/>
              <a:buChar char="➔"/>
            </a:pPr>
            <a:r>
              <a:rPr b="0" i="0" lang="en-US" sz="2500" u="none" cap="none" strike="noStrike">
                <a:solidFill>
                  <a:schemeClr val="dk1"/>
                </a:solidFill>
                <a:latin typeface="Montserrat"/>
                <a:ea typeface="Montserrat"/>
                <a:cs typeface="Montserrat"/>
                <a:sym typeface="Montserrat"/>
              </a:rPr>
              <a:t>Original works such as diaries, company reports, and correspondence, as well as documents that are the subject of analysis, such as user’s manuals and Web sites.</a:t>
            </a:r>
            <a:endParaRPr b="0" i="0" sz="2500" u="none" cap="none" strike="noStrike">
              <a:solidFill>
                <a:srgbClr val="000000"/>
              </a:solidFill>
              <a:latin typeface="Montserrat"/>
              <a:ea typeface="Montserrat"/>
              <a:cs typeface="Montserrat"/>
              <a:sym typeface="Montserrat"/>
            </a:endParaRPr>
          </a:p>
        </p:txBody>
      </p:sp>
      <p:cxnSp>
        <p:nvCxnSpPr>
          <p:cNvPr id="575" name="Google Shape;575;g39b7157ad26_0_359"/>
          <p:cNvCxnSpPr/>
          <p:nvPr/>
        </p:nvCxnSpPr>
        <p:spPr>
          <a:xfrm>
            <a:off x="1639550" y="1405325"/>
            <a:ext cx="0" cy="1030500"/>
          </a:xfrm>
          <a:prstGeom prst="straightConnector1">
            <a:avLst/>
          </a:prstGeom>
          <a:noFill/>
          <a:ln cap="flat" cmpd="sng" w="38100">
            <a:solidFill>
              <a:srgbClr val="9900FF"/>
            </a:solidFill>
            <a:prstDash val="solid"/>
            <a:round/>
            <a:headEnd len="sm" w="sm" type="none"/>
            <a:tailEnd len="med" w="med" type="triangle"/>
          </a:ln>
        </p:spPr>
      </p:cxnSp>
      <p:sp>
        <p:nvSpPr>
          <p:cNvPr id="576" name="Google Shape;576;g39b7157ad26_0_359"/>
          <p:cNvSpPr txBox="1"/>
          <p:nvPr/>
        </p:nvSpPr>
        <p:spPr>
          <a:xfrm>
            <a:off x="7698075" y="5605700"/>
            <a:ext cx="3385200" cy="1046700"/>
          </a:xfrm>
          <a:prstGeom prst="rect">
            <a:avLst/>
          </a:prstGeom>
          <a:solidFill>
            <a:srgbClr val="E5DFEC"/>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Montserrat"/>
                <a:ea typeface="Montserrat"/>
                <a:cs typeface="Montserrat"/>
                <a:sym typeface="Montserrat"/>
              </a:rPr>
              <a:t>Qualitative </a:t>
            </a:r>
            <a:endParaRPr b="1" i="0" sz="28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Montserrat"/>
                <a:ea typeface="Montserrat"/>
                <a:cs typeface="Montserrat"/>
                <a:sym typeface="Montserrat"/>
              </a:rPr>
              <a:t>Quantitative </a:t>
            </a:r>
            <a:endParaRPr b="1" i="0" sz="2800" u="none" cap="none" strike="noStrike">
              <a:solidFill>
                <a:schemeClr val="dk1"/>
              </a:solidFill>
              <a:latin typeface="Montserrat"/>
              <a:ea typeface="Montserrat"/>
              <a:cs typeface="Montserrat"/>
              <a:sym typeface="Montserrat"/>
            </a:endParaRPr>
          </a:p>
        </p:txBody>
      </p:sp>
      <p:cxnSp>
        <p:nvCxnSpPr>
          <p:cNvPr id="577" name="Google Shape;577;g39b7157ad26_0_359"/>
          <p:cNvCxnSpPr>
            <a:stCxn id="576" idx="1"/>
            <a:endCxn id="574" idx="2"/>
          </p:cNvCxnSpPr>
          <p:nvPr/>
        </p:nvCxnSpPr>
        <p:spPr>
          <a:xfrm rot="10800000">
            <a:off x="5960775" y="5454650"/>
            <a:ext cx="1737300" cy="674400"/>
          </a:xfrm>
          <a:prstGeom prst="bentConnector2">
            <a:avLst/>
          </a:prstGeom>
          <a:noFill/>
          <a:ln cap="flat" cmpd="sng" w="38100">
            <a:solidFill>
              <a:srgbClr val="674EA7"/>
            </a:solidFill>
            <a:prstDash val="solid"/>
            <a:round/>
            <a:headEnd len="med" w="med" type="triangl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g39b7157ad26_0_738"/>
          <p:cNvSpPr/>
          <p:nvPr/>
        </p:nvSpPr>
        <p:spPr>
          <a:xfrm>
            <a:off x="0" y="0"/>
            <a:ext cx="6096000" cy="6938400"/>
          </a:xfrm>
          <a:prstGeom prst="roundRect">
            <a:avLst>
              <a:gd fmla="val 0" name="adj"/>
            </a:avLst>
          </a:prstGeom>
          <a:solidFill>
            <a:srgbClr val="B4A7D6"/>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FFFFFF"/>
              </a:solidFill>
              <a:latin typeface="Roboto"/>
              <a:ea typeface="Roboto"/>
              <a:cs typeface="Roboto"/>
              <a:sym typeface="Roboto"/>
            </a:endParaRPr>
          </a:p>
        </p:txBody>
      </p:sp>
      <p:sp>
        <p:nvSpPr>
          <p:cNvPr id="583" name="Google Shape;583;g39b7157ad26_0_738"/>
          <p:cNvSpPr txBox="1"/>
          <p:nvPr/>
        </p:nvSpPr>
        <p:spPr>
          <a:xfrm>
            <a:off x="608100" y="369633"/>
            <a:ext cx="6216000" cy="432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chemeClr val="lt1"/>
                </a:solidFill>
                <a:latin typeface="Questrial"/>
                <a:ea typeface="Questrial"/>
                <a:cs typeface="Questrial"/>
                <a:sym typeface="Questrial"/>
              </a:rPr>
              <a:t>Quantitative </a:t>
            </a:r>
            <a:endParaRPr b="1" i="0" sz="35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Questrial"/>
              <a:ea typeface="Questrial"/>
              <a:cs typeface="Questrial"/>
              <a:sym typeface="Questrial"/>
            </a:endParaRPr>
          </a:p>
        </p:txBody>
      </p:sp>
      <p:sp>
        <p:nvSpPr>
          <p:cNvPr id="584" name="Google Shape;584;g39b7157ad26_0_738"/>
          <p:cNvSpPr txBox="1"/>
          <p:nvPr/>
        </p:nvSpPr>
        <p:spPr>
          <a:xfrm>
            <a:off x="6554833" y="369633"/>
            <a:ext cx="6216000" cy="432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chemeClr val="dk1"/>
                </a:solidFill>
                <a:latin typeface="Questrial"/>
                <a:ea typeface="Questrial"/>
                <a:cs typeface="Questrial"/>
                <a:sym typeface="Questrial"/>
              </a:rPr>
              <a:t>Qualitative</a:t>
            </a:r>
            <a:endParaRPr b="0" i="0" sz="1600" u="none" cap="none" strike="noStrike">
              <a:solidFill>
                <a:schemeClr val="dk1"/>
              </a:solidFill>
              <a:latin typeface="Questrial"/>
              <a:ea typeface="Questrial"/>
              <a:cs typeface="Questrial"/>
              <a:sym typeface="Questrial"/>
            </a:endParaRPr>
          </a:p>
        </p:txBody>
      </p:sp>
      <p:sp>
        <p:nvSpPr>
          <p:cNvPr id="585" name="Google Shape;585;g39b7157ad26_0_738"/>
          <p:cNvSpPr txBox="1"/>
          <p:nvPr/>
        </p:nvSpPr>
        <p:spPr>
          <a:xfrm>
            <a:off x="608100" y="1970700"/>
            <a:ext cx="4569600" cy="2277900"/>
          </a:xfrm>
          <a:prstGeom prst="rect">
            <a:avLst/>
          </a:prstGeom>
          <a:noFill/>
          <a:ln>
            <a:noFill/>
          </a:ln>
        </p:spPr>
        <p:txBody>
          <a:bodyPr anchorCtr="0" anchor="t" bIns="121900" lIns="121900" spcFirstLastPara="1" rIns="121900" wrap="square" tIns="121900">
            <a:spAutoFit/>
          </a:bodyPr>
          <a:lstStyle/>
          <a:p>
            <a:pPr indent="-203200" lvl="0" marL="241300" marR="0" rtl="0" algn="l">
              <a:lnSpc>
                <a:spcPct val="100000"/>
              </a:lnSpc>
              <a:spcBef>
                <a:spcPts val="0"/>
              </a:spcBef>
              <a:spcAft>
                <a:spcPts val="0"/>
              </a:spcAft>
              <a:buClr>
                <a:schemeClr val="dk1"/>
              </a:buClr>
              <a:buSzPts val="2200"/>
              <a:buFont typeface="Questrial"/>
              <a:buChar char="●"/>
            </a:pPr>
            <a:r>
              <a:rPr b="0" i="0" lang="en-US" sz="2200" u="none" cap="none" strike="noStrike">
                <a:solidFill>
                  <a:schemeClr val="dk1"/>
                </a:solidFill>
                <a:latin typeface="Questrial"/>
                <a:ea typeface="Questrial"/>
                <a:cs typeface="Questrial"/>
                <a:sym typeface="Questrial"/>
              </a:rPr>
              <a:t>Quantifyable data that can be analyzed </a:t>
            </a:r>
            <a:endParaRPr b="0" i="0" sz="2200" u="none" cap="none" strike="noStrike">
              <a:solidFill>
                <a:schemeClr val="dk1"/>
              </a:solidFill>
              <a:latin typeface="Questrial"/>
              <a:ea typeface="Questrial"/>
              <a:cs typeface="Questrial"/>
              <a:sym typeface="Questrial"/>
            </a:endParaRPr>
          </a:p>
          <a:p>
            <a:pPr indent="-203200" lvl="0" marL="241300" marR="0" rtl="0" algn="l">
              <a:lnSpc>
                <a:spcPct val="100000"/>
              </a:lnSpc>
              <a:spcBef>
                <a:spcPts val="0"/>
              </a:spcBef>
              <a:spcAft>
                <a:spcPts val="0"/>
              </a:spcAft>
              <a:buClr>
                <a:schemeClr val="dk1"/>
              </a:buClr>
              <a:buSzPts val="2200"/>
              <a:buFont typeface="Questrial"/>
              <a:buChar char="●"/>
            </a:pPr>
            <a:r>
              <a:rPr b="0" i="0" lang="en-US" sz="2200" u="none" cap="none" strike="noStrike">
                <a:solidFill>
                  <a:schemeClr val="dk1"/>
                </a:solidFill>
                <a:latin typeface="Questrial"/>
                <a:ea typeface="Questrial"/>
                <a:cs typeface="Questrial"/>
                <a:sym typeface="Questrial"/>
              </a:rPr>
              <a:t>Quantitative research collects </a:t>
            </a:r>
            <a:r>
              <a:rPr b="0" i="0" lang="en-US" sz="2200" u="sng" cap="none" strike="noStrike">
                <a:solidFill>
                  <a:schemeClr val="dk1"/>
                </a:solidFill>
                <a:latin typeface="Questrial"/>
                <a:ea typeface="Questrial"/>
                <a:cs typeface="Questrial"/>
                <a:sym typeface="Questrial"/>
              </a:rPr>
              <a:t>data that can be represented in numbers</a:t>
            </a:r>
            <a:r>
              <a:rPr b="0" i="0" lang="en-US" sz="2200" u="none" cap="none" strike="noStrike">
                <a:solidFill>
                  <a:schemeClr val="dk1"/>
                </a:solidFill>
                <a:latin typeface="Questrial"/>
                <a:ea typeface="Questrial"/>
                <a:cs typeface="Questrial"/>
                <a:sym typeface="Questrial"/>
              </a:rPr>
              <a:t>.</a:t>
            </a:r>
            <a:endParaRPr b="0" i="0" sz="2200" u="none" cap="none" strike="noStrike">
              <a:solidFill>
                <a:schemeClr val="dk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Questrial"/>
              <a:ea typeface="Questrial"/>
              <a:cs typeface="Questrial"/>
              <a:sym typeface="Questrial"/>
            </a:endParaRPr>
          </a:p>
        </p:txBody>
      </p:sp>
      <p:sp>
        <p:nvSpPr>
          <p:cNvPr id="586" name="Google Shape;586;g39b7157ad26_0_738"/>
          <p:cNvSpPr txBox="1"/>
          <p:nvPr/>
        </p:nvSpPr>
        <p:spPr>
          <a:xfrm>
            <a:off x="6463867" y="1970700"/>
            <a:ext cx="4907100" cy="2277900"/>
          </a:xfrm>
          <a:prstGeom prst="rect">
            <a:avLst/>
          </a:prstGeom>
          <a:noFill/>
          <a:ln>
            <a:noFill/>
          </a:ln>
        </p:spPr>
        <p:txBody>
          <a:bodyPr anchorCtr="0" anchor="t" bIns="121900" lIns="121900" spcFirstLastPara="1" rIns="121900" wrap="square" tIns="121900">
            <a:spAutoFit/>
          </a:bodyPr>
          <a:lstStyle/>
          <a:p>
            <a:pPr indent="-203200" lvl="0" marL="241300" marR="0" rtl="0" algn="l">
              <a:lnSpc>
                <a:spcPct val="100000"/>
              </a:lnSpc>
              <a:spcBef>
                <a:spcPts val="0"/>
              </a:spcBef>
              <a:spcAft>
                <a:spcPts val="0"/>
              </a:spcAft>
              <a:buClr>
                <a:schemeClr val="dk1"/>
              </a:buClr>
              <a:buSzPts val="2200"/>
              <a:buFont typeface="Questrial"/>
              <a:buChar char="●"/>
            </a:pPr>
            <a:r>
              <a:rPr b="0" i="0" lang="en-US" sz="2200" u="none" cap="none" strike="noStrike">
                <a:solidFill>
                  <a:schemeClr val="dk1"/>
                </a:solidFill>
                <a:latin typeface="Questrial"/>
                <a:ea typeface="Questrial"/>
                <a:cs typeface="Questrial"/>
                <a:sym typeface="Questrial"/>
              </a:rPr>
              <a:t>Qualitative research </a:t>
            </a:r>
            <a:r>
              <a:rPr b="0" i="0" lang="en-US" sz="2200" u="sng" cap="none" strike="noStrike">
                <a:solidFill>
                  <a:schemeClr val="dk1"/>
                </a:solidFill>
                <a:latin typeface="Questrial"/>
                <a:ea typeface="Questrial"/>
                <a:cs typeface="Questrial"/>
                <a:sym typeface="Questrial"/>
              </a:rPr>
              <a:t>analyzes words, images, processes, or objects</a:t>
            </a:r>
            <a:endParaRPr b="0" i="0" sz="2200" u="sng" cap="none" strike="noStrike">
              <a:solidFill>
                <a:schemeClr val="dk1"/>
              </a:solidFill>
              <a:latin typeface="Questrial"/>
              <a:ea typeface="Questrial"/>
              <a:cs typeface="Questrial"/>
              <a:sym typeface="Questrial"/>
            </a:endParaRPr>
          </a:p>
          <a:p>
            <a:pPr indent="-203200" lvl="0" marL="241300" marR="0" rtl="0" algn="l">
              <a:lnSpc>
                <a:spcPct val="100000"/>
              </a:lnSpc>
              <a:spcBef>
                <a:spcPts val="0"/>
              </a:spcBef>
              <a:spcAft>
                <a:spcPts val="0"/>
              </a:spcAft>
              <a:buClr>
                <a:schemeClr val="dk1"/>
              </a:buClr>
              <a:buSzPts val="2200"/>
              <a:buFont typeface="Questrial"/>
              <a:buChar char="●"/>
            </a:pPr>
            <a:r>
              <a:rPr b="0" i="0" lang="en-US" sz="2200" u="none" cap="none" strike="noStrike">
                <a:solidFill>
                  <a:schemeClr val="dk1"/>
                </a:solidFill>
                <a:latin typeface="Questrial"/>
                <a:ea typeface="Questrial"/>
                <a:cs typeface="Questrial"/>
                <a:sym typeface="Questrial"/>
              </a:rPr>
              <a:t> Information observed through </a:t>
            </a:r>
            <a:r>
              <a:rPr b="0" i="0" lang="en-US" sz="2200" u="sng" cap="none" strike="noStrike">
                <a:solidFill>
                  <a:schemeClr val="dk1"/>
                </a:solidFill>
                <a:latin typeface="Questrial"/>
                <a:ea typeface="Questrial"/>
                <a:cs typeface="Questrial"/>
                <a:sym typeface="Questrial"/>
              </a:rPr>
              <a:t>conversations</a:t>
            </a:r>
            <a:r>
              <a:rPr b="0" i="0" lang="en-US" sz="2200" u="none" cap="none" strike="noStrike">
                <a:solidFill>
                  <a:schemeClr val="dk1"/>
                </a:solidFill>
                <a:latin typeface="Questrial"/>
                <a:ea typeface="Questrial"/>
                <a:cs typeface="Questrial"/>
                <a:sym typeface="Questrial"/>
              </a:rPr>
              <a:t>, (field) </a:t>
            </a:r>
            <a:r>
              <a:rPr b="0" i="0" lang="en-US" sz="2200" u="sng" cap="none" strike="noStrike">
                <a:solidFill>
                  <a:schemeClr val="dk1"/>
                </a:solidFill>
                <a:latin typeface="Questrial"/>
                <a:ea typeface="Questrial"/>
                <a:cs typeface="Questrial"/>
                <a:sym typeface="Questrial"/>
              </a:rPr>
              <a:t>observations</a:t>
            </a:r>
            <a:r>
              <a:rPr b="0" i="0" lang="en-US" sz="2200" u="none" cap="none" strike="noStrike">
                <a:solidFill>
                  <a:schemeClr val="dk1"/>
                </a:solidFill>
                <a:latin typeface="Questrial"/>
                <a:ea typeface="Questrial"/>
                <a:cs typeface="Questrial"/>
                <a:sym typeface="Questrial"/>
              </a:rPr>
              <a:t>, </a:t>
            </a:r>
            <a:r>
              <a:rPr b="0" i="0" lang="en-US" sz="2200" u="sng" cap="none" strike="noStrike">
                <a:solidFill>
                  <a:schemeClr val="dk1"/>
                </a:solidFill>
                <a:latin typeface="Questrial"/>
                <a:ea typeface="Questrial"/>
                <a:cs typeface="Questrial"/>
                <a:sym typeface="Questrial"/>
              </a:rPr>
              <a:t>anecdotal</a:t>
            </a:r>
            <a:r>
              <a:rPr b="0" i="0" lang="en-US" sz="2200" u="none" cap="none" strike="noStrike">
                <a:solidFill>
                  <a:schemeClr val="dk1"/>
                </a:solidFill>
                <a:latin typeface="Questrial"/>
                <a:ea typeface="Questrial"/>
                <a:cs typeface="Questrial"/>
                <a:sym typeface="Questrial"/>
              </a:rPr>
              <a:t> evidence</a:t>
            </a:r>
            <a:endParaRPr b="1" i="0" sz="2200" u="none" cap="none" strike="noStrike">
              <a:solidFill>
                <a:schemeClr val="dk1"/>
              </a:solidFill>
              <a:latin typeface="Questrial"/>
              <a:ea typeface="Questrial"/>
              <a:cs typeface="Questrial"/>
              <a:sym typeface="Quest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g39b7157ad26_0_85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4000">
                <a:latin typeface="Montserrat"/>
                <a:ea typeface="Montserrat"/>
                <a:cs typeface="Montserrat"/>
                <a:sym typeface="Montserrat"/>
              </a:rPr>
              <a:t>Designing a questionnaire I</a:t>
            </a:r>
            <a:endParaRPr b="1" sz="4000">
              <a:latin typeface="Montserrat"/>
              <a:ea typeface="Montserrat"/>
              <a:cs typeface="Montserrat"/>
              <a:sym typeface="Montserrat"/>
            </a:endParaRPr>
          </a:p>
        </p:txBody>
      </p:sp>
      <p:sp>
        <p:nvSpPr>
          <p:cNvPr id="593" name="Google Shape;593;g39b7157ad26_0_850"/>
          <p:cNvSpPr txBox="1"/>
          <p:nvPr>
            <p:ph idx="1" type="body"/>
          </p:nvPr>
        </p:nvSpPr>
        <p:spPr>
          <a:xfrm>
            <a:off x="838200" y="1788425"/>
            <a:ext cx="10515600" cy="26865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Font typeface="Montserrat"/>
              <a:buAutoNum type="arabicPeriod"/>
            </a:pPr>
            <a:r>
              <a:rPr lang="en-US">
                <a:latin typeface="Montserrat"/>
                <a:ea typeface="Montserrat"/>
                <a:cs typeface="Montserrat"/>
                <a:sym typeface="Montserrat"/>
              </a:rPr>
              <a:t>Introduction</a:t>
            </a:r>
            <a:endParaRPr>
              <a:latin typeface="Montserrat"/>
              <a:ea typeface="Montserrat"/>
              <a:cs typeface="Montserrat"/>
              <a:sym typeface="Montserrat"/>
            </a:endParaRPr>
          </a:p>
          <a:p>
            <a:pPr indent="-342900" lvl="0" marL="457200" rtl="0" algn="l">
              <a:lnSpc>
                <a:spcPct val="90000"/>
              </a:lnSpc>
              <a:spcBef>
                <a:spcPts val="0"/>
              </a:spcBef>
              <a:spcAft>
                <a:spcPts val="0"/>
              </a:spcAft>
              <a:buSzPts val="1800"/>
              <a:buFont typeface="Montserrat"/>
              <a:buAutoNum type="arabicPeriod"/>
            </a:pPr>
            <a:r>
              <a:rPr lang="en-US">
                <a:latin typeface="Montserrat"/>
                <a:ea typeface="Montserrat"/>
                <a:cs typeface="Montserrat"/>
                <a:sym typeface="Montserrat"/>
              </a:rPr>
              <a:t>Filter question</a:t>
            </a:r>
            <a:endParaRPr>
              <a:latin typeface="Montserrat"/>
              <a:ea typeface="Montserrat"/>
              <a:cs typeface="Montserrat"/>
              <a:sym typeface="Montserrat"/>
            </a:endParaRPr>
          </a:p>
          <a:p>
            <a:pPr indent="-342900" lvl="0" marL="457200" rtl="0" algn="l">
              <a:lnSpc>
                <a:spcPct val="90000"/>
              </a:lnSpc>
              <a:spcBef>
                <a:spcPts val="0"/>
              </a:spcBef>
              <a:spcAft>
                <a:spcPts val="0"/>
              </a:spcAft>
              <a:buSzPts val="1800"/>
              <a:buFont typeface="Montserrat"/>
              <a:buAutoNum type="arabicPeriod"/>
            </a:pPr>
            <a:r>
              <a:rPr lang="en-US">
                <a:latin typeface="Montserrat"/>
                <a:ea typeface="Montserrat"/>
                <a:cs typeface="Montserrat"/>
                <a:sym typeface="Montserrat"/>
              </a:rPr>
              <a:t>Guidelines </a:t>
            </a:r>
            <a:endParaRPr>
              <a:latin typeface="Montserrat"/>
              <a:ea typeface="Montserrat"/>
              <a:cs typeface="Montserrat"/>
              <a:sym typeface="Montserrat"/>
            </a:endParaRPr>
          </a:p>
          <a:p>
            <a:pPr indent="-342900" lvl="0" marL="457200" rtl="0" algn="l">
              <a:lnSpc>
                <a:spcPct val="90000"/>
              </a:lnSpc>
              <a:spcBef>
                <a:spcPts val="0"/>
              </a:spcBef>
              <a:spcAft>
                <a:spcPts val="0"/>
              </a:spcAft>
              <a:buSzPts val="1800"/>
              <a:buFont typeface="Montserrat"/>
              <a:buAutoNum type="arabicPeriod"/>
            </a:pPr>
            <a:r>
              <a:rPr lang="en-US">
                <a:latin typeface="Montserrat"/>
                <a:ea typeface="Montserrat"/>
                <a:cs typeface="Montserrat"/>
                <a:sym typeface="Montserrat"/>
              </a:rPr>
              <a:t>Sequence, skips</a:t>
            </a:r>
            <a:endParaRPr>
              <a:latin typeface="Montserrat"/>
              <a:ea typeface="Montserrat"/>
              <a:cs typeface="Montserrat"/>
              <a:sym typeface="Montserrat"/>
            </a:endParaRPr>
          </a:p>
          <a:p>
            <a:pPr indent="-342900" lvl="0" marL="457200" rtl="0" algn="l">
              <a:lnSpc>
                <a:spcPct val="90000"/>
              </a:lnSpc>
              <a:spcBef>
                <a:spcPts val="0"/>
              </a:spcBef>
              <a:spcAft>
                <a:spcPts val="0"/>
              </a:spcAft>
              <a:buSzPts val="1800"/>
              <a:buFont typeface="Montserrat"/>
              <a:buAutoNum type="arabicPeriod"/>
            </a:pPr>
            <a:r>
              <a:rPr lang="en-US">
                <a:latin typeface="Montserrat"/>
                <a:ea typeface="Montserrat"/>
                <a:cs typeface="Montserrat"/>
                <a:sym typeface="Montserrat"/>
              </a:rPr>
              <a:t>Classification (</a:t>
            </a:r>
            <a:r>
              <a:rPr i="1" lang="en-US">
                <a:latin typeface="Montserrat"/>
                <a:ea typeface="Montserrat"/>
                <a:cs typeface="Montserrat"/>
                <a:sym typeface="Montserrat"/>
              </a:rPr>
              <a:t>target audience</a:t>
            </a:r>
            <a:r>
              <a:rPr lang="en-US">
                <a:latin typeface="Montserrat"/>
                <a:ea typeface="Montserrat"/>
                <a:cs typeface="Montserrat"/>
                <a:sym typeface="Montserrat"/>
              </a:rPr>
              <a:t>)</a:t>
            </a:r>
            <a:endParaRPr>
              <a:latin typeface="Montserrat"/>
              <a:ea typeface="Montserrat"/>
              <a:cs typeface="Montserrat"/>
              <a:sym typeface="Montserrat"/>
            </a:endParaRPr>
          </a:p>
          <a:p>
            <a:pPr indent="-342900" lvl="0" marL="457200" rtl="0" algn="l">
              <a:lnSpc>
                <a:spcPct val="90000"/>
              </a:lnSpc>
              <a:spcBef>
                <a:spcPts val="0"/>
              </a:spcBef>
              <a:spcAft>
                <a:spcPts val="0"/>
              </a:spcAft>
              <a:buSzPts val="1800"/>
              <a:buFont typeface="Montserrat"/>
              <a:buAutoNum type="arabicPeriod"/>
            </a:pPr>
            <a:r>
              <a:rPr lang="en-US">
                <a:latin typeface="Montserrat"/>
                <a:ea typeface="Montserrat"/>
                <a:cs typeface="Montserrat"/>
                <a:sym typeface="Montserrat"/>
              </a:rPr>
              <a:t>Close</a:t>
            </a:r>
            <a:endParaRPr>
              <a:latin typeface="Montserrat"/>
              <a:ea typeface="Montserrat"/>
              <a:cs typeface="Montserrat"/>
              <a:sym typeface="Montserrat"/>
            </a:endParaRPr>
          </a:p>
        </p:txBody>
      </p:sp>
      <p:sp>
        <p:nvSpPr>
          <p:cNvPr id="594" name="Google Shape;594;g39b7157ad26_0_850"/>
          <p:cNvSpPr txBox="1"/>
          <p:nvPr/>
        </p:nvSpPr>
        <p:spPr>
          <a:xfrm>
            <a:off x="838200" y="4780475"/>
            <a:ext cx="10106700" cy="1139100"/>
          </a:xfrm>
          <a:prstGeom prst="rect">
            <a:avLst/>
          </a:prstGeom>
          <a:noFill/>
          <a:ln>
            <a:noFill/>
          </a:ln>
        </p:spPr>
        <p:txBody>
          <a:bodyPr anchorCtr="0" anchor="t" bIns="91425" lIns="91425" spcFirstLastPara="1" rIns="91425" wrap="square" tIns="91425">
            <a:spAutoFit/>
          </a:bodyPr>
          <a:lstStyle/>
          <a:p>
            <a:pPr indent="-241300" lvl="0" marL="241300" marR="0" rtl="0" algn="l">
              <a:lnSpc>
                <a:spcPct val="100000"/>
              </a:lnSpc>
              <a:spcBef>
                <a:spcPts val="0"/>
              </a:spcBef>
              <a:spcAft>
                <a:spcPts val="0"/>
              </a:spcAft>
              <a:buClr>
                <a:schemeClr val="dk1"/>
              </a:buClr>
              <a:buSzPts val="3100"/>
              <a:buFont typeface="Questrial"/>
              <a:buChar char="●"/>
            </a:pPr>
            <a:r>
              <a:rPr b="0" i="0" lang="en-US" sz="3100" u="sng" cap="none" strike="noStrike">
                <a:solidFill>
                  <a:schemeClr val="dk1"/>
                </a:solidFill>
                <a:latin typeface="Questrial"/>
                <a:ea typeface="Questrial"/>
                <a:cs typeface="Questrial"/>
                <a:sym typeface="Questrial"/>
              </a:rPr>
              <a:t>Validity</a:t>
            </a:r>
            <a:r>
              <a:rPr b="0" i="0" lang="en-US" sz="3100" u="none" cap="none" strike="noStrike">
                <a:solidFill>
                  <a:schemeClr val="dk1"/>
                </a:solidFill>
                <a:latin typeface="Questrial"/>
                <a:ea typeface="Questrial"/>
                <a:cs typeface="Questrial"/>
                <a:sym typeface="Questrial"/>
              </a:rPr>
              <a:t>; it measures what it was designed to measure.</a:t>
            </a:r>
            <a:endParaRPr b="0" i="0" sz="3100" u="none" cap="none" strike="noStrike">
              <a:solidFill>
                <a:schemeClr val="dk1"/>
              </a:solidFill>
              <a:latin typeface="Questrial"/>
              <a:ea typeface="Questrial"/>
              <a:cs typeface="Questrial"/>
              <a:sym typeface="Questrial"/>
            </a:endParaRPr>
          </a:p>
          <a:p>
            <a:pPr indent="-241300" lvl="0" marL="241300" marR="0" rtl="0" algn="l">
              <a:lnSpc>
                <a:spcPct val="100000"/>
              </a:lnSpc>
              <a:spcBef>
                <a:spcPts val="0"/>
              </a:spcBef>
              <a:spcAft>
                <a:spcPts val="0"/>
              </a:spcAft>
              <a:buClr>
                <a:schemeClr val="dk1"/>
              </a:buClr>
              <a:buSzPts val="3100"/>
              <a:buFont typeface="Questrial"/>
              <a:buChar char="●"/>
            </a:pPr>
            <a:r>
              <a:rPr b="0" i="0" lang="en-US" sz="3100" u="sng" cap="none" strike="noStrike">
                <a:solidFill>
                  <a:schemeClr val="dk1"/>
                </a:solidFill>
                <a:latin typeface="Questrial"/>
                <a:ea typeface="Questrial"/>
                <a:cs typeface="Questrial"/>
                <a:sym typeface="Questrial"/>
              </a:rPr>
              <a:t>Reliability</a:t>
            </a:r>
            <a:r>
              <a:rPr b="0" i="0" lang="en-US" sz="3100" u="none" cap="none" strike="noStrike">
                <a:solidFill>
                  <a:schemeClr val="dk1"/>
                </a:solidFill>
                <a:latin typeface="Questrial"/>
                <a:ea typeface="Questrial"/>
                <a:cs typeface="Questrial"/>
                <a:sym typeface="Questrial"/>
              </a:rPr>
              <a:t>; it can be repeated with the same results.</a:t>
            </a:r>
            <a:endParaRPr b="0" i="0" sz="23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g39b7157ad26_0_85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4000">
                <a:latin typeface="Montserrat"/>
                <a:ea typeface="Montserrat"/>
                <a:cs typeface="Montserrat"/>
                <a:sym typeface="Montserrat"/>
              </a:rPr>
              <a:t>Designing a questionnaire II</a:t>
            </a:r>
            <a:endParaRPr b="1" sz="4000">
              <a:latin typeface="Montserrat"/>
              <a:ea typeface="Montserrat"/>
              <a:cs typeface="Montserrat"/>
              <a:sym typeface="Montserrat"/>
            </a:endParaRPr>
          </a:p>
          <a:p>
            <a:pPr indent="0" lvl="0" marL="0" rtl="0" algn="l">
              <a:lnSpc>
                <a:spcPct val="90000"/>
              </a:lnSpc>
              <a:spcBef>
                <a:spcPts val="0"/>
              </a:spcBef>
              <a:spcAft>
                <a:spcPts val="0"/>
              </a:spcAft>
              <a:buSzPts val="1800"/>
              <a:buNone/>
            </a:pPr>
            <a:r>
              <a:rPr lang="en-US" sz="3800">
                <a:latin typeface="Montserrat"/>
                <a:ea typeface="Montserrat"/>
                <a:cs typeface="Montserrat"/>
                <a:sym typeface="Montserrat"/>
              </a:rPr>
              <a:t>Using Questionnaire and Interviews:</a:t>
            </a:r>
            <a:endParaRPr sz="3800">
              <a:latin typeface="Montserrat"/>
              <a:ea typeface="Montserrat"/>
              <a:cs typeface="Montserrat"/>
              <a:sym typeface="Montserrat"/>
            </a:endParaRPr>
          </a:p>
        </p:txBody>
      </p:sp>
      <p:sp>
        <p:nvSpPr>
          <p:cNvPr id="601" name="Google Shape;601;g39b7157ad26_0_856"/>
          <p:cNvSpPr txBox="1"/>
          <p:nvPr>
            <p:ph idx="1" type="body"/>
          </p:nvPr>
        </p:nvSpPr>
        <p:spPr>
          <a:xfrm>
            <a:off x="838200" y="1788425"/>
            <a:ext cx="10515600" cy="4572600"/>
          </a:xfrm>
          <a:prstGeom prst="rect">
            <a:avLst/>
          </a:prstGeom>
          <a:noFill/>
          <a:ln>
            <a:noFill/>
          </a:ln>
        </p:spPr>
        <p:txBody>
          <a:bodyPr anchorCtr="0" anchor="t" bIns="45700" lIns="91425" spcFirstLastPara="1" rIns="91425" wrap="square" tIns="45700">
            <a:normAutofit fontScale="77500" lnSpcReduction="20000"/>
          </a:bodyPr>
          <a:lstStyle/>
          <a:p>
            <a:pPr indent="-371378" lvl="0" marL="457200" rtl="0" algn="l">
              <a:lnSpc>
                <a:spcPct val="90000"/>
              </a:lnSpc>
              <a:spcBef>
                <a:spcPts val="700"/>
              </a:spcBef>
              <a:spcAft>
                <a:spcPts val="0"/>
              </a:spcAft>
              <a:buClr>
                <a:srgbClr val="B509D1"/>
              </a:buClr>
              <a:buSzPct val="100000"/>
              <a:buFont typeface="Montserrat"/>
              <a:buChar char="★"/>
            </a:pPr>
            <a:r>
              <a:rPr lang="en-US" sz="2900">
                <a:latin typeface="Montserrat"/>
                <a:ea typeface="Montserrat"/>
                <a:cs typeface="Montserrat"/>
                <a:sym typeface="Montserrat"/>
              </a:rPr>
              <a:t>Keeping reader’s need while preparing the questionnaire</a:t>
            </a:r>
            <a:endParaRPr sz="900">
              <a:latin typeface="Montserrat"/>
              <a:ea typeface="Montserrat"/>
              <a:cs typeface="Montserrat"/>
              <a:sym typeface="Montserrat"/>
            </a:endParaRPr>
          </a:p>
          <a:p>
            <a:pPr indent="0" lvl="0" marL="457200" rtl="0" algn="l">
              <a:lnSpc>
                <a:spcPct val="90000"/>
              </a:lnSpc>
              <a:spcBef>
                <a:spcPts val="700"/>
              </a:spcBef>
              <a:spcAft>
                <a:spcPts val="0"/>
              </a:spcAft>
              <a:buSzPct val="80087"/>
              <a:buNone/>
            </a:pPr>
            <a:r>
              <a:rPr lang="en-US" sz="2900">
                <a:solidFill>
                  <a:srgbClr val="7030A0"/>
                </a:solidFill>
                <a:latin typeface="Montserrat"/>
                <a:ea typeface="Montserrat"/>
                <a:cs typeface="Montserrat"/>
                <a:sym typeface="Montserrat"/>
              </a:rPr>
              <a:t>It benefits them personally or professionally/it is easy to fill out and return</a:t>
            </a:r>
            <a:endParaRPr sz="900">
              <a:latin typeface="Montserrat"/>
              <a:ea typeface="Montserrat"/>
              <a:cs typeface="Montserrat"/>
              <a:sym typeface="Montserrat"/>
            </a:endParaRPr>
          </a:p>
          <a:p>
            <a:pPr indent="0" lvl="0" marL="457200" rtl="0" algn="l">
              <a:lnSpc>
                <a:spcPct val="90000"/>
              </a:lnSpc>
              <a:spcBef>
                <a:spcPts val="700"/>
              </a:spcBef>
              <a:spcAft>
                <a:spcPts val="0"/>
              </a:spcAft>
              <a:buSzPct val="80087"/>
              <a:buNone/>
            </a:pPr>
            <a:r>
              <a:t/>
            </a:r>
            <a:endParaRPr sz="2900">
              <a:latin typeface="Montserrat"/>
              <a:ea typeface="Montserrat"/>
              <a:cs typeface="Montserrat"/>
              <a:sym typeface="Montserrat"/>
            </a:endParaRPr>
          </a:p>
          <a:p>
            <a:pPr indent="-371378" lvl="0" marL="457200" rtl="0" algn="l">
              <a:lnSpc>
                <a:spcPct val="90000"/>
              </a:lnSpc>
              <a:spcBef>
                <a:spcPts val="700"/>
              </a:spcBef>
              <a:spcAft>
                <a:spcPts val="0"/>
              </a:spcAft>
              <a:buClr>
                <a:srgbClr val="B509D1"/>
              </a:buClr>
              <a:buSzPct val="100000"/>
              <a:buFont typeface="Montserrat"/>
              <a:buChar char="★"/>
            </a:pPr>
            <a:r>
              <a:rPr lang="en-US" sz="2900">
                <a:latin typeface="Montserrat"/>
                <a:ea typeface="Montserrat"/>
                <a:cs typeface="Montserrat"/>
                <a:sym typeface="Montserrat"/>
              </a:rPr>
              <a:t>Write a precise purpose statement</a:t>
            </a:r>
            <a:endParaRPr sz="900">
              <a:latin typeface="Montserrat"/>
              <a:ea typeface="Montserrat"/>
              <a:cs typeface="Montserrat"/>
              <a:sym typeface="Montserrat"/>
            </a:endParaRPr>
          </a:p>
          <a:p>
            <a:pPr indent="0" lvl="0" marL="457200" rtl="0" algn="l">
              <a:lnSpc>
                <a:spcPct val="90000"/>
              </a:lnSpc>
              <a:spcBef>
                <a:spcPts val="700"/>
              </a:spcBef>
              <a:spcAft>
                <a:spcPts val="0"/>
              </a:spcAft>
              <a:buSzPct val="80087"/>
              <a:buNone/>
            </a:pPr>
            <a:r>
              <a:rPr lang="en-US" sz="2900">
                <a:solidFill>
                  <a:srgbClr val="7030A0"/>
                </a:solidFill>
                <a:latin typeface="Montserrat"/>
                <a:ea typeface="Montserrat"/>
                <a:cs typeface="Montserrat"/>
                <a:sym typeface="Montserrat"/>
              </a:rPr>
              <a:t>E.g. “The purpose of this survey is to find out ways in which…..”</a:t>
            </a:r>
            <a:endParaRPr sz="900">
              <a:latin typeface="Montserrat"/>
              <a:ea typeface="Montserrat"/>
              <a:cs typeface="Montserrat"/>
              <a:sym typeface="Montserrat"/>
            </a:endParaRPr>
          </a:p>
          <a:p>
            <a:pPr indent="0" lvl="0" marL="457200" rtl="0" algn="l">
              <a:lnSpc>
                <a:spcPct val="90000"/>
              </a:lnSpc>
              <a:spcBef>
                <a:spcPts val="700"/>
              </a:spcBef>
              <a:spcAft>
                <a:spcPts val="0"/>
              </a:spcAft>
              <a:buSzPct val="80087"/>
              <a:buNone/>
            </a:pPr>
            <a:r>
              <a:t/>
            </a:r>
            <a:endParaRPr sz="2900">
              <a:latin typeface="Montserrat"/>
              <a:ea typeface="Montserrat"/>
              <a:cs typeface="Montserrat"/>
              <a:sym typeface="Montserrat"/>
            </a:endParaRPr>
          </a:p>
          <a:p>
            <a:pPr indent="-371378" lvl="0" marL="457200" rtl="0" algn="l">
              <a:lnSpc>
                <a:spcPct val="90000"/>
              </a:lnSpc>
              <a:spcBef>
                <a:spcPts val="700"/>
              </a:spcBef>
              <a:spcAft>
                <a:spcPts val="0"/>
              </a:spcAft>
              <a:buClr>
                <a:srgbClr val="B509D1"/>
              </a:buClr>
              <a:buSzPct val="100000"/>
              <a:buFont typeface="Montserrat"/>
              <a:buChar char="★"/>
            </a:pPr>
            <a:r>
              <a:rPr lang="en-US" sz="2900">
                <a:latin typeface="Montserrat"/>
                <a:ea typeface="Montserrat"/>
                <a:cs typeface="Montserrat"/>
                <a:sym typeface="Montserrat"/>
              </a:rPr>
              <a:t>Limit the number of questions</a:t>
            </a:r>
            <a:endParaRPr sz="900">
              <a:latin typeface="Montserrat"/>
              <a:ea typeface="Montserrat"/>
              <a:cs typeface="Montserrat"/>
              <a:sym typeface="Montserrat"/>
            </a:endParaRPr>
          </a:p>
          <a:p>
            <a:pPr indent="0" lvl="0" marL="457200" rtl="0" algn="l">
              <a:lnSpc>
                <a:spcPct val="90000"/>
              </a:lnSpc>
              <a:spcBef>
                <a:spcPts val="700"/>
              </a:spcBef>
              <a:spcAft>
                <a:spcPts val="0"/>
              </a:spcAft>
              <a:buSzPct val="80087"/>
              <a:buNone/>
            </a:pPr>
            <a:r>
              <a:rPr lang="en-US" sz="2900">
                <a:solidFill>
                  <a:srgbClr val="7030A0"/>
                </a:solidFill>
                <a:latin typeface="Montserrat"/>
                <a:ea typeface="Montserrat"/>
                <a:cs typeface="Montserrat"/>
                <a:sym typeface="Montserrat"/>
              </a:rPr>
              <a:t>Every question must serve the purpose/ resist the temptation to clutter questionnaire with irrelevant questions</a:t>
            </a:r>
            <a:endParaRPr sz="900">
              <a:latin typeface="Montserrat"/>
              <a:ea typeface="Montserrat"/>
              <a:cs typeface="Montserrat"/>
              <a:sym typeface="Montserrat"/>
            </a:endParaRPr>
          </a:p>
          <a:p>
            <a:pPr indent="0" lvl="0" marL="457200" rtl="0" algn="l">
              <a:lnSpc>
                <a:spcPct val="90000"/>
              </a:lnSpc>
              <a:spcBef>
                <a:spcPts val="700"/>
              </a:spcBef>
              <a:spcAft>
                <a:spcPts val="0"/>
              </a:spcAft>
              <a:buSzPct val="80087"/>
              <a:buNone/>
            </a:pPr>
            <a:r>
              <a:t/>
            </a:r>
            <a:endParaRPr sz="2900">
              <a:latin typeface="Montserrat"/>
              <a:ea typeface="Montserrat"/>
              <a:cs typeface="Montserrat"/>
              <a:sym typeface="Montserrat"/>
            </a:endParaRPr>
          </a:p>
          <a:p>
            <a:pPr indent="-371378" lvl="0" marL="457200" rtl="0" algn="l">
              <a:lnSpc>
                <a:spcPct val="90000"/>
              </a:lnSpc>
              <a:spcBef>
                <a:spcPts val="700"/>
              </a:spcBef>
              <a:spcAft>
                <a:spcPts val="0"/>
              </a:spcAft>
              <a:buClr>
                <a:srgbClr val="B509D1"/>
              </a:buClr>
              <a:buSzPct val="100000"/>
              <a:buFont typeface="Montserrat"/>
              <a:buChar char="★"/>
            </a:pPr>
            <a:r>
              <a:rPr lang="en-US" sz="2900">
                <a:latin typeface="Montserrat"/>
                <a:ea typeface="Montserrat"/>
                <a:cs typeface="Montserrat"/>
                <a:sym typeface="Montserrat"/>
              </a:rPr>
              <a:t>Ask mostly objective questions</a:t>
            </a:r>
            <a:endParaRPr sz="900">
              <a:latin typeface="Montserrat"/>
              <a:ea typeface="Montserrat"/>
              <a:cs typeface="Montserrat"/>
              <a:sym typeface="Montserrat"/>
            </a:endParaRPr>
          </a:p>
          <a:p>
            <a:pPr indent="-371378" lvl="0" marL="457200" rtl="0" algn="l">
              <a:lnSpc>
                <a:spcPct val="90000"/>
              </a:lnSpc>
              <a:spcBef>
                <a:spcPts val="0"/>
              </a:spcBef>
              <a:spcAft>
                <a:spcPts val="0"/>
              </a:spcAft>
              <a:buClr>
                <a:srgbClr val="B509D1"/>
              </a:buClr>
              <a:buSzPct val="100000"/>
              <a:buFont typeface="Montserrat"/>
              <a:buChar char="★"/>
            </a:pPr>
            <a:r>
              <a:rPr lang="en-US" sz="2900">
                <a:solidFill>
                  <a:srgbClr val="7030A0"/>
                </a:solidFill>
                <a:latin typeface="Montserrat"/>
                <a:ea typeface="Montserrat"/>
                <a:cs typeface="Montserrat"/>
                <a:sym typeface="Montserrat"/>
              </a:rPr>
              <a:t>So that the questions are easy to answer and responses are easy to compile</a:t>
            </a:r>
            <a:endParaRPr>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5" name="Shape 605"/>
        <p:cNvGrpSpPr/>
        <p:nvPr/>
      </p:nvGrpSpPr>
      <p:grpSpPr>
        <a:xfrm>
          <a:off x="0" y="0"/>
          <a:ext cx="0" cy="0"/>
          <a:chOff x="0" y="0"/>
          <a:chExt cx="0" cy="0"/>
        </a:xfrm>
      </p:grpSpPr>
      <p:graphicFrame>
        <p:nvGraphicFramePr>
          <p:cNvPr id="606" name="Google Shape;606;g39b7157ad26_0_593"/>
          <p:cNvGraphicFramePr/>
          <p:nvPr/>
        </p:nvGraphicFramePr>
        <p:xfrm>
          <a:off x="1132367" y="128312"/>
          <a:ext cx="3000000" cy="3000000"/>
        </p:xfrm>
        <a:graphic>
          <a:graphicData uri="http://schemas.openxmlformats.org/drawingml/2006/table">
            <a:tbl>
              <a:tblPr>
                <a:noFill/>
                <a:tableStyleId>{93EAD191-1106-4D6D-9E3D-0AA81C2B6802}</a:tableStyleId>
              </a:tblPr>
              <a:tblGrid>
                <a:gridCol w="3510175"/>
                <a:gridCol w="6687625"/>
              </a:tblGrid>
              <a:tr h="3985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Types of Questions</a:t>
                      </a:r>
                      <a:endParaRPr sz="900" u="none" cap="none" strike="noStrike"/>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solidFill>
                      <a:srgbClr val="41AEBD"/>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Examples</a:t>
                      </a:r>
                      <a:endParaRPr sz="900" u="none" cap="none" strike="noStrike"/>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solidFill>
                      <a:srgbClr val="41AEBD"/>
                    </a:solidFill>
                  </a:tcPr>
                </a:tc>
              </a:tr>
              <a:tr h="14234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Times New Roman"/>
                          <a:ea typeface="Times New Roman"/>
                          <a:cs typeface="Times New Roman"/>
                          <a:sym typeface="Times New Roman"/>
                        </a:rPr>
                        <a:t>Either/Or Questions</a:t>
                      </a:r>
                      <a:endParaRPr sz="900" u="none" cap="none" strike="noStrike"/>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DE3E7"/>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Times New Roman"/>
                          <a:ea typeface="Times New Roman"/>
                          <a:cs typeface="Times New Roman"/>
                          <a:sym typeface="Times New Roman"/>
                        </a:rPr>
                        <a:t>Would you or your technical staff find it useful to receive a technical newsletter on acid rain?</a:t>
                      </a:r>
                      <a:endParaRPr sz="900" u="none" cap="none" strike="noStrike"/>
                    </a:p>
                    <a:p>
                      <a:pPr indent="-228600" lvl="0" marL="228600" marR="0" rtl="0" algn="l">
                        <a:lnSpc>
                          <a:spcPct val="100000"/>
                        </a:lnSpc>
                        <a:spcBef>
                          <a:spcPts val="0"/>
                        </a:spcBef>
                        <a:spcAft>
                          <a:spcPts val="0"/>
                        </a:spcAft>
                        <a:buClr>
                          <a:srgbClr val="000000"/>
                        </a:buClr>
                        <a:buSzPts val="2400"/>
                        <a:buFont typeface="Arial"/>
                        <a:buAutoNum type="alphaLcPeriod"/>
                      </a:pPr>
                      <a:r>
                        <a:rPr lang="en-US" sz="2400" u="none" cap="none" strike="noStrike">
                          <a:latin typeface="Times New Roman"/>
                          <a:ea typeface="Times New Roman"/>
                          <a:cs typeface="Times New Roman"/>
                          <a:sym typeface="Times New Roman"/>
                        </a:rPr>
                        <a:t>Yes</a:t>
                      </a:r>
                      <a:endParaRPr sz="900" u="none" cap="none" strike="noStrike"/>
                    </a:p>
                    <a:p>
                      <a:pPr indent="-228600" lvl="0" marL="228600" marR="0" rtl="0" algn="l">
                        <a:lnSpc>
                          <a:spcPct val="100000"/>
                        </a:lnSpc>
                        <a:spcBef>
                          <a:spcPts val="0"/>
                        </a:spcBef>
                        <a:spcAft>
                          <a:spcPts val="0"/>
                        </a:spcAft>
                        <a:buClr>
                          <a:srgbClr val="000000"/>
                        </a:buClr>
                        <a:buSzPts val="2400"/>
                        <a:buFont typeface="Arial"/>
                        <a:buAutoNum type="alphaLcPeriod"/>
                      </a:pPr>
                      <a:r>
                        <a:rPr lang="en-US" sz="2400" u="none" cap="none" strike="noStrike">
                          <a:latin typeface="Times New Roman"/>
                          <a:ea typeface="Times New Roman"/>
                          <a:cs typeface="Times New Roman"/>
                          <a:sym typeface="Times New Roman"/>
                        </a:rPr>
                        <a:t>No</a:t>
                      </a:r>
                      <a:endParaRPr sz="900" u="none" cap="none" strike="noStrike"/>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DE3E7"/>
                    </a:solidFill>
                  </a:tcPr>
                </a:tc>
              </a:tr>
              <a:tr h="17651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Times New Roman"/>
                          <a:ea typeface="Times New Roman"/>
                          <a:cs typeface="Times New Roman"/>
                          <a:sym typeface="Times New Roman"/>
                        </a:rPr>
                        <a:t>Multiple Choice Questions</a:t>
                      </a:r>
                      <a:endParaRPr sz="900" u="none" cap="none" strike="noStrike"/>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8F1F4"/>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Times New Roman"/>
                          <a:ea typeface="Times New Roman"/>
                          <a:cs typeface="Times New Roman"/>
                          <a:sym typeface="Times New Roman"/>
                        </a:rPr>
                        <a:t>If you answered “yes” to preceding question, what publication schedule would best meet your needs:</a:t>
                      </a:r>
                      <a:endParaRPr sz="900" u="none" cap="none" strike="noStrike"/>
                    </a:p>
                    <a:p>
                      <a:pPr indent="-228600" lvl="0" marL="228600" marR="0" rtl="0" algn="l">
                        <a:lnSpc>
                          <a:spcPct val="100000"/>
                        </a:lnSpc>
                        <a:spcBef>
                          <a:spcPts val="0"/>
                        </a:spcBef>
                        <a:spcAft>
                          <a:spcPts val="0"/>
                        </a:spcAft>
                        <a:buClr>
                          <a:srgbClr val="000000"/>
                        </a:buClr>
                        <a:buSzPts val="2400"/>
                        <a:buFont typeface="Arial"/>
                        <a:buAutoNum type="alphaLcPeriod"/>
                      </a:pPr>
                      <a:r>
                        <a:rPr lang="en-US" sz="2400" u="none" cap="none" strike="noStrike">
                          <a:latin typeface="Times New Roman"/>
                          <a:ea typeface="Times New Roman"/>
                          <a:cs typeface="Times New Roman"/>
                          <a:sym typeface="Times New Roman"/>
                        </a:rPr>
                        <a:t>Monthly</a:t>
                      </a:r>
                      <a:endParaRPr sz="900" u="none" cap="none" strike="noStrike"/>
                    </a:p>
                    <a:p>
                      <a:pPr indent="-228600" lvl="0" marL="228600" marR="0" rtl="0" algn="l">
                        <a:lnSpc>
                          <a:spcPct val="100000"/>
                        </a:lnSpc>
                        <a:spcBef>
                          <a:spcPts val="0"/>
                        </a:spcBef>
                        <a:spcAft>
                          <a:spcPts val="0"/>
                        </a:spcAft>
                        <a:buClr>
                          <a:srgbClr val="000000"/>
                        </a:buClr>
                        <a:buSzPts val="2400"/>
                        <a:buFont typeface="Arial"/>
                        <a:buAutoNum type="alphaLcPeriod"/>
                      </a:pPr>
                      <a:r>
                        <a:rPr lang="en-US" sz="2400" u="none" cap="none" strike="noStrike">
                          <a:latin typeface="Times New Roman"/>
                          <a:ea typeface="Times New Roman"/>
                          <a:cs typeface="Times New Roman"/>
                          <a:sym typeface="Times New Roman"/>
                        </a:rPr>
                        <a:t>Quarterly</a:t>
                      </a:r>
                      <a:endParaRPr sz="900" u="none" cap="none" strike="noStrike"/>
                    </a:p>
                    <a:p>
                      <a:pPr indent="-228600" lvl="0" marL="228600" marR="0" rtl="0" algn="l">
                        <a:lnSpc>
                          <a:spcPct val="100000"/>
                        </a:lnSpc>
                        <a:spcBef>
                          <a:spcPts val="0"/>
                        </a:spcBef>
                        <a:spcAft>
                          <a:spcPts val="0"/>
                        </a:spcAft>
                        <a:buClr>
                          <a:srgbClr val="000000"/>
                        </a:buClr>
                        <a:buSzPts val="2400"/>
                        <a:buFont typeface="Arial"/>
                        <a:buAutoNum type="alphaLcPeriod"/>
                      </a:pPr>
                      <a:r>
                        <a:rPr lang="en-US" sz="2400" u="none" cap="none" strike="noStrike">
                          <a:latin typeface="Times New Roman"/>
                          <a:ea typeface="Times New Roman"/>
                          <a:cs typeface="Times New Roman"/>
                          <a:sym typeface="Times New Roman"/>
                        </a:rPr>
                        <a:t>yearly</a:t>
                      </a:r>
                      <a:endParaRPr sz="2400" u="none" cap="none" strike="noStrike">
                        <a:latin typeface="Times New Roman"/>
                        <a:ea typeface="Times New Roman"/>
                        <a:cs typeface="Times New Roman"/>
                        <a:sym typeface="Times New Roman"/>
                      </a:endParaRPr>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8F1F4"/>
                    </a:solidFill>
                  </a:tcPr>
                </a:tc>
              </a:tr>
              <a:tr h="16913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Times New Roman"/>
                          <a:ea typeface="Times New Roman"/>
                          <a:cs typeface="Times New Roman"/>
                          <a:sym typeface="Times New Roman"/>
                        </a:rPr>
                        <a:t>Grade-Scale Questions</a:t>
                      </a:r>
                      <a:endParaRPr sz="900" u="none" cap="none" strike="noStrike"/>
                    </a:p>
                    <a:p>
                      <a:pPr indent="0" lvl="0" marL="0" marR="0" rtl="0" algn="l">
                        <a:lnSpc>
                          <a:spcPct val="100000"/>
                        </a:lnSpc>
                        <a:spcBef>
                          <a:spcPts val="0"/>
                        </a:spcBef>
                        <a:spcAft>
                          <a:spcPts val="0"/>
                        </a:spcAft>
                        <a:buClr>
                          <a:srgbClr val="000000"/>
                        </a:buClr>
                        <a:buSzPts val="2400"/>
                        <a:buFont typeface="Arial"/>
                        <a:buNone/>
                      </a:pPr>
                      <a:r>
                        <a:t/>
                      </a:r>
                      <a:endParaRPr sz="2400" u="none" cap="none" strike="noStrike">
                        <a:latin typeface="Times New Roman"/>
                        <a:ea typeface="Times New Roman"/>
                        <a:cs typeface="Times New Roman"/>
                        <a:sym typeface="Times New Roman"/>
                      </a:endParaRPr>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DE3E7"/>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sz="2400" u="none" cap="none" strike="noStrike">
                        <a:latin typeface="Times New Roman"/>
                        <a:ea typeface="Times New Roman"/>
                        <a:cs typeface="Times New Roman"/>
                        <a:sym typeface="Times New Roman"/>
                      </a:endParaRPr>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DE3E7"/>
                    </a:solidFill>
                  </a:tcPr>
                </a:tc>
              </a:tr>
              <a:tr h="1069625">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Times New Roman"/>
                          <a:ea typeface="Times New Roman"/>
                          <a:cs typeface="Times New Roman"/>
                          <a:sym typeface="Times New Roman"/>
                        </a:rPr>
                        <a:t>Short-Answer Questions</a:t>
                      </a:r>
                      <a:endParaRPr sz="900" u="none" cap="none" strike="noStrike"/>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8F1F4"/>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Times New Roman"/>
                          <a:ea typeface="Times New Roman"/>
                          <a:cs typeface="Times New Roman"/>
                          <a:sym typeface="Times New Roman"/>
                        </a:rPr>
                        <a:t>List any environmental newsletters you already receive that you find helpful in business.</a:t>
                      </a:r>
                      <a:endParaRPr sz="900" u="none" cap="none" strike="noStrike"/>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8F1F4"/>
                    </a:solidFill>
                  </a:tcPr>
                </a:tc>
              </a:tr>
            </a:tbl>
          </a:graphicData>
        </a:graphic>
      </p:graphicFrame>
      <p:graphicFrame>
        <p:nvGraphicFramePr>
          <p:cNvPr id="607" name="Google Shape;607;g39b7157ad26_0_593"/>
          <p:cNvGraphicFramePr/>
          <p:nvPr/>
        </p:nvGraphicFramePr>
        <p:xfrm>
          <a:off x="4771751" y="4289237"/>
          <a:ext cx="3000000" cy="3000000"/>
        </p:xfrm>
        <a:graphic>
          <a:graphicData uri="http://schemas.openxmlformats.org/drawingml/2006/table">
            <a:tbl>
              <a:tblPr bandRow="1" firstRow="1">
                <a:noFill/>
                <a:tableStyleId>{B239A4C3-3ECF-46CD-9D73-BA2AB54A1090}</a:tableStyleId>
              </a:tblPr>
              <a:tblGrid>
                <a:gridCol w="1899200"/>
                <a:gridCol w="1016150"/>
                <a:gridCol w="1151475"/>
                <a:gridCol w="2321675"/>
              </a:tblGrid>
              <a:tr h="506600">
                <a:tc gridSpan="4">
                  <a:txBody>
                    <a:bodyPr/>
                    <a:lstStyle/>
                    <a:p>
                      <a:pPr indent="0" lvl="0" marL="0" marR="0" rtl="0" algn="l">
                        <a:lnSpc>
                          <a:spcPct val="100000"/>
                        </a:lnSpc>
                        <a:spcBef>
                          <a:spcPts val="0"/>
                        </a:spcBef>
                        <a:spcAft>
                          <a:spcPts val="0"/>
                        </a:spcAft>
                        <a:buClr>
                          <a:schemeClr val="dk1"/>
                        </a:buClr>
                        <a:buSzPts val="1900"/>
                        <a:buFont typeface="Arial"/>
                        <a:buNone/>
                      </a:pPr>
                      <a:r>
                        <a:rPr lang="en-US" sz="1900" u="none" cap="none" strike="noStrike">
                          <a:solidFill>
                            <a:schemeClr val="dk1"/>
                          </a:solidFill>
                          <a:latin typeface="Times New Roman"/>
                          <a:ea typeface="Times New Roman"/>
                          <a:cs typeface="Times New Roman"/>
                          <a:sym typeface="Times New Roman"/>
                        </a:rPr>
                        <a:t>I find it very easy to start conversations with strangers</a:t>
                      </a:r>
                      <a:endParaRPr sz="900" u="none" cap="none" strike="noStrike"/>
                    </a:p>
                  </a:txBody>
                  <a:tcPr marT="30475" marB="30475" marR="60975" marL="609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r>
              <a:tr h="574825">
                <a:tc>
                  <a:txBody>
                    <a:bodyPr/>
                    <a:lstStyle/>
                    <a:p>
                      <a:pPr indent="0" lvl="0" marL="0" marR="0" rtl="0" algn="l">
                        <a:lnSpc>
                          <a:spcPct val="100000"/>
                        </a:lnSpc>
                        <a:spcBef>
                          <a:spcPts val="0"/>
                        </a:spcBef>
                        <a:spcAft>
                          <a:spcPts val="0"/>
                        </a:spcAft>
                        <a:buClr>
                          <a:srgbClr val="000000"/>
                        </a:buClr>
                        <a:buSzPts val="1900"/>
                        <a:buFont typeface="Arial"/>
                        <a:buNone/>
                      </a:pPr>
                      <a:r>
                        <a:rPr lang="en-US" sz="1900" u="none" cap="none" strike="noStrike">
                          <a:solidFill>
                            <a:schemeClr val="dk1"/>
                          </a:solidFill>
                        </a:rPr>
                        <a:t>Strongly Agree</a:t>
                      </a:r>
                      <a:endParaRPr sz="900" u="none" cap="none" strike="noStrike"/>
                    </a:p>
                  </a:txBody>
                  <a:tcPr marT="30475" marB="30475" marR="60975" marL="609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US" sz="1900" u="none" cap="none" strike="noStrike">
                          <a:solidFill>
                            <a:schemeClr val="dk1"/>
                          </a:solidFill>
                        </a:rPr>
                        <a:t>Agree</a:t>
                      </a:r>
                      <a:endParaRPr sz="900" u="none" cap="none" strike="noStrike"/>
                    </a:p>
                  </a:txBody>
                  <a:tcPr marT="30475" marB="30475" marR="60975" marL="609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US" sz="1900" u="none" cap="none" strike="noStrike">
                          <a:solidFill>
                            <a:schemeClr val="dk1"/>
                          </a:solidFill>
                        </a:rPr>
                        <a:t>Disagree</a:t>
                      </a:r>
                      <a:endParaRPr sz="900" u="none" cap="none" strike="noStrike"/>
                    </a:p>
                  </a:txBody>
                  <a:tcPr marT="30475" marB="30475" marR="60975" marL="609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US" sz="1900" u="none" cap="none" strike="noStrike">
                          <a:solidFill>
                            <a:schemeClr val="dk1"/>
                          </a:solidFill>
                        </a:rPr>
                        <a:t>Strongly Disagree</a:t>
                      </a:r>
                      <a:endParaRPr sz="1900" u="none" cap="none" strike="noStrike">
                        <a:solidFill>
                          <a:schemeClr val="dk1"/>
                        </a:solidFill>
                      </a:endParaRPr>
                    </a:p>
                  </a:txBody>
                  <a:tcPr marT="30475" marB="30475" marR="60975" marL="609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
        <p:nvSpPr>
          <p:cNvPr id="608" name="Google Shape;608;g39b7157ad26_0_593"/>
          <p:cNvSpPr txBox="1"/>
          <p:nvPr>
            <p:ph idx="4294967295" type="title"/>
          </p:nvPr>
        </p:nvSpPr>
        <p:spPr>
          <a:xfrm rot="-5400000">
            <a:off x="-2700750" y="2719491"/>
            <a:ext cx="67272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None/>
            </a:pPr>
            <a:r>
              <a:rPr b="1" lang="en-US" sz="3100">
                <a:latin typeface="Montserrat"/>
                <a:ea typeface="Montserrat"/>
                <a:cs typeface="Montserrat"/>
                <a:sym typeface="Montserrat"/>
              </a:rPr>
              <a:t>Designing a questionnaire III</a:t>
            </a:r>
            <a:endParaRPr b="1" sz="3100">
              <a:latin typeface="Montserrat"/>
              <a:ea typeface="Montserrat"/>
              <a:cs typeface="Montserrat"/>
              <a:sym typeface="Montserrat"/>
            </a:endParaRPr>
          </a:p>
        </p:txBody>
      </p:sp>
    </p:spTree>
  </p:cSld>
  <p:clrMapOvr>
    <a:masterClrMapping/>
  </p:clrMapOvr>
  <p:transition>
    <p:push/>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g39b7157ad26_0_86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4000">
                <a:latin typeface="Montserrat"/>
                <a:ea typeface="Montserrat"/>
                <a:cs typeface="Montserrat"/>
                <a:sym typeface="Montserrat"/>
              </a:rPr>
              <a:t>Designing a questionnaire IV</a:t>
            </a:r>
            <a:endParaRPr b="1" sz="4000">
              <a:latin typeface="Montserrat"/>
              <a:ea typeface="Montserrat"/>
              <a:cs typeface="Montserrat"/>
              <a:sym typeface="Montserrat"/>
            </a:endParaRPr>
          </a:p>
        </p:txBody>
      </p:sp>
      <p:sp>
        <p:nvSpPr>
          <p:cNvPr id="615" name="Google Shape;615;g39b7157ad26_0_863"/>
          <p:cNvSpPr txBox="1"/>
          <p:nvPr>
            <p:ph idx="1" type="body"/>
          </p:nvPr>
        </p:nvSpPr>
        <p:spPr>
          <a:xfrm>
            <a:off x="838200" y="1788425"/>
            <a:ext cx="10196400" cy="4375800"/>
          </a:xfrm>
          <a:prstGeom prst="rect">
            <a:avLst/>
          </a:prstGeom>
          <a:noFill/>
          <a:ln>
            <a:noFill/>
          </a:ln>
        </p:spPr>
        <p:txBody>
          <a:bodyPr anchorCtr="0" anchor="t" bIns="45700" lIns="91425" spcFirstLastPara="1" rIns="91425" wrap="square" tIns="45700">
            <a:normAutofit/>
          </a:bodyPr>
          <a:lstStyle/>
          <a:p>
            <a:pPr indent="-368300" lvl="0" marL="457200" rtl="0" algn="l">
              <a:lnSpc>
                <a:spcPct val="100000"/>
              </a:lnSpc>
              <a:spcBef>
                <a:spcPts val="400"/>
              </a:spcBef>
              <a:spcAft>
                <a:spcPts val="0"/>
              </a:spcAft>
              <a:buClr>
                <a:srgbClr val="B509D1"/>
              </a:buClr>
              <a:buSzPts val="2200"/>
              <a:buFont typeface="Montserrat Medium"/>
              <a:buChar char="★"/>
            </a:pPr>
            <a:r>
              <a:rPr lang="en-US" sz="2200">
                <a:latin typeface="Montserrat Medium"/>
                <a:ea typeface="Montserrat Medium"/>
                <a:cs typeface="Montserrat Medium"/>
                <a:sym typeface="Montserrat Medium"/>
              </a:rPr>
              <a:t>Provide clear questions that are easy to answer:</a:t>
            </a:r>
            <a:endParaRPr sz="2200">
              <a:latin typeface="Montserrat Medium"/>
              <a:ea typeface="Montserrat Medium"/>
              <a:cs typeface="Montserrat Medium"/>
              <a:sym typeface="Montserrat Medium"/>
            </a:endParaRPr>
          </a:p>
          <a:p>
            <a:pPr indent="-368300" lvl="1" marL="914400" rtl="0" algn="l">
              <a:lnSpc>
                <a:spcPct val="100000"/>
              </a:lnSpc>
              <a:spcBef>
                <a:spcPts val="0"/>
              </a:spcBef>
              <a:spcAft>
                <a:spcPts val="0"/>
              </a:spcAft>
              <a:buSzPts val="2200"/>
              <a:buFont typeface="Montserrat Medium"/>
              <a:buChar char="○"/>
            </a:pPr>
            <a:r>
              <a:rPr lang="en-US" sz="2200">
                <a:latin typeface="Montserrat Medium"/>
                <a:ea typeface="Montserrat Medium"/>
                <a:cs typeface="Montserrat Medium"/>
                <a:sym typeface="Montserrat Medium"/>
              </a:rPr>
              <a:t>Avoid four common problems:</a:t>
            </a:r>
            <a:endParaRPr sz="2200">
              <a:latin typeface="Montserrat Medium"/>
              <a:ea typeface="Montserrat Medium"/>
              <a:cs typeface="Montserrat Medium"/>
              <a:sym typeface="Montserrat Medium"/>
            </a:endParaRPr>
          </a:p>
          <a:p>
            <a:pPr indent="-368300" lvl="1" marL="914400" rtl="0" algn="l">
              <a:lnSpc>
                <a:spcPct val="100000"/>
              </a:lnSpc>
              <a:spcBef>
                <a:spcPts val="0"/>
              </a:spcBef>
              <a:spcAft>
                <a:spcPts val="0"/>
              </a:spcAft>
              <a:buSzPts val="2200"/>
              <a:buFont typeface="Montserrat Medium"/>
              <a:buChar char="○"/>
            </a:pPr>
            <a:r>
              <a:rPr lang="en-US" sz="2200">
                <a:latin typeface="Montserrat Medium"/>
                <a:ea typeface="Montserrat Medium"/>
                <a:cs typeface="Montserrat Medium"/>
                <a:sym typeface="Montserrat Medium"/>
              </a:rPr>
              <a:t>Biased in phrasing </a:t>
            </a:r>
            <a:endParaRPr sz="2200">
              <a:latin typeface="Montserrat Medium"/>
              <a:ea typeface="Montserrat Medium"/>
              <a:cs typeface="Montserrat Medium"/>
              <a:sym typeface="Montserrat Medium"/>
            </a:endParaRPr>
          </a:p>
          <a:p>
            <a:pPr indent="-368300" lvl="1" marL="914400" rtl="0" algn="l">
              <a:lnSpc>
                <a:spcPct val="100000"/>
              </a:lnSpc>
              <a:spcBef>
                <a:spcPts val="0"/>
              </a:spcBef>
              <a:spcAft>
                <a:spcPts val="0"/>
              </a:spcAft>
              <a:buSzPts val="2200"/>
              <a:buFont typeface="Montserrat Medium"/>
              <a:buChar char="○"/>
            </a:pPr>
            <a:r>
              <a:rPr lang="en-US" sz="2200">
                <a:latin typeface="Montserrat Medium"/>
                <a:ea typeface="Montserrat Medium"/>
                <a:cs typeface="Montserrat Medium"/>
                <a:sym typeface="Montserrat Medium"/>
              </a:rPr>
              <a:t>Use of undefined terms</a:t>
            </a:r>
            <a:endParaRPr sz="2200">
              <a:latin typeface="Montserrat Medium"/>
              <a:ea typeface="Montserrat Medium"/>
              <a:cs typeface="Montserrat Medium"/>
              <a:sym typeface="Montserrat Medium"/>
            </a:endParaRPr>
          </a:p>
          <a:p>
            <a:pPr indent="-368300" lvl="1" marL="914400" rtl="0" algn="l">
              <a:lnSpc>
                <a:spcPct val="100000"/>
              </a:lnSpc>
              <a:spcBef>
                <a:spcPts val="0"/>
              </a:spcBef>
              <a:spcAft>
                <a:spcPts val="0"/>
              </a:spcAft>
              <a:buSzPts val="2200"/>
              <a:buFont typeface="Montserrat Medium"/>
              <a:buChar char="○"/>
            </a:pPr>
            <a:r>
              <a:rPr lang="en-US" sz="2200">
                <a:latin typeface="Montserrat Medium"/>
                <a:ea typeface="Montserrat Medium"/>
                <a:cs typeface="Montserrat Medium"/>
                <a:sym typeface="Montserrat Medium"/>
              </a:rPr>
              <a:t>Use of more than one variable</a:t>
            </a:r>
            <a:endParaRPr sz="2200">
              <a:latin typeface="Montserrat Medium"/>
              <a:ea typeface="Montserrat Medium"/>
              <a:cs typeface="Montserrat Medium"/>
              <a:sym typeface="Montserrat Medium"/>
            </a:endParaRPr>
          </a:p>
          <a:p>
            <a:pPr indent="-368300" lvl="1" marL="914400" rtl="0" algn="l">
              <a:lnSpc>
                <a:spcPct val="100000"/>
              </a:lnSpc>
              <a:spcBef>
                <a:spcPts val="0"/>
              </a:spcBef>
              <a:spcAft>
                <a:spcPts val="0"/>
              </a:spcAft>
              <a:buSzPts val="2200"/>
              <a:buFont typeface="Montserrat Medium"/>
              <a:buChar char="○"/>
            </a:pPr>
            <a:r>
              <a:rPr lang="en-US" sz="2200">
                <a:latin typeface="Montserrat Medium"/>
                <a:ea typeface="Montserrat Medium"/>
                <a:cs typeface="Montserrat Medium"/>
                <a:sym typeface="Montserrat Medium"/>
              </a:rPr>
              <a:t>Questions that require too much homework</a:t>
            </a:r>
            <a:endParaRPr sz="2200">
              <a:latin typeface="Montserrat Medium"/>
              <a:ea typeface="Montserrat Medium"/>
              <a:cs typeface="Montserrat Medium"/>
              <a:sym typeface="Montserrat Medium"/>
            </a:endParaRPr>
          </a:p>
          <a:p>
            <a:pPr indent="0" lvl="0" marL="0" rtl="0" algn="l">
              <a:lnSpc>
                <a:spcPct val="100000"/>
              </a:lnSpc>
              <a:spcBef>
                <a:spcPts val="400"/>
              </a:spcBef>
              <a:spcAft>
                <a:spcPts val="0"/>
              </a:spcAft>
              <a:buSzPts val="1800"/>
              <a:buNone/>
            </a:pPr>
            <a:r>
              <a:t/>
            </a:r>
            <a:endParaRPr sz="2200">
              <a:latin typeface="Montserrat Medium"/>
              <a:ea typeface="Montserrat Medium"/>
              <a:cs typeface="Montserrat Medium"/>
              <a:sym typeface="Montserrat Medium"/>
            </a:endParaRPr>
          </a:p>
          <a:p>
            <a:pPr indent="-368300" lvl="0" marL="457200" rtl="0" algn="l">
              <a:lnSpc>
                <a:spcPct val="100000"/>
              </a:lnSpc>
              <a:spcBef>
                <a:spcPts val="400"/>
              </a:spcBef>
              <a:spcAft>
                <a:spcPts val="0"/>
              </a:spcAft>
              <a:buClr>
                <a:srgbClr val="B509D1"/>
              </a:buClr>
              <a:buSzPts val="2200"/>
              <a:buFont typeface="Montserrat Medium"/>
              <a:buChar char="★"/>
            </a:pPr>
            <a:r>
              <a:rPr lang="en-US" sz="2200">
                <a:latin typeface="Montserrat Medium"/>
                <a:ea typeface="Montserrat Medium"/>
                <a:cs typeface="Montserrat Medium"/>
                <a:sym typeface="Montserrat Medium"/>
              </a:rPr>
              <a:t>Include precise and concise instructions at the top of the form</a:t>
            </a:r>
            <a:endParaRPr sz="2200">
              <a:latin typeface="Montserrat Medium"/>
              <a:ea typeface="Montserrat Medium"/>
              <a:cs typeface="Montserrat Medium"/>
              <a:sym typeface="Montserrat Medium"/>
            </a:endParaRPr>
          </a:p>
          <a:p>
            <a:pPr indent="-368300" lvl="0" marL="457200" rtl="0" algn="l">
              <a:lnSpc>
                <a:spcPct val="100000"/>
              </a:lnSpc>
              <a:spcBef>
                <a:spcPts val="0"/>
              </a:spcBef>
              <a:spcAft>
                <a:spcPts val="0"/>
              </a:spcAft>
              <a:buClr>
                <a:srgbClr val="B509D1"/>
              </a:buClr>
              <a:buSzPts val="2200"/>
              <a:buFont typeface="Montserrat Medium"/>
              <a:buChar char="★"/>
            </a:pPr>
            <a:r>
              <a:rPr lang="en-US" sz="2200">
                <a:latin typeface="Montserrat Medium"/>
                <a:ea typeface="Montserrat Medium"/>
                <a:cs typeface="Montserrat Medium"/>
                <a:sym typeface="Montserrat Medium"/>
              </a:rPr>
              <a:t>Test the questionnaire on a sample audience (Pilot)</a:t>
            </a:r>
            <a:endParaRPr sz="2200">
              <a:latin typeface="Montserrat Medium"/>
              <a:ea typeface="Montserrat Medium"/>
              <a:cs typeface="Montserrat Medium"/>
              <a:sym typeface="Montserrat Mediu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g37efbfe7193_0_34"/>
          <p:cNvSpPr/>
          <p:nvPr/>
        </p:nvSpPr>
        <p:spPr>
          <a:xfrm>
            <a:off x="620575" y="1082386"/>
            <a:ext cx="10824000" cy="1320000"/>
          </a:xfrm>
          <a:prstGeom prst="rect">
            <a:avLst/>
          </a:prstGeom>
          <a:solidFill>
            <a:srgbClr val="DDEAF6">
              <a:alpha val="44313"/>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g37efbfe7193_0_34"/>
          <p:cNvSpPr/>
          <p:nvPr/>
        </p:nvSpPr>
        <p:spPr>
          <a:xfrm>
            <a:off x="476850" y="981725"/>
            <a:ext cx="5666100" cy="5652000"/>
          </a:xfrm>
          <a:prstGeom prst="rect">
            <a:avLst/>
          </a:prstGeom>
          <a:solidFill>
            <a:srgbClr val="DDEAF6">
              <a:alpha val="18431"/>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g37efbfe7193_0_34"/>
          <p:cNvSpPr txBox="1"/>
          <p:nvPr>
            <p:ph type="title"/>
          </p:nvPr>
        </p:nvSpPr>
        <p:spPr>
          <a:xfrm>
            <a:off x="112200" y="0"/>
            <a:ext cx="10515600" cy="827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3400">
                <a:latin typeface="Montserrat"/>
                <a:ea typeface="Montserrat"/>
                <a:cs typeface="Montserrat"/>
                <a:sym typeface="Montserrat"/>
              </a:rPr>
              <a:t>Format</a:t>
            </a:r>
            <a:endParaRPr sz="3400">
              <a:latin typeface="Montserrat"/>
              <a:ea typeface="Montserrat"/>
              <a:cs typeface="Montserrat"/>
              <a:sym typeface="Montserrat"/>
            </a:endParaRPr>
          </a:p>
        </p:txBody>
      </p:sp>
      <p:sp>
        <p:nvSpPr>
          <p:cNvPr id="624" name="Google Shape;624;g37efbfe7193_0_34"/>
          <p:cNvSpPr txBox="1"/>
          <p:nvPr/>
        </p:nvSpPr>
        <p:spPr>
          <a:xfrm>
            <a:off x="552292" y="967778"/>
            <a:ext cx="5515200" cy="5679900"/>
          </a:xfrm>
          <a:prstGeom prst="rect">
            <a:avLst/>
          </a:prstGeom>
          <a:solidFill>
            <a:srgbClr val="E7E6E6">
              <a:alpha val="28627"/>
            </a:srgbClr>
          </a:solidFill>
          <a:ln>
            <a:noFill/>
          </a:ln>
        </p:spPr>
        <p:txBody>
          <a:bodyPr anchorCtr="0" anchor="t" bIns="91425" lIns="91425" spcFirstLastPara="1" rIns="91425" wrap="square" tIns="91425">
            <a:spAutoFit/>
          </a:bodyPr>
          <a:lstStyle/>
          <a:p>
            <a:pPr indent="-361950" lvl="0" marL="457200" marR="0" rtl="0" algn="l">
              <a:lnSpc>
                <a:spcPct val="100000"/>
              </a:lnSpc>
              <a:spcBef>
                <a:spcPts val="0"/>
              </a:spcBef>
              <a:spcAft>
                <a:spcPts val="0"/>
              </a:spcAft>
              <a:buClr>
                <a:srgbClr val="000000"/>
              </a:buClr>
              <a:buSzPts val="2100"/>
              <a:buFont typeface="Consolas"/>
              <a:buChar char="●"/>
            </a:pPr>
            <a:r>
              <a:rPr b="1" i="0" lang="en-US" sz="2100" u="none" cap="none" strike="noStrike">
                <a:solidFill>
                  <a:srgbClr val="000000"/>
                </a:solidFill>
                <a:latin typeface="Consolas"/>
                <a:ea typeface="Consolas"/>
                <a:cs typeface="Consolas"/>
                <a:sym typeface="Consolas"/>
              </a:rPr>
              <a:t>Date</a:t>
            </a:r>
            <a:endParaRPr b="1" i="0" sz="2100" u="none" cap="none" strike="noStrike">
              <a:solidFill>
                <a:srgbClr val="000000"/>
              </a:solidFill>
              <a:latin typeface="Consolas"/>
              <a:ea typeface="Consolas"/>
              <a:cs typeface="Consolas"/>
              <a:sym typeface="Consolas"/>
            </a:endParaRPr>
          </a:p>
          <a:p>
            <a:pPr indent="-361950" lvl="0" marL="457200" marR="0" rtl="0" algn="l">
              <a:lnSpc>
                <a:spcPct val="100000"/>
              </a:lnSpc>
              <a:spcBef>
                <a:spcPts val="0"/>
              </a:spcBef>
              <a:spcAft>
                <a:spcPts val="0"/>
              </a:spcAft>
              <a:buClr>
                <a:srgbClr val="000000"/>
              </a:buClr>
              <a:buSzPts val="2100"/>
              <a:buFont typeface="Consolas"/>
              <a:buChar char="●"/>
            </a:pPr>
            <a:r>
              <a:rPr b="1" i="0" lang="en-US" sz="2100" u="none" cap="none" strike="noStrike">
                <a:solidFill>
                  <a:srgbClr val="000000"/>
                </a:solidFill>
                <a:latin typeface="Consolas"/>
                <a:ea typeface="Consolas"/>
                <a:cs typeface="Consolas"/>
                <a:sym typeface="Consolas"/>
              </a:rPr>
              <a:t>Address</a:t>
            </a:r>
            <a:endParaRPr b="1" i="0"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361950" lvl="0" marL="457200" marR="0" rtl="0" algn="l">
              <a:lnSpc>
                <a:spcPct val="100000"/>
              </a:lnSpc>
              <a:spcBef>
                <a:spcPts val="0"/>
              </a:spcBef>
              <a:spcAft>
                <a:spcPts val="0"/>
              </a:spcAft>
              <a:buClr>
                <a:srgbClr val="000000"/>
              </a:buClr>
              <a:buSzPts val="2100"/>
              <a:buFont typeface="Consolas"/>
              <a:buChar char="●"/>
            </a:pPr>
            <a:r>
              <a:rPr b="1" i="0" lang="en-US" sz="2100" u="none" cap="none" strike="noStrike">
                <a:solidFill>
                  <a:srgbClr val="000000"/>
                </a:solidFill>
                <a:latin typeface="Consolas"/>
                <a:ea typeface="Consolas"/>
                <a:cs typeface="Consolas"/>
                <a:sym typeface="Consolas"/>
              </a:rPr>
              <a:t>Subject Line</a:t>
            </a:r>
            <a:endParaRPr b="1" i="0"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361950" lvl="0" marL="457200" marR="0" rtl="0" algn="l">
              <a:lnSpc>
                <a:spcPct val="100000"/>
              </a:lnSpc>
              <a:spcBef>
                <a:spcPts val="0"/>
              </a:spcBef>
              <a:spcAft>
                <a:spcPts val="0"/>
              </a:spcAft>
              <a:buClr>
                <a:srgbClr val="000000"/>
              </a:buClr>
              <a:buSzPts val="2100"/>
              <a:buFont typeface="Consolas"/>
              <a:buChar char="●"/>
            </a:pPr>
            <a:r>
              <a:rPr b="1" i="1" lang="en-US" sz="2100" u="none" cap="none" strike="noStrike">
                <a:solidFill>
                  <a:srgbClr val="000000"/>
                </a:solidFill>
                <a:latin typeface="Consolas"/>
                <a:ea typeface="Consolas"/>
                <a:cs typeface="Consolas"/>
                <a:sym typeface="Consolas"/>
              </a:rPr>
              <a:t>Salutation</a:t>
            </a:r>
            <a:endParaRPr b="1" i="1"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361950" lvl="0" marL="457200" marR="0" rtl="0" algn="l">
              <a:lnSpc>
                <a:spcPct val="100000"/>
              </a:lnSpc>
              <a:spcBef>
                <a:spcPts val="0"/>
              </a:spcBef>
              <a:spcAft>
                <a:spcPts val="0"/>
              </a:spcAft>
              <a:buClr>
                <a:srgbClr val="000000"/>
              </a:buClr>
              <a:buSzPts val="2100"/>
              <a:buFont typeface="Consolas"/>
              <a:buChar char="●"/>
            </a:pPr>
            <a:r>
              <a:rPr b="1" i="0" lang="en-US" sz="2100" u="none" cap="none" strike="noStrike">
                <a:solidFill>
                  <a:srgbClr val="000000"/>
                </a:solidFill>
                <a:latin typeface="Consolas"/>
                <a:ea typeface="Consolas"/>
                <a:cs typeface="Consolas"/>
                <a:sym typeface="Consolas"/>
              </a:rPr>
              <a:t>Body</a:t>
            </a:r>
            <a:endParaRPr b="1" i="0"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361950" lvl="0" marL="457200" marR="0" rtl="0" algn="l">
              <a:lnSpc>
                <a:spcPct val="100000"/>
              </a:lnSpc>
              <a:spcBef>
                <a:spcPts val="0"/>
              </a:spcBef>
              <a:spcAft>
                <a:spcPts val="0"/>
              </a:spcAft>
              <a:buClr>
                <a:srgbClr val="000000"/>
              </a:buClr>
              <a:buSzPts val="2100"/>
              <a:buFont typeface="Consolas"/>
              <a:buChar char="●"/>
            </a:pPr>
            <a:r>
              <a:rPr b="1" i="1" lang="en-US" sz="2100" u="none" cap="none" strike="noStrike">
                <a:solidFill>
                  <a:srgbClr val="000000"/>
                </a:solidFill>
                <a:latin typeface="Consolas"/>
                <a:ea typeface="Consolas"/>
                <a:cs typeface="Consolas"/>
                <a:sym typeface="Consolas"/>
              </a:rPr>
              <a:t>Regards</a:t>
            </a:r>
            <a:endParaRPr b="1" i="1" sz="2100" u="none" cap="none" strike="noStrike">
              <a:solidFill>
                <a:srgbClr val="000000"/>
              </a:solidFill>
              <a:latin typeface="Consolas"/>
              <a:ea typeface="Consolas"/>
              <a:cs typeface="Consolas"/>
              <a:sym typeface="Consolas"/>
            </a:endParaRPr>
          </a:p>
          <a:p>
            <a:pPr indent="-361950" lvl="0" marL="457200" marR="0" rtl="0" algn="l">
              <a:lnSpc>
                <a:spcPct val="100000"/>
              </a:lnSpc>
              <a:spcBef>
                <a:spcPts val="0"/>
              </a:spcBef>
              <a:spcAft>
                <a:spcPts val="0"/>
              </a:spcAft>
              <a:buClr>
                <a:srgbClr val="000000"/>
              </a:buClr>
              <a:buSzPts val="2100"/>
              <a:buFont typeface="Consolas"/>
              <a:buChar char="●"/>
            </a:pPr>
            <a:r>
              <a:rPr b="1" i="0" lang="en-US" sz="2100" u="none" cap="none" strike="noStrike">
                <a:solidFill>
                  <a:srgbClr val="000000"/>
                </a:solidFill>
                <a:latin typeface="Consolas"/>
                <a:ea typeface="Consolas"/>
                <a:cs typeface="Consolas"/>
                <a:sym typeface="Consolas"/>
              </a:rPr>
              <a:t>Your name</a:t>
            </a:r>
            <a:endParaRPr b="1" i="0" sz="2100" u="none" cap="none" strike="noStrike">
              <a:solidFill>
                <a:srgbClr val="000000"/>
              </a:solidFill>
              <a:latin typeface="Consolas"/>
              <a:ea typeface="Consolas"/>
              <a:cs typeface="Consolas"/>
              <a:sym typeface="Consolas"/>
            </a:endParaRPr>
          </a:p>
          <a:p>
            <a:pPr indent="-361950" lvl="0" marL="457200" marR="0" rtl="0" algn="l">
              <a:lnSpc>
                <a:spcPct val="100000"/>
              </a:lnSpc>
              <a:spcBef>
                <a:spcPts val="0"/>
              </a:spcBef>
              <a:spcAft>
                <a:spcPts val="0"/>
              </a:spcAft>
              <a:buClr>
                <a:srgbClr val="000000"/>
              </a:buClr>
              <a:buSzPts val="2100"/>
              <a:buFont typeface="Consolas"/>
              <a:buChar char="●"/>
            </a:pPr>
            <a:r>
              <a:rPr b="1" i="0" lang="en-US" sz="2100" u="none" cap="none" strike="noStrike">
                <a:solidFill>
                  <a:srgbClr val="000000"/>
                </a:solidFill>
                <a:latin typeface="Consolas"/>
                <a:ea typeface="Consolas"/>
                <a:cs typeface="Consolas"/>
                <a:sym typeface="Consolas"/>
              </a:rPr>
              <a:t>Contact Information </a:t>
            </a:r>
            <a:endParaRPr b="1" i="0" sz="2100" u="none" cap="none" strike="noStrike">
              <a:solidFill>
                <a:srgbClr val="000000"/>
              </a:solidFill>
              <a:latin typeface="Consolas"/>
              <a:ea typeface="Consolas"/>
              <a:cs typeface="Consolas"/>
              <a:sym typeface="Consolas"/>
            </a:endParaRPr>
          </a:p>
        </p:txBody>
      </p:sp>
      <p:sp>
        <p:nvSpPr>
          <p:cNvPr id="625" name="Google Shape;625;g37efbfe7193_0_34"/>
          <p:cNvSpPr txBox="1"/>
          <p:nvPr/>
        </p:nvSpPr>
        <p:spPr>
          <a:xfrm>
            <a:off x="7068375" y="1045950"/>
            <a:ext cx="4193400" cy="138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Montserrat"/>
                <a:ea typeface="Montserrat"/>
                <a:cs typeface="Montserrat"/>
                <a:sym typeface="Montserrat"/>
              </a:rPr>
              <a:t>Information presented differently in </a:t>
            </a:r>
            <a:r>
              <a:rPr b="0" i="0" lang="en-US" sz="2600" u="sng" cap="none" strike="noStrike">
                <a:solidFill>
                  <a:schemeClr val="dk1"/>
                </a:solidFill>
                <a:latin typeface="Montserrat"/>
                <a:ea typeface="Montserrat"/>
                <a:cs typeface="Montserrat"/>
                <a:sym typeface="Montserrat"/>
              </a:rPr>
              <a:t>memo</a:t>
            </a:r>
            <a:r>
              <a:rPr b="0" i="0" lang="en-US" sz="2600" u="none" cap="none" strike="noStrike">
                <a:solidFill>
                  <a:schemeClr val="dk1"/>
                </a:solidFill>
                <a:latin typeface="Montserrat"/>
                <a:ea typeface="Montserrat"/>
                <a:cs typeface="Montserrat"/>
                <a:sym typeface="Montserrat"/>
              </a:rPr>
              <a:t>, </a:t>
            </a:r>
            <a:r>
              <a:rPr b="0" i="0" lang="en-US" sz="2600" u="sng" cap="none" strike="noStrike">
                <a:solidFill>
                  <a:schemeClr val="dk1"/>
                </a:solidFill>
                <a:latin typeface="Montserrat"/>
                <a:ea typeface="Montserrat"/>
                <a:cs typeface="Montserrat"/>
                <a:sym typeface="Montserrat"/>
              </a:rPr>
              <a:t>letter</a:t>
            </a:r>
            <a:r>
              <a:rPr b="0" i="0" lang="en-US" sz="2600" u="none" cap="none" strike="noStrike">
                <a:solidFill>
                  <a:schemeClr val="dk1"/>
                </a:solidFill>
                <a:latin typeface="Montserrat"/>
                <a:ea typeface="Montserrat"/>
                <a:cs typeface="Montserrat"/>
                <a:sym typeface="Montserrat"/>
              </a:rPr>
              <a:t> and </a:t>
            </a:r>
            <a:r>
              <a:rPr b="0" i="0" lang="en-US" sz="2600" u="sng" cap="none" strike="noStrike">
                <a:solidFill>
                  <a:schemeClr val="dk1"/>
                </a:solidFill>
                <a:latin typeface="Montserrat"/>
                <a:ea typeface="Montserrat"/>
                <a:cs typeface="Montserrat"/>
                <a:sym typeface="Montserrat"/>
              </a:rPr>
              <a:t>email</a:t>
            </a:r>
            <a:r>
              <a:rPr b="0" i="0" lang="en-US" sz="2600" u="none" cap="none" strike="noStrike">
                <a:solidFill>
                  <a:schemeClr val="dk1"/>
                </a:solidFill>
                <a:latin typeface="Montserrat"/>
                <a:ea typeface="Montserrat"/>
                <a:cs typeface="Montserrat"/>
                <a:sym typeface="Montserrat"/>
              </a:rPr>
              <a:t>. </a:t>
            </a:r>
            <a:endParaRPr b="0" i="0" sz="2600" u="none" cap="none" strike="noStrike">
              <a:solidFill>
                <a:schemeClr val="dk1"/>
              </a:solidFill>
              <a:latin typeface="Montserrat"/>
              <a:ea typeface="Montserrat"/>
              <a:cs typeface="Montserrat"/>
              <a:sym typeface="Montserrat"/>
            </a:endParaRPr>
          </a:p>
        </p:txBody>
      </p:sp>
      <p:sp>
        <p:nvSpPr>
          <p:cNvPr id="626" name="Google Shape;626;g37efbfe7193_0_34"/>
          <p:cNvSpPr/>
          <p:nvPr/>
        </p:nvSpPr>
        <p:spPr>
          <a:xfrm>
            <a:off x="597400" y="2519050"/>
            <a:ext cx="10824000" cy="643800"/>
          </a:xfrm>
          <a:prstGeom prst="rect">
            <a:avLst/>
          </a:prstGeom>
          <a:solidFill>
            <a:srgbClr val="DDEAF6">
              <a:alpha val="44313"/>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g37efbfe7193_0_34"/>
          <p:cNvSpPr txBox="1"/>
          <p:nvPr/>
        </p:nvSpPr>
        <p:spPr>
          <a:xfrm>
            <a:off x="7068375" y="2519059"/>
            <a:ext cx="41934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Montserrat"/>
                <a:ea typeface="Montserrat"/>
                <a:cs typeface="Montserrat"/>
                <a:sym typeface="Montserrat"/>
              </a:rPr>
              <a:t>Dear / Respected / Hi</a:t>
            </a:r>
            <a:endParaRPr b="0" i="0" sz="2600" u="none" cap="none" strike="noStrike">
              <a:solidFill>
                <a:schemeClr val="dk1"/>
              </a:solidFill>
              <a:latin typeface="Montserrat"/>
              <a:ea typeface="Montserrat"/>
              <a:cs typeface="Montserrat"/>
              <a:sym typeface="Montserrat"/>
            </a:endParaRPr>
          </a:p>
        </p:txBody>
      </p:sp>
      <p:sp>
        <p:nvSpPr>
          <p:cNvPr id="628" name="Google Shape;628;g37efbfe7193_0_34"/>
          <p:cNvSpPr/>
          <p:nvPr/>
        </p:nvSpPr>
        <p:spPr>
          <a:xfrm>
            <a:off x="597425" y="3279425"/>
            <a:ext cx="10824000" cy="2168700"/>
          </a:xfrm>
          <a:prstGeom prst="rect">
            <a:avLst/>
          </a:prstGeom>
          <a:solidFill>
            <a:srgbClr val="DDEAF6">
              <a:alpha val="44313"/>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g37efbfe7193_0_34"/>
          <p:cNvSpPr txBox="1"/>
          <p:nvPr/>
        </p:nvSpPr>
        <p:spPr>
          <a:xfrm>
            <a:off x="1454400" y="3740284"/>
            <a:ext cx="4193400" cy="138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dk1"/>
                </a:solidFill>
                <a:latin typeface="Montserrat"/>
                <a:ea typeface="Montserrat"/>
                <a:cs typeface="Montserrat"/>
                <a:sym typeface="Montserrat"/>
              </a:rPr>
              <a:t>A</a:t>
            </a:r>
            <a:r>
              <a:rPr b="0" i="0" lang="en-US" sz="2600" u="none" cap="none" strike="noStrike">
                <a:solidFill>
                  <a:schemeClr val="dk1"/>
                </a:solidFill>
                <a:latin typeface="Montserrat"/>
                <a:ea typeface="Montserrat"/>
                <a:cs typeface="Montserrat"/>
                <a:sym typeface="Montserrat"/>
              </a:rPr>
              <a:t>bstract/ Opening </a:t>
            </a:r>
            <a:endParaRPr b="0" i="0" sz="26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dk1"/>
                </a:solidFill>
                <a:latin typeface="Montserrat"/>
                <a:ea typeface="Montserrat"/>
                <a:cs typeface="Montserrat"/>
                <a:sym typeface="Montserrat"/>
              </a:rPr>
              <a:t>B</a:t>
            </a:r>
            <a:r>
              <a:rPr b="0" i="0" lang="en-US" sz="2600" u="none" cap="none" strike="noStrike">
                <a:solidFill>
                  <a:schemeClr val="dk1"/>
                </a:solidFill>
                <a:latin typeface="Montserrat"/>
                <a:ea typeface="Montserrat"/>
                <a:cs typeface="Montserrat"/>
                <a:sym typeface="Montserrat"/>
              </a:rPr>
              <a:t>oday</a:t>
            </a:r>
            <a:endParaRPr b="0" i="0" sz="26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dk1"/>
                </a:solidFill>
                <a:latin typeface="Montserrat"/>
                <a:ea typeface="Montserrat"/>
                <a:cs typeface="Montserrat"/>
                <a:sym typeface="Montserrat"/>
              </a:rPr>
              <a:t>C</a:t>
            </a:r>
            <a:r>
              <a:rPr b="0" i="0" lang="en-US" sz="2600" u="none" cap="none" strike="noStrike">
                <a:solidFill>
                  <a:schemeClr val="dk1"/>
                </a:solidFill>
                <a:latin typeface="Montserrat"/>
                <a:ea typeface="Montserrat"/>
                <a:cs typeface="Montserrat"/>
                <a:sym typeface="Montserrat"/>
              </a:rPr>
              <a:t>losing</a:t>
            </a:r>
            <a:endParaRPr b="0" i="0" sz="2600" u="none" cap="none" strike="noStrike">
              <a:solidFill>
                <a:schemeClr val="dk1"/>
              </a:solidFill>
              <a:latin typeface="Montserrat"/>
              <a:ea typeface="Montserrat"/>
              <a:cs typeface="Montserrat"/>
              <a:sym typeface="Montserrat"/>
            </a:endParaRPr>
          </a:p>
        </p:txBody>
      </p:sp>
      <p:sp>
        <p:nvSpPr>
          <p:cNvPr id="630" name="Google Shape;630;g37efbfe7193_0_34"/>
          <p:cNvSpPr txBox="1"/>
          <p:nvPr/>
        </p:nvSpPr>
        <p:spPr>
          <a:xfrm>
            <a:off x="4355700" y="1849375"/>
            <a:ext cx="1647900" cy="523200"/>
          </a:xfrm>
          <a:prstGeom prst="rect">
            <a:avLst/>
          </a:prstGeom>
          <a:solidFill>
            <a:srgbClr val="C9DAF8"/>
          </a:solidFill>
          <a:ln cap="flat" cmpd="sng" w="9525">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chemeClr val="dk1"/>
                </a:solidFill>
                <a:latin typeface="Montserrat"/>
                <a:ea typeface="Montserrat"/>
                <a:cs typeface="Montserrat"/>
                <a:sym typeface="Montserrat"/>
              </a:rPr>
              <a:t>Objective</a:t>
            </a:r>
            <a:endParaRPr b="0" i="1" sz="2200" u="none" cap="none" strike="noStrike">
              <a:solidFill>
                <a:schemeClr val="dk1"/>
              </a:solidFill>
              <a:latin typeface="Montserrat"/>
              <a:ea typeface="Montserrat"/>
              <a:cs typeface="Montserrat"/>
              <a:sym typeface="Montserrat"/>
            </a:endParaRPr>
          </a:p>
        </p:txBody>
      </p:sp>
      <p:cxnSp>
        <p:nvCxnSpPr>
          <p:cNvPr id="631" name="Google Shape;631;g37efbfe7193_0_34"/>
          <p:cNvCxnSpPr>
            <a:endCxn id="630" idx="1"/>
          </p:cNvCxnSpPr>
          <p:nvPr/>
        </p:nvCxnSpPr>
        <p:spPr>
          <a:xfrm flipH="1" rot="10800000">
            <a:off x="2958600" y="2110975"/>
            <a:ext cx="1397100" cy="97200"/>
          </a:xfrm>
          <a:prstGeom prst="straightConnector1">
            <a:avLst/>
          </a:prstGeom>
          <a:noFill/>
          <a:ln cap="flat" cmpd="sng" w="9525">
            <a:solidFill>
              <a:srgbClr val="0000FF"/>
            </a:solidFill>
            <a:prstDash val="solid"/>
            <a:round/>
            <a:headEnd len="sm" w="sm" type="none"/>
            <a:tailEnd len="sm" w="sm" type="none"/>
          </a:ln>
        </p:spPr>
      </p:cxnSp>
      <p:sp>
        <p:nvSpPr>
          <p:cNvPr id="632" name="Google Shape;632;g37efbfe7193_0_34"/>
          <p:cNvSpPr txBox="1"/>
          <p:nvPr/>
        </p:nvSpPr>
        <p:spPr>
          <a:xfrm>
            <a:off x="4944225" y="3723835"/>
            <a:ext cx="4768500" cy="523200"/>
          </a:xfrm>
          <a:prstGeom prst="rect">
            <a:avLst/>
          </a:prstGeom>
          <a:solidFill>
            <a:srgbClr val="C9DAF8"/>
          </a:solidFill>
          <a:ln cap="flat" cmpd="sng" w="9525">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chemeClr val="dk1"/>
                </a:solidFill>
                <a:latin typeface="Montserrat"/>
                <a:ea typeface="Montserrat"/>
                <a:cs typeface="Montserrat"/>
                <a:sym typeface="Montserrat"/>
              </a:rPr>
              <a:t>Reason/Purpose explained</a:t>
            </a:r>
            <a:endParaRPr b="0" i="1" sz="2200" u="none" cap="none" strike="noStrike">
              <a:solidFill>
                <a:schemeClr val="dk1"/>
              </a:solidFill>
              <a:latin typeface="Montserrat"/>
              <a:ea typeface="Montserrat"/>
              <a:cs typeface="Montserrat"/>
              <a:sym typeface="Montserrat"/>
            </a:endParaRPr>
          </a:p>
        </p:txBody>
      </p:sp>
      <p:sp>
        <p:nvSpPr>
          <p:cNvPr id="633" name="Google Shape;633;g37efbfe7193_0_34"/>
          <p:cNvSpPr txBox="1"/>
          <p:nvPr/>
        </p:nvSpPr>
        <p:spPr>
          <a:xfrm>
            <a:off x="3821550" y="4272398"/>
            <a:ext cx="3096900" cy="523200"/>
          </a:xfrm>
          <a:prstGeom prst="rect">
            <a:avLst/>
          </a:prstGeom>
          <a:solidFill>
            <a:srgbClr val="C9DAF8"/>
          </a:solidFill>
          <a:ln cap="flat" cmpd="sng" w="9525">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chemeClr val="dk1"/>
                </a:solidFill>
                <a:latin typeface="Montserrat"/>
                <a:ea typeface="Montserrat"/>
                <a:cs typeface="Montserrat"/>
                <a:sym typeface="Montserrat"/>
              </a:rPr>
              <a:t>Reasons/Evidence</a:t>
            </a:r>
            <a:endParaRPr b="0" i="1" sz="2200" u="none" cap="none" strike="noStrike">
              <a:solidFill>
                <a:schemeClr val="dk1"/>
              </a:solidFill>
              <a:latin typeface="Montserrat"/>
              <a:ea typeface="Montserrat"/>
              <a:cs typeface="Montserrat"/>
              <a:sym typeface="Montserrat"/>
            </a:endParaRPr>
          </a:p>
        </p:txBody>
      </p:sp>
      <p:sp>
        <p:nvSpPr>
          <p:cNvPr id="634" name="Google Shape;634;g37efbfe7193_0_34"/>
          <p:cNvSpPr txBox="1"/>
          <p:nvPr/>
        </p:nvSpPr>
        <p:spPr>
          <a:xfrm>
            <a:off x="3046050" y="4795600"/>
            <a:ext cx="5815200" cy="507900"/>
          </a:xfrm>
          <a:prstGeom prst="rect">
            <a:avLst/>
          </a:prstGeom>
          <a:solidFill>
            <a:srgbClr val="C9DAF8"/>
          </a:solidFill>
          <a:ln cap="flat" cmpd="sng" w="9525">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chemeClr val="dk1"/>
                </a:solidFill>
                <a:latin typeface="Montserrat"/>
                <a:ea typeface="Montserrat"/>
                <a:cs typeface="Montserrat"/>
                <a:sym typeface="Montserrat"/>
              </a:rPr>
              <a:t>Call to action/Closing/Summary</a:t>
            </a:r>
            <a:endParaRPr b="0" i="1" sz="2100" u="none" cap="none" strike="noStrike">
              <a:solidFill>
                <a:schemeClr val="dk1"/>
              </a:solidFill>
              <a:latin typeface="Montserrat"/>
              <a:ea typeface="Montserrat"/>
              <a:cs typeface="Montserrat"/>
              <a:sym typeface="Montserrat"/>
            </a:endParaRPr>
          </a:p>
        </p:txBody>
      </p:sp>
      <p:sp>
        <p:nvSpPr>
          <p:cNvPr id="635" name="Google Shape;635;g37efbfe7193_0_34"/>
          <p:cNvSpPr/>
          <p:nvPr/>
        </p:nvSpPr>
        <p:spPr>
          <a:xfrm>
            <a:off x="597400" y="5541825"/>
            <a:ext cx="10824000" cy="1092000"/>
          </a:xfrm>
          <a:prstGeom prst="rect">
            <a:avLst/>
          </a:prstGeom>
          <a:solidFill>
            <a:srgbClr val="DDEAF6">
              <a:alpha val="44313"/>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g37efbfe7193_0_34"/>
          <p:cNvSpPr txBox="1"/>
          <p:nvPr/>
        </p:nvSpPr>
        <p:spPr>
          <a:xfrm>
            <a:off x="7068375" y="5616350"/>
            <a:ext cx="4193400" cy="985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Montserrat"/>
                <a:ea typeface="Montserrat"/>
                <a:cs typeface="Montserrat"/>
                <a:sym typeface="Montserrat"/>
              </a:rPr>
              <a:t>Courteous close and sender details</a:t>
            </a:r>
            <a:endParaRPr b="0" i="0" sz="2600" u="none" cap="none" strike="noStrike">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g37c26b4523b_0_12"/>
          <p:cNvSpPr txBox="1"/>
          <p:nvPr>
            <p:ph type="ctrTitle"/>
          </p:nvPr>
        </p:nvSpPr>
        <p:spPr>
          <a:xfrm>
            <a:off x="127200" y="1766450"/>
            <a:ext cx="11937600" cy="15414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2F5496"/>
              </a:buClr>
              <a:buSzPts val="4400"/>
              <a:buFont typeface="Times New Roman"/>
              <a:buNone/>
            </a:pPr>
            <a:r>
              <a:rPr b="1" lang="en-US" sz="4400">
                <a:solidFill>
                  <a:srgbClr val="2F5496"/>
                </a:solidFill>
                <a:latin typeface="Times New Roman"/>
                <a:ea typeface="Times New Roman"/>
                <a:cs typeface="Times New Roman"/>
                <a:sym typeface="Times New Roman"/>
              </a:rPr>
              <a:t>Technical Communication in the</a:t>
            </a:r>
            <a:br>
              <a:rPr b="1" lang="en-US" sz="4400">
                <a:solidFill>
                  <a:srgbClr val="2F5496"/>
                </a:solidFill>
                <a:latin typeface="Times New Roman"/>
                <a:ea typeface="Times New Roman"/>
                <a:cs typeface="Times New Roman"/>
                <a:sym typeface="Times New Roman"/>
              </a:rPr>
            </a:br>
            <a:r>
              <a:rPr b="1" lang="en-US" sz="4400">
                <a:solidFill>
                  <a:srgbClr val="2F5496"/>
                </a:solidFill>
                <a:latin typeface="Times New Roman"/>
                <a:ea typeface="Times New Roman"/>
                <a:cs typeface="Times New Roman"/>
                <a:sym typeface="Times New Roman"/>
              </a:rPr>
              <a:t>Workplace</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364c8792521_0_13"/>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1: Know Your </a:t>
            </a:r>
            <a:r>
              <a:rPr b="1" lang="en-US" sz="3000" u="sng">
                <a:highlight>
                  <a:srgbClr val="FFF2CC"/>
                </a:highlight>
                <a:latin typeface="Montserrat"/>
                <a:ea typeface="Montserrat"/>
                <a:cs typeface="Montserrat"/>
                <a:sym typeface="Montserrat"/>
              </a:rPr>
              <a:t>Purpose</a:t>
            </a:r>
            <a:endParaRPr b="1" sz="3000" u="sng">
              <a:highlight>
                <a:srgbClr val="FFF2CC"/>
              </a:highlight>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a:latin typeface="Montserrat"/>
                <a:ea typeface="Montserrat"/>
                <a:cs typeface="Montserrat"/>
                <a:sym typeface="Montserrat"/>
              </a:rPr>
              <a:t>Before beginning → write down your purpose in one clear sentence.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b="1" sz="3000">
              <a:latin typeface="Montserrat"/>
              <a:ea typeface="Montserrat"/>
              <a:cs typeface="Montserrat"/>
              <a:sym typeface="Montserra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3FF"/>
        </a:solidFill>
      </p:bgPr>
    </p:bg>
    <p:spTree>
      <p:nvGrpSpPr>
        <p:cNvPr id="652" name="Shape 652"/>
        <p:cNvGrpSpPr/>
        <p:nvPr/>
      </p:nvGrpSpPr>
      <p:grpSpPr>
        <a:xfrm>
          <a:off x="0" y="0"/>
          <a:ext cx="0" cy="0"/>
          <a:chOff x="0" y="0"/>
          <a:chExt cx="0" cy="0"/>
        </a:xfrm>
      </p:grpSpPr>
      <p:sp>
        <p:nvSpPr>
          <p:cNvPr id="653" name="Google Shape;653;g364c8792521_0_20"/>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latin typeface="Montserrat"/>
                <a:ea typeface="Montserrat"/>
                <a:cs typeface="Montserrat"/>
                <a:sym typeface="Montserrat"/>
              </a:rPr>
              <a:t>What is the purpose in below correspondence: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“As you requested yesterday, I am sending samples of the new candy brands you are considering placing in M-Global’s office vending machines.”</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3FF"/>
        </a:solidFill>
      </p:bgPr>
    </p:bg>
    <p:spTree>
      <p:nvGrpSpPr>
        <p:cNvPr id="658" name="Shape 658"/>
        <p:cNvGrpSpPr/>
        <p:nvPr/>
      </p:nvGrpSpPr>
      <p:grpSpPr>
        <a:xfrm>
          <a:off x="0" y="0"/>
          <a:ext cx="0" cy="0"/>
          <a:chOff x="0" y="0"/>
          <a:chExt cx="0" cy="0"/>
        </a:xfrm>
      </p:grpSpPr>
      <p:sp>
        <p:nvSpPr>
          <p:cNvPr id="659" name="Google Shape;659;g364c8792521_0_25"/>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latin typeface="Montserrat"/>
                <a:ea typeface="Montserrat"/>
                <a:cs typeface="Montserrat"/>
                <a:sym typeface="Montserrat"/>
              </a:rPr>
              <a:t>What is the purpose in below correspondence: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“As you requested yesterday, </a:t>
            </a:r>
            <a:r>
              <a:rPr lang="en-US" sz="2500">
                <a:highlight>
                  <a:srgbClr val="FFE599"/>
                </a:highlight>
                <a:latin typeface="Montserrat"/>
                <a:ea typeface="Montserrat"/>
                <a:cs typeface="Montserrat"/>
                <a:sym typeface="Montserrat"/>
              </a:rPr>
              <a:t>I am sending samples of the new candy brands</a:t>
            </a:r>
            <a:r>
              <a:rPr lang="en-US" sz="2500">
                <a:latin typeface="Montserrat"/>
                <a:ea typeface="Montserrat"/>
                <a:cs typeface="Montserrat"/>
                <a:sym typeface="Montserrat"/>
              </a:rPr>
              <a:t> you are considering placing in M-Global’s office vending machines.”</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
        <p:nvSpPr>
          <p:cNvPr id="660" name="Google Shape;660;g364c8792521_0_25"/>
          <p:cNvSpPr txBox="1"/>
          <p:nvPr/>
        </p:nvSpPr>
        <p:spPr>
          <a:xfrm>
            <a:off x="3734250" y="1549875"/>
            <a:ext cx="1689600" cy="677100"/>
          </a:xfrm>
          <a:prstGeom prst="rect">
            <a:avLst/>
          </a:prstGeom>
          <a:solidFill>
            <a:srgbClr val="FFE599"/>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1" lang="en-US" sz="3200" u="none" cap="none" strike="noStrike">
                <a:solidFill>
                  <a:schemeClr val="dk1"/>
                </a:solidFill>
                <a:latin typeface="Caveat"/>
                <a:ea typeface="Caveat"/>
                <a:cs typeface="Caveat"/>
                <a:sym typeface="Caveat"/>
              </a:rPr>
              <a:t>Purpose</a:t>
            </a:r>
            <a:endParaRPr b="0" i="1" sz="3200" u="none" cap="none" strike="noStrike">
              <a:solidFill>
                <a:schemeClr val="dk1"/>
              </a:solidFill>
              <a:latin typeface="Caveat"/>
              <a:ea typeface="Caveat"/>
              <a:cs typeface="Caveat"/>
              <a:sym typeface="Caveat"/>
            </a:endParaRPr>
          </a:p>
        </p:txBody>
      </p:sp>
      <p:cxnSp>
        <p:nvCxnSpPr>
          <p:cNvPr id="661" name="Google Shape;661;g364c8792521_0_25"/>
          <p:cNvCxnSpPr>
            <a:endCxn id="660" idx="3"/>
          </p:cNvCxnSpPr>
          <p:nvPr/>
        </p:nvCxnSpPr>
        <p:spPr>
          <a:xfrm rot="10800000">
            <a:off x="5423850" y="1888425"/>
            <a:ext cx="1519500" cy="724200"/>
          </a:xfrm>
          <a:prstGeom prst="curvedConnector3">
            <a:avLst>
              <a:gd fmla="val 7486" name="adj1"/>
            </a:avLst>
          </a:prstGeom>
          <a:noFill/>
          <a:ln cap="flat" cmpd="sng" w="19050">
            <a:solidFill>
              <a:schemeClr val="dk2"/>
            </a:solidFill>
            <a:prstDash val="solid"/>
            <a:round/>
            <a:headEnd len="sm" w="sm" type="none"/>
            <a:tailEnd len="med" w="med" type="stealth"/>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FEFF"/>
        </a:solidFill>
      </p:bgPr>
    </p:bg>
    <p:spTree>
      <p:nvGrpSpPr>
        <p:cNvPr id="666" name="Shape 666"/>
        <p:cNvGrpSpPr/>
        <p:nvPr/>
      </p:nvGrpSpPr>
      <p:grpSpPr>
        <a:xfrm>
          <a:off x="0" y="0"/>
          <a:ext cx="0" cy="0"/>
          <a:chOff x="0" y="0"/>
          <a:chExt cx="0" cy="0"/>
        </a:xfrm>
      </p:grpSpPr>
      <p:sp>
        <p:nvSpPr>
          <p:cNvPr id="667" name="Google Shape;667;g364c8792521_0_35"/>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latin typeface="Montserrat"/>
                <a:ea typeface="Montserrat"/>
                <a:cs typeface="Montserrat"/>
                <a:sym typeface="Montserrat"/>
              </a:rPr>
              <a:t>What is the purpose in below correspondence: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This letter explains M-Global’s new policy for selecting rental cars on business trips.</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FEFF"/>
        </a:solidFill>
      </p:bgPr>
    </p:bg>
    <p:spTree>
      <p:nvGrpSpPr>
        <p:cNvPr id="672" name="Shape 672"/>
        <p:cNvGrpSpPr/>
        <p:nvPr/>
      </p:nvGrpSpPr>
      <p:grpSpPr>
        <a:xfrm>
          <a:off x="0" y="0"/>
          <a:ext cx="0" cy="0"/>
          <a:chOff x="0" y="0"/>
          <a:chExt cx="0" cy="0"/>
        </a:xfrm>
      </p:grpSpPr>
      <p:sp>
        <p:nvSpPr>
          <p:cNvPr id="673" name="Google Shape;673;g364c8792521_0_104"/>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latin typeface="Montserrat"/>
                <a:ea typeface="Montserrat"/>
                <a:cs typeface="Montserrat"/>
                <a:sym typeface="Montserrat"/>
              </a:rPr>
              <a:t>What is the purpose in below correspondence: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This letter explains </a:t>
            </a:r>
            <a:r>
              <a:rPr lang="en-US" sz="2500">
                <a:highlight>
                  <a:srgbClr val="FFE599"/>
                </a:highlight>
                <a:latin typeface="Montserrat"/>
                <a:ea typeface="Montserrat"/>
                <a:cs typeface="Montserrat"/>
                <a:sym typeface="Montserrat"/>
              </a:rPr>
              <a:t>M-Global’s new policy for selecting rental cars on business trips</a:t>
            </a:r>
            <a:r>
              <a:rPr lang="en-US" sz="2500">
                <a:latin typeface="Montserrat"/>
                <a:ea typeface="Montserrat"/>
                <a:cs typeface="Montserrat"/>
                <a:sym typeface="Montserrat"/>
              </a:rPr>
              <a:t>.</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9"/>
        </a:solidFill>
      </p:bgPr>
    </p:bg>
    <p:spTree>
      <p:nvGrpSpPr>
        <p:cNvPr id="678" name="Shape 678"/>
        <p:cNvGrpSpPr/>
        <p:nvPr/>
      </p:nvGrpSpPr>
      <p:grpSpPr>
        <a:xfrm>
          <a:off x="0" y="0"/>
          <a:ext cx="0" cy="0"/>
          <a:chOff x="0" y="0"/>
          <a:chExt cx="0" cy="0"/>
        </a:xfrm>
      </p:grpSpPr>
      <p:sp>
        <p:nvSpPr>
          <p:cNvPr id="679" name="Google Shape;679;g364c8792521_0_45"/>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latin typeface="Montserrat"/>
                <a:ea typeface="Montserrat"/>
                <a:cs typeface="Montserrat"/>
                <a:sym typeface="Montserrat"/>
              </a:rPr>
              <a:t>What is the purpose in below correspondence: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I have attached the most recent draft of the proposal for the PI Corp. pipeline project.</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9"/>
        </a:solidFill>
      </p:bgPr>
    </p:bg>
    <p:spTree>
      <p:nvGrpSpPr>
        <p:cNvPr id="684" name="Shape 684"/>
        <p:cNvGrpSpPr/>
        <p:nvPr/>
      </p:nvGrpSpPr>
      <p:grpSpPr>
        <a:xfrm>
          <a:off x="0" y="0"/>
          <a:ext cx="0" cy="0"/>
          <a:chOff x="0" y="0"/>
          <a:chExt cx="0" cy="0"/>
        </a:xfrm>
      </p:grpSpPr>
      <p:sp>
        <p:nvSpPr>
          <p:cNvPr id="685" name="Google Shape;685;g364c8792521_0_98"/>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latin typeface="Montserrat"/>
                <a:ea typeface="Montserrat"/>
                <a:cs typeface="Montserrat"/>
                <a:sym typeface="Montserrat"/>
              </a:rPr>
              <a:t>What is the purpose in below correspondence: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I have attached the most recent draft of the proposal for the PI Corp. pipeline project.</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
        <p:nvSpPr>
          <p:cNvPr id="686" name="Google Shape;686;g364c8792521_0_98"/>
          <p:cNvSpPr txBox="1"/>
          <p:nvPr/>
        </p:nvSpPr>
        <p:spPr>
          <a:xfrm>
            <a:off x="4898575" y="1675450"/>
            <a:ext cx="3095400" cy="646500"/>
          </a:xfrm>
          <a:prstGeom prst="rect">
            <a:avLst/>
          </a:prstGeom>
          <a:solidFill>
            <a:srgbClr val="FFE599"/>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0" i="0" lang="en-US" sz="3000" u="none" cap="none" strike="noStrike">
                <a:solidFill>
                  <a:schemeClr val="dk1"/>
                </a:solidFill>
                <a:latin typeface="Caveat"/>
                <a:ea typeface="Caveat"/>
                <a:cs typeface="Caveat"/>
                <a:sym typeface="Caveat"/>
              </a:rPr>
              <a:t>Purpose: Implied?</a:t>
            </a:r>
            <a:endParaRPr b="0" i="0" sz="3000" u="none" cap="none" strike="noStrike">
              <a:solidFill>
                <a:schemeClr val="dk1"/>
              </a:solidFill>
              <a:latin typeface="Caveat"/>
              <a:ea typeface="Caveat"/>
              <a:cs typeface="Caveat"/>
              <a:sym typeface="Caveat"/>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g364c8792521_0_138"/>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1: Know Your </a:t>
            </a:r>
            <a:r>
              <a:rPr b="1" lang="en-US" sz="3000" u="sng">
                <a:highlight>
                  <a:srgbClr val="FFF2CC"/>
                </a:highlight>
                <a:latin typeface="Montserrat"/>
                <a:ea typeface="Montserrat"/>
                <a:cs typeface="Montserrat"/>
                <a:sym typeface="Montserrat"/>
              </a:rPr>
              <a:t>Purpose</a:t>
            </a:r>
            <a:endParaRPr b="1" sz="3000" u="sng">
              <a:highlight>
                <a:srgbClr val="FFF2CC"/>
              </a:highlight>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a:latin typeface="Montserrat"/>
                <a:ea typeface="Montserrat"/>
                <a:cs typeface="Montserrat"/>
                <a:sym typeface="Montserrat"/>
              </a:rPr>
              <a:t>Before beginning → write down your purpose in one clear sentence.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2: Know Your </a:t>
            </a:r>
            <a:r>
              <a:rPr b="1" lang="en-US" sz="3000" u="sng">
                <a:highlight>
                  <a:srgbClr val="D0E0E3"/>
                </a:highlight>
                <a:latin typeface="Montserrat"/>
                <a:ea typeface="Montserrat"/>
                <a:cs typeface="Montserrat"/>
                <a:sym typeface="Montserrat"/>
              </a:rPr>
              <a:t>Reader</a:t>
            </a:r>
            <a:endParaRPr b="1" sz="3000" u="sng">
              <a:highlight>
                <a:srgbClr val="D0E0E3"/>
              </a:highlight>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u="sng">
                <a:latin typeface="Montserrat"/>
                <a:ea typeface="Montserrat"/>
                <a:cs typeface="Montserrat"/>
                <a:sym typeface="Montserrat"/>
              </a:rPr>
              <a:t>Who</a:t>
            </a:r>
            <a:r>
              <a:rPr lang="en-US" sz="1900">
                <a:latin typeface="Montserrat"/>
                <a:ea typeface="Montserrat"/>
                <a:cs typeface="Montserrat"/>
                <a:sym typeface="Montserrat"/>
              </a:rPr>
              <a:t> are you trying to inform or influence? Affects the </a:t>
            </a:r>
            <a:r>
              <a:rPr lang="en-US" sz="1900" u="sng">
                <a:latin typeface="Montserrat"/>
                <a:ea typeface="Montserrat"/>
                <a:cs typeface="Montserrat"/>
                <a:sym typeface="Montserrat"/>
              </a:rPr>
              <a:t>vocabulary</a:t>
            </a:r>
            <a:r>
              <a:rPr lang="en-US" sz="1900">
                <a:latin typeface="Montserrat"/>
                <a:ea typeface="Montserrat"/>
                <a:cs typeface="Montserrat"/>
                <a:sym typeface="Montserrat"/>
              </a:rPr>
              <a:t> you choose, the </a:t>
            </a:r>
            <a:r>
              <a:rPr lang="en-US" sz="1900" u="sng">
                <a:latin typeface="Montserrat"/>
                <a:ea typeface="Montserrat"/>
                <a:cs typeface="Montserrat"/>
                <a:sym typeface="Montserrat"/>
              </a:rPr>
              <a:t>arguments</a:t>
            </a:r>
            <a:r>
              <a:rPr lang="en-US" sz="1900">
                <a:latin typeface="Montserrat"/>
                <a:ea typeface="Montserrat"/>
                <a:cs typeface="Montserrat"/>
                <a:sym typeface="Montserrat"/>
              </a:rPr>
              <a:t> you make, and the </a:t>
            </a:r>
            <a:r>
              <a:rPr lang="en-US" sz="1900" u="sng">
                <a:latin typeface="Montserrat"/>
                <a:ea typeface="Montserrat"/>
                <a:cs typeface="Montserrat"/>
                <a:sym typeface="Montserrat"/>
              </a:rPr>
              <a:t>tone</a:t>
            </a:r>
            <a:r>
              <a:rPr lang="en-US" sz="1900">
                <a:latin typeface="Montserrat"/>
                <a:ea typeface="Montserrat"/>
                <a:cs typeface="Montserrat"/>
                <a:sym typeface="Montserrat"/>
              </a:rPr>
              <a:t> you adopt.</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b="1" sz="3000">
              <a:latin typeface="Montserrat"/>
              <a:ea typeface="Montserrat"/>
              <a:cs typeface="Montserrat"/>
              <a:sym typeface="Montserrat"/>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3FF"/>
        </a:solidFill>
      </p:bgPr>
    </p:bg>
    <p:spTree>
      <p:nvGrpSpPr>
        <p:cNvPr id="697" name="Shape 697"/>
        <p:cNvGrpSpPr/>
        <p:nvPr/>
      </p:nvGrpSpPr>
      <p:grpSpPr>
        <a:xfrm>
          <a:off x="0" y="0"/>
          <a:ext cx="0" cy="0"/>
          <a:chOff x="0" y="0"/>
          <a:chExt cx="0" cy="0"/>
        </a:xfrm>
      </p:grpSpPr>
      <p:sp>
        <p:nvSpPr>
          <p:cNvPr id="698" name="Google Shape;698;g364c8792521_0_143"/>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solidFill>
                  <a:srgbClr val="B7B7B7"/>
                </a:solidFill>
                <a:latin typeface="Montserrat"/>
                <a:ea typeface="Montserrat"/>
                <a:cs typeface="Montserrat"/>
                <a:sym typeface="Montserrat"/>
              </a:rPr>
              <a:t>What is the purpose in below correspondence:</a:t>
            </a:r>
            <a:endParaRPr sz="2500">
              <a:solidFill>
                <a:srgbClr val="B7B7B7"/>
              </a:solidFill>
              <a:latin typeface="Montserrat"/>
              <a:ea typeface="Montserrat"/>
              <a:cs typeface="Montserrat"/>
              <a:sym typeface="Montserrat"/>
            </a:endParaRPr>
          </a:p>
          <a:p>
            <a:pPr indent="0" lvl="0" marL="0" rtl="0" algn="l">
              <a:lnSpc>
                <a:spcPct val="90000"/>
              </a:lnSpc>
              <a:spcBef>
                <a:spcPts val="0"/>
              </a:spcBef>
              <a:spcAft>
                <a:spcPts val="0"/>
              </a:spcAft>
              <a:buSzPts val="1800"/>
              <a:buNone/>
            </a:pPr>
            <a:r>
              <a:rPr lang="en-US" sz="2500" u="sng">
                <a:latin typeface="Montserrat"/>
                <a:ea typeface="Montserrat"/>
                <a:cs typeface="Montserrat"/>
                <a:sym typeface="Montserrat"/>
              </a:rPr>
              <a:t>Who</a:t>
            </a:r>
            <a:r>
              <a:rPr lang="en-US" sz="2500">
                <a:latin typeface="Montserrat"/>
                <a:ea typeface="Montserrat"/>
                <a:cs typeface="Montserrat"/>
                <a:sym typeface="Montserrat"/>
              </a:rPr>
              <a:t> are you trying to inform or influence?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“As you requested yesterday, I am sending samples of the new candy brands you are considering placing in M-Global’s office vending machines.”</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
        <p:nvSpPr>
          <p:cNvPr id="699" name="Google Shape;699;g364c8792521_0_143"/>
          <p:cNvSpPr txBox="1"/>
          <p:nvPr/>
        </p:nvSpPr>
        <p:spPr>
          <a:xfrm>
            <a:off x="6531425" y="4131850"/>
            <a:ext cx="2172300" cy="16623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Tone? </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Wording? </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Audience? </a:t>
            </a:r>
            <a:endParaRPr b="0" i="0" sz="3200" u="none" cap="none" strike="noStrike">
              <a:solidFill>
                <a:schemeClr val="dk1"/>
              </a:solidFill>
              <a:latin typeface="Caveat"/>
              <a:ea typeface="Caveat"/>
              <a:cs typeface="Caveat"/>
              <a:sym typeface="Caveat"/>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3FF"/>
        </a:solidFill>
      </p:bgPr>
    </p:bg>
    <p:spTree>
      <p:nvGrpSpPr>
        <p:cNvPr id="704" name="Shape 704"/>
        <p:cNvGrpSpPr/>
        <p:nvPr/>
      </p:nvGrpSpPr>
      <p:grpSpPr>
        <a:xfrm>
          <a:off x="0" y="0"/>
          <a:ext cx="0" cy="0"/>
          <a:chOff x="0" y="0"/>
          <a:chExt cx="0" cy="0"/>
        </a:xfrm>
      </p:grpSpPr>
      <p:sp>
        <p:nvSpPr>
          <p:cNvPr id="705" name="Google Shape;705;g364c8792521_0_149"/>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solidFill>
                  <a:srgbClr val="B7B7B7"/>
                </a:solidFill>
                <a:latin typeface="Montserrat"/>
                <a:ea typeface="Montserrat"/>
                <a:cs typeface="Montserrat"/>
                <a:sym typeface="Montserrat"/>
              </a:rPr>
              <a:t>What is the purpose in below correspondence:</a:t>
            </a:r>
            <a:endParaRPr sz="2500">
              <a:solidFill>
                <a:srgbClr val="B7B7B7"/>
              </a:solidFill>
              <a:latin typeface="Montserrat"/>
              <a:ea typeface="Montserrat"/>
              <a:cs typeface="Montserrat"/>
              <a:sym typeface="Montserrat"/>
            </a:endParaRPr>
          </a:p>
          <a:p>
            <a:pPr indent="0" lvl="0" marL="0" rtl="0" algn="l">
              <a:lnSpc>
                <a:spcPct val="90000"/>
              </a:lnSpc>
              <a:spcBef>
                <a:spcPts val="0"/>
              </a:spcBef>
              <a:spcAft>
                <a:spcPts val="0"/>
              </a:spcAft>
              <a:buSzPts val="1800"/>
              <a:buNone/>
            </a:pPr>
            <a:r>
              <a:rPr lang="en-US" sz="2500" u="sng">
                <a:latin typeface="Montserrat"/>
                <a:ea typeface="Montserrat"/>
                <a:cs typeface="Montserrat"/>
                <a:sym typeface="Montserrat"/>
              </a:rPr>
              <a:t>Who</a:t>
            </a:r>
            <a:r>
              <a:rPr lang="en-US" sz="2500">
                <a:latin typeface="Montserrat"/>
                <a:ea typeface="Montserrat"/>
                <a:cs typeface="Montserrat"/>
                <a:sym typeface="Montserrat"/>
              </a:rPr>
              <a:t> are you trying to inform or influence?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“As you requested yesterday, I am sending samples of the new candy brands you are considering placing in M-Global’s office vending machines.”</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
        <p:nvSpPr>
          <p:cNvPr id="706" name="Google Shape;706;g364c8792521_0_149"/>
          <p:cNvSpPr txBox="1"/>
          <p:nvPr/>
        </p:nvSpPr>
        <p:spPr>
          <a:xfrm>
            <a:off x="6531425" y="4131850"/>
            <a:ext cx="5660700" cy="16623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Tone?  Respectful, Formal</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Wording? Formal, Proper</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Audience? Senior</a:t>
            </a:r>
            <a:endParaRPr b="0" i="0" sz="3200" u="none" cap="none" strike="noStrike">
              <a:solidFill>
                <a:schemeClr val="dk1"/>
              </a:solidFill>
              <a:latin typeface="Caveat"/>
              <a:ea typeface="Caveat"/>
              <a:cs typeface="Caveat"/>
              <a:sym typeface="Caveat"/>
            </a:endParaRPr>
          </a:p>
        </p:txBody>
      </p:sp>
      <p:sp>
        <p:nvSpPr>
          <p:cNvPr id="707" name="Google Shape;707;g364c8792521_0_149"/>
          <p:cNvSpPr txBox="1"/>
          <p:nvPr/>
        </p:nvSpPr>
        <p:spPr>
          <a:xfrm>
            <a:off x="1987825" y="1803250"/>
            <a:ext cx="3464400" cy="6156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veat Medium"/>
                <a:ea typeface="Caveat Medium"/>
                <a:cs typeface="Caveat Medium"/>
                <a:sym typeface="Caveat Medium"/>
              </a:rPr>
              <a:t>Professor / Manager</a:t>
            </a:r>
            <a:endParaRPr b="0" i="0" sz="2800" u="none" cap="none" strike="noStrike">
              <a:solidFill>
                <a:schemeClr val="dk1"/>
              </a:solidFill>
              <a:latin typeface="Caveat Medium"/>
              <a:ea typeface="Caveat Medium"/>
              <a:cs typeface="Caveat Medium"/>
              <a:sym typeface="Caveat Medium"/>
            </a:endParaRPr>
          </a:p>
        </p:txBody>
      </p:sp>
      <p:cxnSp>
        <p:nvCxnSpPr>
          <p:cNvPr id="708" name="Google Shape;708;g364c8792521_0_149"/>
          <p:cNvCxnSpPr>
            <a:endCxn id="707" idx="1"/>
          </p:cNvCxnSpPr>
          <p:nvPr/>
        </p:nvCxnSpPr>
        <p:spPr>
          <a:xfrm flipH="1" rot="-5400000">
            <a:off x="1237525" y="1360750"/>
            <a:ext cx="819000" cy="681600"/>
          </a:xfrm>
          <a:prstGeom prst="curvedConnector2">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FEFF"/>
        </a:solidFill>
      </p:bgPr>
    </p:bg>
    <p:spTree>
      <p:nvGrpSpPr>
        <p:cNvPr id="713" name="Shape 713"/>
        <p:cNvGrpSpPr/>
        <p:nvPr/>
      </p:nvGrpSpPr>
      <p:grpSpPr>
        <a:xfrm>
          <a:off x="0" y="0"/>
          <a:ext cx="0" cy="0"/>
          <a:chOff x="0" y="0"/>
          <a:chExt cx="0" cy="0"/>
        </a:xfrm>
      </p:grpSpPr>
      <p:sp>
        <p:nvSpPr>
          <p:cNvPr id="714" name="Google Shape;714;g364c8792521_0_157"/>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solidFill>
                  <a:srgbClr val="999999"/>
                </a:solidFill>
                <a:latin typeface="Montserrat"/>
                <a:ea typeface="Montserrat"/>
                <a:cs typeface="Montserrat"/>
                <a:sym typeface="Montserrat"/>
              </a:rPr>
              <a:t>What is the purpose in below correspondence:</a:t>
            </a:r>
            <a:endParaRPr sz="2500">
              <a:solidFill>
                <a:srgbClr val="999999"/>
              </a:solidFill>
              <a:latin typeface="Montserrat"/>
              <a:ea typeface="Montserrat"/>
              <a:cs typeface="Montserrat"/>
              <a:sym typeface="Montserrat"/>
            </a:endParaRPr>
          </a:p>
          <a:p>
            <a:pPr indent="0" lvl="0" marL="0" rtl="0" algn="l">
              <a:lnSpc>
                <a:spcPct val="90000"/>
              </a:lnSpc>
              <a:spcBef>
                <a:spcPts val="0"/>
              </a:spcBef>
              <a:spcAft>
                <a:spcPts val="0"/>
              </a:spcAft>
              <a:buSzPts val="1800"/>
              <a:buNone/>
            </a:pPr>
            <a:r>
              <a:rPr lang="en-US" sz="2500" u="sng">
                <a:latin typeface="Montserrat"/>
                <a:ea typeface="Montserrat"/>
                <a:cs typeface="Montserrat"/>
                <a:sym typeface="Montserrat"/>
              </a:rPr>
              <a:t>Who</a:t>
            </a:r>
            <a:r>
              <a:rPr lang="en-US" sz="2500">
                <a:latin typeface="Montserrat"/>
                <a:ea typeface="Montserrat"/>
                <a:cs typeface="Montserrat"/>
                <a:sym typeface="Montserrat"/>
              </a:rPr>
              <a:t> are you trying to inform or influence?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This letter explains M-Global’s new policy for selecting rental cars on business trips.</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
        <p:nvSpPr>
          <p:cNvPr id="715" name="Google Shape;715;g364c8792521_0_157"/>
          <p:cNvSpPr txBox="1"/>
          <p:nvPr/>
        </p:nvSpPr>
        <p:spPr>
          <a:xfrm>
            <a:off x="6531425" y="4131850"/>
            <a:ext cx="2172300" cy="16623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Tone? </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Wording? </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Audience? </a:t>
            </a:r>
            <a:endParaRPr b="0" i="0" sz="3200" u="none" cap="none" strike="noStrike">
              <a:solidFill>
                <a:schemeClr val="dk1"/>
              </a:solidFill>
              <a:latin typeface="Caveat"/>
              <a:ea typeface="Caveat"/>
              <a:cs typeface="Caveat"/>
              <a:sym typeface="Caveat"/>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FEFF"/>
        </a:solidFill>
      </p:bgPr>
    </p:bg>
    <p:spTree>
      <p:nvGrpSpPr>
        <p:cNvPr id="720" name="Shape 720"/>
        <p:cNvGrpSpPr/>
        <p:nvPr/>
      </p:nvGrpSpPr>
      <p:grpSpPr>
        <a:xfrm>
          <a:off x="0" y="0"/>
          <a:ext cx="0" cy="0"/>
          <a:chOff x="0" y="0"/>
          <a:chExt cx="0" cy="0"/>
        </a:xfrm>
      </p:grpSpPr>
      <p:sp>
        <p:nvSpPr>
          <p:cNvPr id="721" name="Google Shape;721;g364c8792521_0_163"/>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solidFill>
                  <a:srgbClr val="999999"/>
                </a:solidFill>
                <a:latin typeface="Montserrat"/>
                <a:ea typeface="Montserrat"/>
                <a:cs typeface="Montserrat"/>
                <a:sym typeface="Montserrat"/>
              </a:rPr>
              <a:t>What is the purpose in below correspondence:</a:t>
            </a:r>
            <a:endParaRPr sz="2500">
              <a:solidFill>
                <a:srgbClr val="999999"/>
              </a:solidFill>
              <a:latin typeface="Montserrat"/>
              <a:ea typeface="Montserrat"/>
              <a:cs typeface="Montserrat"/>
              <a:sym typeface="Montserrat"/>
            </a:endParaRPr>
          </a:p>
          <a:p>
            <a:pPr indent="0" lvl="0" marL="0" rtl="0" algn="l">
              <a:lnSpc>
                <a:spcPct val="90000"/>
              </a:lnSpc>
              <a:spcBef>
                <a:spcPts val="0"/>
              </a:spcBef>
              <a:spcAft>
                <a:spcPts val="0"/>
              </a:spcAft>
              <a:buSzPts val="1800"/>
              <a:buNone/>
            </a:pPr>
            <a:r>
              <a:rPr lang="en-US" sz="2500" u="sng">
                <a:latin typeface="Montserrat"/>
                <a:ea typeface="Montserrat"/>
                <a:cs typeface="Montserrat"/>
                <a:sym typeface="Montserrat"/>
              </a:rPr>
              <a:t>Who</a:t>
            </a:r>
            <a:r>
              <a:rPr lang="en-US" sz="2500">
                <a:latin typeface="Montserrat"/>
                <a:ea typeface="Montserrat"/>
                <a:cs typeface="Montserrat"/>
                <a:sym typeface="Montserrat"/>
              </a:rPr>
              <a:t> are you trying to inform or influence?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This letter explains M-Global’s new policy for selecting rental cars on business trips.</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
        <p:nvSpPr>
          <p:cNvPr id="722" name="Google Shape;722;g364c8792521_0_163"/>
          <p:cNvSpPr txBox="1"/>
          <p:nvPr/>
        </p:nvSpPr>
        <p:spPr>
          <a:xfrm>
            <a:off x="6531425" y="4131850"/>
            <a:ext cx="5111700" cy="16623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Tone? Informative, Professional</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Wording? Proper, Formal</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Audience? Known, Group </a:t>
            </a:r>
            <a:endParaRPr b="0" i="0" sz="3200" u="none" cap="none" strike="noStrike">
              <a:solidFill>
                <a:schemeClr val="dk1"/>
              </a:solidFill>
              <a:latin typeface="Caveat"/>
              <a:ea typeface="Caveat"/>
              <a:cs typeface="Caveat"/>
              <a:sym typeface="Caveat"/>
            </a:endParaRPr>
          </a:p>
        </p:txBody>
      </p:sp>
      <p:sp>
        <p:nvSpPr>
          <p:cNvPr id="723" name="Google Shape;723;g364c8792521_0_163"/>
          <p:cNvSpPr txBox="1"/>
          <p:nvPr/>
        </p:nvSpPr>
        <p:spPr>
          <a:xfrm>
            <a:off x="1987825" y="1954850"/>
            <a:ext cx="3464400" cy="6156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veat Medium"/>
                <a:ea typeface="Caveat Medium"/>
                <a:cs typeface="Caveat Medium"/>
                <a:sym typeface="Caveat Medium"/>
              </a:rPr>
              <a:t>Internal company staff</a:t>
            </a:r>
            <a:endParaRPr b="0" i="0" sz="2800" u="none" cap="none" strike="noStrike">
              <a:solidFill>
                <a:schemeClr val="dk1"/>
              </a:solidFill>
              <a:latin typeface="Caveat Medium"/>
              <a:ea typeface="Caveat Medium"/>
              <a:cs typeface="Caveat Medium"/>
              <a:sym typeface="Caveat Medium"/>
            </a:endParaRPr>
          </a:p>
        </p:txBody>
      </p:sp>
      <p:cxnSp>
        <p:nvCxnSpPr>
          <p:cNvPr id="724" name="Google Shape;724;g364c8792521_0_163"/>
          <p:cNvCxnSpPr>
            <a:endCxn id="723" idx="1"/>
          </p:cNvCxnSpPr>
          <p:nvPr/>
        </p:nvCxnSpPr>
        <p:spPr>
          <a:xfrm flipH="1" rot="-5400000">
            <a:off x="1152325" y="1427150"/>
            <a:ext cx="989400" cy="681600"/>
          </a:xfrm>
          <a:prstGeom prst="curvedConnector2">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9"/>
        </a:solidFill>
      </p:bgPr>
    </p:bg>
    <p:spTree>
      <p:nvGrpSpPr>
        <p:cNvPr id="729" name="Shape 729"/>
        <p:cNvGrpSpPr/>
        <p:nvPr/>
      </p:nvGrpSpPr>
      <p:grpSpPr>
        <a:xfrm>
          <a:off x="0" y="0"/>
          <a:ext cx="0" cy="0"/>
          <a:chOff x="0" y="0"/>
          <a:chExt cx="0" cy="0"/>
        </a:xfrm>
      </p:grpSpPr>
      <p:sp>
        <p:nvSpPr>
          <p:cNvPr id="730" name="Google Shape;730;g364c8792521_0_171"/>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solidFill>
                  <a:srgbClr val="999999"/>
                </a:solidFill>
                <a:latin typeface="Montserrat"/>
                <a:ea typeface="Montserrat"/>
                <a:cs typeface="Montserrat"/>
                <a:sym typeface="Montserrat"/>
              </a:rPr>
              <a:t>What is the purpose in below correspondence:</a:t>
            </a:r>
            <a:endParaRPr sz="2500">
              <a:solidFill>
                <a:srgbClr val="999999"/>
              </a:solidFill>
              <a:latin typeface="Montserrat"/>
              <a:ea typeface="Montserrat"/>
              <a:cs typeface="Montserrat"/>
              <a:sym typeface="Montserrat"/>
            </a:endParaRPr>
          </a:p>
          <a:p>
            <a:pPr indent="0" lvl="0" marL="0" rtl="0" algn="l">
              <a:lnSpc>
                <a:spcPct val="90000"/>
              </a:lnSpc>
              <a:spcBef>
                <a:spcPts val="0"/>
              </a:spcBef>
              <a:spcAft>
                <a:spcPts val="0"/>
              </a:spcAft>
              <a:buSzPts val="1800"/>
              <a:buNone/>
            </a:pPr>
            <a:r>
              <a:rPr lang="en-US" sz="2500">
                <a:latin typeface="Montserrat"/>
                <a:ea typeface="Montserrat"/>
                <a:cs typeface="Montserrat"/>
                <a:sym typeface="Montserrat"/>
              </a:rPr>
              <a:t>Who are you trying to inform or influence?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I have attached the most recent draft of the proposal for the PI Corp. pipeline project.</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
        <p:nvSpPr>
          <p:cNvPr id="731" name="Google Shape;731;g364c8792521_0_171"/>
          <p:cNvSpPr txBox="1"/>
          <p:nvPr/>
        </p:nvSpPr>
        <p:spPr>
          <a:xfrm>
            <a:off x="6531425" y="4131850"/>
            <a:ext cx="2172300" cy="16623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Tone? </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Wording? </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Audience? </a:t>
            </a:r>
            <a:endParaRPr b="0" i="0" sz="3200" u="none" cap="none" strike="noStrike">
              <a:solidFill>
                <a:schemeClr val="dk1"/>
              </a:solidFill>
              <a:latin typeface="Caveat"/>
              <a:ea typeface="Caveat"/>
              <a:cs typeface="Caveat"/>
              <a:sym typeface="Caveat"/>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9"/>
        </a:solidFill>
      </p:bgPr>
    </p:bg>
    <p:spTree>
      <p:nvGrpSpPr>
        <p:cNvPr id="736" name="Shape 736"/>
        <p:cNvGrpSpPr/>
        <p:nvPr/>
      </p:nvGrpSpPr>
      <p:grpSpPr>
        <a:xfrm>
          <a:off x="0" y="0"/>
          <a:ext cx="0" cy="0"/>
          <a:chOff x="0" y="0"/>
          <a:chExt cx="0" cy="0"/>
        </a:xfrm>
      </p:grpSpPr>
      <p:sp>
        <p:nvSpPr>
          <p:cNvPr id="737" name="Google Shape;737;g364c8792521_0_177"/>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solidFill>
                  <a:srgbClr val="999999"/>
                </a:solidFill>
                <a:latin typeface="Montserrat"/>
                <a:ea typeface="Montserrat"/>
                <a:cs typeface="Montserrat"/>
                <a:sym typeface="Montserrat"/>
              </a:rPr>
              <a:t>What is the purpose in below correspondence:</a:t>
            </a:r>
            <a:endParaRPr sz="2500">
              <a:solidFill>
                <a:srgbClr val="999999"/>
              </a:solidFill>
              <a:latin typeface="Montserrat"/>
              <a:ea typeface="Montserrat"/>
              <a:cs typeface="Montserrat"/>
              <a:sym typeface="Montserrat"/>
            </a:endParaRPr>
          </a:p>
          <a:p>
            <a:pPr indent="0" lvl="0" marL="0" rtl="0" algn="l">
              <a:lnSpc>
                <a:spcPct val="90000"/>
              </a:lnSpc>
              <a:spcBef>
                <a:spcPts val="0"/>
              </a:spcBef>
              <a:spcAft>
                <a:spcPts val="0"/>
              </a:spcAft>
              <a:buSzPts val="1800"/>
              <a:buNone/>
            </a:pPr>
            <a:r>
              <a:rPr lang="en-US" sz="2500">
                <a:latin typeface="Montserrat"/>
                <a:ea typeface="Montserrat"/>
                <a:cs typeface="Montserrat"/>
                <a:sym typeface="Montserrat"/>
              </a:rPr>
              <a:t>Who are you trying to inform or influence?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I have attached the most recent draft of the proposal for the PI Corp. pipeline project.</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
        <p:nvSpPr>
          <p:cNvPr id="738" name="Google Shape;738;g364c8792521_0_177"/>
          <p:cNvSpPr txBox="1"/>
          <p:nvPr/>
        </p:nvSpPr>
        <p:spPr>
          <a:xfrm>
            <a:off x="6531425" y="4131850"/>
            <a:ext cx="4671300" cy="16623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Tone? Conversational</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Wording? Less formal </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Audience? Known, Individual</a:t>
            </a:r>
            <a:endParaRPr b="0" i="0" sz="3200" u="none" cap="none" strike="noStrike">
              <a:solidFill>
                <a:schemeClr val="dk1"/>
              </a:solidFill>
              <a:latin typeface="Caveat"/>
              <a:ea typeface="Caveat"/>
              <a:cs typeface="Caveat"/>
              <a:sym typeface="Caveat"/>
            </a:endParaRPr>
          </a:p>
        </p:txBody>
      </p:sp>
      <p:sp>
        <p:nvSpPr>
          <p:cNvPr id="739" name="Google Shape;739;g364c8792521_0_177"/>
          <p:cNvSpPr txBox="1"/>
          <p:nvPr/>
        </p:nvSpPr>
        <p:spPr>
          <a:xfrm>
            <a:off x="1987825" y="1954850"/>
            <a:ext cx="3464400" cy="6156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veat Medium"/>
                <a:ea typeface="Caveat Medium"/>
                <a:cs typeface="Caveat Medium"/>
                <a:sym typeface="Caveat Medium"/>
              </a:rPr>
              <a:t>Email b/w colleagues</a:t>
            </a:r>
            <a:endParaRPr b="0" i="0" sz="2800" u="none" cap="none" strike="noStrike">
              <a:solidFill>
                <a:schemeClr val="dk1"/>
              </a:solidFill>
              <a:latin typeface="Caveat Medium"/>
              <a:ea typeface="Caveat Medium"/>
              <a:cs typeface="Caveat Medium"/>
              <a:sym typeface="Caveat Medium"/>
            </a:endParaRPr>
          </a:p>
        </p:txBody>
      </p:sp>
      <p:cxnSp>
        <p:nvCxnSpPr>
          <p:cNvPr id="740" name="Google Shape;740;g364c8792521_0_177"/>
          <p:cNvCxnSpPr>
            <a:endCxn id="739" idx="1"/>
          </p:cNvCxnSpPr>
          <p:nvPr/>
        </p:nvCxnSpPr>
        <p:spPr>
          <a:xfrm flipH="1" rot="-5400000">
            <a:off x="1152325" y="1427150"/>
            <a:ext cx="989400" cy="681600"/>
          </a:xfrm>
          <a:prstGeom prst="curvedConnector2">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64c8792521_0_128"/>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1: Know Your </a:t>
            </a:r>
            <a:r>
              <a:rPr b="1" lang="en-US" sz="3000" u="sng">
                <a:highlight>
                  <a:srgbClr val="FFF2CC"/>
                </a:highlight>
                <a:latin typeface="Montserrat"/>
                <a:ea typeface="Montserrat"/>
                <a:cs typeface="Montserrat"/>
                <a:sym typeface="Montserrat"/>
              </a:rPr>
              <a:t>Purpose</a:t>
            </a:r>
            <a:endParaRPr b="1" sz="3000" u="sng">
              <a:highlight>
                <a:srgbClr val="FFF2CC"/>
              </a:highlight>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a:latin typeface="Montserrat"/>
                <a:ea typeface="Montserrat"/>
                <a:cs typeface="Montserrat"/>
                <a:sym typeface="Montserrat"/>
              </a:rPr>
              <a:t>Before beginning → write down your purpose in one clear sentence.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2: Know Your </a:t>
            </a:r>
            <a:r>
              <a:rPr b="1" lang="en-US" sz="3000" u="sng">
                <a:highlight>
                  <a:srgbClr val="D0E0E3"/>
                </a:highlight>
                <a:latin typeface="Montserrat"/>
                <a:ea typeface="Montserrat"/>
                <a:cs typeface="Montserrat"/>
                <a:sym typeface="Montserrat"/>
              </a:rPr>
              <a:t>Reader</a:t>
            </a:r>
            <a:endParaRPr b="1" sz="3000" u="sng">
              <a:highlight>
                <a:srgbClr val="D0E0E3"/>
              </a:highlight>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u="sng">
                <a:latin typeface="Montserrat"/>
                <a:ea typeface="Montserrat"/>
                <a:cs typeface="Montserrat"/>
                <a:sym typeface="Montserrat"/>
              </a:rPr>
              <a:t>Who</a:t>
            </a:r>
            <a:r>
              <a:rPr lang="en-US" sz="1900">
                <a:latin typeface="Montserrat"/>
                <a:ea typeface="Montserrat"/>
                <a:cs typeface="Montserrat"/>
                <a:sym typeface="Montserrat"/>
              </a:rPr>
              <a:t> are you trying to inform or influence? Affects the </a:t>
            </a:r>
            <a:r>
              <a:rPr lang="en-US" sz="1900" u="sng">
                <a:latin typeface="Montserrat"/>
                <a:ea typeface="Montserrat"/>
                <a:cs typeface="Montserrat"/>
                <a:sym typeface="Montserrat"/>
              </a:rPr>
              <a:t>vocabulary</a:t>
            </a:r>
            <a:r>
              <a:rPr lang="en-US" sz="1900">
                <a:latin typeface="Montserrat"/>
                <a:ea typeface="Montserrat"/>
                <a:cs typeface="Montserrat"/>
                <a:sym typeface="Montserrat"/>
              </a:rPr>
              <a:t> you choose, the </a:t>
            </a:r>
            <a:r>
              <a:rPr lang="en-US" sz="1900" u="sng">
                <a:latin typeface="Montserrat"/>
                <a:ea typeface="Montserrat"/>
                <a:cs typeface="Montserrat"/>
                <a:sym typeface="Montserrat"/>
              </a:rPr>
              <a:t>arguments</a:t>
            </a:r>
            <a:r>
              <a:rPr lang="en-US" sz="1900">
                <a:latin typeface="Montserrat"/>
                <a:ea typeface="Montserrat"/>
                <a:cs typeface="Montserrat"/>
                <a:sym typeface="Montserrat"/>
              </a:rPr>
              <a:t> you make, and the </a:t>
            </a:r>
            <a:r>
              <a:rPr lang="en-US" sz="1900" u="sng">
                <a:latin typeface="Montserrat"/>
                <a:ea typeface="Montserrat"/>
                <a:cs typeface="Montserrat"/>
                <a:sym typeface="Montserrat"/>
              </a:rPr>
              <a:t>tone</a:t>
            </a:r>
            <a:r>
              <a:rPr lang="en-US" sz="1900">
                <a:latin typeface="Montserrat"/>
                <a:ea typeface="Montserrat"/>
                <a:cs typeface="Montserrat"/>
                <a:sym typeface="Montserrat"/>
              </a:rPr>
              <a:t> you adopt.</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3: Follow Correct </a:t>
            </a:r>
            <a:r>
              <a:rPr b="1" lang="en-US" sz="3000" u="sng">
                <a:latin typeface="Montserrat"/>
                <a:ea typeface="Montserrat"/>
                <a:cs typeface="Montserrat"/>
                <a:sym typeface="Montserrat"/>
              </a:rPr>
              <a:t>Format</a:t>
            </a:r>
            <a:endParaRPr b="1" sz="3000" u="sng">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marR="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4: Follow the </a:t>
            </a:r>
            <a:r>
              <a:rPr b="1" lang="en-US" sz="3000" u="sng">
                <a:latin typeface="Montserrat"/>
                <a:ea typeface="Montserrat"/>
                <a:cs typeface="Montserrat"/>
                <a:sym typeface="Montserrat"/>
              </a:rPr>
              <a:t>ABC </a:t>
            </a:r>
            <a:r>
              <a:rPr b="1" lang="en-US" sz="3000">
                <a:latin typeface="Montserrat"/>
                <a:ea typeface="Montserrat"/>
                <a:cs typeface="Montserrat"/>
                <a:sym typeface="Montserrat"/>
              </a:rPr>
              <a:t>Format for All Correspondence</a:t>
            </a:r>
            <a:endParaRPr sz="1900">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a:latin typeface="Montserrat"/>
                <a:ea typeface="Montserrat"/>
                <a:cs typeface="Montserrat"/>
                <a:sym typeface="Montserrat"/>
              </a:rPr>
              <a:t>Organizing correspondence: Abstract (Objective) → Body (Content) → Conclusion (Summary)</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5: Use the 3Cs Strategy</a:t>
            </a:r>
            <a:endParaRPr b="1" sz="3000">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a:latin typeface="Montserrat"/>
                <a:ea typeface="Montserrat"/>
                <a:cs typeface="Montserrat"/>
                <a:sym typeface="Montserrat"/>
              </a:rPr>
              <a:t>Capture (Ask/Reason/Hook) → Convince (support/action) → Contact (Way-forward)</a:t>
            </a:r>
            <a:endParaRPr b="1" sz="3000">
              <a:latin typeface="Montserrat"/>
              <a:ea typeface="Montserrat"/>
              <a:cs typeface="Montserrat"/>
              <a:sym typeface="Montserrat"/>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64c8792521_0_133"/>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6: Stress the “You” Attitude</a:t>
            </a:r>
            <a:endParaRPr b="1" sz="3000" u="sng">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a:latin typeface="Montserrat"/>
                <a:ea typeface="Montserrat"/>
                <a:cs typeface="Montserrat"/>
                <a:sym typeface="Montserrat"/>
              </a:rPr>
              <a:t>From your reader’s perspective: What will interest my reader?” and “What does my reader want to accomplish?”</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7: Use Attachments for Details</a:t>
            </a:r>
            <a:endParaRPr b="1" sz="3000" u="sng">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8: Be </a:t>
            </a:r>
            <a:r>
              <a:rPr b="1" lang="en-US" sz="3000" strike="sngStrike">
                <a:latin typeface="Montserrat"/>
                <a:ea typeface="Montserrat"/>
                <a:cs typeface="Montserrat"/>
                <a:sym typeface="Montserrat"/>
              </a:rPr>
              <a:t>Diplomatic </a:t>
            </a:r>
            <a:r>
              <a:rPr b="1" lang="en-US" sz="3000">
                <a:latin typeface="Montserrat"/>
                <a:ea typeface="Montserrat"/>
                <a:cs typeface="Montserrat"/>
                <a:sym typeface="Montserrat"/>
              </a:rPr>
              <a:t>Authentic &amp; Respectful</a:t>
            </a:r>
            <a:endParaRPr b="1" sz="3000" u="sng">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marR="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9: Edit Carefully</a:t>
            </a:r>
            <a:endParaRPr sz="1900">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a:latin typeface="Montserrat"/>
                <a:ea typeface="Montserrat"/>
                <a:cs typeface="Montserrat"/>
                <a:sym typeface="Montserrat"/>
              </a:rPr>
              <a:t>Review: Does it convey the message? Spell check, grammar, sentence structure etc.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10: Respond Quickly</a:t>
            </a:r>
            <a:endParaRPr b="1" sz="3000">
              <a:latin typeface="Montserrat"/>
              <a:ea typeface="Montserrat"/>
              <a:cs typeface="Montserrat"/>
              <a:sym typeface="Montserrat"/>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64c8792521_0_185"/>
          <p:cNvSpPr txBox="1"/>
          <p:nvPr>
            <p:ph type="title"/>
          </p:nvPr>
        </p:nvSpPr>
        <p:spPr>
          <a:xfrm>
            <a:off x="0" y="0"/>
            <a:ext cx="12192000" cy="9372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sz="3000">
                <a:solidFill>
                  <a:schemeClr val="lt1"/>
                </a:solidFill>
                <a:latin typeface="Montserrat"/>
                <a:ea typeface="Montserrat"/>
                <a:cs typeface="Montserrat"/>
                <a:sym typeface="Montserrat"/>
              </a:rPr>
              <a:t>Types of Messages</a:t>
            </a:r>
            <a:endParaRPr sz="3000">
              <a:solidFill>
                <a:schemeClr val="lt1"/>
              </a:solidFill>
              <a:latin typeface="Montserrat"/>
              <a:ea typeface="Montserrat"/>
              <a:cs typeface="Montserrat"/>
              <a:sym typeface="Montserrat"/>
            </a:endParaRPr>
          </a:p>
        </p:txBody>
      </p:sp>
      <p:sp>
        <p:nvSpPr>
          <p:cNvPr id="759" name="Google Shape;759;g364c8792521_0_185"/>
          <p:cNvSpPr txBox="1"/>
          <p:nvPr>
            <p:ph idx="1" type="body"/>
          </p:nvPr>
        </p:nvSpPr>
        <p:spPr>
          <a:xfrm>
            <a:off x="0" y="937200"/>
            <a:ext cx="4064100" cy="5920800"/>
          </a:xfrm>
          <a:prstGeom prst="rect">
            <a:avLst/>
          </a:prstGeom>
          <a:solidFill>
            <a:srgbClr val="F8F3FF"/>
          </a:solid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latin typeface="Montserrat"/>
                <a:ea typeface="Montserrat"/>
                <a:cs typeface="Montserrat"/>
                <a:sym typeface="Montserrat"/>
              </a:rPr>
              <a:t>Neutral, Routine, Positive, Good will messages </a:t>
            </a:r>
            <a:endParaRPr>
              <a:latin typeface="Montserrat"/>
              <a:ea typeface="Montserrat"/>
              <a:cs typeface="Montserrat"/>
              <a:sym typeface="Montserrat"/>
            </a:endParaRPr>
          </a:p>
        </p:txBody>
      </p:sp>
      <p:sp>
        <p:nvSpPr>
          <p:cNvPr id="760" name="Google Shape;760;g364c8792521_0_185"/>
          <p:cNvSpPr txBox="1"/>
          <p:nvPr>
            <p:ph idx="1" type="body"/>
          </p:nvPr>
        </p:nvSpPr>
        <p:spPr>
          <a:xfrm>
            <a:off x="4064000" y="937200"/>
            <a:ext cx="4064100" cy="5920800"/>
          </a:xfrm>
          <a:prstGeom prst="rect">
            <a:avLst/>
          </a:prstGeom>
          <a:solidFill>
            <a:srgbClr val="E1EFFC"/>
          </a:solid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latin typeface="Montserrat"/>
                <a:ea typeface="Montserrat"/>
                <a:cs typeface="Montserrat"/>
                <a:sym typeface="Montserrat"/>
              </a:rPr>
              <a:t>Bad news, Negative messages</a:t>
            </a:r>
            <a:endParaRPr>
              <a:latin typeface="Montserrat"/>
              <a:ea typeface="Montserrat"/>
              <a:cs typeface="Montserrat"/>
              <a:sym typeface="Montserrat"/>
            </a:endParaRPr>
          </a:p>
        </p:txBody>
      </p:sp>
      <p:sp>
        <p:nvSpPr>
          <p:cNvPr id="761" name="Google Shape;761;g364c8792521_0_185"/>
          <p:cNvSpPr txBox="1"/>
          <p:nvPr>
            <p:ph idx="1" type="body"/>
          </p:nvPr>
        </p:nvSpPr>
        <p:spPr>
          <a:xfrm>
            <a:off x="8128000" y="937200"/>
            <a:ext cx="4064100" cy="5920800"/>
          </a:xfrm>
          <a:prstGeom prst="rect">
            <a:avLst/>
          </a:prstGeom>
          <a:solidFill>
            <a:srgbClr val="E5EBE3"/>
          </a:solid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latin typeface="Montserrat"/>
                <a:ea typeface="Montserrat"/>
                <a:cs typeface="Montserrat"/>
                <a:sym typeface="Montserrat"/>
              </a:rPr>
              <a:t>Persuasive messages </a:t>
            </a:r>
            <a:endParaRPr>
              <a:latin typeface="Montserrat"/>
              <a:ea typeface="Montserrat"/>
              <a:cs typeface="Montserrat"/>
              <a:sym typeface="Montserrat"/>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g364c8792521_0_194"/>
          <p:cNvSpPr txBox="1"/>
          <p:nvPr>
            <p:ph type="title"/>
          </p:nvPr>
        </p:nvSpPr>
        <p:spPr>
          <a:xfrm>
            <a:off x="0" y="0"/>
            <a:ext cx="12192000" cy="9372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sz="3000">
                <a:solidFill>
                  <a:schemeClr val="lt1"/>
                </a:solidFill>
                <a:latin typeface="Montserrat"/>
                <a:ea typeface="Montserrat"/>
                <a:cs typeface="Montserrat"/>
                <a:sym typeface="Montserrat"/>
              </a:rPr>
              <a:t>Types of Messages</a:t>
            </a:r>
            <a:endParaRPr sz="3000">
              <a:solidFill>
                <a:schemeClr val="lt1"/>
              </a:solidFill>
              <a:latin typeface="Montserrat"/>
              <a:ea typeface="Montserrat"/>
              <a:cs typeface="Montserrat"/>
              <a:sym typeface="Montserrat"/>
            </a:endParaRPr>
          </a:p>
        </p:txBody>
      </p:sp>
      <p:sp>
        <p:nvSpPr>
          <p:cNvPr id="768" name="Google Shape;768;g364c8792521_0_194"/>
          <p:cNvSpPr txBox="1"/>
          <p:nvPr>
            <p:ph idx="1" type="body"/>
          </p:nvPr>
        </p:nvSpPr>
        <p:spPr>
          <a:xfrm>
            <a:off x="0" y="937200"/>
            <a:ext cx="4064100" cy="5920800"/>
          </a:xfrm>
          <a:prstGeom prst="rect">
            <a:avLst/>
          </a:prstGeom>
          <a:solidFill>
            <a:srgbClr val="F8F3FF"/>
          </a:solid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latin typeface="Montserrat"/>
                <a:ea typeface="Montserrat"/>
                <a:cs typeface="Montserrat"/>
                <a:sym typeface="Montserrat"/>
              </a:rPr>
              <a:t>Neutral, Routine, Positive, Good will messages </a:t>
            </a:r>
            <a:endParaRPr>
              <a:latin typeface="Montserrat"/>
              <a:ea typeface="Montserrat"/>
              <a:cs typeface="Montserrat"/>
              <a:sym typeface="Montserrat"/>
            </a:endParaRPr>
          </a:p>
        </p:txBody>
      </p:sp>
      <p:sp>
        <p:nvSpPr>
          <p:cNvPr id="769" name="Google Shape;769;g364c8792521_0_194"/>
          <p:cNvSpPr txBox="1"/>
          <p:nvPr/>
        </p:nvSpPr>
        <p:spPr>
          <a:xfrm>
            <a:off x="979700" y="2285992"/>
            <a:ext cx="10947300" cy="3952800"/>
          </a:xfrm>
          <a:prstGeom prst="rect">
            <a:avLst/>
          </a:prstGeom>
          <a:solidFill>
            <a:srgbClr val="674EA7"/>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Letter replying to a question about products or services</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Letter responding favorably to a complaint or an adjustment</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Letter hiring an employee</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Announcing high bonuses for the year</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Commending an employee for performance on a project</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Requesting information about a product or service</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Inviting the reader to an event</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Summarizing the results of a meeting with a client</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Explaining a new laboratory procedure</a:t>
            </a:r>
            <a:endParaRPr b="0" i="0" sz="24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g364c8792521_0_205"/>
          <p:cNvSpPr txBox="1"/>
          <p:nvPr>
            <p:ph type="title"/>
          </p:nvPr>
        </p:nvSpPr>
        <p:spPr>
          <a:xfrm>
            <a:off x="0" y="0"/>
            <a:ext cx="12192000" cy="9372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sz="3000">
                <a:solidFill>
                  <a:schemeClr val="lt1"/>
                </a:solidFill>
                <a:latin typeface="Montserrat"/>
                <a:ea typeface="Montserrat"/>
                <a:cs typeface="Montserrat"/>
                <a:sym typeface="Montserrat"/>
              </a:rPr>
              <a:t>Types of Messages</a:t>
            </a:r>
            <a:endParaRPr sz="3000">
              <a:solidFill>
                <a:schemeClr val="lt1"/>
              </a:solidFill>
              <a:latin typeface="Montserrat"/>
              <a:ea typeface="Montserrat"/>
              <a:cs typeface="Montserrat"/>
              <a:sym typeface="Montserrat"/>
            </a:endParaRPr>
          </a:p>
        </p:txBody>
      </p:sp>
      <p:sp>
        <p:nvSpPr>
          <p:cNvPr id="776" name="Google Shape;776;g364c8792521_0_205"/>
          <p:cNvSpPr txBox="1"/>
          <p:nvPr>
            <p:ph idx="1" type="body"/>
          </p:nvPr>
        </p:nvSpPr>
        <p:spPr>
          <a:xfrm>
            <a:off x="4064000" y="937200"/>
            <a:ext cx="4064100" cy="5920800"/>
          </a:xfrm>
          <a:prstGeom prst="rect">
            <a:avLst/>
          </a:prstGeom>
          <a:solidFill>
            <a:srgbClr val="E1EFFC"/>
          </a:solid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latin typeface="Montserrat"/>
                <a:ea typeface="Montserrat"/>
                <a:cs typeface="Montserrat"/>
                <a:sym typeface="Montserrat"/>
              </a:rPr>
              <a:t>Bad news, Negative messages</a:t>
            </a:r>
            <a:endParaRPr>
              <a:latin typeface="Montserrat"/>
              <a:ea typeface="Montserrat"/>
              <a:cs typeface="Montserrat"/>
              <a:sym typeface="Montserrat"/>
            </a:endParaRPr>
          </a:p>
        </p:txBody>
      </p:sp>
      <p:sp>
        <p:nvSpPr>
          <p:cNvPr id="777" name="Google Shape;777;g364c8792521_0_205"/>
          <p:cNvSpPr txBox="1"/>
          <p:nvPr/>
        </p:nvSpPr>
        <p:spPr>
          <a:xfrm>
            <a:off x="979700" y="2285992"/>
            <a:ext cx="10947300" cy="2678100"/>
          </a:xfrm>
          <a:prstGeom prst="rect">
            <a:avLst/>
          </a:prstGeom>
          <a:solidFill>
            <a:srgbClr val="1C4587"/>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Explaining delays in projects or delivery of services</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Letter refusing to make adjustments based on complaints</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Letter giving bad news about employment or performance</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Reporting decreased quarterly revenues for the year</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Requesting closer attention to filling out timesheets</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Email asking for volunteers to work on a holiday</a:t>
            </a:r>
            <a:endParaRPr b="0" i="0" sz="24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g364c8792521_0_214"/>
          <p:cNvSpPr txBox="1"/>
          <p:nvPr>
            <p:ph type="title"/>
          </p:nvPr>
        </p:nvSpPr>
        <p:spPr>
          <a:xfrm>
            <a:off x="0" y="0"/>
            <a:ext cx="12192000" cy="9372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sz="3000">
                <a:solidFill>
                  <a:schemeClr val="lt1"/>
                </a:solidFill>
                <a:latin typeface="Montserrat"/>
                <a:ea typeface="Montserrat"/>
                <a:cs typeface="Montserrat"/>
                <a:sym typeface="Montserrat"/>
              </a:rPr>
              <a:t>Types of Messages</a:t>
            </a:r>
            <a:endParaRPr sz="3000">
              <a:solidFill>
                <a:schemeClr val="lt1"/>
              </a:solidFill>
              <a:latin typeface="Montserrat"/>
              <a:ea typeface="Montserrat"/>
              <a:cs typeface="Montserrat"/>
              <a:sym typeface="Montserrat"/>
            </a:endParaRPr>
          </a:p>
        </p:txBody>
      </p:sp>
      <p:sp>
        <p:nvSpPr>
          <p:cNvPr id="784" name="Google Shape;784;g364c8792521_0_214"/>
          <p:cNvSpPr txBox="1"/>
          <p:nvPr>
            <p:ph idx="1" type="body"/>
          </p:nvPr>
        </p:nvSpPr>
        <p:spPr>
          <a:xfrm>
            <a:off x="8128000" y="937200"/>
            <a:ext cx="4064100" cy="5920800"/>
          </a:xfrm>
          <a:prstGeom prst="rect">
            <a:avLst/>
          </a:prstGeom>
          <a:solidFill>
            <a:srgbClr val="E5EBE3"/>
          </a:solid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latin typeface="Montserrat"/>
                <a:ea typeface="Montserrat"/>
                <a:cs typeface="Montserrat"/>
                <a:sym typeface="Montserrat"/>
              </a:rPr>
              <a:t>Persuasive messages </a:t>
            </a:r>
            <a:endParaRPr>
              <a:latin typeface="Montserrat"/>
              <a:ea typeface="Montserrat"/>
              <a:cs typeface="Montserrat"/>
              <a:sym typeface="Montserrat"/>
            </a:endParaRPr>
          </a:p>
        </p:txBody>
      </p:sp>
      <p:sp>
        <p:nvSpPr>
          <p:cNvPr id="785" name="Google Shape;785;g364c8792521_0_214"/>
          <p:cNvSpPr txBox="1"/>
          <p:nvPr/>
        </p:nvSpPr>
        <p:spPr>
          <a:xfrm>
            <a:off x="979700" y="2285992"/>
            <a:ext cx="10947300" cy="2678100"/>
          </a:xfrm>
          <a:prstGeom prst="rect">
            <a:avLst/>
          </a:prstGeom>
          <a:solidFill>
            <a:srgbClr val="134F5C"/>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Starting a business relationship</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Registering complaints about products or services</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Letter seeking repeat business (Sales)</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Requesting funding for a training seminar</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Explaining policy changes that may be perceived negatively</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Encouraging employees to follow required procedures</a:t>
            </a:r>
            <a:endParaRPr b="0" i="0" sz="24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pic>
        <p:nvPicPr>
          <p:cNvPr id="790" name="Google Shape;790;g37758a7e781_0_11"/>
          <p:cNvPicPr preferRelativeResize="0"/>
          <p:nvPr/>
        </p:nvPicPr>
        <p:blipFill rotWithShape="1">
          <a:blip r:embed="rId3">
            <a:alphaModFix/>
          </a:blip>
          <a:srcRect b="8143" l="0" r="0" t="3616"/>
          <a:stretch/>
        </p:blipFill>
        <p:spPr>
          <a:xfrm>
            <a:off x="7662600" y="0"/>
            <a:ext cx="4517241" cy="6858001"/>
          </a:xfrm>
          <a:prstGeom prst="rect">
            <a:avLst/>
          </a:prstGeom>
          <a:noFill/>
          <a:ln cap="flat" cmpd="sng" w="12700">
            <a:solidFill>
              <a:schemeClr val="dk2"/>
            </a:solidFill>
            <a:prstDash val="solid"/>
            <a:round/>
            <a:headEnd len="sm" w="sm" type="none"/>
            <a:tailEnd len="sm" w="sm" type="none"/>
          </a:ln>
        </p:spPr>
      </p:pic>
      <p:sp>
        <p:nvSpPr>
          <p:cNvPr id="791" name="Google Shape;791;g37758a7e781_0_11"/>
          <p:cNvSpPr txBox="1"/>
          <p:nvPr/>
        </p:nvSpPr>
        <p:spPr>
          <a:xfrm>
            <a:off x="373533" y="418367"/>
            <a:ext cx="6753600" cy="30324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Questrial"/>
                <a:ea typeface="Questrial"/>
                <a:cs typeface="Questrial"/>
                <a:sym typeface="Questrial"/>
              </a:rPr>
              <a:t>Organizational culture</a:t>
            </a:r>
            <a:r>
              <a:rPr b="0" i="0" lang="en-US" sz="1900" u="none" cap="none" strike="noStrike">
                <a:solidFill>
                  <a:srgbClr val="000000"/>
                </a:solidFill>
                <a:latin typeface="Questrial"/>
                <a:ea typeface="Questrial"/>
                <a:cs typeface="Questrial"/>
                <a:sym typeface="Questrial"/>
              </a:rPr>
              <a:t> </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refers to a </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300"/>
              <a:buFont typeface="Arial"/>
              <a:buNone/>
            </a:pPr>
            <a:r>
              <a:rPr b="1" i="0" lang="en-US" sz="2300" u="none" cap="none" strike="noStrike">
                <a:solidFill>
                  <a:srgbClr val="000000"/>
                </a:solidFill>
                <a:latin typeface="Questrial"/>
                <a:ea typeface="Questrial"/>
                <a:cs typeface="Questrial"/>
                <a:sym typeface="Questrial"/>
              </a:rPr>
              <a:t>system of shared meaning</a:t>
            </a:r>
            <a:r>
              <a:rPr b="1" i="0" lang="en-US" sz="2000" u="none" cap="none" strike="noStrike">
                <a:solidFill>
                  <a:srgbClr val="000000"/>
                </a:solidFill>
                <a:latin typeface="Questrial"/>
                <a:ea typeface="Questrial"/>
                <a:cs typeface="Questrial"/>
                <a:sym typeface="Questrial"/>
              </a:rPr>
              <a:t> </a:t>
            </a:r>
            <a:endParaRPr b="1" i="0" sz="20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that includes </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00000"/>
                </a:solidFill>
                <a:latin typeface="Questrial"/>
                <a:ea typeface="Questrial"/>
                <a:cs typeface="Questrial"/>
                <a:sym typeface="Questrial"/>
              </a:rPr>
              <a:t>values, beliefs</a:t>
            </a:r>
            <a:r>
              <a:rPr b="0" i="0" lang="en-US" sz="1900" u="none" cap="none" strike="noStrike">
                <a:solidFill>
                  <a:srgbClr val="000000"/>
                </a:solidFill>
                <a:latin typeface="Questrial"/>
                <a:ea typeface="Questrial"/>
                <a:cs typeface="Questrial"/>
                <a:sym typeface="Questrial"/>
              </a:rPr>
              <a:t>, and </a:t>
            </a:r>
            <a:r>
              <a:rPr b="1" i="0" lang="en-US" sz="2700" u="none" cap="none" strike="noStrike">
                <a:solidFill>
                  <a:srgbClr val="000000"/>
                </a:solidFill>
                <a:latin typeface="Questrial"/>
                <a:ea typeface="Questrial"/>
                <a:cs typeface="Questrial"/>
                <a:sym typeface="Questrial"/>
              </a:rPr>
              <a:t>assumptions that characterize the organization</a:t>
            </a:r>
            <a:endParaRPr b="1" i="0" sz="2700" u="none" cap="none" strike="noStrike">
              <a:solidFill>
                <a:srgbClr val="000000"/>
              </a:solidFill>
              <a:latin typeface="Questrial"/>
              <a:ea typeface="Questrial"/>
              <a:cs typeface="Questrial"/>
              <a:sym typeface="Questrial"/>
            </a:endParaRPr>
          </a:p>
        </p:txBody>
      </p:sp>
      <p:sp>
        <p:nvSpPr>
          <p:cNvPr id="792" name="Google Shape;792;g37758a7e781_0_11"/>
          <p:cNvSpPr txBox="1"/>
          <p:nvPr/>
        </p:nvSpPr>
        <p:spPr>
          <a:xfrm>
            <a:off x="466167" y="3854833"/>
            <a:ext cx="6884700" cy="27861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9900FF"/>
                </a:solidFill>
                <a:latin typeface="Questrial"/>
                <a:ea typeface="Questrial"/>
                <a:cs typeface="Questrial"/>
                <a:sym typeface="Questrial"/>
              </a:rPr>
              <a:t>Values of companies </a:t>
            </a:r>
            <a:r>
              <a:rPr b="0" i="0" lang="en-US" sz="3100" u="none" cap="none" strike="noStrike">
                <a:solidFill>
                  <a:srgbClr val="9900FF"/>
                </a:solidFill>
                <a:latin typeface="Questrial"/>
                <a:ea typeface="Questrial"/>
                <a:cs typeface="Questrial"/>
                <a:sym typeface="Questrial"/>
              </a:rPr>
              <a:t>- examples? </a:t>
            </a:r>
            <a:r>
              <a:rPr b="0" i="0" lang="en-US" sz="3100" u="none" cap="none" strike="noStrike">
                <a:solidFill>
                  <a:srgbClr val="8E7CC3"/>
                </a:solidFill>
                <a:latin typeface="Questrial"/>
                <a:ea typeface="Questrial"/>
                <a:cs typeface="Questrial"/>
                <a:sym typeface="Questrial"/>
              </a:rPr>
              <a:t>Nike, Coke, FAANG, SpaceX</a:t>
            </a:r>
            <a:endParaRPr b="0" i="0" sz="3100" u="none" cap="none" strike="noStrike">
              <a:solidFill>
                <a:srgbClr val="8E7CC3"/>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3100"/>
              <a:buFont typeface="Arial"/>
              <a:buNone/>
            </a:pPr>
            <a:r>
              <a:t/>
            </a:r>
            <a:endParaRPr b="0" i="0" sz="3100" u="none" cap="none" strike="noStrike">
              <a:solidFill>
                <a:srgbClr val="9900FF"/>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674EA7"/>
                </a:solidFill>
                <a:latin typeface="Questrial"/>
                <a:ea typeface="Questrial"/>
                <a:cs typeface="Questrial"/>
                <a:sym typeface="Questrial"/>
              </a:rPr>
              <a:t>Assignment: Look up the values of the company you dream to work for or take inspiration from for your company.</a:t>
            </a:r>
            <a:endParaRPr b="0" i="0" sz="2400" u="none" cap="none" strike="noStrike">
              <a:solidFill>
                <a:srgbClr val="674EA7"/>
              </a:solidFill>
              <a:latin typeface="Questrial"/>
              <a:ea typeface="Questrial"/>
              <a:cs typeface="Questrial"/>
              <a:sym typeface="Quest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g37758a7e781_0_1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sz="3300">
                <a:latin typeface="Montserrat"/>
                <a:ea typeface="Montserrat"/>
                <a:cs typeface="Montserrat"/>
                <a:sym typeface="Montserrat"/>
              </a:rPr>
              <a:t>Understanding Cultures</a:t>
            </a:r>
            <a:endParaRPr b="1" sz="3300">
              <a:latin typeface="Montserrat"/>
              <a:ea typeface="Montserrat"/>
              <a:cs typeface="Montserrat"/>
              <a:sym typeface="Montserrat"/>
            </a:endParaRPr>
          </a:p>
        </p:txBody>
      </p:sp>
      <p:sp>
        <p:nvSpPr>
          <p:cNvPr id="798" name="Google Shape;798;g37758a7e781_0_1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381000" lvl="0" marL="457200" rtl="0" algn="l">
              <a:lnSpc>
                <a:spcPct val="90000"/>
              </a:lnSpc>
              <a:spcBef>
                <a:spcPts val="0"/>
              </a:spcBef>
              <a:spcAft>
                <a:spcPts val="0"/>
              </a:spcAft>
              <a:buSzPts val="2400"/>
              <a:buFont typeface="Montserrat"/>
              <a:buChar char="•"/>
            </a:pPr>
            <a:r>
              <a:rPr lang="en-US" sz="2400">
                <a:latin typeface="Montserrat"/>
                <a:ea typeface="Montserrat"/>
                <a:cs typeface="Montserrat"/>
                <a:sym typeface="Montserrat"/>
              </a:rPr>
              <a:t>All cultures have both common features and distinctive differences that must be studied. People in different cultures have different ways of thinking, different ways of acting and different expectations in communication.</a:t>
            </a:r>
            <a:endParaRPr sz="2400">
              <a:latin typeface="Montserrat"/>
              <a:ea typeface="Montserrat"/>
              <a:cs typeface="Montserrat"/>
              <a:sym typeface="Montserrat"/>
            </a:endParaRPr>
          </a:p>
          <a:p>
            <a:pPr indent="0" lvl="0" marL="457200" rtl="0" algn="l">
              <a:lnSpc>
                <a:spcPct val="90000"/>
              </a:lnSpc>
              <a:spcBef>
                <a:spcPts val="0"/>
              </a:spcBef>
              <a:spcAft>
                <a:spcPts val="0"/>
              </a:spcAft>
              <a:buSzPts val="1800"/>
              <a:buNone/>
            </a:pPr>
            <a:r>
              <a:t/>
            </a:r>
            <a:endParaRPr sz="2400">
              <a:latin typeface="Montserrat"/>
              <a:ea typeface="Montserrat"/>
              <a:cs typeface="Montserrat"/>
              <a:sym typeface="Montserrat"/>
            </a:endParaRPr>
          </a:p>
          <a:p>
            <a:pPr indent="-381000" lvl="0" marL="457200" rtl="0" algn="l">
              <a:lnSpc>
                <a:spcPct val="90000"/>
              </a:lnSpc>
              <a:spcBef>
                <a:spcPts val="1000"/>
              </a:spcBef>
              <a:spcAft>
                <a:spcPts val="0"/>
              </a:spcAft>
              <a:buSzPts val="2400"/>
              <a:buFont typeface="Montserrat"/>
              <a:buChar char="•"/>
            </a:pPr>
            <a:r>
              <a:rPr lang="en-US" sz="2400">
                <a:latin typeface="Montserrat"/>
                <a:ea typeface="Montserrat"/>
                <a:cs typeface="Montserrat"/>
                <a:sym typeface="Montserrat"/>
              </a:rPr>
              <a:t>One of the ways to study cultural differences is through the concepts of </a:t>
            </a:r>
            <a:r>
              <a:rPr lang="en-US" sz="2400" u="sng">
                <a:latin typeface="Montserrat"/>
                <a:ea typeface="Montserrat"/>
                <a:cs typeface="Montserrat"/>
                <a:sym typeface="Montserrat"/>
              </a:rPr>
              <a:t>high-context cultures</a:t>
            </a:r>
            <a:r>
              <a:rPr lang="en-US" sz="2400">
                <a:latin typeface="Montserrat"/>
                <a:ea typeface="Montserrat"/>
                <a:cs typeface="Montserrat"/>
                <a:sym typeface="Montserrat"/>
              </a:rPr>
              <a:t> and </a:t>
            </a:r>
            <a:r>
              <a:rPr lang="en-US" sz="2400" u="sng">
                <a:latin typeface="Montserrat"/>
                <a:ea typeface="Montserrat"/>
                <a:cs typeface="Montserrat"/>
                <a:sym typeface="Montserrat"/>
              </a:rPr>
              <a:t>low-context cultures</a:t>
            </a:r>
            <a:r>
              <a:rPr lang="en-US" sz="2400">
                <a:latin typeface="Montserrat"/>
                <a:ea typeface="Montserrat"/>
                <a:cs typeface="Montserrat"/>
                <a:sym typeface="Montserrat"/>
              </a:rPr>
              <a:t>. </a:t>
            </a:r>
            <a:endParaRPr sz="2400">
              <a:latin typeface="Montserrat"/>
              <a:ea typeface="Montserrat"/>
              <a:cs typeface="Montserrat"/>
              <a:sym typeface="Montserrat"/>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7758a7e781_0_2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sz="3600">
                <a:latin typeface="Montserrat"/>
                <a:ea typeface="Montserrat"/>
                <a:cs typeface="Montserrat"/>
                <a:sym typeface="Montserrat"/>
              </a:rPr>
              <a:t>High-Context Cultures</a:t>
            </a:r>
            <a:endParaRPr b="1" sz="3600">
              <a:latin typeface="Montserrat"/>
              <a:ea typeface="Montserrat"/>
              <a:cs typeface="Montserrat"/>
              <a:sym typeface="Montserrat"/>
            </a:endParaRPr>
          </a:p>
        </p:txBody>
      </p:sp>
      <p:sp>
        <p:nvSpPr>
          <p:cNvPr id="804" name="Google Shape;804;g37758a7e781_0_2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381000" lvl="0" marL="457200" rtl="0" algn="l">
              <a:lnSpc>
                <a:spcPct val="70000"/>
              </a:lnSpc>
              <a:spcBef>
                <a:spcPts val="0"/>
              </a:spcBef>
              <a:spcAft>
                <a:spcPts val="0"/>
              </a:spcAft>
              <a:buSzPts val="2400"/>
              <a:buFont typeface="Montserrat"/>
              <a:buChar char="●"/>
            </a:pPr>
            <a:r>
              <a:rPr lang="en-US" sz="2400">
                <a:latin typeface="Montserrat"/>
                <a:ea typeface="Montserrat"/>
                <a:cs typeface="Montserrat"/>
                <a:sym typeface="Montserrat"/>
              </a:rPr>
              <a:t>High-context cultures are </a:t>
            </a:r>
            <a:r>
              <a:rPr lang="en-US" sz="2400" u="sng">
                <a:latin typeface="Montserrat"/>
                <a:ea typeface="Montserrat"/>
                <a:cs typeface="Montserrat"/>
                <a:sym typeface="Montserrat"/>
              </a:rPr>
              <a:t>fairly homogeneous</a:t>
            </a:r>
            <a:r>
              <a:rPr lang="en-US" sz="2400">
                <a:latin typeface="Montserrat"/>
                <a:ea typeface="Montserrat"/>
                <a:cs typeface="Montserrat"/>
                <a:sym typeface="Montserrat"/>
              </a:rPr>
              <a:t>, with the </a:t>
            </a:r>
            <a:r>
              <a:rPr lang="en-US" sz="2400" u="sng">
                <a:latin typeface="Montserrat"/>
                <a:ea typeface="Montserrat"/>
                <a:cs typeface="Montserrat"/>
                <a:sym typeface="Montserrat"/>
              </a:rPr>
              <a:t>culture providing a high degree of context for communication</a:t>
            </a:r>
            <a:r>
              <a:rPr lang="en-US" sz="2400">
                <a:latin typeface="Montserrat"/>
                <a:ea typeface="Montserrat"/>
                <a:cs typeface="Montserrat"/>
                <a:sym typeface="Montserrat"/>
              </a:rPr>
              <a:t>. Thus, </a:t>
            </a:r>
            <a:r>
              <a:rPr b="1" lang="en-US" sz="2400">
                <a:latin typeface="Montserrat"/>
                <a:ea typeface="Montserrat"/>
                <a:cs typeface="Montserrat"/>
                <a:sym typeface="Montserrat"/>
              </a:rPr>
              <a:t>communications may be less explicit</a:t>
            </a:r>
            <a:r>
              <a:rPr lang="en-US" sz="2400">
                <a:latin typeface="Montserrat"/>
                <a:ea typeface="Montserrat"/>
                <a:cs typeface="Montserrat"/>
                <a:sym typeface="Montserrat"/>
              </a:rPr>
              <a:t> because members of the culture share characteristics such as religion, ethnic background, and education. Japan is an example of high-context culture.</a:t>
            </a:r>
            <a:endParaRPr sz="2400">
              <a:latin typeface="Montserrat"/>
              <a:ea typeface="Montserrat"/>
              <a:cs typeface="Montserrat"/>
              <a:sym typeface="Montserrat"/>
            </a:endParaRPr>
          </a:p>
          <a:p>
            <a:pPr indent="0" lvl="0" marL="457200" rtl="0" algn="l">
              <a:lnSpc>
                <a:spcPct val="70000"/>
              </a:lnSpc>
              <a:spcBef>
                <a:spcPts val="0"/>
              </a:spcBef>
              <a:spcAft>
                <a:spcPts val="0"/>
              </a:spcAft>
              <a:buSzPts val="1800"/>
              <a:buNone/>
            </a:pPr>
            <a:r>
              <a:t/>
            </a:r>
            <a:endParaRPr sz="2400">
              <a:latin typeface="Montserrat"/>
              <a:ea typeface="Montserrat"/>
              <a:cs typeface="Montserrat"/>
              <a:sym typeface="Montserrat"/>
            </a:endParaRPr>
          </a:p>
          <a:p>
            <a:pPr indent="-381000" lvl="0" marL="457200" rtl="0" algn="l">
              <a:lnSpc>
                <a:spcPct val="70000"/>
              </a:lnSpc>
              <a:spcBef>
                <a:spcPts val="0"/>
              </a:spcBef>
              <a:spcAft>
                <a:spcPts val="0"/>
              </a:spcAft>
              <a:buSzPts val="2400"/>
              <a:buFont typeface="Montserrat"/>
              <a:buChar char="●"/>
            </a:pPr>
            <a:r>
              <a:rPr lang="en-US" sz="2660">
                <a:latin typeface="Montserrat"/>
                <a:ea typeface="Montserrat"/>
                <a:cs typeface="Montserrat"/>
                <a:sym typeface="Montserrat"/>
              </a:rPr>
              <a:t>Important characteristics of high-context cultures include:</a:t>
            </a:r>
            <a:endParaRPr sz="2660">
              <a:latin typeface="Montserrat"/>
              <a:ea typeface="Montserrat"/>
              <a:cs typeface="Montserrat"/>
              <a:sym typeface="Montserrat"/>
            </a:endParaRPr>
          </a:p>
          <a:p>
            <a:pPr indent="0" lvl="0" marL="457200" rtl="0" algn="l">
              <a:lnSpc>
                <a:spcPct val="70000"/>
              </a:lnSpc>
              <a:spcBef>
                <a:spcPts val="0"/>
              </a:spcBef>
              <a:spcAft>
                <a:spcPts val="0"/>
              </a:spcAft>
              <a:buSzPts val="1800"/>
              <a:buNone/>
            </a:pPr>
            <a:r>
              <a:t/>
            </a:r>
            <a:endParaRPr sz="2660">
              <a:latin typeface="Montserrat"/>
              <a:ea typeface="Montserrat"/>
              <a:cs typeface="Montserrat"/>
              <a:sym typeface="Montserrat"/>
            </a:endParaRPr>
          </a:p>
          <a:p>
            <a:pPr indent="-381000" lvl="1" marL="914400" rtl="0" algn="l">
              <a:lnSpc>
                <a:spcPct val="70000"/>
              </a:lnSpc>
              <a:spcBef>
                <a:spcPts val="0"/>
              </a:spcBef>
              <a:spcAft>
                <a:spcPts val="0"/>
              </a:spcAft>
              <a:buSzPts val="2400"/>
              <a:buFont typeface="Montserrat"/>
              <a:buAutoNum type="alphaLcPeriod"/>
            </a:pPr>
            <a:r>
              <a:rPr lang="en-US">
                <a:latin typeface="Montserrat"/>
                <a:ea typeface="Montserrat"/>
                <a:cs typeface="Montserrat"/>
                <a:sym typeface="Montserrat"/>
              </a:rPr>
              <a:t>Community based; difference between </a:t>
            </a:r>
            <a:r>
              <a:rPr lang="en-US" u="sng">
                <a:latin typeface="Montserrat"/>
                <a:ea typeface="Montserrat"/>
                <a:cs typeface="Montserrat"/>
                <a:sym typeface="Montserrat"/>
              </a:rPr>
              <a:t>insiders</a:t>
            </a:r>
            <a:r>
              <a:rPr lang="en-US">
                <a:latin typeface="Montserrat"/>
                <a:ea typeface="Montserrat"/>
                <a:cs typeface="Montserrat"/>
                <a:sym typeface="Montserrat"/>
              </a:rPr>
              <a:t> and </a:t>
            </a:r>
            <a:r>
              <a:rPr lang="en-US" u="sng">
                <a:latin typeface="Montserrat"/>
                <a:ea typeface="Montserrat"/>
                <a:cs typeface="Montserrat"/>
                <a:sym typeface="Montserrat"/>
              </a:rPr>
              <a:t>outsiders</a:t>
            </a:r>
            <a:r>
              <a:rPr lang="en-US">
                <a:latin typeface="Montserrat"/>
                <a:ea typeface="Montserrat"/>
                <a:cs typeface="Montserrat"/>
                <a:sym typeface="Montserrat"/>
              </a:rPr>
              <a:t> </a:t>
            </a:r>
            <a:endParaRPr>
              <a:latin typeface="Montserrat"/>
              <a:ea typeface="Montserrat"/>
              <a:cs typeface="Montserrat"/>
              <a:sym typeface="Montserrat"/>
            </a:endParaRPr>
          </a:p>
          <a:p>
            <a:pPr indent="-381000" lvl="1" marL="914400" rtl="0" algn="l">
              <a:lnSpc>
                <a:spcPct val="70000"/>
              </a:lnSpc>
              <a:spcBef>
                <a:spcPts val="0"/>
              </a:spcBef>
              <a:spcAft>
                <a:spcPts val="0"/>
              </a:spcAft>
              <a:buSzPts val="2400"/>
              <a:buFont typeface="Montserrat"/>
              <a:buAutoNum type="alphaLcPeriod"/>
            </a:pPr>
            <a:r>
              <a:rPr lang="en-US">
                <a:latin typeface="Montserrat"/>
                <a:ea typeface="Montserrat"/>
                <a:cs typeface="Montserrat"/>
                <a:sym typeface="Montserrat"/>
              </a:rPr>
              <a:t>A </a:t>
            </a:r>
            <a:r>
              <a:rPr lang="en-US" u="sng">
                <a:latin typeface="Montserrat"/>
                <a:ea typeface="Montserrat"/>
                <a:cs typeface="Montserrat"/>
                <a:sym typeface="Montserrat"/>
              </a:rPr>
              <a:t>focus on maintaining relationships</a:t>
            </a:r>
            <a:r>
              <a:rPr lang="en-US">
                <a:latin typeface="Montserrat"/>
                <a:ea typeface="Montserrat"/>
                <a:cs typeface="Montserrat"/>
                <a:sym typeface="Montserrat"/>
              </a:rPr>
              <a:t>, on </a:t>
            </a:r>
            <a:r>
              <a:rPr lang="en-US" u="sng">
                <a:latin typeface="Montserrat"/>
                <a:ea typeface="Montserrat"/>
                <a:cs typeface="Montserrat"/>
                <a:sym typeface="Montserrat"/>
              </a:rPr>
              <a:t>saving face</a:t>
            </a:r>
            <a:r>
              <a:rPr lang="en-US">
                <a:latin typeface="Montserrat"/>
                <a:ea typeface="Montserrat"/>
                <a:cs typeface="Montserrat"/>
                <a:sym typeface="Montserrat"/>
              </a:rPr>
              <a:t>, and on </a:t>
            </a:r>
            <a:r>
              <a:rPr lang="en-US" u="sng">
                <a:latin typeface="Montserrat"/>
                <a:ea typeface="Montserrat"/>
                <a:cs typeface="Montserrat"/>
                <a:sym typeface="Montserrat"/>
              </a:rPr>
              <a:t>helping others save face</a:t>
            </a:r>
            <a:r>
              <a:rPr lang="en-US">
                <a:latin typeface="Montserrat"/>
                <a:ea typeface="Montserrat"/>
                <a:cs typeface="Montserrat"/>
                <a:sym typeface="Montserrat"/>
              </a:rPr>
              <a:t> </a:t>
            </a:r>
            <a:endParaRPr>
              <a:latin typeface="Montserrat"/>
              <a:ea typeface="Montserrat"/>
              <a:cs typeface="Montserrat"/>
              <a:sym typeface="Montserrat"/>
            </a:endParaRPr>
          </a:p>
          <a:p>
            <a:pPr indent="-381000" lvl="1" marL="914400" rtl="0" algn="l">
              <a:lnSpc>
                <a:spcPct val="70000"/>
              </a:lnSpc>
              <a:spcBef>
                <a:spcPts val="0"/>
              </a:spcBef>
              <a:spcAft>
                <a:spcPts val="0"/>
              </a:spcAft>
              <a:buSzPts val="2400"/>
              <a:buFont typeface="Montserrat"/>
              <a:buAutoNum type="alphaLcPeriod"/>
            </a:pPr>
            <a:r>
              <a:rPr lang="en-US">
                <a:latin typeface="Montserrat"/>
                <a:ea typeface="Montserrat"/>
                <a:cs typeface="Montserrat"/>
                <a:sym typeface="Montserrat"/>
              </a:rPr>
              <a:t>A </a:t>
            </a:r>
            <a:r>
              <a:rPr lang="en-US" u="sng">
                <a:latin typeface="Montserrat"/>
                <a:ea typeface="Montserrat"/>
                <a:cs typeface="Montserrat"/>
                <a:sym typeface="Montserrat"/>
              </a:rPr>
              <a:t>dependence on internalized cultural norms</a:t>
            </a:r>
            <a:r>
              <a:rPr lang="en-US">
                <a:latin typeface="Montserrat"/>
                <a:ea typeface="Montserrat"/>
                <a:cs typeface="Montserrat"/>
                <a:sym typeface="Montserrat"/>
              </a:rPr>
              <a:t> to govern behavior.</a:t>
            </a:r>
            <a:endParaRPr>
              <a:latin typeface="Montserrat"/>
              <a:ea typeface="Montserrat"/>
              <a:cs typeface="Montserrat"/>
              <a:sym typeface="Montserrat"/>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g37758a7e781_0_2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sz="3800">
                <a:latin typeface="Montserrat"/>
                <a:ea typeface="Montserrat"/>
                <a:cs typeface="Montserrat"/>
                <a:sym typeface="Montserrat"/>
              </a:rPr>
              <a:t>Low-Context Cultures</a:t>
            </a:r>
            <a:endParaRPr b="1" sz="3800">
              <a:latin typeface="Montserrat"/>
              <a:ea typeface="Montserrat"/>
              <a:cs typeface="Montserrat"/>
              <a:sym typeface="Montserrat"/>
            </a:endParaRPr>
          </a:p>
        </p:txBody>
      </p:sp>
      <p:sp>
        <p:nvSpPr>
          <p:cNvPr id="810" name="Google Shape;810;g37758a7e781_0_2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p>
            <a:pPr indent="-374650" lvl="0" marL="457200" rtl="0" algn="l">
              <a:lnSpc>
                <a:spcPct val="90000"/>
              </a:lnSpc>
              <a:spcBef>
                <a:spcPts val="1000"/>
              </a:spcBef>
              <a:spcAft>
                <a:spcPts val="0"/>
              </a:spcAft>
              <a:buSzPts val="2300"/>
              <a:buFont typeface="Montserrat"/>
              <a:buChar char="●"/>
            </a:pPr>
            <a:r>
              <a:rPr lang="en-US" sz="2300">
                <a:latin typeface="Montserrat"/>
                <a:ea typeface="Montserrat"/>
                <a:cs typeface="Montserrat"/>
                <a:sym typeface="Montserrat"/>
              </a:rPr>
              <a:t>Low-context cultures consist of </a:t>
            </a:r>
            <a:r>
              <a:rPr lang="en-US" sz="2300" u="sng">
                <a:latin typeface="Montserrat"/>
                <a:ea typeface="Montserrat"/>
                <a:cs typeface="Montserrat"/>
                <a:sym typeface="Montserrat"/>
              </a:rPr>
              <a:t>diverse religions</a:t>
            </a:r>
            <a:r>
              <a:rPr lang="en-US" sz="2300">
                <a:latin typeface="Montserrat"/>
                <a:ea typeface="Montserrat"/>
                <a:cs typeface="Montserrat"/>
                <a:sym typeface="Montserrat"/>
              </a:rPr>
              <a:t>, </a:t>
            </a:r>
            <a:r>
              <a:rPr lang="en-US" sz="2300" u="sng">
                <a:latin typeface="Montserrat"/>
                <a:ea typeface="Montserrat"/>
                <a:cs typeface="Montserrat"/>
                <a:sym typeface="Montserrat"/>
              </a:rPr>
              <a:t>ethnic backgrounds</a:t>
            </a:r>
            <a:r>
              <a:rPr lang="en-US" sz="2300">
                <a:latin typeface="Montserrat"/>
                <a:ea typeface="Montserrat"/>
                <a:cs typeface="Montserrat"/>
                <a:sym typeface="Montserrat"/>
              </a:rPr>
              <a:t>, and </a:t>
            </a:r>
            <a:r>
              <a:rPr lang="en-US" sz="2300" u="sng">
                <a:latin typeface="Montserrat"/>
                <a:ea typeface="Montserrat"/>
                <a:cs typeface="Montserrat"/>
                <a:sym typeface="Montserrat"/>
              </a:rPr>
              <a:t>educational levels</a:t>
            </a:r>
            <a:r>
              <a:rPr lang="en-US" sz="2300">
                <a:latin typeface="Montserrat"/>
                <a:ea typeface="Montserrat"/>
                <a:cs typeface="Montserrat"/>
                <a:sym typeface="Montserrat"/>
              </a:rPr>
              <a:t>; as a result, </a:t>
            </a:r>
            <a:r>
              <a:rPr b="1" lang="en-US" sz="2300">
                <a:latin typeface="Montserrat"/>
                <a:ea typeface="Montserrat"/>
                <a:cs typeface="Montserrat"/>
                <a:sym typeface="Montserrat"/>
              </a:rPr>
              <a:t>communication must be explicit</a:t>
            </a:r>
            <a:r>
              <a:rPr lang="en-US" sz="2300">
                <a:latin typeface="Montserrat"/>
                <a:ea typeface="Montserrat"/>
                <a:cs typeface="Montserrat"/>
                <a:sym typeface="Montserrat"/>
              </a:rPr>
              <a:t>, because members of a group cannot assume that they share knowledge or attitudes. The culture provides a low degree of context for communication. The United States is an example of a low-context culture. </a:t>
            </a:r>
            <a:endParaRPr sz="2300">
              <a:latin typeface="Montserrat"/>
              <a:ea typeface="Montserrat"/>
              <a:cs typeface="Montserrat"/>
              <a:sym typeface="Montserrat"/>
            </a:endParaRPr>
          </a:p>
          <a:p>
            <a:pPr indent="0" lvl="0" marL="457200" rtl="0" algn="l">
              <a:lnSpc>
                <a:spcPct val="90000"/>
              </a:lnSpc>
              <a:spcBef>
                <a:spcPts val="1000"/>
              </a:spcBef>
              <a:spcAft>
                <a:spcPts val="0"/>
              </a:spcAft>
              <a:buSzPts val="1800"/>
              <a:buNone/>
            </a:pPr>
            <a:r>
              <a:t/>
            </a:r>
            <a:endParaRPr sz="2300">
              <a:latin typeface="Montserrat"/>
              <a:ea typeface="Montserrat"/>
              <a:cs typeface="Montserrat"/>
              <a:sym typeface="Montserrat"/>
            </a:endParaRPr>
          </a:p>
          <a:p>
            <a:pPr indent="-381000" lvl="0" marL="457200" rtl="0" algn="l">
              <a:lnSpc>
                <a:spcPct val="90000"/>
              </a:lnSpc>
              <a:spcBef>
                <a:spcPts val="1000"/>
              </a:spcBef>
              <a:spcAft>
                <a:spcPts val="0"/>
              </a:spcAft>
              <a:buSzPts val="2400"/>
              <a:buFont typeface="Montserrat"/>
              <a:buChar char="●"/>
            </a:pPr>
            <a:r>
              <a:rPr lang="en-US" sz="2400">
                <a:latin typeface="Montserrat"/>
                <a:ea typeface="Montserrat"/>
                <a:cs typeface="Montserrat"/>
                <a:sym typeface="Montserrat"/>
              </a:rPr>
              <a:t>Important characteristics that affect communication in low-context cultures include </a:t>
            </a:r>
            <a:endParaRPr sz="2400">
              <a:latin typeface="Montserrat"/>
              <a:ea typeface="Montserrat"/>
              <a:cs typeface="Montserrat"/>
              <a:sym typeface="Montserrat"/>
            </a:endParaRPr>
          </a:p>
          <a:p>
            <a:pPr indent="-381000" lvl="1" marL="914400" rtl="0" algn="l">
              <a:lnSpc>
                <a:spcPct val="90000"/>
              </a:lnSpc>
              <a:spcBef>
                <a:spcPts val="0"/>
              </a:spcBef>
              <a:spcAft>
                <a:spcPts val="0"/>
              </a:spcAft>
              <a:buSzPts val="2400"/>
              <a:buFont typeface="Montserrat"/>
              <a:buChar char="○"/>
            </a:pPr>
            <a:r>
              <a:rPr lang="en-US" sz="2000">
                <a:latin typeface="Montserrat"/>
                <a:ea typeface="Montserrat"/>
                <a:cs typeface="Montserrat"/>
                <a:sym typeface="Montserrat"/>
              </a:rPr>
              <a:t>More individualistic, easier to enter</a:t>
            </a:r>
            <a:endParaRPr sz="2000">
              <a:latin typeface="Montserrat"/>
              <a:ea typeface="Montserrat"/>
              <a:cs typeface="Montserrat"/>
              <a:sym typeface="Montserrat"/>
            </a:endParaRPr>
          </a:p>
          <a:p>
            <a:pPr indent="-381000" lvl="1" marL="914400" rtl="0" algn="l">
              <a:lnSpc>
                <a:spcPct val="90000"/>
              </a:lnSpc>
              <a:spcBef>
                <a:spcPts val="0"/>
              </a:spcBef>
              <a:spcAft>
                <a:spcPts val="0"/>
              </a:spcAft>
              <a:buSzPts val="2400"/>
              <a:buFont typeface="Montserrat"/>
              <a:buChar char="○"/>
            </a:pPr>
            <a:r>
              <a:rPr lang="en-US" sz="2000">
                <a:latin typeface="Montserrat"/>
                <a:ea typeface="Montserrat"/>
                <a:cs typeface="Montserrat"/>
                <a:sym typeface="Montserrat"/>
              </a:rPr>
              <a:t>A </a:t>
            </a:r>
            <a:r>
              <a:rPr lang="en-US" sz="2000" u="sng">
                <a:latin typeface="Montserrat"/>
                <a:ea typeface="Montserrat"/>
                <a:cs typeface="Montserrat"/>
                <a:sym typeface="Montserrat"/>
              </a:rPr>
              <a:t>focus on actions and solving problems</a:t>
            </a:r>
            <a:r>
              <a:rPr lang="en-US" sz="2000">
                <a:latin typeface="Montserrat"/>
                <a:ea typeface="Montserrat"/>
                <a:cs typeface="Montserrat"/>
                <a:sym typeface="Montserrat"/>
              </a:rPr>
              <a:t>, with a willingness to disagree openly </a:t>
            </a:r>
            <a:endParaRPr sz="2000">
              <a:latin typeface="Montserrat"/>
              <a:ea typeface="Montserrat"/>
              <a:cs typeface="Montserrat"/>
              <a:sym typeface="Montserrat"/>
            </a:endParaRPr>
          </a:p>
          <a:p>
            <a:pPr indent="-381000" lvl="1" marL="914400" rtl="0" algn="l">
              <a:lnSpc>
                <a:spcPct val="90000"/>
              </a:lnSpc>
              <a:spcBef>
                <a:spcPts val="0"/>
              </a:spcBef>
              <a:spcAft>
                <a:spcPts val="0"/>
              </a:spcAft>
              <a:buSzPts val="2400"/>
              <a:buFont typeface="Montserrat"/>
              <a:buChar char="○"/>
            </a:pPr>
            <a:r>
              <a:rPr lang="en-US" sz="2000">
                <a:latin typeface="Montserrat"/>
                <a:ea typeface="Montserrat"/>
                <a:cs typeface="Montserrat"/>
                <a:sym typeface="Montserrat"/>
              </a:rPr>
              <a:t>A dependence on </a:t>
            </a:r>
            <a:r>
              <a:rPr lang="en-US" sz="2000" u="sng">
                <a:latin typeface="Montserrat"/>
                <a:ea typeface="Montserrat"/>
                <a:cs typeface="Montserrat"/>
                <a:sym typeface="Montserrat"/>
              </a:rPr>
              <a:t>formally established rules to govern behavior</a:t>
            </a:r>
            <a:r>
              <a:rPr lang="en-US" sz="2000">
                <a:latin typeface="Montserrat"/>
                <a:ea typeface="Montserrat"/>
                <a:cs typeface="Montserrat"/>
                <a:sym typeface="Montserrat"/>
              </a:rPr>
              <a:t> </a:t>
            </a:r>
            <a:endParaRPr sz="2000">
              <a:latin typeface="Montserrat"/>
              <a:ea typeface="Montserrat"/>
              <a:cs typeface="Montserrat"/>
              <a:sym typeface="Montserrat"/>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pic>
        <p:nvPicPr>
          <p:cNvPr descr="What are the norms in low-context culture? - Quora" id="815" name="Google Shape;815;g37758a7e781_0_32"/>
          <p:cNvPicPr preferRelativeResize="0"/>
          <p:nvPr/>
        </p:nvPicPr>
        <p:blipFill rotWithShape="1">
          <a:blip r:embed="rId3">
            <a:alphaModFix/>
          </a:blip>
          <a:srcRect b="61306" l="0" r="0" t="0"/>
          <a:stretch/>
        </p:blipFill>
        <p:spPr>
          <a:xfrm>
            <a:off x="-45700" y="359227"/>
            <a:ext cx="12262275" cy="23251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pic>
        <p:nvPicPr>
          <p:cNvPr descr="What are the norms in low-context culture? - Quora" id="820" name="Google Shape;820;g37758a7e781_0_36"/>
          <p:cNvPicPr preferRelativeResize="0"/>
          <p:nvPr/>
        </p:nvPicPr>
        <p:blipFill rotWithShape="1">
          <a:blip r:embed="rId3">
            <a:alphaModFix/>
          </a:blip>
          <a:srcRect b="0" l="0" r="0" t="0"/>
          <a:stretch/>
        </p:blipFill>
        <p:spPr>
          <a:xfrm>
            <a:off x="-45690" y="359229"/>
            <a:ext cx="12262255" cy="6008913"/>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g37758a7e781_0_40"/>
          <p:cNvSpPr txBox="1"/>
          <p:nvPr>
            <p:ph idx="1" type="body"/>
          </p:nvPr>
        </p:nvSpPr>
        <p:spPr>
          <a:xfrm>
            <a:off x="495300" y="1603850"/>
            <a:ext cx="5155200" cy="33261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3200"/>
              <a:buNone/>
            </a:pPr>
            <a:r>
              <a:rPr lang="en-US" sz="2300">
                <a:latin typeface="Montserrat"/>
                <a:ea typeface="Montserrat"/>
                <a:cs typeface="Montserrat"/>
                <a:sym typeface="Montserrat"/>
              </a:rPr>
              <a:t>The concept of </a:t>
            </a:r>
            <a:r>
              <a:rPr lang="en-US" sz="2300">
                <a:solidFill>
                  <a:srgbClr val="002060"/>
                </a:solidFill>
                <a:latin typeface="Montserrat"/>
                <a:ea typeface="Montserrat"/>
                <a:cs typeface="Montserrat"/>
                <a:sym typeface="Montserrat"/>
              </a:rPr>
              <a:t>low-context</a:t>
            </a:r>
            <a:r>
              <a:rPr lang="en-US" sz="2300">
                <a:latin typeface="Montserrat"/>
                <a:ea typeface="Montserrat"/>
                <a:cs typeface="Montserrat"/>
                <a:sym typeface="Montserrat"/>
              </a:rPr>
              <a:t> and </a:t>
            </a:r>
            <a:r>
              <a:rPr lang="en-US" sz="2300">
                <a:solidFill>
                  <a:srgbClr val="002060"/>
                </a:solidFill>
                <a:latin typeface="Montserrat"/>
                <a:ea typeface="Montserrat"/>
                <a:cs typeface="Montserrat"/>
                <a:sym typeface="Montserrat"/>
              </a:rPr>
              <a:t>high-context</a:t>
            </a:r>
            <a:r>
              <a:rPr lang="en-US" sz="2300">
                <a:latin typeface="Montserrat"/>
                <a:ea typeface="Montserrat"/>
                <a:cs typeface="Montserrat"/>
                <a:sym typeface="Montserrat"/>
              </a:rPr>
              <a:t> cultures offers a general way of thinking about how to relate to clients and colleagues in other cultures and countries, but if you find yourself working in a global, intercultural setting, you should understand the specific cultural practices of those you are working with.</a:t>
            </a:r>
            <a:endParaRPr sz="2300">
              <a:latin typeface="Montserrat"/>
              <a:ea typeface="Montserrat"/>
              <a:cs typeface="Montserrat"/>
              <a:sym typeface="Montserrat"/>
            </a:endParaRPr>
          </a:p>
        </p:txBody>
      </p:sp>
      <p:pic>
        <p:nvPicPr>
          <p:cNvPr id="827" name="Google Shape;827;g37758a7e781_0_40"/>
          <p:cNvPicPr preferRelativeResize="0"/>
          <p:nvPr/>
        </p:nvPicPr>
        <p:blipFill rotWithShape="1">
          <a:blip r:embed="rId3">
            <a:alphaModFix/>
          </a:blip>
          <a:srcRect b="0" l="0" r="0" t="0"/>
          <a:stretch/>
        </p:blipFill>
        <p:spPr>
          <a:xfrm>
            <a:off x="6105715" y="1971485"/>
            <a:ext cx="5643998" cy="2743237"/>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7758a7e781_0_4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sz="3000">
                <a:latin typeface="Montserrat"/>
                <a:ea typeface="Montserrat"/>
                <a:cs typeface="Montserrat"/>
                <a:sym typeface="Montserrat"/>
              </a:rPr>
              <a:t>Guidelines for Communicating Internationally</a:t>
            </a:r>
            <a:endParaRPr b="1" sz="3000">
              <a:latin typeface="Montserrat"/>
              <a:ea typeface="Montserrat"/>
              <a:cs typeface="Montserrat"/>
              <a:sym typeface="Montserrat"/>
            </a:endParaRPr>
          </a:p>
        </p:txBody>
      </p:sp>
      <p:sp>
        <p:nvSpPr>
          <p:cNvPr id="834" name="Google Shape;834;g37758a7e781_0_4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495300" lvl="0" marL="514350" rtl="0" algn="l">
              <a:lnSpc>
                <a:spcPct val="80000"/>
              </a:lnSpc>
              <a:spcBef>
                <a:spcPts val="0"/>
              </a:spcBef>
              <a:spcAft>
                <a:spcPts val="0"/>
              </a:spcAft>
              <a:buClr>
                <a:schemeClr val="dk1"/>
              </a:buClr>
              <a:buSzPts val="2900"/>
              <a:buFont typeface="Montserrat"/>
              <a:buAutoNum type="arabicPeriod"/>
            </a:pPr>
            <a:r>
              <a:rPr lang="en-US" sz="2900">
                <a:latin typeface="Montserrat"/>
                <a:ea typeface="Montserrat"/>
                <a:cs typeface="Montserrat"/>
                <a:sym typeface="Montserrat"/>
              </a:rPr>
              <a:t>Simplify grammar and style rules</a:t>
            </a:r>
            <a:endParaRPr sz="2900">
              <a:latin typeface="Montserrat"/>
              <a:ea typeface="Montserrat"/>
              <a:cs typeface="Montserrat"/>
              <a:sym typeface="Montserrat"/>
            </a:endParaRPr>
          </a:p>
          <a:p>
            <a:pPr indent="-495300" lvl="0" marL="514350" rtl="0" algn="l">
              <a:lnSpc>
                <a:spcPct val="80000"/>
              </a:lnSpc>
              <a:spcBef>
                <a:spcPts val="1000"/>
              </a:spcBef>
              <a:spcAft>
                <a:spcPts val="0"/>
              </a:spcAft>
              <a:buClr>
                <a:schemeClr val="dk1"/>
              </a:buClr>
              <a:buSzPts val="2900"/>
              <a:buFont typeface="Montserrat"/>
              <a:buAutoNum type="arabicPeriod"/>
            </a:pPr>
            <a:r>
              <a:rPr lang="en-US" sz="2900">
                <a:latin typeface="Montserrat"/>
                <a:ea typeface="Montserrat"/>
                <a:cs typeface="Montserrat"/>
                <a:sym typeface="Montserrat"/>
              </a:rPr>
              <a:t>Use simple verb tenses and verb constructions. </a:t>
            </a:r>
            <a:endParaRPr sz="2900">
              <a:latin typeface="Montserrat"/>
              <a:ea typeface="Montserrat"/>
              <a:cs typeface="Montserrat"/>
              <a:sym typeface="Montserrat"/>
            </a:endParaRPr>
          </a:p>
          <a:p>
            <a:pPr indent="-495300" lvl="0" marL="514350" rtl="0" algn="l">
              <a:lnSpc>
                <a:spcPct val="80000"/>
              </a:lnSpc>
              <a:spcBef>
                <a:spcPts val="1000"/>
              </a:spcBef>
              <a:spcAft>
                <a:spcPts val="0"/>
              </a:spcAft>
              <a:buClr>
                <a:schemeClr val="dk1"/>
              </a:buClr>
              <a:buSzPts val="2900"/>
              <a:buFont typeface="Montserrat"/>
              <a:buAutoNum type="arabicPeriod"/>
            </a:pPr>
            <a:r>
              <a:rPr lang="en-US" sz="2900">
                <a:latin typeface="Montserrat"/>
                <a:ea typeface="Montserrat"/>
                <a:cs typeface="Montserrat"/>
                <a:sym typeface="Montserrat"/>
              </a:rPr>
              <a:t>Limit vocabulary to words with clear meanings. </a:t>
            </a:r>
            <a:endParaRPr sz="2900">
              <a:latin typeface="Montserrat"/>
              <a:ea typeface="Montserrat"/>
              <a:cs typeface="Montserrat"/>
              <a:sym typeface="Montserrat"/>
            </a:endParaRPr>
          </a:p>
          <a:p>
            <a:pPr indent="-495300" lvl="0" marL="514350" rtl="0" algn="l">
              <a:lnSpc>
                <a:spcPct val="80000"/>
              </a:lnSpc>
              <a:spcBef>
                <a:spcPts val="1000"/>
              </a:spcBef>
              <a:spcAft>
                <a:spcPts val="0"/>
              </a:spcAft>
              <a:buClr>
                <a:schemeClr val="dk1"/>
              </a:buClr>
              <a:buSzPts val="2900"/>
              <a:buFont typeface="Montserrat"/>
              <a:buAutoNum type="arabicPeriod"/>
            </a:pPr>
            <a:r>
              <a:rPr lang="en-US" sz="2900">
                <a:latin typeface="Montserrat"/>
                <a:ea typeface="Montserrat"/>
                <a:cs typeface="Montserrat"/>
                <a:sym typeface="Montserrat"/>
              </a:rPr>
              <a:t>Use language and terminology consistently; per meaning.</a:t>
            </a:r>
            <a:endParaRPr sz="2900">
              <a:latin typeface="Montserrat"/>
              <a:ea typeface="Montserrat"/>
              <a:cs typeface="Montserrat"/>
              <a:sym typeface="Montserrat"/>
            </a:endParaRPr>
          </a:p>
          <a:p>
            <a:pPr indent="-495300" lvl="0" marL="514350" rtl="0" algn="l">
              <a:lnSpc>
                <a:spcPct val="80000"/>
              </a:lnSpc>
              <a:spcBef>
                <a:spcPts val="1000"/>
              </a:spcBef>
              <a:spcAft>
                <a:spcPts val="0"/>
              </a:spcAft>
              <a:buClr>
                <a:schemeClr val="dk1"/>
              </a:buClr>
              <a:buSzPts val="2900"/>
              <a:buFont typeface="Montserrat"/>
              <a:buAutoNum type="arabicPeriod"/>
            </a:pPr>
            <a:r>
              <a:rPr lang="en-US" sz="2900">
                <a:latin typeface="Montserrat"/>
                <a:ea typeface="Montserrat"/>
                <a:cs typeface="Montserrat"/>
                <a:sym typeface="Montserrat"/>
              </a:rPr>
              <a:t>Define technical terms. </a:t>
            </a:r>
            <a:endParaRPr sz="2900">
              <a:latin typeface="Montserrat"/>
              <a:ea typeface="Montserrat"/>
              <a:cs typeface="Montserrat"/>
              <a:sym typeface="Montserrat"/>
            </a:endParaRPr>
          </a:p>
          <a:p>
            <a:pPr indent="-495300" lvl="0" marL="514350" rtl="0" algn="l">
              <a:lnSpc>
                <a:spcPct val="80000"/>
              </a:lnSpc>
              <a:spcBef>
                <a:spcPts val="1000"/>
              </a:spcBef>
              <a:spcAft>
                <a:spcPts val="0"/>
              </a:spcAft>
              <a:buClr>
                <a:schemeClr val="dk1"/>
              </a:buClr>
              <a:buSzPts val="2900"/>
              <a:buFont typeface="Montserrat"/>
              <a:buAutoNum type="arabicPeriod"/>
            </a:pPr>
            <a:r>
              <a:rPr lang="en-US" sz="2900">
                <a:latin typeface="Montserrat"/>
                <a:ea typeface="Montserrat"/>
                <a:cs typeface="Montserrat"/>
                <a:sym typeface="Montserrat"/>
              </a:rPr>
              <a:t>Avoid slang terms and idioms. </a:t>
            </a:r>
            <a:endParaRPr sz="2900">
              <a:latin typeface="Montserrat"/>
              <a:ea typeface="Montserrat"/>
              <a:cs typeface="Montserrat"/>
              <a:sym typeface="Montserrat"/>
            </a:endParaRPr>
          </a:p>
          <a:p>
            <a:pPr indent="-495300" lvl="0" marL="514350" rtl="0" algn="l">
              <a:lnSpc>
                <a:spcPct val="80000"/>
              </a:lnSpc>
              <a:spcBef>
                <a:spcPts val="1000"/>
              </a:spcBef>
              <a:spcAft>
                <a:spcPts val="0"/>
              </a:spcAft>
              <a:buClr>
                <a:schemeClr val="dk1"/>
              </a:buClr>
              <a:buSzPts val="2900"/>
              <a:buFont typeface="Montserrat"/>
              <a:buAutoNum type="arabicPeriod"/>
            </a:pPr>
            <a:r>
              <a:rPr lang="en-US" sz="2900">
                <a:latin typeface="Montserrat"/>
                <a:ea typeface="Montserrat"/>
                <a:cs typeface="Montserrat"/>
                <a:sym typeface="Montserrat"/>
              </a:rPr>
              <a:t>Include visuals. Graphics are</a:t>
            </a:r>
            <a:endParaRPr sz="2900">
              <a:latin typeface="Montserrat"/>
              <a:ea typeface="Montserrat"/>
              <a:cs typeface="Montserrat"/>
              <a:sym typeface="Montserrat"/>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9" name="Shape 839"/>
        <p:cNvGrpSpPr/>
        <p:nvPr/>
      </p:nvGrpSpPr>
      <p:grpSpPr>
        <a:xfrm>
          <a:off x="0" y="0"/>
          <a:ext cx="0" cy="0"/>
          <a:chOff x="0" y="0"/>
          <a:chExt cx="0" cy="0"/>
        </a:xfrm>
      </p:grpSpPr>
      <p:sp>
        <p:nvSpPr>
          <p:cNvPr id="840" name="Google Shape;840;g37758a7e781_0_52"/>
          <p:cNvSpPr txBox="1"/>
          <p:nvPr>
            <p:ph type="title"/>
          </p:nvPr>
        </p:nvSpPr>
        <p:spPr>
          <a:xfrm>
            <a:off x="218941" y="175847"/>
            <a:ext cx="11629500" cy="1325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lang="en-US"/>
              <a:t> </a:t>
            </a:r>
            <a:br>
              <a:rPr lang="en-US"/>
            </a:br>
            <a:br>
              <a:rPr lang="en-US"/>
            </a:br>
            <a:r>
              <a:rPr b="1" lang="en-US" sz="4000">
                <a:solidFill>
                  <a:srgbClr val="002060"/>
                </a:solidFill>
              </a:rPr>
              <a:t>Case Study: Intercultural Communication in a Global Business Environment</a:t>
            </a:r>
            <a:br>
              <a:rPr lang="en-US" sz="4000"/>
            </a:br>
            <a:r>
              <a:rPr lang="en-US"/>
              <a:t> </a:t>
            </a:r>
            <a:br>
              <a:rPr lang="en-US"/>
            </a:br>
            <a:endParaRPr/>
          </a:p>
        </p:txBody>
      </p:sp>
      <p:sp>
        <p:nvSpPr>
          <p:cNvPr id="841" name="Google Shape;841;g37758a7e781_0_52"/>
          <p:cNvSpPr txBox="1"/>
          <p:nvPr>
            <p:ph idx="1" type="body"/>
          </p:nvPr>
        </p:nvSpPr>
        <p:spPr>
          <a:xfrm>
            <a:off x="218940" y="1501410"/>
            <a:ext cx="11973000" cy="5356500"/>
          </a:xfrm>
          <a:prstGeom prst="rect">
            <a:avLst/>
          </a:prstGeom>
          <a:solidFill>
            <a:srgbClr val="DDEAF6"/>
          </a:solid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US">
                <a:latin typeface="Times New Roman"/>
                <a:ea typeface="Times New Roman"/>
                <a:cs typeface="Times New Roman"/>
                <a:sym typeface="Times New Roman"/>
              </a:rPr>
              <a:t>GlobalTech Solutions (GTS) is a multinational technology company headquartered in the United States, with offices in Europe, Asia, and South America. The company specializes in software development, IT consulting, and digital transformation services. GTS recently acquired a smaller tech firm, TechInnovate, based in Pakistan, to expand its market presence in Asia. As part of the acquisition, GTS plans to integrate TechInnovate’s employees into its global operations. This integration involves a series of virtual meetings, cross-cultural training sessions, and collaborative projects between teams in the U.S. and Pakistan.</a:t>
            </a:r>
            <a:endParaRPr/>
          </a:p>
          <a:p>
            <a:pPr indent="0" lvl="0" marL="0" rtl="0" algn="l">
              <a:lnSpc>
                <a:spcPct val="90000"/>
              </a:lnSpc>
              <a:spcBef>
                <a:spcPts val="1000"/>
              </a:spcBef>
              <a:spcAft>
                <a:spcPts val="0"/>
              </a:spcAft>
              <a:buClr>
                <a:schemeClr val="dk1"/>
              </a:buClr>
              <a:buSzPct val="100000"/>
              <a:buNone/>
            </a:pPr>
            <a:r>
              <a:rPr lang="en-US">
                <a:latin typeface="Times New Roman"/>
                <a:ea typeface="Times New Roman"/>
                <a:cs typeface="Times New Roman"/>
                <a:sym typeface="Times New Roman"/>
              </a:rPr>
              <a:t>In the first virtual meeting between the U.S. and Pakistani teams, several communication issues arise. The American team notices that their Pakistani counterparts are unusually quiet during discussions. They rarely voice their opinions or disagree with any points made. Meanwhile, the Pakistani team feels that the American team is overly direct and somewhat aggressive in their approach, which makes them uncomfortable.</a:t>
            </a:r>
            <a:endParaRPr/>
          </a:p>
          <a:p>
            <a:pPr indent="-50800" lvl="0" marL="228600" rtl="0" algn="l">
              <a:lnSpc>
                <a:spcPct val="90000"/>
              </a:lnSpc>
              <a:spcBef>
                <a:spcPts val="1000"/>
              </a:spcBef>
              <a:spcAft>
                <a:spcPts val="0"/>
              </a:spcAft>
              <a:buClr>
                <a:schemeClr val="dk1"/>
              </a:buClr>
              <a:buSzPct val="100000"/>
              <a:buNone/>
            </a:pPr>
            <a:r>
              <a:t/>
            </a:r>
            <a:endParaRPr/>
          </a:p>
          <a:p>
            <a:pPr indent="-5080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5" name="Shape 845"/>
        <p:cNvGrpSpPr/>
        <p:nvPr/>
      </p:nvGrpSpPr>
      <p:grpSpPr>
        <a:xfrm>
          <a:off x="0" y="0"/>
          <a:ext cx="0" cy="0"/>
          <a:chOff x="0" y="0"/>
          <a:chExt cx="0" cy="0"/>
        </a:xfrm>
      </p:grpSpPr>
      <p:sp>
        <p:nvSpPr>
          <p:cNvPr id="846" name="Google Shape;846;g37758a7e781_0_58"/>
          <p:cNvSpPr txBox="1"/>
          <p:nvPr>
            <p:ph idx="1" type="body"/>
          </p:nvPr>
        </p:nvSpPr>
        <p:spPr>
          <a:xfrm>
            <a:off x="636814" y="653143"/>
            <a:ext cx="10716900" cy="5523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lang="en-US" sz="3200">
                <a:latin typeface="Times New Roman"/>
                <a:ea typeface="Times New Roman"/>
                <a:cs typeface="Times New Roman"/>
                <a:sym typeface="Times New Roman"/>
              </a:rPr>
              <a:t>Key Players: </a:t>
            </a:r>
            <a:endParaRPr/>
          </a:p>
          <a:p>
            <a:pPr indent="-228600" lvl="0" marL="228600" rtl="0" algn="l">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John Davis: Project Manager from the U.S. team, known for his direct communication style.</a:t>
            </a:r>
            <a:endParaRPr/>
          </a:p>
          <a:p>
            <a:pPr indent="-228600" lvl="0" marL="228600" rtl="0" algn="l">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Saba Ali: Senior Developer from the Pakistani team, values harmony and prefers a consensus-driven approach.</a:t>
            </a:r>
            <a:endParaRPr/>
          </a:p>
          <a:p>
            <a:pPr indent="-228600" lvl="0" marL="228600" rtl="0" algn="l">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Sarah Lee: HR Manager at GTS, responsible for overseeing the integration process.</a:t>
            </a:r>
            <a:endParaRPr/>
          </a:p>
          <a:p>
            <a:pPr indent="-228600" lvl="0" marL="228600" rtl="0" algn="l">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Aslam Khan : HR Manager at TechInnovate, tasked with supporting the transition.</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0" name="Shape 850"/>
        <p:cNvGrpSpPr/>
        <p:nvPr/>
      </p:nvGrpSpPr>
      <p:grpSpPr>
        <a:xfrm>
          <a:off x="0" y="0"/>
          <a:ext cx="0" cy="0"/>
          <a:chOff x="0" y="0"/>
          <a:chExt cx="0" cy="0"/>
        </a:xfrm>
      </p:grpSpPr>
      <p:sp>
        <p:nvSpPr>
          <p:cNvPr id="851" name="Google Shape;851;g37758a7e781_0_6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t>Questions: </a:t>
            </a:r>
            <a:endParaRPr/>
          </a:p>
        </p:txBody>
      </p:sp>
      <p:sp>
        <p:nvSpPr>
          <p:cNvPr id="852" name="Google Shape;852;g37758a7e781_0_62"/>
          <p:cNvSpPr txBox="1"/>
          <p:nvPr>
            <p:ph idx="1" type="body"/>
          </p:nvPr>
        </p:nvSpPr>
        <p:spPr>
          <a:xfrm>
            <a:off x="685800" y="1690688"/>
            <a:ext cx="11021700" cy="5020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b="1" lang="en-US" sz="3200">
                <a:latin typeface="Times New Roman"/>
                <a:ea typeface="Times New Roman"/>
                <a:cs typeface="Times New Roman"/>
                <a:sym typeface="Times New Roman"/>
              </a:rPr>
              <a:t>Question 1: </a:t>
            </a:r>
            <a:r>
              <a:rPr lang="en-US" sz="3200">
                <a:latin typeface="Times New Roman"/>
                <a:ea typeface="Times New Roman"/>
                <a:cs typeface="Times New Roman"/>
                <a:sym typeface="Times New Roman"/>
              </a:rPr>
              <a:t>What are the key cultural differences in communication styles between the U.S. and Pakistani teams?</a:t>
            </a:r>
            <a:endParaRPr/>
          </a:p>
          <a:p>
            <a:pPr indent="0" lvl="0" marL="0" rtl="0" algn="l">
              <a:lnSpc>
                <a:spcPct val="90000"/>
              </a:lnSpc>
              <a:spcBef>
                <a:spcPts val="1000"/>
              </a:spcBef>
              <a:spcAft>
                <a:spcPts val="0"/>
              </a:spcAft>
              <a:buClr>
                <a:schemeClr val="dk1"/>
              </a:buClr>
              <a:buSzPts val="3200"/>
              <a:buNone/>
            </a:pPr>
            <a:r>
              <a:rPr b="1" lang="en-US" sz="3200">
                <a:latin typeface="Times New Roman"/>
                <a:ea typeface="Times New Roman"/>
                <a:cs typeface="Times New Roman"/>
                <a:sym typeface="Times New Roman"/>
              </a:rPr>
              <a:t>Question 2: </a:t>
            </a:r>
            <a:r>
              <a:rPr lang="en-US" sz="3200">
                <a:latin typeface="Times New Roman"/>
                <a:ea typeface="Times New Roman"/>
                <a:cs typeface="Times New Roman"/>
                <a:sym typeface="Times New Roman"/>
              </a:rPr>
              <a:t>How can GTS facilitate better communication between the teams?</a:t>
            </a:r>
            <a:endParaRPr/>
          </a:p>
          <a:p>
            <a:pPr indent="0" lvl="0" marL="0" rtl="0" algn="l">
              <a:lnSpc>
                <a:spcPct val="90000"/>
              </a:lnSpc>
              <a:spcBef>
                <a:spcPts val="1000"/>
              </a:spcBef>
              <a:spcAft>
                <a:spcPts val="0"/>
              </a:spcAft>
              <a:buClr>
                <a:schemeClr val="dk1"/>
              </a:buClr>
              <a:buSzPts val="3200"/>
              <a:buNone/>
            </a:pPr>
            <a:r>
              <a:rPr b="1" lang="en-US" sz="3200">
                <a:latin typeface="Times New Roman"/>
                <a:ea typeface="Times New Roman"/>
                <a:cs typeface="Times New Roman"/>
                <a:sym typeface="Times New Roman"/>
              </a:rPr>
              <a:t>Question 3:</a:t>
            </a:r>
            <a:r>
              <a:rPr lang="en-US" sz="3200">
                <a:latin typeface="Times New Roman"/>
                <a:ea typeface="Times New Roman"/>
                <a:cs typeface="Times New Roman"/>
                <a:sym typeface="Times New Roman"/>
              </a:rPr>
              <a:t>What strategies can John and Saba use to improve their collaboration?</a:t>
            </a:r>
            <a:endParaRPr/>
          </a:p>
          <a:p>
            <a:pPr indent="0" lvl="0" marL="0" rtl="0" algn="l">
              <a:lnSpc>
                <a:spcPct val="90000"/>
              </a:lnSpc>
              <a:spcBef>
                <a:spcPts val="1000"/>
              </a:spcBef>
              <a:spcAft>
                <a:spcPts val="0"/>
              </a:spcAft>
              <a:buClr>
                <a:schemeClr val="dk1"/>
              </a:buClr>
              <a:buSzPts val="3200"/>
              <a:buNone/>
            </a:pPr>
            <a:r>
              <a:rPr b="1" lang="en-US" sz="3200">
                <a:latin typeface="Times New Roman"/>
                <a:ea typeface="Times New Roman"/>
                <a:cs typeface="Times New Roman"/>
                <a:sym typeface="Times New Roman"/>
              </a:rPr>
              <a:t>Question 4: </a:t>
            </a:r>
            <a:r>
              <a:rPr lang="en-US" sz="3200">
                <a:latin typeface="Times New Roman"/>
                <a:ea typeface="Times New Roman"/>
                <a:cs typeface="Times New Roman"/>
                <a:sym typeface="Times New Roman"/>
              </a:rPr>
              <a:t>How can the HR managers, Sarah and Aslam, support a smoother integration process?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7" name="Shape 857"/>
        <p:cNvGrpSpPr/>
        <p:nvPr/>
      </p:nvGrpSpPr>
      <p:grpSpPr>
        <a:xfrm>
          <a:off x="0" y="0"/>
          <a:ext cx="0" cy="0"/>
          <a:chOff x="0" y="0"/>
          <a:chExt cx="0" cy="0"/>
        </a:xfrm>
      </p:grpSpPr>
      <p:sp>
        <p:nvSpPr>
          <p:cNvPr id="858" name="Google Shape;858;g37758a7e781_0_6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t>Cultural Differences: P. 10</a:t>
            </a:r>
            <a:endParaRPr/>
          </a:p>
        </p:txBody>
      </p:sp>
      <p:graphicFrame>
        <p:nvGraphicFramePr>
          <p:cNvPr id="859" name="Google Shape;859;g37758a7e781_0_67"/>
          <p:cNvGraphicFramePr/>
          <p:nvPr/>
        </p:nvGraphicFramePr>
        <p:xfrm>
          <a:off x="485886" y="1690688"/>
          <a:ext cx="3000000" cy="3000000"/>
        </p:xfrm>
        <a:graphic>
          <a:graphicData uri="http://schemas.openxmlformats.org/drawingml/2006/table">
            <a:tbl>
              <a:tblPr bandRow="1" firstRow="1">
                <a:noFill/>
                <a:tableStyleId>{1722ECFC-CDE6-43E2-95B7-9374CFE04406}</a:tableStyleId>
              </a:tblPr>
              <a:tblGrid>
                <a:gridCol w="4825425"/>
                <a:gridCol w="6530175"/>
              </a:tblGrid>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Big picture vs. details</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High-context vs. Low-context</a:t>
                      </a:r>
                      <a:endParaRPr sz="20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Order vs. chaos</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Monochronic vs. Polychronic </a:t>
                      </a:r>
                      <a:endParaRPr sz="20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Formal vs. informal</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Top-down communication vs. back and forth and up and down</a:t>
                      </a:r>
                      <a:endParaRPr sz="20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Motivations and rewards</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Personal achievement vs. financial rewards</a:t>
                      </a:r>
                      <a:endParaRPr sz="2000" u="none" cap="none" strike="noStrike"/>
                    </a:p>
                  </a:txBody>
                  <a:tcPr marT="45725" marB="45725" marR="91450" marL="91450"/>
                </a:tc>
              </a:tr>
              <a:tr h="58300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Quality vs. quantity of decisions</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Arial"/>
                        <a:buNone/>
                      </a:pPr>
                      <a:r>
                        <a:rPr lang="en-US" sz="2000" u="none" cap="none" strike="noStrike"/>
                        <a:t>methodical process</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Giving and receiving feedback</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Negative vs. positive feedback</a:t>
                      </a:r>
                      <a:endParaRPr sz="20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Expressing opinions</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Openly disagree</a:t>
                      </a:r>
                      <a:endParaRPr sz="20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Role of managers</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Egalitarianism vs. hierarchy</a:t>
                      </a:r>
                      <a:endParaRPr sz="20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Willingness to sacrifice personal time</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forgo personal time if needed.</a:t>
                      </a:r>
                      <a:endParaRPr sz="2000" u="none" cap="none" strike="noStrike"/>
                    </a:p>
                  </a:txBody>
                  <a:tcPr marT="45725" marB="45725" marR="91450" marL="91450"/>
                </a:tc>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63" name="Shape 863"/>
        <p:cNvGrpSpPr/>
        <p:nvPr/>
      </p:nvGrpSpPr>
      <p:grpSpPr>
        <a:xfrm>
          <a:off x="0" y="0"/>
          <a:ext cx="0" cy="0"/>
          <a:chOff x="0" y="0"/>
          <a:chExt cx="0" cy="0"/>
        </a:xfrm>
      </p:grpSpPr>
      <p:sp>
        <p:nvSpPr>
          <p:cNvPr id="864" name="Google Shape;864;g37758a7e781_0_7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t>Task</a:t>
            </a:r>
            <a:r>
              <a:rPr lang="en-US"/>
              <a:t>: </a:t>
            </a:r>
            <a:endParaRPr/>
          </a:p>
        </p:txBody>
      </p:sp>
      <p:sp>
        <p:nvSpPr>
          <p:cNvPr id="865" name="Google Shape;865;g37758a7e781_0_7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Based on these variations in culture (P:10), select any two countries and compare these elements</a:t>
            </a:r>
            <a:endParaRPr/>
          </a:p>
          <a:p>
            <a:pPr indent="-228600" lvl="0" marL="228600" rtl="0" algn="l">
              <a:lnSpc>
                <a:spcPct val="90000"/>
              </a:lnSpc>
              <a:spcBef>
                <a:spcPts val="1000"/>
              </a:spcBef>
              <a:spcAft>
                <a:spcPts val="0"/>
              </a:spcAft>
              <a:buClr>
                <a:schemeClr val="dk1"/>
              </a:buClr>
              <a:buSzPts val="2800"/>
              <a:buChar char="•"/>
            </a:pPr>
            <a:r>
              <a:rPr lang="en-US"/>
              <a:t>Talk about at least 5 differences or similarities</a:t>
            </a:r>
            <a:endParaRPr/>
          </a:p>
          <a:p>
            <a:pPr indent="-228600" lvl="0" marL="228600" rtl="0" algn="l">
              <a:lnSpc>
                <a:spcPct val="90000"/>
              </a:lnSpc>
              <a:spcBef>
                <a:spcPts val="1000"/>
              </a:spcBef>
              <a:spcAft>
                <a:spcPts val="0"/>
              </a:spcAft>
              <a:buClr>
                <a:schemeClr val="dk1"/>
              </a:buClr>
              <a:buSzPts val="2800"/>
              <a:buChar char="•"/>
            </a:pPr>
            <a:r>
              <a:rPr lang="en-US"/>
              <a:t>Examples could be in form of images, videos or case studies</a:t>
            </a:r>
            <a:endParaRPr/>
          </a:p>
          <a:p>
            <a:pPr indent="-228600" lvl="0" marL="228600" rtl="0" algn="l">
              <a:lnSpc>
                <a:spcPct val="90000"/>
              </a:lnSpc>
              <a:spcBef>
                <a:spcPts val="1000"/>
              </a:spcBef>
              <a:spcAft>
                <a:spcPts val="0"/>
              </a:spcAft>
              <a:buClr>
                <a:schemeClr val="dk1"/>
              </a:buClr>
              <a:buSzPts val="2800"/>
              <a:buChar char="•"/>
            </a:pPr>
            <a:r>
              <a:rPr lang="en-US"/>
              <a:t>Submit a write up (350 words)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869" name="Shape 869"/>
        <p:cNvGrpSpPr/>
        <p:nvPr/>
      </p:nvGrpSpPr>
      <p:grpSpPr>
        <a:xfrm>
          <a:off x="0" y="0"/>
          <a:ext cx="0" cy="0"/>
          <a:chOff x="0" y="0"/>
          <a:chExt cx="0" cy="0"/>
        </a:xfrm>
      </p:grpSpPr>
      <p:sp>
        <p:nvSpPr>
          <p:cNvPr id="870" name="Google Shape;870;g37758a7e781_0_78"/>
          <p:cNvSpPr txBox="1"/>
          <p:nvPr>
            <p:ph idx="1" type="body"/>
          </p:nvPr>
        </p:nvSpPr>
        <p:spPr>
          <a:xfrm>
            <a:off x="1657350" y="1392800"/>
            <a:ext cx="88773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t/>
            </a:r>
            <a:endParaRPr sz="3800">
              <a:latin typeface="Montserrat"/>
              <a:ea typeface="Montserrat"/>
              <a:cs typeface="Montserrat"/>
              <a:sym typeface="Montserrat"/>
            </a:endParaRPr>
          </a:p>
          <a:p>
            <a:pPr indent="0" lvl="0" marL="0" rtl="0" algn="l">
              <a:lnSpc>
                <a:spcPct val="90000"/>
              </a:lnSpc>
              <a:spcBef>
                <a:spcPts val="0"/>
              </a:spcBef>
              <a:spcAft>
                <a:spcPts val="0"/>
              </a:spcAft>
              <a:buClr>
                <a:schemeClr val="dk1"/>
              </a:buClr>
              <a:buSzPts val="3600"/>
              <a:buNone/>
            </a:pPr>
            <a:r>
              <a:t/>
            </a:r>
            <a:endParaRPr sz="3800">
              <a:latin typeface="Montserrat"/>
              <a:ea typeface="Montserrat"/>
              <a:cs typeface="Montserrat"/>
              <a:sym typeface="Montserrat"/>
            </a:endParaRPr>
          </a:p>
          <a:p>
            <a:pPr indent="0" lvl="0" marL="0" rtl="0" algn="ctr">
              <a:lnSpc>
                <a:spcPct val="90000"/>
              </a:lnSpc>
              <a:spcBef>
                <a:spcPts val="0"/>
              </a:spcBef>
              <a:spcAft>
                <a:spcPts val="0"/>
              </a:spcAft>
              <a:buClr>
                <a:schemeClr val="dk1"/>
              </a:buClr>
              <a:buSzPts val="3600"/>
              <a:buNone/>
            </a:pPr>
            <a:r>
              <a:rPr lang="en-US" sz="4000">
                <a:latin typeface="Montserrat"/>
                <a:ea typeface="Montserrat"/>
                <a:cs typeface="Montserrat"/>
                <a:sym typeface="Montserrat"/>
              </a:rPr>
              <a:t>“Ethics is the</a:t>
            </a:r>
            <a:r>
              <a:rPr b="1" lang="en-US" sz="4000">
                <a:latin typeface="Montserrat"/>
                <a:ea typeface="Montserrat"/>
                <a:cs typeface="Montserrat"/>
                <a:sym typeface="Montserrat"/>
              </a:rPr>
              <a:t> </a:t>
            </a:r>
            <a:r>
              <a:rPr lang="en-US" sz="4000">
                <a:latin typeface="Montserrat"/>
                <a:ea typeface="Montserrat"/>
                <a:cs typeface="Montserrat"/>
                <a:sym typeface="Montserrat"/>
              </a:rPr>
              <a:t>discipline concerned</a:t>
            </a:r>
            <a:r>
              <a:rPr b="1" lang="en-US" sz="4000">
                <a:latin typeface="Montserrat"/>
                <a:ea typeface="Montserrat"/>
                <a:cs typeface="Montserrat"/>
                <a:sym typeface="Montserrat"/>
              </a:rPr>
              <a:t> </a:t>
            </a:r>
            <a:r>
              <a:rPr lang="en-US" sz="4000">
                <a:latin typeface="Montserrat"/>
                <a:ea typeface="Montserrat"/>
                <a:cs typeface="Montserrat"/>
                <a:sym typeface="Montserrat"/>
              </a:rPr>
              <a:t>with what is </a:t>
            </a:r>
            <a:r>
              <a:rPr b="1" lang="en-US" sz="4000">
                <a:latin typeface="Montserrat"/>
                <a:ea typeface="Montserrat"/>
                <a:cs typeface="Montserrat"/>
                <a:sym typeface="Montserrat"/>
              </a:rPr>
              <a:t>morally good and bad, </a:t>
            </a:r>
            <a:r>
              <a:rPr i="1" lang="en-US" sz="4000">
                <a:latin typeface="Montserrat"/>
                <a:ea typeface="Montserrat"/>
                <a:cs typeface="Montserrat"/>
                <a:sym typeface="Montserrat"/>
              </a:rPr>
              <a:t>right and wrong</a:t>
            </a:r>
            <a:r>
              <a:rPr b="1" lang="en-US" sz="4000">
                <a:latin typeface="Montserrat"/>
                <a:ea typeface="Montserrat"/>
                <a:cs typeface="Montserrat"/>
                <a:sym typeface="Montserrat"/>
              </a:rPr>
              <a:t>.</a:t>
            </a:r>
            <a:r>
              <a:rPr lang="en-US" sz="4000">
                <a:latin typeface="Montserrat"/>
                <a:ea typeface="Montserrat"/>
                <a:cs typeface="Montserrat"/>
                <a:sym typeface="Montserrat"/>
              </a:rPr>
              <a:t>”</a:t>
            </a:r>
            <a:endParaRPr sz="4000">
              <a:latin typeface="Montserrat"/>
              <a:ea typeface="Montserrat"/>
              <a:cs typeface="Montserrat"/>
              <a:sym typeface="Montserrat"/>
            </a:endParaRPr>
          </a:p>
        </p:txBody>
      </p:sp>
      <p:sp>
        <p:nvSpPr>
          <p:cNvPr id="871" name="Google Shape;871;g37758a7e781_0_78"/>
          <p:cNvSpPr txBox="1"/>
          <p:nvPr/>
        </p:nvSpPr>
        <p:spPr>
          <a:xfrm>
            <a:off x="5559000" y="6176975"/>
            <a:ext cx="6633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3000"/>
              <a:buFont typeface="Arial"/>
              <a:buNone/>
            </a:pPr>
            <a:r>
              <a:rPr b="0" i="1" lang="en-US" sz="3000" u="none" cap="none" strike="noStrike">
                <a:solidFill>
                  <a:schemeClr val="dk1"/>
                </a:solidFill>
                <a:latin typeface="Montserrat"/>
                <a:ea typeface="Montserrat"/>
                <a:cs typeface="Montserrat"/>
                <a:sym typeface="Montserrat"/>
              </a:rPr>
              <a:t>Encyclopedia Britannica</a:t>
            </a:r>
            <a:endParaRPr b="0" i="1" sz="800" u="none" cap="none" strike="noStrike">
              <a:solidFill>
                <a:srgbClr val="000000"/>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g37758a7e781_0_83"/>
          <p:cNvSpPr txBox="1"/>
          <p:nvPr>
            <p:ph idx="1" type="body"/>
          </p:nvPr>
        </p:nvSpPr>
        <p:spPr>
          <a:xfrm>
            <a:off x="391886" y="489856"/>
            <a:ext cx="11609700" cy="6368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t/>
            </a:r>
            <a:endParaRPr>
              <a:latin typeface="Montserrat"/>
              <a:ea typeface="Montserrat"/>
              <a:cs typeface="Montserrat"/>
              <a:sym typeface="Montserrat"/>
            </a:endParaRPr>
          </a:p>
          <a:p>
            <a:pPr indent="0" lvl="0" marL="0" rtl="0" algn="l">
              <a:lnSpc>
                <a:spcPct val="90000"/>
              </a:lnSpc>
              <a:spcBef>
                <a:spcPts val="0"/>
              </a:spcBef>
              <a:spcAft>
                <a:spcPts val="0"/>
              </a:spcAft>
              <a:buClr>
                <a:schemeClr val="dk1"/>
              </a:buClr>
              <a:buSzPts val="3200"/>
              <a:buNone/>
            </a:pPr>
            <a:r>
              <a:t/>
            </a:r>
            <a:endParaRPr>
              <a:latin typeface="Montserrat"/>
              <a:ea typeface="Montserrat"/>
              <a:cs typeface="Montserrat"/>
              <a:sym typeface="Montserrat"/>
            </a:endParaRPr>
          </a:p>
          <a:p>
            <a:pPr indent="0" lvl="0" marL="0" rtl="0" algn="l">
              <a:lnSpc>
                <a:spcPct val="90000"/>
              </a:lnSpc>
              <a:spcBef>
                <a:spcPts val="0"/>
              </a:spcBef>
              <a:spcAft>
                <a:spcPts val="0"/>
              </a:spcAft>
              <a:buClr>
                <a:schemeClr val="dk1"/>
              </a:buClr>
              <a:buSzPts val="3200"/>
              <a:buNone/>
            </a:pPr>
            <a:r>
              <a:rPr b="1" lang="en-US">
                <a:latin typeface="Montserrat"/>
                <a:ea typeface="Montserrat"/>
                <a:cs typeface="Montserrat"/>
                <a:sym typeface="Montserrat"/>
              </a:rPr>
              <a:t>Ethical behavior</a:t>
            </a:r>
            <a:r>
              <a:rPr lang="en-US">
                <a:latin typeface="Montserrat"/>
                <a:ea typeface="Montserrat"/>
                <a:cs typeface="Montserrat"/>
                <a:sym typeface="Montserrat"/>
              </a:rPr>
              <a:t> enables employees to act with equity, fairness, impartiality and respect for the rights of others.</a:t>
            </a:r>
            <a:endParaRPr sz="2400">
              <a:latin typeface="Montserrat"/>
              <a:ea typeface="Montserrat"/>
              <a:cs typeface="Montserrat"/>
              <a:sym typeface="Montserrat"/>
            </a:endParaRPr>
          </a:p>
          <a:p>
            <a:pPr indent="0" lvl="0" marL="0" rtl="0" algn="l">
              <a:lnSpc>
                <a:spcPct val="90000"/>
              </a:lnSpc>
              <a:spcBef>
                <a:spcPts val="1000"/>
              </a:spcBef>
              <a:spcAft>
                <a:spcPts val="0"/>
              </a:spcAft>
              <a:buClr>
                <a:schemeClr val="dk1"/>
              </a:buClr>
              <a:buSzPts val="3200"/>
              <a:buNone/>
            </a:pPr>
            <a:r>
              <a:t/>
            </a:r>
            <a:endParaRPr>
              <a:latin typeface="Montserrat"/>
              <a:ea typeface="Montserrat"/>
              <a:cs typeface="Montserrat"/>
              <a:sym typeface="Montserrat"/>
            </a:endParaRPr>
          </a:p>
          <a:p>
            <a:pPr indent="0" lvl="0" marL="0" rtl="0" algn="l">
              <a:lnSpc>
                <a:spcPct val="90000"/>
              </a:lnSpc>
              <a:spcBef>
                <a:spcPts val="1000"/>
              </a:spcBef>
              <a:spcAft>
                <a:spcPts val="0"/>
              </a:spcAft>
              <a:buClr>
                <a:schemeClr val="dk1"/>
              </a:buClr>
              <a:buSzPts val="3200"/>
              <a:buNone/>
            </a:pPr>
            <a:r>
              <a:rPr lang="en-US">
                <a:latin typeface="Montserrat"/>
                <a:ea typeface="Montserrat"/>
                <a:cs typeface="Montserrat"/>
                <a:sym typeface="Montserrat"/>
              </a:rPr>
              <a:t>Ethical business communicators make choices that enable them to: </a:t>
            </a:r>
            <a:endParaRPr sz="2400">
              <a:latin typeface="Montserrat"/>
              <a:ea typeface="Montserrat"/>
              <a:cs typeface="Montserrat"/>
              <a:sym typeface="Montserrat"/>
            </a:endParaRPr>
          </a:p>
          <a:p>
            <a:pPr indent="-406400" lvl="0" marL="457200" rtl="0" algn="l">
              <a:lnSpc>
                <a:spcPct val="90000"/>
              </a:lnSpc>
              <a:spcBef>
                <a:spcPts val="500"/>
              </a:spcBef>
              <a:spcAft>
                <a:spcPts val="0"/>
              </a:spcAft>
              <a:buSzPts val="2800"/>
              <a:buFont typeface="Montserrat"/>
              <a:buChar char="●"/>
            </a:pPr>
            <a:r>
              <a:rPr lang="en-US">
                <a:latin typeface="Montserrat"/>
                <a:ea typeface="Montserrat"/>
                <a:cs typeface="Montserrat"/>
                <a:sym typeface="Montserrat"/>
              </a:rPr>
              <a:t>F</a:t>
            </a:r>
            <a:r>
              <a:rPr lang="en-US" sz="2800">
                <a:latin typeface="Montserrat"/>
                <a:ea typeface="Montserrat"/>
                <a:cs typeface="Montserrat"/>
                <a:sym typeface="Montserrat"/>
              </a:rPr>
              <a:t>ollow the organization's policies, procedures, guidelines and code of ethics </a:t>
            </a:r>
            <a:endParaRPr sz="2000">
              <a:latin typeface="Montserrat"/>
              <a:ea typeface="Montserrat"/>
              <a:cs typeface="Montserrat"/>
              <a:sym typeface="Montserrat"/>
            </a:endParaRPr>
          </a:p>
          <a:p>
            <a:pPr indent="-406400" lvl="0" marL="457200" rtl="0" algn="l">
              <a:lnSpc>
                <a:spcPct val="90000"/>
              </a:lnSpc>
              <a:spcBef>
                <a:spcPts val="0"/>
              </a:spcBef>
              <a:spcAft>
                <a:spcPts val="0"/>
              </a:spcAft>
              <a:buSzPts val="2800"/>
              <a:buFont typeface="Montserrat"/>
              <a:buChar char="●"/>
            </a:pPr>
            <a:r>
              <a:rPr lang="en-US" sz="2800">
                <a:latin typeface="Montserrat"/>
                <a:ea typeface="Montserrat"/>
                <a:cs typeface="Montserrat"/>
                <a:sym typeface="Montserrat"/>
              </a:rPr>
              <a:t>Communicate factual information objectively</a:t>
            </a:r>
            <a:endParaRPr sz="2000">
              <a:latin typeface="Montserrat"/>
              <a:ea typeface="Montserrat"/>
              <a:cs typeface="Montserrat"/>
              <a:sym typeface="Montserrat"/>
            </a:endParaRPr>
          </a:p>
          <a:p>
            <a:pPr indent="-406400" lvl="0" marL="457200" rtl="0" algn="l">
              <a:lnSpc>
                <a:spcPct val="90000"/>
              </a:lnSpc>
              <a:spcBef>
                <a:spcPts val="0"/>
              </a:spcBef>
              <a:spcAft>
                <a:spcPts val="0"/>
              </a:spcAft>
              <a:buSzPts val="2800"/>
              <a:buFont typeface="Montserrat"/>
              <a:buChar char="●"/>
            </a:pPr>
            <a:r>
              <a:rPr lang="en-US">
                <a:latin typeface="Montserrat"/>
                <a:ea typeface="Montserrat"/>
                <a:cs typeface="Montserrat"/>
                <a:sym typeface="Montserrat"/>
              </a:rPr>
              <a:t>A</a:t>
            </a:r>
            <a:r>
              <a:rPr lang="en-US" sz="2800">
                <a:latin typeface="Montserrat"/>
                <a:ea typeface="Montserrat"/>
                <a:cs typeface="Montserrat"/>
                <a:sym typeface="Montserrat"/>
              </a:rPr>
              <a:t>void using distortions of fact and misleading information </a:t>
            </a:r>
            <a:endParaRPr sz="2000">
              <a:latin typeface="Montserrat"/>
              <a:ea typeface="Montserrat"/>
              <a:cs typeface="Montserrat"/>
              <a:sym typeface="Montserrat"/>
            </a:endParaRPr>
          </a:p>
          <a:p>
            <a:pPr indent="-406400" lvl="0" marL="457200" rtl="0" algn="l">
              <a:lnSpc>
                <a:spcPct val="90000"/>
              </a:lnSpc>
              <a:spcBef>
                <a:spcPts val="0"/>
              </a:spcBef>
              <a:spcAft>
                <a:spcPts val="0"/>
              </a:spcAft>
              <a:buSzPts val="2800"/>
              <a:buFont typeface="Montserrat"/>
              <a:buChar char="●"/>
            </a:pPr>
            <a:r>
              <a:rPr lang="en-US">
                <a:latin typeface="Montserrat"/>
                <a:ea typeface="Montserrat"/>
                <a:cs typeface="Montserrat"/>
                <a:sym typeface="Montserrat"/>
              </a:rPr>
              <a:t>R</a:t>
            </a:r>
            <a:r>
              <a:rPr lang="en-US" sz="2800">
                <a:latin typeface="Montserrat"/>
                <a:ea typeface="Montserrat"/>
                <a:cs typeface="Montserrat"/>
                <a:sym typeface="Montserrat"/>
              </a:rPr>
              <a:t>espect the dignity of each person, irrespective of ethnic background, religion or gender</a:t>
            </a:r>
            <a:endParaRPr sz="2000">
              <a:latin typeface="Montserrat"/>
              <a:ea typeface="Montserrat"/>
              <a:cs typeface="Montserrat"/>
              <a:sym typeface="Montserrat"/>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74EA7"/>
        </a:solidFill>
      </p:bgPr>
    </p:bg>
    <p:spTree>
      <p:nvGrpSpPr>
        <p:cNvPr id="881" name="Shape 881"/>
        <p:cNvGrpSpPr/>
        <p:nvPr/>
      </p:nvGrpSpPr>
      <p:grpSpPr>
        <a:xfrm>
          <a:off x="0" y="0"/>
          <a:ext cx="0" cy="0"/>
          <a:chOff x="0" y="0"/>
          <a:chExt cx="0" cy="0"/>
        </a:xfrm>
      </p:grpSpPr>
      <p:sp>
        <p:nvSpPr>
          <p:cNvPr id="882" name="Google Shape;882;g37758a7e781_0_87"/>
          <p:cNvSpPr txBox="1"/>
          <p:nvPr>
            <p:ph idx="1" type="body"/>
          </p:nvPr>
        </p:nvSpPr>
        <p:spPr>
          <a:xfrm>
            <a:off x="749709" y="594135"/>
            <a:ext cx="10783500" cy="27315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50000"/>
              </a:lnSpc>
              <a:spcBef>
                <a:spcPts val="0"/>
              </a:spcBef>
              <a:spcAft>
                <a:spcPts val="0"/>
              </a:spcAft>
              <a:buClr>
                <a:schemeClr val="dk1"/>
              </a:buClr>
              <a:buSzPct val="100000"/>
              <a:buNone/>
            </a:pPr>
            <a:r>
              <a:rPr lang="en-US" sz="3100">
                <a:solidFill>
                  <a:srgbClr val="FFFFFF"/>
                </a:solidFill>
                <a:latin typeface="Montserrat"/>
                <a:ea typeface="Montserrat"/>
                <a:cs typeface="Montserrat"/>
                <a:sym typeface="Montserrat"/>
              </a:rPr>
              <a:t>“Our product is just what you need”</a:t>
            </a:r>
            <a:endParaRPr>
              <a:solidFill>
                <a:srgbClr val="FFFFFF"/>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ct val="100000"/>
              <a:buNone/>
            </a:pPr>
            <a:r>
              <a:rPr lang="en-US" sz="3100">
                <a:solidFill>
                  <a:srgbClr val="FFFFFF"/>
                </a:solidFill>
                <a:latin typeface="Montserrat"/>
                <a:ea typeface="Montserrat"/>
                <a:cs typeface="Montserrat"/>
                <a:sym typeface="Montserrat"/>
              </a:rPr>
              <a:t>“Our artificial sweetener is composed of proteins that occur naturally in the human body [amino acids].”</a:t>
            </a:r>
            <a:endParaRPr>
              <a:solidFill>
                <a:srgbClr val="FFFFFF"/>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ct val="100000"/>
              <a:buNone/>
            </a:pPr>
            <a:r>
              <a:rPr lang="en-US" sz="3100">
                <a:solidFill>
                  <a:srgbClr val="FFFFFF"/>
                </a:solidFill>
                <a:latin typeface="Montserrat"/>
                <a:ea typeface="Montserrat"/>
                <a:cs typeface="Montserrat"/>
                <a:sym typeface="Montserrat"/>
              </a:rPr>
              <a:t>“Our Krunchy Cookies contain no cholesterol”</a:t>
            </a:r>
            <a:endParaRPr>
              <a:solidFill>
                <a:srgbClr val="FFFFFF"/>
              </a:solidFill>
              <a:latin typeface="Montserrat"/>
              <a:ea typeface="Montserrat"/>
              <a:cs typeface="Montserrat"/>
              <a:sym typeface="Montserrat"/>
            </a:endParaRPr>
          </a:p>
          <a:p>
            <a:pPr indent="0" lvl="0" marL="0" rtl="0" algn="l">
              <a:lnSpc>
                <a:spcPct val="90000"/>
              </a:lnSpc>
              <a:spcBef>
                <a:spcPts val="1000"/>
              </a:spcBef>
              <a:spcAft>
                <a:spcPts val="0"/>
              </a:spcAft>
              <a:buClr>
                <a:schemeClr val="dk1"/>
              </a:buClr>
              <a:buSzPct val="100000"/>
              <a:buNone/>
            </a:pPr>
            <a:r>
              <a:t/>
            </a:r>
            <a:endParaRPr>
              <a:solidFill>
                <a:srgbClr val="FFFFFF"/>
              </a:solidFill>
              <a:latin typeface="Montserrat"/>
              <a:ea typeface="Montserrat"/>
              <a:cs typeface="Montserrat"/>
              <a:sym typeface="Montserrat"/>
            </a:endParaRPr>
          </a:p>
        </p:txBody>
      </p:sp>
      <p:sp>
        <p:nvSpPr>
          <p:cNvPr id="883" name="Google Shape;883;g37758a7e781_0_87"/>
          <p:cNvSpPr txBox="1"/>
          <p:nvPr/>
        </p:nvSpPr>
        <p:spPr>
          <a:xfrm>
            <a:off x="749709" y="2978937"/>
            <a:ext cx="11108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Montserrat"/>
                <a:ea typeface="Montserrat"/>
                <a:cs typeface="Montserrat"/>
                <a:sym typeface="Montserrat"/>
              </a:rPr>
              <a:t>Such claims are technically accurate but misleading.</a:t>
            </a:r>
            <a:endParaRPr b="1" i="0" sz="1400" u="none" cap="none" strike="noStrike">
              <a:solidFill>
                <a:srgbClr val="FFFFFF"/>
              </a:solidFill>
              <a:latin typeface="Montserrat"/>
              <a:ea typeface="Montserrat"/>
              <a:cs typeface="Montserrat"/>
              <a:sym typeface="Montserrat"/>
            </a:endParaRPr>
          </a:p>
        </p:txBody>
      </p:sp>
      <p:sp>
        <p:nvSpPr>
          <p:cNvPr id="884" name="Google Shape;884;g37758a7e781_0_87"/>
          <p:cNvSpPr txBox="1"/>
          <p:nvPr/>
        </p:nvSpPr>
        <p:spPr>
          <a:xfrm>
            <a:off x="664649" y="3593030"/>
            <a:ext cx="109536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Amino acids in certain sweeteners can alter body chemistry and cause headaches, seizures and possible brain tumors</a:t>
            </a:r>
            <a:endParaRPr b="0" i="0" sz="1400" u="none" cap="none" strike="noStrike">
              <a:solidFill>
                <a:srgbClr val="FFFFFF"/>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Montserrat"/>
              <a:ea typeface="Montserrat"/>
              <a:cs typeface="Montserrat"/>
              <a:sym typeface="Montserrat"/>
            </a:endParaRPr>
          </a:p>
        </p:txBody>
      </p:sp>
      <p:sp>
        <p:nvSpPr>
          <p:cNvPr id="885" name="Google Shape;885;g37758a7e781_0_87"/>
          <p:cNvSpPr txBox="1"/>
          <p:nvPr/>
        </p:nvSpPr>
        <p:spPr>
          <a:xfrm>
            <a:off x="652734" y="4518314"/>
            <a:ext cx="10518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Processed food snacks often contain saturated fat and trans fats, from which liver produces cholesterol</a:t>
            </a:r>
            <a:endParaRPr b="0" i="0" sz="1400" u="none" cap="none" strike="noStrike">
              <a:solidFill>
                <a:srgbClr val="FFFFFF"/>
              </a:solidFill>
              <a:latin typeface="Montserrat"/>
              <a:ea typeface="Montserrat"/>
              <a:cs typeface="Montserrat"/>
              <a:sym typeface="Montserrat"/>
            </a:endParaRPr>
          </a:p>
        </p:txBody>
      </p:sp>
      <p:sp>
        <p:nvSpPr>
          <p:cNvPr id="886" name="Google Shape;886;g37758a7e781_0_87"/>
          <p:cNvSpPr txBox="1"/>
          <p:nvPr/>
        </p:nvSpPr>
        <p:spPr>
          <a:xfrm>
            <a:off x="749700" y="5522500"/>
            <a:ext cx="10518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Montserrat"/>
                <a:ea typeface="Montserrat"/>
                <a:cs typeface="Montserrat"/>
                <a:sym typeface="Montserrat"/>
              </a:rPr>
              <a:t>In addition to being informative and persuasive, communicators must be ethical</a:t>
            </a:r>
            <a:r>
              <a:rPr b="1" i="0" lang="en-US" sz="1800" u="none" cap="none" strike="noStrike">
                <a:solidFill>
                  <a:srgbClr val="FFFFFF"/>
                </a:solidFill>
                <a:latin typeface="Montserrat"/>
                <a:ea typeface="Montserrat"/>
                <a:cs typeface="Montserrat"/>
                <a:sym typeface="Montserrat"/>
              </a:rPr>
              <a:t>.</a:t>
            </a:r>
            <a:endParaRPr b="1" i="0" sz="1400" u="none" cap="none" strike="noStrike">
              <a:solidFill>
                <a:srgbClr val="FFFFF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6"/>
                                        </p:tgtEl>
                                        <p:attrNameLst>
                                          <p:attrName>style.visibility</p:attrName>
                                        </p:attrNameLst>
                                      </p:cBhvr>
                                      <p:to>
                                        <p:strVal val="visible"/>
                                      </p:to>
                                    </p:set>
                                    <p:anim calcmode="lin" valueType="num">
                                      <p:cBhvr additive="base">
                                        <p:cTn dur="500"/>
                                        <p:tgtEl>
                                          <p:spTgt spid="88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g37758a7e781_0_9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4400"/>
              <a:buFont typeface="Times New Roman"/>
              <a:buNone/>
            </a:pPr>
            <a:r>
              <a:rPr b="1" lang="en-US" sz="3600">
                <a:solidFill>
                  <a:srgbClr val="000000"/>
                </a:solidFill>
                <a:latin typeface="Montserrat"/>
                <a:ea typeface="Montserrat"/>
                <a:cs typeface="Montserrat"/>
                <a:sym typeface="Montserrat"/>
              </a:rPr>
              <a:t>Ethics Guidelines</a:t>
            </a:r>
            <a:endParaRPr b="1" sz="3600">
              <a:latin typeface="Montserrat"/>
              <a:ea typeface="Montserrat"/>
              <a:cs typeface="Montserrat"/>
              <a:sym typeface="Montserrat"/>
            </a:endParaRPr>
          </a:p>
        </p:txBody>
      </p:sp>
      <p:sp>
        <p:nvSpPr>
          <p:cNvPr id="892" name="Google Shape;892;g37758a7e781_0_96"/>
          <p:cNvSpPr txBox="1"/>
          <p:nvPr>
            <p:ph idx="1" type="body"/>
          </p:nvPr>
        </p:nvSpPr>
        <p:spPr>
          <a:xfrm>
            <a:off x="533400" y="1455025"/>
            <a:ext cx="10515600" cy="2521200"/>
          </a:xfrm>
          <a:prstGeom prst="rect">
            <a:avLst/>
          </a:prstGeom>
          <a:noFill/>
          <a:ln>
            <a:noFill/>
          </a:ln>
        </p:spPr>
        <p:txBody>
          <a:bodyPr anchorCtr="0" anchor="t" bIns="45700" lIns="91425" spcFirstLastPara="1" rIns="91425" wrap="square" tIns="45700">
            <a:normAutofit/>
          </a:bodyPr>
          <a:lstStyle/>
          <a:p>
            <a:pPr indent="-400050" lvl="0" marL="457200" rtl="0" algn="l">
              <a:lnSpc>
                <a:spcPct val="90000"/>
              </a:lnSpc>
              <a:spcBef>
                <a:spcPts val="0"/>
              </a:spcBef>
              <a:spcAft>
                <a:spcPts val="0"/>
              </a:spcAft>
              <a:buSzPts val="2700"/>
              <a:buFont typeface="Montserrat"/>
              <a:buChar char="•"/>
            </a:pPr>
            <a:r>
              <a:rPr i="0" lang="en-US" sz="2700" u="none" strike="noStrike">
                <a:solidFill>
                  <a:srgbClr val="000000"/>
                </a:solidFill>
                <a:latin typeface="Montserrat"/>
                <a:ea typeface="Montserrat"/>
                <a:cs typeface="Montserrat"/>
                <a:sym typeface="Montserrat"/>
              </a:rPr>
              <a:t>Be honest</a:t>
            </a:r>
            <a:endParaRPr sz="1500">
              <a:latin typeface="Montserrat"/>
              <a:ea typeface="Montserrat"/>
              <a:cs typeface="Montserrat"/>
              <a:sym typeface="Montserrat"/>
            </a:endParaRPr>
          </a:p>
          <a:p>
            <a:pPr indent="-400050" lvl="0" marL="457200" rtl="0" algn="l">
              <a:lnSpc>
                <a:spcPct val="90000"/>
              </a:lnSpc>
              <a:spcBef>
                <a:spcPts val="0"/>
              </a:spcBef>
              <a:spcAft>
                <a:spcPts val="0"/>
              </a:spcAft>
              <a:buSzPts val="2700"/>
              <a:buFont typeface="Montserrat"/>
              <a:buChar char="•"/>
            </a:pPr>
            <a:r>
              <a:rPr i="0" lang="en-US" sz="2700" u="none" strike="noStrike">
                <a:solidFill>
                  <a:srgbClr val="000000"/>
                </a:solidFill>
                <a:latin typeface="Montserrat"/>
                <a:ea typeface="Montserrat"/>
                <a:cs typeface="Montserrat"/>
                <a:sym typeface="Montserrat"/>
              </a:rPr>
              <a:t>Do no harm</a:t>
            </a:r>
            <a:endParaRPr sz="1500">
              <a:latin typeface="Montserrat"/>
              <a:ea typeface="Montserrat"/>
              <a:cs typeface="Montserrat"/>
              <a:sym typeface="Montserrat"/>
            </a:endParaRPr>
          </a:p>
          <a:p>
            <a:pPr indent="-400050" lvl="0" marL="457200" rtl="0" algn="l">
              <a:lnSpc>
                <a:spcPct val="90000"/>
              </a:lnSpc>
              <a:spcBef>
                <a:spcPts val="0"/>
              </a:spcBef>
              <a:spcAft>
                <a:spcPts val="0"/>
              </a:spcAft>
              <a:buSzPts val="2700"/>
              <a:buFont typeface="Montserrat"/>
              <a:buChar char="•"/>
            </a:pPr>
            <a:r>
              <a:rPr i="0" lang="en-US" sz="2700" u="none" strike="noStrike">
                <a:solidFill>
                  <a:srgbClr val="000000"/>
                </a:solidFill>
                <a:latin typeface="Montserrat"/>
                <a:ea typeface="Montserrat"/>
                <a:cs typeface="Montserrat"/>
                <a:sym typeface="Montserrat"/>
              </a:rPr>
              <a:t>Be fair</a:t>
            </a:r>
            <a:endParaRPr sz="1500">
              <a:latin typeface="Montserrat"/>
              <a:ea typeface="Montserrat"/>
              <a:cs typeface="Montserrat"/>
              <a:sym typeface="Montserrat"/>
            </a:endParaRPr>
          </a:p>
          <a:p>
            <a:pPr indent="-400050" lvl="0" marL="457200" rtl="0" algn="l">
              <a:lnSpc>
                <a:spcPct val="90000"/>
              </a:lnSpc>
              <a:spcBef>
                <a:spcPts val="0"/>
              </a:spcBef>
              <a:spcAft>
                <a:spcPts val="0"/>
              </a:spcAft>
              <a:buSzPts val="2700"/>
              <a:buFont typeface="Montserrat"/>
              <a:buChar char="•"/>
            </a:pPr>
            <a:r>
              <a:rPr i="0" lang="en-US" sz="2700" u="none" strike="noStrike">
                <a:solidFill>
                  <a:srgbClr val="000000"/>
                </a:solidFill>
                <a:latin typeface="Montserrat"/>
                <a:ea typeface="Montserrat"/>
                <a:cs typeface="Montserrat"/>
                <a:sym typeface="Montserrat"/>
              </a:rPr>
              <a:t>Honor intellectual property rights</a:t>
            </a:r>
            <a:endParaRPr sz="1500">
              <a:latin typeface="Montserrat"/>
              <a:ea typeface="Montserrat"/>
              <a:cs typeface="Montserrat"/>
              <a:sym typeface="Montserrat"/>
            </a:endParaRPr>
          </a:p>
          <a:p>
            <a:pPr indent="-400050" lvl="0" marL="457200" rtl="0" algn="l">
              <a:lnSpc>
                <a:spcPct val="90000"/>
              </a:lnSpc>
              <a:spcBef>
                <a:spcPts val="0"/>
              </a:spcBef>
              <a:spcAft>
                <a:spcPts val="0"/>
              </a:spcAft>
              <a:buSzPts val="2700"/>
              <a:buFont typeface="Montserrat"/>
              <a:buChar char="•"/>
            </a:pPr>
            <a:r>
              <a:rPr i="0" lang="en-US" sz="2700" u="none" strike="noStrike">
                <a:solidFill>
                  <a:srgbClr val="000000"/>
                </a:solidFill>
                <a:latin typeface="Montserrat"/>
                <a:ea typeface="Montserrat"/>
                <a:cs typeface="Montserrat"/>
                <a:sym typeface="Montserrat"/>
              </a:rPr>
              <a:t>Respect confidentiality</a:t>
            </a:r>
            <a:endParaRPr sz="1500">
              <a:latin typeface="Montserrat"/>
              <a:ea typeface="Montserrat"/>
              <a:cs typeface="Montserrat"/>
              <a:sym typeface="Montserrat"/>
            </a:endParaRPr>
          </a:p>
          <a:p>
            <a:pPr indent="-400050" lvl="0" marL="457200" rtl="0" algn="l">
              <a:lnSpc>
                <a:spcPct val="90000"/>
              </a:lnSpc>
              <a:spcBef>
                <a:spcPts val="0"/>
              </a:spcBef>
              <a:spcAft>
                <a:spcPts val="0"/>
              </a:spcAft>
              <a:buSzPts val="2700"/>
              <a:buFont typeface="Montserrat"/>
              <a:buChar char="•"/>
            </a:pPr>
            <a:r>
              <a:rPr i="0" lang="en-US" sz="2700" u="none" strike="noStrike">
                <a:solidFill>
                  <a:srgbClr val="000000"/>
                </a:solidFill>
                <a:latin typeface="Montserrat"/>
                <a:ea typeface="Montserrat"/>
                <a:cs typeface="Montserrat"/>
                <a:sym typeface="Montserrat"/>
              </a:rPr>
              <a:t>Be professional</a:t>
            </a:r>
            <a:endParaRPr sz="2700">
              <a:latin typeface="Montserrat"/>
              <a:ea typeface="Montserrat"/>
              <a:cs typeface="Montserrat"/>
              <a:sym typeface="Montserrat"/>
            </a:endParaRPr>
          </a:p>
        </p:txBody>
      </p:sp>
      <p:sp>
        <p:nvSpPr>
          <p:cNvPr id="893" name="Google Shape;893;g37758a7e781_0_96"/>
          <p:cNvSpPr txBox="1"/>
          <p:nvPr>
            <p:ph idx="1" type="body"/>
          </p:nvPr>
        </p:nvSpPr>
        <p:spPr>
          <a:xfrm>
            <a:off x="0" y="4187825"/>
            <a:ext cx="12192000" cy="2694300"/>
          </a:xfrm>
          <a:prstGeom prst="rect">
            <a:avLst/>
          </a:prstGeom>
          <a:solidFill>
            <a:srgbClr val="F3F3F3"/>
          </a:solidFill>
          <a:ln>
            <a:noFill/>
          </a:ln>
        </p:spPr>
        <p:txBody>
          <a:bodyPr anchorCtr="0" anchor="t" bIns="45700" lIns="91425" spcFirstLastPara="1" rIns="91425" wrap="square" tIns="45700">
            <a:normAutofit/>
          </a:bodyPr>
          <a:lstStyle/>
          <a:p>
            <a:pPr indent="-463550" lvl="0" marL="514350" rtl="0" algn="l">
              <a:lnSpc>
                <a:spcPct val="90000"/>
              </a:lnSpc>
              <a:spcBef>
                <a:spcPts val="0"/>
              </a:spcBef>
              <a:spcAft>
                <a:spcPts val="0"/>
              </a:spcAft>
              <a:buClr>
                <a:schemeClr val="dk1"/>
              </a:buClr>
              <a:buSzPts val="2400"/>
              <a:buFont typeface="Montserrat"/>
              <a:buAutoNum type="arabicPeriod"/>
            </a:pPr>
            <a:r>
              <a:rPr lang="en-US" sz="2400">
                <a:latin typeface="Montserrat"/>
                <a:ea typeface="Montserrat"/>
                <a:cs typeface="Montserrat"/>
                <a:sym typeface="Montserrat"/>
              </a:rPr>
              <a:t>Acknowledge sources for information other than Common Knowledge</a:t>
            </a:r>
            <a:endParaRPr sz="2400">
              <a:latin typeface="Montserrat"/>
              <a:ea typeface="Montserrat"/>
              <a:cs typeface="Montserrat"/>
              <a:sym typeface="Montserrat"/>
            </a:endParaRPr>
          </a:p>
          <a:p>
            <a:pPr indent="-463550" lvl="0" marL="514350" rtl="0" algn="l">
              <a:lnSpc>
                <a:spcPct val="90000"/>
              </a:lnSpc>
              <a:spcBef>
                <a:spcPts val="1000"/>
              </a:spcBef>
              <a:spcAft>
                <a:spcPts val="0"/>
              </a:spcAft>
              <a:buClr>
                <a:schemeClr val="dk1"/>
              </a:buClr>
              <a:buSzPts val="2400"/>
              <a:buFont typeface="Montserrat"/>
              <a:buAutoNum type="arabicPeriod"/>
            </a:pPr>
            <a:r>
              <a:rPr lang="en-US" sz="2400">
                <a:latin typeface="Montserrat"/>
                <a:ea typeface="Montserrat"/>
                <a:cs typeface="Montserrat"/>
                <a:sym typeface="Montserrat"/>
              </a:rPr>
              <a:t>Seek written permission before borrowing extensive text</a:t>
            </a:r>
            <a:endParaRPr sz="2400">
              <a:latin typeface="Montserrat"/>
              <a:ea typeface="Montserrat"/>
              <a:cs typeface="Montserrat"/>
              <a:sym typeface="Montserrat"/>
            </a:endParaRPr>
          </a:p>
          <a:p>
            <a:pPr indent="-463550" lvl="0" marL="514350" rtl="0" algn="l">
              <a:lnSpc>
                <a:spcPct val="90000"/>
              </a:lnSpc>
              <a:spcBef>
                <a:spcPts val="1000"/>
              </a:spcBef>
              <a:spcAft>
                <a:spcPts val="0"/>
              </a:spcAft>
              <a:buClr>
                <a:schemeClr val="dk1"/>
              </a:buClr>
              <a:buSzPts val="2400"/>
              <a:buFont typeface="Montserrat"/>
              <a:buAutoNum type="arabicPeriod"/>
            </a:pPr>
            <a:r>
              <a:rPr lang="en-US" sz="2400">
                <a:latin typeface="Montserrat"/>
                <a:ea typeface="Montserrat"/>
                <a:cs typeface="Montserrat"/>
                <a:sym typeface="Montserrat"/>
              </a:rPr>
              <a:t>Seek written permission before borrowing graphics</a:t>
            </a:r>
            <a:endParaRPr sz="2400">
              <a:latin typeface="Montserrat"/>
              <a:ea typeface="Montserrat"/>
              <a:cs typeface="Montserrat"/>
              <a:sym typeface="Montserrat"/>
            </a:endParaRPr>
          </a:p>
          <a:p>
            <a:pPr indent="-463550" lvl="0" marL="514350" rtl="0" algn="l">
              <a:lnSpc>
                <a:spcPct val="90000"/>
              </a:lnSpc>
              <a:spcBef>
                <a:spcPts val="1000"/>
              </a:spcBef>
              <a:spcAft>
                <a:spcPts val="0"/>
              </a:spcAft>
              <a:buClr>
                <a:schemeClr val="dk1"/>
              </a:buClr>
              <a:buSzPts val="2400"/>
              <a:buFont typeface="Montserrat"/>
              <a:buAutoNum type="arabicPeriod"/>
            </a:pPr>
            <a:r>
              <a:rPr lang="en-US" sz="2400">
                <a:latin typeface="Montserrat"/>
                <a:ea typeface="Montserrat"/>
                <a:cs typeface="Montserrat"/>
                <a:sym typeface="Montserrat"/>
              </a:rPr>
              <a:t>Seek Legal advice when you cannot resolve complex questions</a:t>
            </a:r>
            <a:endParaRPr sz="2400">
              <a:latin typeface="Montserrat"/>
              <a:ea typeface="Montserrat"/>
              <a:cs typeface="Montserrat"/>
              <a:sym typeface="Montserrat"/>
            </a:endParaRPr>
          </a:p>
          <a:p>
            <a:pPr indent="-50800" lvl="0" marL="228600" rtl="0" algn="l">
              <a:lnSpc>
                <a:spcPct val="90000"/>
              </a:lnSpc>
              <a:spcBef>
                <a:spcPts val="1000"/>
              </a:spcBef>
              <a:spcAft>
                <a:spcPts val="0"/>
              </a:spcAft>
              <a:buClr>
                <a:schemeClr val="dk1"/>
              </a:buClr>
              <a:buSzPts val="2800"/>
              <a:buNone/>
            </a:pPr>
            <a:r>
              <a:t/>
            </a:r>
            <a:endParaRPr sz="2400">
              <a:latin typeface="Montserrat"/>
              <a:ea typeface="Montserrat"/>
              <a:cs typeface="Montserrat"/>
              <a:sym typeface="Montserrat"/>
            </a:endParaRPr>
          </a:p>
        </p:txBody>
      </p:sp>
      <p:sp>
        <p:nvSpPr>
          <p:cNvPr id="894" name="Google Shape;894;g37758a7e781_0_96"/>
          <p:cNvSpPr txBox="1"/>
          <p:nvPr>
            <p:ph type="title"/>
          </p:nvPr>
        </p:nvSpPr>
        <p:spPr>
          <a:xfrm>
            <a:off x="7654625" y="2862125"/>
            <a:ext cx="4537500" cy="1325700"/>
          </a:xfrm>
          <a:prstGeom prst="rect">
            <a:avLst/>
          </a:prstGeom>
          <a:solidFill>
            <a:srgbClr val="F3F3F3"/>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sz="3700">
                <a:latin typeface="Montserrat"/>
                <a:ea typeface="Montserrat"/>
                <a:cs typeface="Montserrat"/>
                <a:sym typeface="Montserrat"/>
              </a:rPr>
              <a:t>Tips</a:t>
            </a:r>
            <a:endParaRPr b="1" sz="3700">
              <a:latin typeface="Montserrat"/>
              <a:ea typeface="Montserrat"/>
              <a:cs typeface="Montserrat"/>
              <a:sym typeface="Montserrat"/>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graphicFrame>
        <p:nvGraphicFramePr>
          <p:cNvPr id="900" name="Google Shape;900;g37758a7e781_0_103"/>
          <p:cNvGraphicFramePr/>
          <p:nvPr/>
        </p:nvGraphicFramePr>
        <p:xfrm>
          <a:off x="1" y="-12879"/>
          <a:ext cx="3000000" cy="3000000"/>
        </p:xfrm>
        <a:graphic>
          <a:graphicData uri="http://schemas.openxmlformats.org/drawingml/2006/table">
            <a:tbl>
              <a:tblPr bandRow="1" firstRow="1">
                <a:noFill/>
                <a:tableStyleId>{6FF1CECD-2F33-448C-8880-35D2F2AF5F28}</a:tableStyleId>
              </a:tblPr>
              <a:tblGrid>
                <a:gridCol w="2051525"/>
                <a:gridCol w="4191525"/>
                <a:gridCol w="5948950"/>
              </a:tblGrid>
              <a:tr h="349475">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Ethical Issues</a:t>
                      </a:r>
                      <a:endParaRPr b="1" sz="16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Meaning</a:t>
                      </a:r>
                      <a:endParaRPr b="1" i="1" sz="16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Examples</a:t>
                      </a:r>
                      <a:endParaRPr b="1" i="1" sz="1600" u="none" cap="none" strike="noStrike"/>
                    </a:p>
                  </a:txBody>
                  <a:tcPr marT="45725" marB="45725" marR="91450" marL="91450"/>
                </a:tc>
              </a:tr>
              <a:tr h="6115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Suppression of Information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Burying to data to hide inconvenient truths</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 company fails to reveal product-testing results that indicate potential danger to consumers</a:t>
                      </a:r>
                      <a:endParaRPr b="1" sz="1600" u="none" cap="none" strike="noStrike"/>
                    </a:p>
                  </a:txBody>
                  <a:tcPr marT="45725" marB="45725" marR="91450" marL="91450"/>
                </a:tc>
              </a:tr>
              <a:tr h="6115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Falsification or fabrication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Changing or inventing data to support a desired outcome</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 company boasts of a fictitious enterprise to lure investors into supporting a new venture</a:t>
                      </a:r>
                      <a:endParaRPr b="1" sz="1600" u="none" cap="none" strike="noStrike"/>
                    </a:p>
                  </a:txBody>
                  <a:tcPr marT="45725" marB="45725" marR="91450" marL="91450"/>
                </a:tc>
              </a:tr>
              <a:tr h="11357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Overstatement or understatement</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Exaggerating the positive aspects of a situation of downplaying negative aspects to create the desired impression</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 public-opinion survey describes 55 percent of the respondents as a “substantial majority” and 45 percent as “a small percentage”</a:t>
                      </a:r>
                      <a:endParaRPr b="1" sz="1600" u="none" cap="none" strike="noStrike"/>
                    </a:p>
                  </a:txBody>
                  <a:tcPr marT="45725" marB="45725" marR="91450" marL="91450"/>
                </a:tc>
              </a:tr>
              <a:tr h="11357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Selective misquoting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Deleting words from quoted material to distort meaning</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 supervisor changes a report’s conclusion that “this proposal will seem feasible only to workers unfamiliar with the situation” to “this proposal will seem feasible.. to workers”</a:t>
                      </a:r>
                      <a:endParaRPr b="1" sz="1600" u="none" cap="none" strike="noStrike"/>
                    </a:p>
                  </a:txBody>
                  <a:tcPr marT="45725" marB="45725" marR="91450" marL="91450"/>
                </a:tc>
              </a:tr>
              <a:tr h="667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Subjective Wording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Using terms deliberately chosen for their ambiguity</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 company advertises “customary service charges”, knowing that “customary” is open to broad interpretation.</a:t>
                      </a:r>
                      <a:endParaRPr b="1" sz="1600" u="none" cap="none" strike="noStrike"/>
                    </a:p>
                  </a:txBody>
                  <a:tcPr marT="45725" marB="45725" marR="91450" marL="91450"/>
                </a:tc>
              </a:tr>
              <a:tr h="8736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Conflict of interest</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Exploiting behind-the-scenes connections to influence decision-making</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t>A board member of a community agency encourages the agency to hire her company for paid services rather than soliciting bids</a:t>
                      </a:r>
                      <a:endParaRPr b="1" sz="1600" u="none" cap="none" strike="noStrike"/>
                    </a:p>
                  </a:txBody>
                  <a:tcPr marT="45725" marB="45725" marR="91450" marL="91450"/>
                </a:tc>
              </a:tr>
              <a:tr h="8736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Withholding information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Refusing to share relevant data with coworkers</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t>A computer-savvy employee provides misleading answers about new software to make recently hired coworker appear incompetent</a:t>
                      </a:r>
                      <a:endParaRPr b="1" sz="1600" u="none" cap="none" strike="noStrike"/>
                    </a:p>
                  </a:txBody>
                  <a:tcPr marT="45725" marB="45725" marR="91450" marL="91450"/>
                </a:tc>
              </a:tr>
              <a:tr h="6115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Plagiarism</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Taking credit for someone else’s ideas, findings</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An employee assigned to prepare a report written by someone at another company, downloaded from internet</a:t>
                      </a:r>
                      <a:endParaRPr b="1" sz="1600" u="none" cap="none" strike="noStrike"/>
                    </a:p>
                  </a:txBody>
                  <a:tcPr marT="45725" marB="45725" marR="91450" marL="91450"/>
                </a:tc>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g3756d5883a8_0_252"/>
          <p:cNvSpPr txBox="1"/>
          <p:nvPr>
            <p:ph type="title"/>
          </p:nvPr>
        </p:nvSpPr>
        <p:spPr>
          <a:xfrm>
            <a:off x="554133" y="791156"/>
            <a:ext cx="15147600" cy="10179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39682"/>
              <a:buNone/>
            </a:pPr>
            <a:r>
              <a:rPr b="1" lang="en-US" sz="3500">
                <a:solidFill>
                  <a:srgbClr val="0B5394"/>
                </a:solidFill>
                <a:latin typeface="Questrial"/>
                <a:ea typeface="Questrial"/>
                <a:cs typeface="Questrial"/>
                <a:sym typeface="Questrial"/>
              </a:rPr>
              <a:t>Salam &amp; Bienvenue* TBW Fall 2025 Class! </a:t>
            </a:r>
            <a:endParaRPr b="1">
              <a:solidFill>
                <a:srgbClr val="0B5394"/>
              </a:solidFill>
            </a:endParaRPr>
          </a:p>
          <a:p>
            <a:pPr indent="0" lvl="0" marL="0" rtl="0" algn="l">
              <a:lnSpc>
                <a:spcPct val="90000"/>
              </a:lnSpc>
              <a:spcBef>
                <a:spcPts val="0"/>
              </a:spcBef>
              <a:spcAft>
                <a:spcPts val="0"/>
              </a:spcAft>
              <a:buSzPct val="111111"/>
              <a:buNone/>
            </a:pPr>
            <a:r>
              <a:t/>
            </a:r>
            <a:endParaRPr/>
          </a:p>
        </p:txBody>
      </p:sp>
      <p:sp>
        <p:nvSpPr>
          <p:cNvPr id="906" name="Google Shape;906;g3756d5883a8_0_252"/>
          <p:cNvSpPr txBox="1"/>
          <p:nvPr>
            <p:ph idx="1" type="body"/>
          </p:nvPr>
        </p:nvSpPr>
        <p:spPr>
          <a:xfrm>
            <a:off x="554133" y="2048844"/>
            <a:ext cx="15147600" cy="6073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2800"/>
              <a:buNone/>
            </a:pPr>
            <a:r>
              <a:rPr lang="en-US">
                <a:latin typeface="Montserrat"/>
                <a:ea typeface="Montserrat"/>
                <a:cs typeface="Montserrat"/>
                <a:sym typeface="Montserrat"/>
              </a:rPr>
              <a:t>About you</a:t>
            </a:r>
            <a:endParaRPr>
              <a:latin typeface="Montserrat"/>
              <a:ea typeface="Montserrat"/>
              <a:cs typeface="Montserrat"/>
              <a:sym typeface="Montserrat"/>
            </a:endParaRPr>
          </a:p>
          <a:p>
            <a:pPr indent="0" lvl="0" marL="0" rtl="0" algn="l">
              <a:lnSpc>
                <a:spcPct val="90000"/>
              </a:lnSpc>
              <a:spcBef>
                <a:spcPts val="1000"/>
              </a:spcBef>
              <a:spcAft>
                <a:spcPts val="0"/>
              </a:spcAft>
              <a:buSzPts val="2800"/>
              <a:buNone/>
            </a:pPr>
            <a:r>
              <a:rPr lang="en-US">
                <a:latin typeface="Montserrat"/>
                <a:ea typeface="Montserrat"/>
                <a:cs typeface="Montserrat"/>
                <a:sym typeface="Montserrat"/>
              </a:rPr>
              <a:t>About me </a:t>
            </a:r>
            <a:endParaRPr>
              <a:latin typeface="Montserrat"/>
              <a:ea typeface="Montserrat"/>
              <a:cs typeface="Montserrat"/>
              <a:sym typeface="Montserrat"/>
            </a:endParaRPr>
          </a:p>
          <a:p>
            <a:pPr indent="0" lvl="0" marL="0" rtl="0" algn="l">
              <a:lnSpc>
                <a:spcPct val="90000"/>
              </a:lnSpc>
              <a:spcBef>
                <a:spcPts val="1000"/>
              </a:spcBef>
              <a:spcAft>
                <a:spcPts val="0"/>
              </a:spcAft>
              <a:buSzPts val="2800"/>
              <a:buNone/>
            </a:pPr>
            <a:r>
              <a:rPr lang="en-US">
                <a:latin typeface="Montserrat"/>
                <a:ea typeface="Montserrat"/>
                <a:cs typeface="Montserrat"/>
                <a:sym typeface="Montserrat"/>
              </a:rPr>
              <a:t>About the course</a:t>
            </a:r>
            <a:endParaRPr>
              <a:latin typeface="Montserrat"/>
              <a:ea typeface="Montserrat"/>
              <a:cs typeface="Montserrat"/>
              <a:sym typeface="Montserrat"/>
            </a:endParaRPr>
          </a:p>
          <a:p>
            <a:pPr indent="0" lvl="0" marL="0" rtl="0" algn="l">
              <a:lnSpc>
                <a:spcPct val="90000"/>
              </a:lnSpc>
              <a:spcBef>
                <a:spcPts val="1000"/>
              </a:spcBef>
              <a:spcAft>
                <a:spcPts val="0"/>
              </a:spcAft>
              <a:buSzPts val="2800"/>
              <a:buNone/>
            </a:pPr>
            <a:r>
              <a:rPr lang="en-US">
                <a:latin typeface="Montserrat"/>
                <a:ea typeface="Montserrat"/>
                <a:cs typeface="Montserrat"/>
                <a:sym typeface="Montserrat"/>
              </a:rPr>
              <a:t>Class rules</a:t>
            </a:r>
            <a:endParaRPr>
              <a:latin typeface="Montserrat"/>
              <a:ea typeface="Montserrat"/>
              <a:cs typeface="Montserrat"/>
              <a:sym typeface="Montserrat"/>
            </a:endParaRPr>
          </a:p>
          <a:p>
            <a:pPr indent="0" lvl="0" marL="0" rtl="0" algn="l">
              <a:lnSpc>
                <a:spcPct val="90000"/>
              </a:lnSpc>
              <a:spcBef>
                <a:spcPts val="1000"/>
              </a:spcBef>
              <a:spcAft>
                <a:spcPts val="0"/>
              </a:spcAft>
              <a:buSzPts val="2800"/>
              <a:buNone/>
            </a:pPr>
            <a:r>
              <a:t/>
            </a:r>
            <a:endParaRPr>
              <a:latin typeface="Montserrat"/>
              <a:ea typeface="Montserrat"/>
              <a:cs typeface="Montserrat"/>
              <a:sym typeface="Montserrat"/>
            </a:endParaRPr>
          </a:p>
          <a:p>
            <a:pPr indent="0" lvl="0" marL="0" rtl="0" algn="l">
              <a:lnSpc>
                <a:spcPct val="90000"/>
              </a:lnSpc>
              <a:spcBef>
                <a:spcPts val="1000"/>
              </a:spcBef>
              <a:spcAft>
                <a:spcPts val="0"/>
              </a:spcAft>
              <a:buSzPts val="2800"/>
              <a:buNone/>
            </a:pPr>
            <a:r>
              <a:rPr lang="en-US">
                <a:latin typeface="Montserrat"/>
                <a:ea typeface="Montserrat"/>
                <a:cs typeface="Montserrat"/>
                <a:sym typeface="Montserrat"/>
              </a:rPr>
              <a:t>How should we best the make use of our time together? </a:t>
            </a:r>
            <a:endParaRPr>
              <a:latin typeface="Montserrat"/>
              <a:ea typeface="Montserrat"/>
              <a:cs typeface="Montserrat"/>
              <a:sym typeface="Montserrat"/>
            </a:endParaRPr>
          </a:p>
        </p:txBody>
      </p:sp>
      <p:sp>
        <p:nvSpPr>
          <p:cNvPr id="907" name="Google Shape;907;g3756d5883a8_0_252"/>
          <p:cNvSpPr txBox="1"/>
          <p:nvPr/>
        </p:nvSpPr>
        <p:spPr>
          <a:xfrm>
            <a:off x="3664533" y="6273633"/>
            <a:ext cx="8178300" cy="507900"/>
          </a:xfrm>
          <a:prstGeom prst="rect">
            <a:avLst/>
          </a:prstGeom>
          <a:noFill/>
          <a:ln>
            <a:noFill/>
          </a:ln>
        </p:spPr>
        <p:txBody>
          <a:bodyPr anchorCtr="0" anchor="t" bIns="121900" lIns="121900" spcFirstLastPara="1" rIns="121900" wrap="square" tIns="121900">
            <a:spAutoFit/>
          </a:bodyPr>
          <a:lstStyle/>
          <a:p>
            <a:pPr indent="0" lvl="0" marL="0" marR="0" rtl="0" algn="r">
              <a:lnSpc>
                <a:spcPct val="100000"/>
              </a:lnSpc>
              <a:spcBef>
                <a:spcPts val="0"/>
              </a:spcBef>
              <a:spcAft>
                <a:spcPts val="0"/>
              </a:spcAft>
              <a:buClr>
                <a:srgbClr val="000000"/>
              </a:buClr>
              <a:buSzPts val="1700"/>
              <a:buFont typeface="Arial"/>
              <a:buNone/>
            </a:pPr>
            <a:r>
              <a:rPr b="0" i="0" lang="en-US" sz="1700" u="none" cap="none" strike="noStrike">
                <a:solidFill>
                  <a:schemeClr val="dk2"/>
                </a:solidFill>
                <a:latin typeface="Calibri"/>
                <a:ea typeface="Calibri"/>
                <a:cs typeface="Calibri"/>
                <a:sym typeface="Calibri"/>
              </a:rPr>
              <a:t>*Welcome in French</a:t>
            </a:r>
            <a:endParaRPr b="0" i="0" sz="1700" u="none" cap="none" strike="noStrike">
              <a:solidFill>
                <a:schemeClr val="dk2"/>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911" name="Shape 911"/>
        <p:cNvGrpSpPr/>
        <p:nvPr/>
      </p:nvGrpSpPr>
      <p:grpSpPr>
        <a:xfrm>
          <a:off x="0" y="0"/>
          <a:ext cx="0" cy="0"/>
          <a:chOff x="0" y="0"/>
          <a:chExt cx="0" cy="0"/>
        </a:xfrm>
      </p:grpSpPr>
      <p:sp>
        <p:nvSpPr>
          <p:cNvPr id="912" name="Google Shape;912;g3756d5883a8_0_258"/>
          <p:cNvSpPr txBox="1"/>
          <p:nvPr>
            <p:ph type="title"/>
          </p:nvPr>
        </p:nvSpPr>
        <p:spPr>
          <a:xfrm>
            <a:off x="415600" y="390167"/>
            <a:ext cx="11360700" cy="763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500"/>
              <a:buFont typeface="Arial"/>
              <a:buNone/>
            </a:pPr>
            <a:r>
              <a:rPr b="1" lang="en-US" sz="3500">
                <a:solidFill>
                  <a:srgbClr val="0B5394"/>
                </a:solidFill>
                <a:latin typeface="Questrial"/>
                <a:ea typeface="Questrial"/>
                <a:cs typeface="Questrial"/>
                <a:sym typeface="Questrial"/>
              </a:rPr>
              <a:t>Some rules to control the fun</a:t>
            </a:r>
            <a:endParaRPr b="1">
              <a:solidFill>
                <a:srgbClr val="0B5394"/>
              </a:solidFill>
            </a:endParaRPr>
          </a:p>
        </p:txBody>
      </p:sp>
      <p:sp>
        <p:nvSpPr>
          <p:cNvPr id="913" name="Google Shape;913;g3756d5883a8_0_258"/>
          <p:cNvSpPr txBox="1"/>
          <p:nvPr>
            <p:ph idx="1" type="body"/>
          </p:nvPr>
        </p:nvSpPr>
        <p:spPr>
          <a:xfrm>
            <a:off x="415600" y="1231833"/>
            <a:ext cx="11360700" cy="5321100"/>
          </a:xfrm>
          <a:prstGeom prst="rect">
            <a:avLst/>
          </a:prstGeom>
          <a:noFill/>
          <a:ln>
            <a:noFill/>
          </a:ln>
        </p:spPr>
        <p:txBody>
          <a:bodyPr anchorCtr="0" anchor="t" bIns="45700" lIns="91425" spcFirstLastPara="1" rIns="91425" wrap="square" tIns="45700">
            <a:normAutofit/>
          </a:bodyPr>
          <a:lstStyle/>
          <a:p>
            <a:pPr indent="-482600" lvl="0" marL="609600" rtl="0" algn="l">
              <a:lnSpc>
                <a:spcPct val="90000"/>
              </a:lnSpc>
              <a:spcBef>
                <a:spcPts val="1000"/>
              </a:spcBef>
              <a:spcAft>
                <a:spcPts val="0"/>
              </a:spcAft>
              <a:buClr>
                <a:srgbClr val="000000"/>
              </a:buClr>
              <a:buSzPts val="2800"/>
              <a:buChar char="•"/>
            </a:pPr>
            <a:r>
              <a:rPr lang="en-US">
                <a:solidFill>
                  <a:srgbClr val="000000"/>
                </a:solidFill>
              </a:rPr>
              <a:t>Lets respect everyone’s time </a:t>
            </a:r>
            <a:endParaRPr>
              <a:solidFill>
                <a:srgbClr val="000000"/>
              </a:solidFill>
            </a:endParaRPr>
          </a:p>
          <a:p>
            <a:pPr indent="-457200" lvl="1" marL="1219200" rtl="0" algn="l">
              <a:lnSpc>
                <a:spcPct val="90000"/>
              </a:lnSpc>
              <a:spcBef>
                <a:spcPts val="500"/>
              </a:spcBef>
              <a:spcAft>
                <a:spcPts val="0"/>
              </a:spcAft>
              <a:buClr>
                <a:srgbClr val="000000"/>
              </a:buClr>
              <a:buSzPts val="2400"/>
              <a:buChar char="•"/>
            </a:pPr>
            <a:r>
              <a:rPr lang="en-US">
                <a:solidFill>
                  <a:srgbClr val="000000"/>
                </a:solidFill>
              </a:rPr>
              <a:t>Attendance - university’s 80% presence class rule (your responsibility) </a:t>
            </a:r>
            <a:endParaRPr>
              <a:solidFill>
                <a:srgbClr val="000000"/>
              </a:solidFill>
            </a:endParaRPr>
          </a:p>
          <a:p>
            <a:pPr indent="-457200" lvl="1" marL="1219200" rtl="0" algn="l">
              <a:lnSpc>
                <a:spcPct val="90000"/>
              </a:lnSpc>
              <a:spcBef>
                <a:spcPts val="500"/>
              </a:spcBef>
              <a:spcAft>
                <a:spcPts val="0"/>
              </a:spcAft>
              <a:buClr>
                <a:srgbClr val="000000"/>
              </a:buClr>
              <a:buSzPts val="2400"/>
              <a:buChar char="•"/>
            </a:pPr>
            <a:r>
              <a:rPr lang="en-US">
                <a:solidFill>
                  <a:srgbClr val="000000"/>
                </a:solidFill>
              </a:rPr>
              <a:t>Weightage and performance </a:t>
            </a:r>
            <a:endParaRPr>
              <a:solidFill>
                <a:srgbClr val="000000"/>
              </a:solidFill>
            </a:endParaRPr>
          </a:p>
          <a:p>
            <a:pPr indent="-457200" lvl="1" marL="1219200" rtl="0" algn="l">
              <a:lnSpc>
                <a:spcPct val="90000"/>
              </a:lnSpc>
              <a:spcBef>
                <a:spcPts val="500"/>
              </a:spcBef>
              <a:spcAft>
                <a:spcPts val="0"/>
              </a:spcAft>
              <a:buClr>
                <a:srgbClr val="000000"/>
              </a:buClr>
              <a:buSzPts val="2400"/>
              <a:buChar char="•"/>
            </a:pPr>
            <a:r>
              <a:rPr lang="en-US">
                <a:solidFill>
                  <a:srgbClr val="000000"/>
                </a:solidFill>
              </a:rPr>
              <a:t>Class participation </a:t>
            </a:r>
            <a:endParaRPr>
              <a:solidFill>
                <a:srgbClr val="000000"/>
              </a:solidFill>
            </a:endParaRPr>
          </a:p>
          <a:p>
            <a:pPr indent="-482600" lvl="0" marL="609600" rtl="0" algn="l">
              <a:lnSpc>
                <a:spcPct val="90000"/>
              </a:lnSpc>
              <a:spcBef>
                <a:spcPts val="1000"/>
              </a:spcBef>
              <a:spcAft>
                <a:spcPts val="0"/>
              </a:spcAft>
              <a:buClr>
                <a:srgbClr val="000000"/>
              </a:buClr>
              <a:buSzPts val="2800"/>
              <a:buChar char="•"/>
            </a:pPr>
            <a:r>
              <a:rPr lang="en-US">
                <a:solidFill>
                  <a:srgbClr val="000000"/>
                </a:solidFill>
              </a:rPr>
              <a:t>‘GPA: a measure of intelligence? </a:t>
            </a:r>
            <a:r>
              <a:rPr i="1" lang="en-US">
                <a:solidFill>
                  <a:srgbClr val="000000"/>
                </a:solidFill>
              </a:rPr>
              <a:t>Who would you hire someone reliable or hit-or-miss?</a:t>
            </a:r>
            <a:endParaRPr>
              <a:solidFill>
                <a:srgbClr val="000000"/>
              </a:solidFill>
            </a:endParaRPr>
          </a:p>
          <a:p>
            <a:pPr indent="-482600" lvl="0" marL="609600" rtl="0" algn="l">
              <a:lnSpc>
                <a:spcPct val="90000"/>
              </a:lnSpc>
              <a:spcBef>
                <a:spcPts val="1000"/>
              </a:spcBef>
              <a:spcAft>
                <a:spcPts val="0"/>
              </a:spcAft>
              <a:buClr>
                <a:srgbClr val="000000"/>
              </a:buClr>
              <a:buSzPts val="2800"/>
              <a:buChar char="•"/>
            </a:pPr>
            <a:r>
              <a:rPr lang="en-US">
                <a:solidFill>
                  <a:srgbClr val="000000"/>
                </a:solidFill>
              </a:rPr>
              <a:t>No cross talking please - allow everyone to speak</a:t>
            </a:r>
            <a:endParaRPr>
              <a:solidFill>
                <a:srgbClr val="000000"/>
              </a:solidFill>
            </a:endParaRPr>
          </a:p>
          <a:p>
            <a:pPr indent="-457200" lvl="1" marL="1219200" rtl="0" algn="l">
              <a:lnSpc>
                <a:spcPct val="90000"/>
              </a:lnSpc>
              <a:spcBef>
                <a:spcPts val="500"/>
              </a:spcBef>
              <a:spcAft>
                <a:spcPts val="0"/>
              </a:spcAft>
              <a:buClr>
                <a:srgbClr val="000000"/>
              </a:buClr>
              <a:buSzPts val="2400"/>
              <a:buChar char="•"/>
            </a:pPr>
            <a:r>
              <a:rPr lang="en-US">
                <a:solidFill>
                  <a:srgbClr val="000000"/>
                </a:solidFill>
              </a:rPr>
              <a:t>Say your name before you speak (</a:t>
            </a:r>
            <a:r>
              <a:rPr i="1" lang="en-US">
                <a:solidFill>
                  <a:srgbClr val="000000"/>
                </a:solidFill>
              </a:rPr>
              <a:t>until needed)</a:t>
            </a:r>
            <a:endParaRPr i="1">
              <a:solidFill>
                <a:srgbClr val="000000"/>
              </a:solidFill>
            </a:endParaRPr>
          </a:p>
          <a:p>
            <a:pPr indent="-457200" lvl="1" marL="1219200" rtl="0" algn="l">
              <a:lnSpc>
                <a:spcPct val="90000"/>
              </a:lnSpc>
              <a:spcBef>
                <a:spcPts val="500"/>
              </a:spcBef>
              <a:spcAft>
                <a:spcPts val="0"/>
              </a:spcAft>
              <a:buClr>
                <a:srgbClr val="000000"/>
              </a:buClr>
              <a:buSzPts val="2400"/>
              <a:buChar char="•"/>
            </a:pPr>
            <a:r>
              <a:rPr i="1" lang="en-US">
                <a:solidFill>
                  <a:srgbClr val="000000"/>
                </a:solidFill>
              </a:rPr>
              <a:t>Clean up. Respect the education you are paying for.</a:t>
            </a:r>
            <a:endParaRPr i="1">
              <a:solidFill>
                <a:srgbClr val="000000"/>
              </a:solidFill>
            </a:endParaRPr>
          </a:p>
          <a:p>
            <a:pPr indent="-482600" lvl="0" marL="609600" rtl="0" algn="l">
              <a:lnSpc>
                <a:spcPct val="90000"/>
              </a:lnSpc>
              <a:spcBef>
                <a:spcPts val="1000"/>
              </a:spcBef>
              <a:spcAft>
                <a:spcPts val="0"/>
              </a:spcAft>
              <a:buClr>
                <a:srgbClr val="000000"/>
              </a:buClr>
              <a:buSzPts val="2800"/>
              <a:buChar char="•"/>
            </a:pPr>
            <a:r>
              <a:rPr i="1" lang="en-US">
                <a:solidFill>
                  <a:srgbClr val="000000"/>
                </a:solidFill>
              </a:rPr>
              <a:t>Slides - may be? I will think about it. Read the book. </a:t>
            </a:r>
            <a:endParaRPr i="1">
              <a:solidFill>
                <a:srgbClr val="000000"/>
              </a:solidFill>
            </a:endParaRPr>
          </a:p>
          <a:p>
            <a:pPr indent="-482600" lvl="0" marL="609600" rtl="0" algn="l">
              <a:lnSpc>
                <a:spcPct val="90000"/>
              </a:lnSpc>
              <a:spcBef>
                <a:spcPts val="1000"/>
              </a:spcBef>
              <a:spcAft>
                <a:spcPts val="0"/>
              </a:spcAft>
              <a:buClr>
                <a:srgbClr val="000000"/>
              </a:buClr>
              <a:buSzPts val="2800"/>
              <a:buChar char="•"/>
            </a:pPr>
            <a:r>
              <a:rPr b="1" i="1" lang="en-US">
                <a:solidFill>
                  <a:srgbClr val="000000"/>
                </a:solidFill>
              </a:rPr>
              <a:t>Class rep </a:t>
            </a:r>
            <a:endParaRPr b="1" i="1">
              <a:solidFill>
                <a:srgbClr val="000000"/>
              </a:solidFill>
            </a:endParaRPr>
          </a:p>
          <a:p>
            <a:pPr indent="-457200" lvl="1" marL="1219200" rtl="0" algn="l">
              <a:lnSpc>
                <a:spcPct val="90000"/>
              </a:lnSpc>
              <a:spcBef>
                <a:spcPts val="500"/>
              </a:spcBef>
              <a:spcAft>
                <a:spcPts val="0"/>
              </a:spcAft>
              <a:buClr>
                <a:srgbClr val="9900FF"/>
              </a:buClr>
              <a:buSzPts val="2400"/>
              <a:buChar char="•"/>
            </a:pPr>
            <a:r>
              <a:rPr b="1" i="1" lang="en-US">
                <a:solidFill>
                  <a:srgbClr val="9900FF"/>
                </a:solidFill>
              </a:rPr>
              <a:t>Email addresses – google group </a:t>
            </a:r>
            <a:endParaRPr i="1">
              <a:solidFill>
                <a:srgbClr val="000000"/>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g3756d5883a8_0_193"/>
          <p:cNvSpPr/>
          <p:nvPr/>
        </p:nvSpPr>
        <p:spPr>
          <a:xfrm>
            <a:off x="0" y="0"/>
            <a:ext cx="6096000" cy="6938400"/>
          </a:xfrm>
          <a:prstGeom prst="roundRect">
            <a:avLst>
              <a:gd fmla="val 0" name="adj"/>
            </a:avLst>
          </a:prstGeom>
          <a:solidFill>
            <a:srgbClr val="9FC5E8"/>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FFFFFF"/>
              </a:solidFill>
              <a:latin typeface="Roboto"/>
              <a:ea typeface="Roboto"/>
              <a:cs typeface="Roboto"/>
              <a:sym typeface="Roboto"/>
            </a:endParaRPr>
          </a:p>
        </p:txBody>
      </p:sp>
      <p:sp>
        <p:nvSpPr>
          <p:cNvPr id="919" name="Google Shape;919;g3756d5883a8_0_193"/>
          <p:cNvSpPr txBox="1"/>
          <p:nvPr/>
        </p:nvSpPr>
        <p:spPr>
          <a:xfrm>
            <a:off x="0" y="0"/>
            <a:ext cx="12192000" cy="1191300"/>
          </a:xfrm>
          <a:prstGeom prst="rect">
            <a:avLst/>
          </a:prstGeom>
          <a:solidFill>
            <a:srgbClr val="07376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3500"/>
              <a:buFont typeface="Arial"/>
              <a:buNone/>
            </a:pPr>
            <a:r>
              <a:rPr b="1" i="0" lang="en-US" sz="3500" u="none" cap="none" strike="noStrike">
                <a:solidFill>
                  <a:schemeClr val="lt1"/>
                </a:solidFill>
                <a:latin typeface="Questrial"/>
                <a:ea typeface="Questrial"/>
                <a:cs typeface="Questrial"/>
                <a:sym typeface="Questrial"/>
              </a:rPr>
              <a:t>Your introduction</a:t>
            </a:r>
            <a:endParaRPr b="0" i="0" sz="1600" u="none" cap="none" strike="noStrike">
              <a:solidFill>
                <a:schemeClr val="lt1"/>
              </a:solidFill>
              <a:latin typeface="Questrial"/>
              <a:ea typeface="Questrial"/>
              <a:cs typeface="Questrial"/>
              <a:sym typeface="Questrial"/>
            </a:endParaRPr>
          </a:p>
        </p:txBody>
      </p:sp>
      <p:sp>
        <p:nvSpPr>
          <p:cNvPr id="920" name="Google Shape;920;g3756d5883a8_0_193"/>
          <p:cNvSpPr txBox="1"/>
          <p:nvPr/>
        </p:nvSpPr>
        <p:spPr>
          <a:xfrm>
            <a:off x="522300" y="1897000"/>
            <a:ext cx="6216000" cy="432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chemeClr val="dk1"/>
                </a:solidFill>
                <a:latin typeface="Questrial"/>
                <a:ea typeface="Questrial"/>
                <a:cs typeface="Questrial"/>
                <a:sym typeface="Questrial"/>
              </a:rPr>
              <a:t>What do I know about </a:t>
            </a:r>
            <a:endParaRPr b="1" i="0" sz="3500" u="none" cap="none" strike="noStrike">
              <a:solidFill>
                <a:schemeClr val="dk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chemeClr val="dk1"/>
                </a:solidFill>
                <a:latin typeface="Questrial"/>
                <a:ea typeface="Questrial"/>
                <a:cs typeface="Questrial"/>
                <a:sym typeface="Questrial"/>
              </a:rPr>
              <a:t>you? </a:t>
            </a:r>
            <a:r>
              <a:rPr b="1" i="1" lang="en-US" sz="3500" u="none" cap="none" strike="noStrike">
                <a:solidFill>
                  <a:schemeClr val="dk1"/>
                </a:solidFill>
                <a:latin typeface="Questrial"/>
                <a:ea typeface="Questrial"/>
                <a:cs typeface="Questrial"/>
                <a:sym typeface="Questrial"/>
              </a:rPr>
              <a:t>Or have heard </a:t>
            </a:r>
            <a:endParaRPr b="1" i="1" sz="3500" u="none" cap="none" strike="noStrike">
              <a:solidFill>
                <a:schemeClr val="dk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3500"/>
              <a:buFont typeface="Arial"/>
              <a:buNone/>
            </a:pPr>
            <a:r>
              <a:rPr b="1" i="1" lang="en-US" sz="3500" u="none" cap="none" strike="noStrike">
                <a:solidFill>
                  <a:schemeClr val="dk1"/>
                </a:solidFill>
                <a:latin typeface="Questrial"/>
                <a:ea typeface="Questrial"/>
                <a:cs typeface="Questrial"/>
                <a:sym typeface="Questrial"/>
              </a:rPr>
              <a:t>about you</a:t>
            </a:r>
            <a:endParaRPr b="1" i="1" sz="3500" u="none" cap="none" strike="noStrike">
              <a:solidFill>
                <a:schemeClr val="dk1"/>
              </a:solidFill>
              <a:latin typeface="Questrial"/>
              <a:ea typeface="Questrial"/>
              <a:cs typeface="Questrial"/>
              <a:sym typeface="Questrial"/>
            </a:endParaRPr>
          </a:p>
        </p:txBody>
      </p:sp>
      <p:sp>
        <p:nvSpPr>
          <p:cNvPr id="921" name="Google Shape;921;g3756d5883a8_0_193"/>
          <p:cNvSpPr txBox="1"/>
          <p:nvPr/>
        </p:nvSpPr>
        <p:spPr>
          <a:xfrm>
            <a:off x="6516700" y="1897000"/>
            <a:ext cx="6216000" cy="432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chemeClr val="dk1"/>
                </a:solidFill>
                <a:latin typeface="Questrial"/>
                <a:ea typeface="Questrial"/>
                <a:cs typeface="Questrial"/>
                <a:sym typeface="Questrial"/>
              </a:rPr>
              <a:t>What do you want to </a:t>
            </a:r>
            <a:endParaRPr b="1" i="0" sz="3500" u="none" cap="none" strike="noStrike">
              <a:solidFill>
                <a:schemeClr val="dk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chemeClr val="dk1"/>
                </a:solidFill>
                <a:latin typeface="Questrial"/>
                <a:ea typeface="Questrial"/>
                <a:cs typeface="Questrial"/>
                <a:sym typeface="Questrial"/>
              </a:rPr>
              <a:t>tell me about yourself?</a:t>
            </a:r>
            <a:endParaRPr b="1" i="0" sz="3500" u="none" cap="none" strike="noStrike">
              <a:solidFill>
                <a:schemeClr val="dk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3500"/>
              <a:buFont typeface="Arial"/>
              <a:buNone/>
            </a:pPr>
            <a:r>
              <a:t/>
            </a:r>
            <a:endParaRPr b="1" i="0" sz="3500" u="none" cap="none" strike="noStrike">
              <a:solidFill>
                <a:schemeClr val="dk1"/>
              </a:solidFill>
              <a:latin typeface="Questrial"/>
              <a:ea typeface="Questrial"/>
              <a:cs typeface="Questrial"/>
              <a:sym typeface="Questrial"/>
            </a:endParaRPr>
          </a:p>
        </p:txBody>
      </p:sp>
      <p:sp>
        <p:nvSpPr>
          <p:cNvPr id="922" name="Google Shape;922;g3756d5883a8_0_193"/>
          <p:cNvSpPr txBox="1"/>
          <p:nvPr/>
        </p:nvSpPr>
        <p:spPr>
          <a:xfrm>
            <a:off x="626267" y="3835400"/>
            <a:ext cx="4536300" cy="20163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Questrial"/>
                <a:ea typeface="Questrial"/>
                <a:cs typeface="Questrial"/>
                <a:sym typeface="Questrial"/>
              </a:rPr>
              <a:t>What do you want to be? Who you are? Do you recognize the privilege you have? What excites you? </a:t>
            </a:r>
            <a:endParaRPr b="0" i="0" sz="23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Questrial"/>
              <a:ea typeface="Questrial"/>
              <a:cs typeface="Questrial"/>
              <a:sym typeface="Questrial"/>
            </a:endParaRPr>
          </a:p>
        </p:txBody>
      </p:sp>
      <p:sp>
        <p:nvSpPr>
          <p:cNvPr id="923" name="Google Shape;923;g3756d5883a8_0_193"/>
          <p:cNvSpPr txBox="1"/>
          <p:nvPr/>
        </p:nvSpPr>
        <p:spPr>
          <a:xfrm>
            <a:off x="522300" y="5707133"/>
            <a:ext cx="8797500" cy="8310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900"/>
              <a:buFont typeface="Arial"/>
              <a:buNone/>
            </a:pPr>
            <a:r>
              <a:rPr b="0" i="1" lang="en-US" sz="1900" u="none" cap="none" strike="noStrike">
                <a:solidFill>
                  <a:srgbClr val="000000"/>
                </a:solidFill>
                <a:latin typeface="Questrial"/>
                <a:ea typeface="Questrial"/>
                <a:cs typeface="Questrial"/>
                <a:sym typeface="Questrial"/>
              </a:rPr>
              <a:t>Gen Z. </a:t>
            </a:r>
            <a:endParaRPr b="0" i="1"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1" lang="en-US" sz="1900" u="none" cap="none" strike="noStrike">
                <a:solidFill>
                  <a:srgbClr val="000000"/>
                </a:solidFill>
                <a:latin typeface="Questrial"/>
                <a:ea typeface="Questrial"/>
                <a:cs typeface="Questrial"/>
                <a:sym typeface="Questrial"/>
              </a:rPr>
              <a:t>Have little interest in extracurricular</a:t>
            </a:r>
            <a:endParaRPr b="0" i="1" sz="1900" u="none" cap="none" strike="noStrike">
              <a:solidFill>
                <a:srgbClr val="000000"/>
              </a:solidFill>
              <a:latin typeface="Questrial"/>
              <a:ea typeface="Questrial"/>
              <a:cs typeface="Questrial"/>
              <a:sym typeface="Questrial"/>
            </a:endParaRPr>
          </a:p>
        </p:txBody>
      </p:sp>
      <p:sp>
        <p:nvSpPr>
          <p:cNvPr id="924" name="Google Shape;924;g3756d5883a8_0_193"/>
          <p:cNvSpPr txBox="1"/>
          <p:nvPr/>
        </p:nvSpPr>
        <p:spPr>
          <a:xfrm>
            <a:off x="6632100" y="3429000"/>
            <a:ext cx="3999900" cy="3064200"/>
          </a:xfrm>
          <a:prstGeom prst="rect">
            <a:avLst/>
          </a:prstGeom>
          <a:noFill/>
          <a:ln>
            <a:noFill/>
          </a:ln>
        </p:spPr>
        <p:txBody>
          <a:bodyPr anchorCtr="0" anchor="t" bIns="121900" lIns="121900" spcFirstLastPara="1" rIns="121900" wrap="square" tIns="121900">
            <a:spAutoFit/>
          </a:bodyPr>
          <a:lstStyle/>
          <a:p>
            <a:pPr indent="0" lvl="0" marL="0" marR="0" rtl="0" algn="l">
              <a:lnSpc>
                <a:spcPct val="115000"/>
              </a:lnSpc>
              <a:spcBef>
                <a:spcPts val="0"/>
              </a:spcBef>
              <a:spcAft>
                <a:spcPts val="0"/>
              </a:spcAft>
              <a:buClr>
                <a:srgbClr val="000000"/>
              </a:buClr>
              <a:buSzPts val="1900"/>
              <a:buFont typeface="Arial"/>
              <a:buNone/>
            </a:pPr>
            <a:r>
              <a:rPr b="0" i="1" lang="en-US" sz="1900" u="none" cap="none" strike="noStrike">
                <a:solidFill>
                  <a:schemeClr val="dk2"/>
                </a:solidFill>
                <a:latin typeface="Questrial"/>
                <a:ea typeface="Questrial"/>
                <a:cs typeface="Questrial"/>
                <a:sym typeface="Questrial"/>
              </a:rPr>
              <a:t>surprise me I’ve heard too much of I’d to and the course seemed easy AND I had to)</a:t>
            </a:r>
            <a:endParaRPr b="0" i="1" sz="1900" u="none" cap="none" strike="noStrike">
              <a:solidFill>
                <a:schemeClr val="dk2"/>
              </a:solidFill>
              <a:latin typeface="Questrial"/>
              <a:ea typeface="Questrial"/>
              <a:cs typeface="Questrial"/>
              <a:sym typeface="Questrial"/>
            </a:endParaRPr>
          </a:p>
          <a:p>
            <a:pPr indent="0" lvl="0" marL="0" marR="0" rtl="0" algn="l">
              <a:lnSpc>
                <a:spcPct val="115000"/>
              </a:lnSpc>
              <a:spcBef>
                <a:spcPts val="1600"/>
              </a:spcBef>
              <a:spcAft>
                <a:spcPts val="0"/>
              </a:spcAft>
              <a:buClr>
                <a:srgbClr val="000000"/>
              </a:buClr>
              <a:buSzPts val="1900"/>
              <a:buFont typeface="Arial"/>
              <a:buNone/>
            </a:pPr>
            <a:r>
              <a:t/>
            </a:r>
            <a:endParaRPr b="0" i="1" sz="1900" u="none" cap="none" strike="noStrike">
              <a:solidFill>
                <a:schemeClr val="dk2"/>
              </a:solidFill>
              <a:latin typeface="Questrial"/>
              <a:ea typeface="Questrial"/>
              <a:cs typeface="Questrial"/>
              <a:sym typeface="Questrial"/>
            </a:endParaRPr>
          </a:p>
          <a:p>
            <a:pPr indent="0" lvl="0" marL="0" marR="0" rtl="0" algn="l">
              <a:lnSpc>
                <a:spcPct val="100000"/>
              </a:lnSpc>
              <a:spcBef>
                <a:spcPts val="1600"/>
              </a:spcBef>
              <a:spcAft>
                <a:spcPts val="0"/>
              </a:spcAft>
              <a:buClr>
                <a:srgbClr val="000000"/>
              </a:buClr>
              <a:buSzPts val="2300"/>
              <a:buFont typeface="Arial"/>
              <a:buNone/>
            </a:pPr>
            <a:r>
              <a:rPr b="0" i="1" lang="en-US" sz="2300" u="none" cap="none" strike="noStrike">
                <a:solidFill>
                  <a:schemeClr val="dk1"/>
                </a:solidFill>
                <a:latin typeface="Questrial"/>
                <a:ea typeface="Questrial"/>
                <a:cs typeface="Questrial"/>
                <a:sym typeface="Questrial"/>
              </a:rPr>
              <a:t>Curious to know what role social media has on today’s young generation?</a:t>
            </a:r>
            <a:endParaRPr b="0" i="1" sz="1900" u="none" cap="none" strike="noStrike">
              <a:solidFill>
                <a:schemeClr val="dk2"/>
              </a:solidFill>
              <a:latin typeface="Questrial"/>
              <a:ea typeface="Questrial"/>
              <a:cs typeface="Questrial"/>
              <a:sym typeface="Quest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pic>
        <p:nvPicPr>
          <p:cNvPr id="930" name="Google Shape;930;g3756d5883a8_0_1" title="Screenshot 2025-08-18 at 12.41.52 PM.png"/>
          <p:cNvPicPr preferRelativeResize="0"/>
          <p:nvPr/>
        </p:nvPicPr>
        <p:blipFill rotWithShape="1">
          <a:blip r:embed="rId3">
            <a:alphaModFix/>
          </a:blip>
          <a:srcRect b="0" l="0" r="0" t="0"/>
          <a:stretch/>
        </p:blipFill>
        <p:spPr>
          <a:xfrm>
            <a:off x="832576" y="216800"/>
            <a:ext cx="10727300" cy="6430051"/>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pic>
        <p:nvPicPr>
          <p:cNvPr id="936" name="Google Shape;936;g3756d5883a8_0_64" title="Screenshot 2025-08-18 at 12.45.54 PM.png"/>
          <p:cNvPicPr preferRelativeResize="0"/>
          <p:nvPr/>
        </p:nvPicPr>
        <p:blipFill rotWithShape="1">
          <a:blip r:embed="rId3">
            <a:alphaModFix/>
          </a:blip>
          <a:srcRect b="0" l="0" r="0" t="0"/>
          <a:stretch/>
        </p:blipFill>
        <p:spPr>
          <a:xfrm>
            <a:off x="2905827" y="0"/>
            <a:ext cx="6380334" cy="685800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t>Business Climate</a:t>
            </a:r>
            <a:endParaRPr/>
          </a:p>
        </p:txBody>
      </p:sp>
      <p:sp>
        <p:nvSpPr>
          <p:cNvPr id="943" name="Google Shape;943;p4"/>
          <p:cNvSpPr txBox="1"/>
          <p:nvPr>
            <p:ph idx="1" type="body"/>
          </p:nvPr>
        </p:nvSpPr>
        <p:spPr>
          <a:xfrm>
            <a:off x="696686" y="1690688"/>
            <a:ext cx="10798628" cy="474312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latin typeface="Times New Roman"/>
                <a:ea typeface="Times New Roman"/>
                <a:cs typeface="Times New Roman"/>
                <a:sym typeface="Times New Roman"/>
              </a:rPr>
              <a:t>The economic and political factors that influence an organization’s priorities, plans, and activities.</a:t>
            </a:r>
            <a:endParaRPr/>
          </a:p>
          <a:p>
            <a:pPr indent="-228600" lvl="0" marL="228600" rtl="0" algn="l">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These factors include competition, investor interests, regulations, and the overall health of the economy.</a:t>
            </a:r>
            <a:endParaRPr/>
          </a:p>
        </p:txBody>
      </p:sp>
      <p:sp>
        <p:nvSpPr>
          <p:cNvPr id="944" name="Google Shape;944;p4"/>
          <p:cNvSpPr/>
          <p:nvPr/>
        </p:nvSpPr>
        <p:spPr>
          <a:xfrm>
            <a:off x="398106" y="5470242"/>
            <a:ext cx="10955694"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2"/>
                </a:solidFill>
                <a:latin typeface="Arial"/>
                <a:ea typeface="Arial"/>
                <a:cs typeface="Arial"/>
                <a:sym typeface="Arial"/>
              </a:rPr>
              <a:t>Two practices that are being used more often in the global business climate are outsourcing and offshoring…</a:t>
            </a:r>
            <a:endParaRPr b="1" i="0" sz="2400" u="none" cap="none" strike="noStrike">
              <a:solidFill>
                <a:schemeClr val="dk2"/>
              </a:solidFill>
              <a:latin typeface="Arial"/>
              <a:ea typeface="Arial"/>
              <a:cs typeface="Arial"/>
              <a:sym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grpSp>
        <p:nvGrpSpPr>
          <p:cNvPr id="950" name="Google Shape;950;p5"/>
          <p:cNvGrpSpPr/>
          <p:nvPr/>
        </p:nvGrpSpPr>
        <p:grpSpPr>
          <a:xfrm>
            <a:off x="231743" y="1172056"/>
            <a:ext cx="11728509" cy="4811712"/>
            <a:chOff x="0" y="122012"/>
            <a:chExt cx="11728509" cy="4811712"/>
          </a:xfrm>
        </p:grpSpPr>
        <p:sp>
          <p:nvSpPr>
            <p:cNvPr id="951" name="Google Shape;951;p5"/>
            <p:cNvSpPr/>
            <p:nvPr/>
          </p:nvSpPr>
          <p:spPr>
            <a:xfrm>
              <a:off x="0" y="253023"/>
              <a:ext cx="5256471" cy="4680701"/>
            </a:xfrm>
            <a:prstGeom prst="rect">
              <a:avLst/>
            </a:prstGeom>
            <a:solidFill>
              <a:srgbClr val="BBD6EE"/>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5"/>
            <p:cNvSpPr txBox="1"/>
            <p:nvPr/>
          </p:nvSpPr>
          <p:spPr>
            <a:xfrm>
              <a:off x="0" y="253023"/>
              <a:ext cx="5256471" cy="4680701"/>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rgbClr val="000000"/>
                </a:buClr>
                <a:buSzPts val="3200"/>
                <a:buFont typeface="Arial"/>
                <a:buNone/>
              </a:pPr>
              <a:r>
                <a:rPr b="1" i="0" lang="en-US" sz="3200" u="none" cap="none" strike="noStrike">
                  <a:solidFill>
                    <a:srgbClr val="002060"/>
                  </a:solidFill>
                  <a:latin typeface="Arial"/>
                  <a:ea typeface="Arial"/>
                  <a:cs typeface="Arial"/>
                  <a:sym typeface="Arial"/>
                </a:rPr>
                <a:t>Outsourcing</a:t>
              </a:r>
              <a:r>
                <a:rPr b="0" i="0" lang="en-US" sz="2600" u="none" cap="none" strike="noStrike">
                  <a:solidFill>
                    <a:srgbClr val="00206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120"/>
                </a:spcBef>
                <a:spcAft>
                  <a:spcPts val="0"/>
                </a:spcAft>
                <a:buClr>
                  <a:srgbClr val="000000"/>
                </a:buClr>
                <a:buSzPts val="2400"/>
                <a:buFont typeface="Arial"/>
                <a:buNone/>
              </a:pPr>
              <a:r>
                <a:rPr b="0" i="0" lang="en-US" sz="2400" u="none" cap="none" strike="noStrike">
                  <a:solidFill>
                    <a:srgbClr val="002060"/>
                  </a:solidFill>
                  <a:latin typeface="Arial"/>
                  <a:ea typeface="Arial"/>
                  <a:cs typeface="Arial"/>
                  <a:sym typeface="Arial"/>
                </a:rPr>
                <a:t>the practice of  purchasing goods or subcontracting services from an outside company. Both the client company and the company that is providing the goods or services may be in the same country, or they may be in different countries.</a:t>
              </a:r>
              <a:endParaRPr b="0" i="0" sz="2400" u="none" cap="none" strike="noStrike">
                <a:solidFill>
                  <a:srgbClr val="002060"/>
                </a:solidFill>
                <a:latin typeface="Arial"/>
                <a:ea typeface="Arial"/>
                <a:cs typeface="Arial"/>
                <a:sym typeface="Arial"/>
              </a:endParaRPr>
            </a:p>
          </p:txBody>
        </p:sp>
        <p:sp>
          <p:nvSpPr>
            <p:cNvPr id="953" name="Google Shape;953;p5"/>
            <p:cNvSpPr/>
            <p:nvPr/>
          </p:nvSpPr>
          <p:spPr>
            <a:xfrm>
              <a:off x="5716778" y="122012"/>
              <a:ext cx="6011731" cy="4803931"/>
            </a:xfrm>
            <a:prstGeom prst="rect">
              <a:avLst/>
            </a:prstGeom>
            <a:solidFill>
              <a:srgbClr val="002060"/>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5"/>
            <p:cNvSpPr txBox="1"/>
            <p:nvPr/>
          </p:nvSpPr>
          <p:spPr>
            <a:xfrm>
              <a:off x="5716778" y="122012"/>
              <a:ext cx="6011731" cy="4803931"/>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chemeClr val="lt1"/>
                </a:buClr>
                <a:buSzPts val="3200"/>
                <a:buFont typeface="Times New Roman"/>
                <a:buNone/>
              </a:pPr>
              <a:r>
                <a:rPr b="1" i="0" lang="en-US" sz="3200" u="none" cap="none" strike="noStrike">
                  <a:solidFill>
                    <a:schemeClr val="lt1"/>
                  </a:solidFill>
                  <a:latin typeface="Arial"/>
                  <a:ea typeface="Arial"/>
                  <a:cs typeface="Arial"/>
                  <a:sym typeface="Arial"/>
                </a:rPr>
                <a:t>Offshoring</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12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Happens when a company moves some of its operations to another country. This practice is often done to reduce labor costs, but it may also help a company work more efficiently </a:t>
              </a:r>
              <a:r>
                <a:rPr b="1" i="0" lang="en-US" sz="2800" u="none" cap="none" strike="noStrike">
                  <a:solidFill>
                    <a:schemeClr val="lt1"/>
                  </a:solidFill>
                  <a:latin typeface="Arial"/>
                  <a:ea typeface="Arial"/>
                  <a:cs typeface="Arial"/>
                  <a:sym typeface="Arial"/>
                </a:rPr>
                <a:t>by creating offices </a:t>
              </a:r>
              <a:r>
                <a:rPr b="0" i="0" lang="en-US" sz="2800" u="none" cap="none" strike="noStrike">
                  <a:solidFill>
                    <a:schemeClr val="lt1"/>
                  </a:solidFill>
                  <a:latin typeface="Arial"/>
                  <a:ea typeface="Arial"/>
                  <a:cs typeface="Arial"/>
                  <a:sym typeface="Arial"/>
                </a:rPr>
                <a:t>closer to suppliers or clients</a:t>
              </a:r>
              <a:endParaRPr b="0" i="0" sz="2800" u="none" cap="none" strike="noStrike">
                <a:solidFill>
                  <a:schemeClr val="lt1"/>
                </a:solidFill>
                <a:latin typeface="Arial"/>
                <a:ea typeface="Arial"/>
                <a:cs typeface="Arial"/>
                <a:sym typeface="Arial"/>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4A7D6"/>
        </a:solidFill>
      </p:bgPr>
    </p:bg>
    <p:spTree>
      <p:nvGrpSpPr>
        <p:cNvPr id="958" name="Shape 958"/>
        <p:cNvGrpSpPr/>
        <p:nvPr/>
      </p:nvGrpSpPr>
      <p:grpSpPr>
        <a:xfrm>
          <a:off x="0" y="0"/>
          <a:ext cx="0" cy="0"/>
          <a:chOff x="0" y="0"/>
          <a:chExt cx="0" cy="0"/>
        </a:xfrm>
      </p:grpSpPr>
      <p:sp>
        <p:nvSpPr>
          <p:cNvPr id="959" name="Google Shape;959;g3756d5883a8_0_178"/>
          <p:cNvSpPr txBox="1"/>
          <p:nvPr/>
        </p:nvSpPr>
        <p:spPr>
          <a:xfrm>
            <a:off x="662033" y="1383333"/>
            <a:ext cx="10729200" cy="763200"/>
          </a:xfrm>
          <a:prstGeom prst="rect">
            <a:avLst/>
          </a:prstGeom>
          <a:noFill/>
          <a:ln>
            <a:noFill/>
          </a:ln>
        </p:spPr>
        <p:txBody>
          <a:bodyPr anchorCtr="0" anchor="t" bIns="121900" lIns="121900" spcFirstLastPara="1" rIns="121900" wrap="square" tIns="121900">
            <a:noAutofit/>
          </a:bodyPr>
          <a:lstStyle/>
          <a:p>
            <a:pPr indent="0" lvl="0" marL="0" marR="0" rtl="0" algn="just">
              <a:lnSpc>
                <a:spcPct val="115000"/>
              </a:lnSpc>
              <a:spcBef>
                <a:spcPts val="900"/>
              </a:spcBef>
              <a:spcAft>
                <a:spcPts val="0"/>
              </a:spcAft>
              <a:buClr>
                <a:schemeClr val="dk1"/>
              </a:buClr>
              <a:buSzPts val="1500"/>
              <a:buFont typeface="Arial"/>
              <a:buNone/>
            </a:pPr>
            <a:r>
              <a:rPr b="0" i="0" lang="en-US" sz="2100" u="none" cap="none" strike="noStrike">
                <a:solidFill>
                  <a:schemeClr val="lt1"/>
                </a:solidFill>
                <a:latin typeface="Questrial"/>
                <a:ea typeface="Questrial"/>
                <a:cs typeface="Questrial"/>
                <a:sym typeface="Questrial"/>
              </a:rPr>
              <a:t>A </a:t>
            </a:r>
            <a:r>
              <a:rPr b="1" i="0" lang="en-US" sz="2100" u="none" cap="none" strike="noStrike">
                <a:solidFill>
                  <a:schemeClr val="lt1"/>
                </a:solidFill>
                <a:latin typeface="Questrial"/>
                <a:ea typeface="Questrial"/>
                <a:cs typeface="Questrial"/>
                <a:sym typeface="Questrial"/>
              </a:rPr>
              <a:t>process</a:t>
            </a:r>
            <a:r>
              <a:rPr b="0" i="0" lang="en-US" sz="2100" u="none" cap="none" strike="noStrike">
                <a:solidFill>
                  <a:schemeClr val="lt1"/>
                </a:solidFill>
                <a:latin typeface="Questrial"/>
                <a:ea typeface="Questrial"/>
                <a:cs typeface="Questrial"/>
                <a:sym typeface="Questrial"/>
              </a:rPr>
              <a:t> in which → </a:t>
            </a:r>
            <a:r>
              <a:rPr b="0" i="0" lang="en-US" sz="2100" u="sng" cap="none" strike="noStrike">
                <a:solidFill>
                  <a:schemeClr val="lt1"/>
                </a:solidFill>
                <a:latin typeface="Questrial"/>
                <a:ea typeface="Questrial"/>
                <a:cs typeface="Questrial"/>
                <a:sym typeface="Questrial"/>
              </a:rPr>
              <a:t>worldwide</a:t>
            </a:r>
            <a:r>
              <a:rPr b="0" i="0" lang="en-US" sz="2100" u="none" cap="none" strike="noStrike">
                <a:solidFill>
                  <a:schemeClr val="lt1"/>
                </a:solidFill>
                <a:latin typeface="Questrial"/>
                <a:ea typeface="Questrial"/>
                <a:cs typeface="Questrial"/>
                <a:sym typeface="Questrial"/>
              </a:rPr>
              <a:t> </a:t>
            </a:r>
            <a:r>
              <a:rPr b="0" i="0" lang="en-US" sz="2100" u="sng" cap="none" strike="noStrike">
                <a:solidFill>
                  <a:schemeClr val="lt1"/>
                </a:solidFill>
                <a:latin typeface="Questrial"/>
                <a:ea typeface="Questrial"/>
                <a:cs typeface="Questrial"/>
                <a:sym typeface="Questrial"/>
              </a:rPr>
              <a:t>integration</a:t>
            </a:r>
            <a:r>
              <a:rPr b="0" i="0" lang="en-US" sz="2100" u="none" cap="none" strike="noStrike">
                <a:solidFill>
                  <a:schemeClr val="lt1"/>
                </a:solidFill>
                <a:latin typeface="Questrial"/>
                <a:ea typeface="Questrial"/>
                <a:cs typeface="Questrial"/>
                <a:sym typeface="Questrial"/>
              </a:rPr>
              <a:t> and </a:t>
            </a:r>
            <a:r>
              <a:rPr b="0" i="0" lang="en-US" sz="2100" u="sng" cap="none" strike="noStrike">
                <a:solidFill>
                  <a:schemeClr val="lt1"/>
                </a:solidFill>
                <a:latin typeface="Questrial"/>
                <a:ea typeface="Questrial"/>
                <a:cs typeface="Questrial"/>
                <a:sym typeface="Questrial"/>
              </a:rPr>
              <a:t>interdependence</a:t>
            </a:r>
            <a:r>
              <a:rPr b="0" i="0" lang="en-US" sz="2100" u="none" cap="none" strike="noStrike">
                <a:solidFill>
                  <a:schemeClr val="lt1"/>
                </a:solidFill>
                <a:latin typeface="Questrial"/>
                <a:ea typeface="Questrial"/>
                <a:cs typeface="Questrial"/>
                <a:sym typeface="Questrial"/>
              </a:rPr>
              <a:t> is </a:t>
            </a:r>
            <a:r>
              <a:rPr b="0" i="0" lang="en-US" sz="2100" u="sng" cap="none" strike="noStrike">
                <a:solidFill>
                  <a:schemeClr val="lt1"/>
                </a:solidFill>
                <a:latin typeface="Questrial"/>
                <a:ea typeface="Questrial"/>
                <a:cs typeface="Questrial"/>
                <a:sym typeface="Questrial"/>
              </a:rPr>
              <a:t>promoted</a:t>
            </a:r>
            <a:r>
              <a:rPr b="0" i="0" lang="en-US" sz="2100" u="none" cap="none" strike="noStrike">
                <a:solidFill>
                  <a:schemeClr val="lt1"/>
                </a:solidFill>
                <a:latin typeface="Questrial"/>
                <a:ea typeface="Questrial"/>
                <a:cs typeface="Questrial"/>
                <a:sym typeface="Questrial"/>
              </a:rPr>
              <a:t> </a:t>
            </a:r>
            <a:r>
              <a:rPr b="0" i="0" lang="en-US" sz="2100" u="sng" cap="none" strike="noStrike">
                <a:solidFill>
                  <a:schemeClr val="lt1"/>
                </a:solidFill>
                <a:latin typeface="Questrial"/>
                <a:ea typeface="Questrial"/>
                <a:cs typeface="Questrial"/>
                <a:sym typeface="Questrial"/>
              </a:rPr>
              <a:t>across borders</a:t>
            </a:r>
            <a:endParaRPr b="0" i="0" sz="2100" u="sng" cap="none" strike="noStrike">
              <a:solidFill>
                <a:schemeClr val="lt1"/>
              </a:solidFill>
              <a:latin typeface="Questrial"/>
              <a:ea typeface="Questrial"/>
              <a:cs typeface="Questrial"/>
              <a:sym typeface="Questrial"/>
            </a:endParaRPr>
          </a:p>
          <a:p>
            <a:pPr indent="0" lvl="0" marL="0" marR="0" rtl="0" algn="just">
              <a:lnSpc>
                <a:spcPct val="115000"/>
              </a:lnSpc>
              <a:spcBef>
                <a:spcPts val="900"/>
              </a:spcBef>
              <a:spcAft>
                <a:spcPts val="0"/>
              </a:spcAft>
              <a:buClr>
                <a:schemeClr val="dk1"/>
              </a:buClr>
              <a:buSzPts val="1500"/>
              <a:buFont typeface="Arial"/>
              <a:buNone/>
            </a:pPr>
            <a:r>
              <a:rPr b="0" i="1" lang="en-US" sz="1700" u="none" cap="none" strike="noStrike">
                <a:solidFill>
                  <a:schemeClr val="lt1"/>
                </a:solidFill>
                <a:latin typeface="Questrial"/>
                <a:ea typeface="Questrial"/>
                <a:cs typeface="Questrial"/>
                <a:sym typeface="Questrial"/>
              </a:rPr>
              <a:t>Driving factors: Telecommunication, internet + Transport, infrastructure</a:t>
            </a:r>
            <a:endParaRPr b="0" i="1" sz="1700" u="none" cap="none" strike="noStrike">
              <a:solidFill>
                <a:schemeClr val="lt1"/>
              </a:solidFill>
              <a:latin typeface="Questrial"/>
              <a:ea typeface="Questrial"/>
              <a:cs typeface="Questrial"/>
              <a:sym typeface="Questrial"/>
            </a:endParaRPr>
          </a:p>
          <a:p>
            <a:pPr indent="0" lvl="0" marL="0" marR="0" rtl="0" algn="just">
              <a:lnSpc>
                <a:spcPct val="115000"/>
              </a:lnSpc>
              <a:spcBef>
                <a:spcPts val="900"/>
              </a:spcBef>
              <a:spcAft>
                <a:spcPts val="0"/>
              </a:spcAft>
              <a:buClr>
                <a:schemeClr val="dk1"/>
              </a:buClr>
              <a:buSzPts val="1500"/>
              <a:buFont typeface="Arial"/>
              <a:buNone/>
            </a:pPr>
            <a:r>
              <a:t/>
            </a:r>
            <a:endParaRPr b="0" i="0" sz="2100" u="sng" cap="none" strike="noStrike">
              <a:solidFill>
                <a:schemeClr val="lt1"/>
              </a:solidFill>
              <a:latin typeface="Questrial"/>
              <a:ea typeface="Questrial"/>
              <a:cs typeface="Questrial"/>
              <a:sym typeface="Questrial"/>
            </a:endParaRPr>
          </a:p>
          <a:p>
            <a:pPr indent="0" lvl="0" marL="0" marR="0" rtl="0" algn="just">
              <a:lnSpc>
                <a:spcPct val="115000"/>
              </a:lnSpc>
              <a:spcBef>
                <a:spcPts val="900"/>
              </a:spcBef>
              <a:spcAft>
                <a:spcPts val="0"/>
              </a:spcAft>
              <a:buClr>
                <a:schemeClr val="dk1"/>
              </a:buClr>
              <a:buSzPts val="1500"/>
              <a:buFont typeface="Arial"/>
              <a:buNone/>
            </a:pPr>
            <a:r>
              <a:rPr b="1" i="0" lang="en-US" sz="2100" u="none" cap="none" strike="noStrike">
                <a:solidFill>
                  <a:srgbClr val="9900FF"/>
                </a:solidFill>
                <a:latin typeface="Questrial"/>
                <a:ea typeface="Questrial"/>
                <a:cs typeface="Questrial"/>
                <a:sym typeface="Questrial"/>
              </a:rPr>
              <a:t>Is that true for Pak? Where are we in the process of globalization? What disadvantages/advantages does it present? </a:t>
            </a:r>
            <a:r>
              <a:rPr b="0" i="1" lang="en-US" sz="2100" u="none" cap="none" strike="noStrike">
                <a:solidFill>
                  <a:srgbClr val="9900FF"/>
                </a:solidFill>
                <a:latin typeface="Questrial"/>
                <a:ea typeface="Questrial"/>
                <a:cs typeface="Questrial"/>
                <a:sym typeface="Questrial"/>
              </a:rPr>
              <a:t>Comparison to the Neighbour, Middle east, NA, Europe?</a:t>
            </a:r>
            <a:endParaRPr b="0" i="1" sz="2100" u="none" cap="none" strike="noStrike">
              <a:solidFill>
                <a:srgbClr val="9900FF"/>
              </a:solidFill>
              <a:latin typeface="Questrial"/>
              <a:ea typeface="Questrial"/>
              <a:cs typeface="Questrial"/>
              <a:sym typeface="Questrial"/>
            </a:endParaRPr>
          </a:p>
          <a:p>
            <a:pPr indent="0" lvl="0" marL="0" marR="0" rtl="0" algn="ctr">
              <a:lnSpc>
                <a:spcPct val="100000"/>
              </a:lnSpc>
              <a:spcBef>
                <a:spcPts val="0"/>
              </a:spcBef>
              <a:spcAft>
                <a:spcPts val="0"/>
              </a:spcAft>
              <a:buClr>
                <a:srgbClr val="000000"/>
              </a:buClr>
              <a:buSzPts val="2100"/>
              <a:buFont typeface="Arial"/>
              <a:buNone/>
            </a:pPr>
            <a:r>
              <a:t/>
            </a:r>
            <a:endParaRPr b="1" i="0" sz="2100" u="sng" cap="none" strike="noStrike">
              <a:solidFill>
                <a:schemeClr val="lt1"/>
              </a:solidFill>
              <a:latin typeface="Questrial"/>
              <a:ea typeface="Questrial"/>
              <a:cs typeface="Questrial"/>
              <a:sym typeface="Questrial"/>
            </a:endParaRPr>
          </a:p>
          <a:p>
            <a:pPr indent="0" lvl="0" marL="0" marR="0" rtl="0" algn="ctr">
              <a:lnSpc>
                <a:spcPct val="100000"/>
              </a:lnSpc>
              <a:spcBef>
                <a:spcPts val="0"/>
              </a:spcBef>
              <a:spcAft>
                <a:spcPts val="0"/>
              </a:spcAft>
              <a:buClr>
                <a:srgbClr val="000000"/>
              </a:buClr>
              <a:buSzPts val="2100"/>
              <a:buFont typeface="Arial"/>
              <a:buNone/>
            </a:pPr>
            <a:r>
              <a:t/>
            </a:r>
            <a:endParaRPr b="1" i="0" sz="2100" u="sng" cap="none" strike="noStrike">
              <a:solidFill>
                <a:schemeClr val="lt1"/>
              </a:solidFill>
              <a:latin typeface="Questrial"/>
              <a:ea typeface="Questrial"/>
              <a:cs typeface="Questrial"/>
              <a:sym typeface="Questrial"/>
            </a:endParaRPr>
          </a:p>
        </p:txBody>
      </p:sp>
      <p:sp>
        <p:nvSpPr>
          <p:cNvPr id="960" name="Google Shape;960;g3756d5883a8_0_178"/>
          <p:cNvSpPr txBox="1"/>
          <p:nvPr/>
        </p:nvSpPr>
        <p:spPr>
          <a:xfrm>
            <a:off x="662033" y="482500"/>
            <a:ext cx="3829500" cy="432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rgbClr val="073763"/>
                </a:solidFill>
                <a:latin typeface="Questrial"/>
                <a:ea typeface="Questrial"/>
                <a:cs typeface="Questrial"/>
                <a:sym typeface="Questrial"/>
              </a:rPr>
              <a:t>Globalization</a:t>
            </a:r>
            <a:endParaRPr b="0" i="0" sz="1600" u="none" cap="none" strike="noStrike">
              <a:solidFill>
                <a:srgbClr val="073763"/>
              </a:solidFill>
              <a:latin typeface="Questrial"/>
              <a:ea typeface="Questrial"/>
              <a:cs typeface="Questrial"/>
              <a:sym typeface="Questrial"/>
            </a:endParaRPr>
          </a:p>
        </p:txBody>
      </p:sp>
      <p:sp>
        <p:nvSpPr>
          <p:cNvPr id="961" name="Google Shape;961;g3756d5883a8_0_178"/>
          <p:cNvSpPr txBox="1"/>
          <p:nvPr/>
        </p:nvSpPr>
        <p:spPr>
          <a:xfrm>
            <a:off x="5098533" y="5279900"/>
            <a:ext cx="3707100" cy="661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rgbClr val="000000"/>
              </a:solidFill>
              <a:latin typeface="Arial"/>
              <a:ea typeface="Arial"/>
              <a:cs typeface="Arial"/>
              <a:sym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4A6AA"/>
        </a:solidFill>
      </p:bgPr>
    </p:bg>
    <p:spTree>
      <p:nvGrpSpPr>
        <p:cNvPr id="965" name="Shape 965"/>
        <p:cNvGrpSpPr/>
        <p:nvPr/>
      </p:nvGrpSpPr>
      <p:grpSpPr>
        <a:xfrm>
          <a:off x="0" y="0"/>
          <a:ext cx="0" cy="0"/>
          <a:chOff x="0" y="0"/>
          <a:chExt cx="0" cy="0"/>
        </a:xfrm>
      </p:grpSpPr>
      <p:sp>
        <p:nvSpPr>
          <p:cNvPr id="966" name="Google Shape;966;g3756d5883a8_0_185"/>
          <p:cNvSpPr txBox="1"/>
          <p:nvPr/>
        </p:nvSpPr>
        <p:spPr>
          <a:xfrm>
            <a:off x="662033" y="1383333"/>
            <a:ext cx="10729200" cy="7632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chemeClr val="lt1"/>
                </a:solidFill>
                <a:latin typeface="Questrial"/>
                <a:ea typeface="Questrial"/>
                <a:cs typeface="Questrial"/>
                <a:sym typeface="Questrial"/>
              </a:rPr>
              <a:t>Globalization has resulted in increased diversity at workplaces</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chemeClr val="lt1"/>
                </a:solidFill>
                <a:latin typeface="Questrial"/>
                <a:ea typeface="Questrial"/>
                <a:cs typeface="Questrial"/>
                <a:sym typeface="Questrial"/>
              </a:rPr>
              <a:t>How does diversity help?  (</a:t>
            </a:r>
            <a:r>
              <a:rPr b="0" i="1" lang="en-US" sz="1600" u="none" cap="none" strike="noStrike">
                <a:solidFill>
                  <a:schemeClr val="lt1"/>
                </a:solidFill>
                <a:latin typeface="Questrial"/>
                <a:ea typeface="Questrial"/>
                <a:cs typeface="Questrial"/>
                <a:sym typeface="Questrial"/>
              </a:rPr>
              <a:t>Some: talent attraction, better service audience needs, shareholder values, profits)</a:t>
            </a:r>
            <a:endParaRPr b="0" i="1" sz="16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FF"/>
                </a:solidFill>
                <a:latin typeface="Questrial"/>
                <a:ea typeface="Questrial"/>
                <a:cs typeface="Questrial"/>
                <a:sym typeface="Questrial"/>
              </a:rPr>
              <a:t>Diversity is good, hence we should learn to be inclusive</a:t>
            </a:r>
            <a:endParaRPr b="0" i="1" sz="1600" u="none" cap="none" strike="noStrike">
              <a:solidFill>
                <a:srgbClr val="0000FF"/>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700"/>
              <a:buFont typeface="Arial"/>
              <a:buNone/>
            </a:pPr>
            <a:r>
              <a:t/>
            </a:r>
            <a:endParaRPr b="0" i="1" sz="1700" u="none" cap="none" strike="noStrike">
              <a:solidFill>
                <a:srgbClr val="F3F3F3"/>
              </a:solidFill>
              <a:latin typeface="Questrial"/>
              <a:ea typeface="Questrial"/>
              <a:cs typeface="Questrial"/>
              <a:sym typeface="Questrial"/>
            </a:endParaRPr>
          </a:p>
        </p:txBody>
      </p:sp>
      <p:sp>
        <p:nvSpPr>
          <p:cNvPr id="967" name="Google Shape;967;g3756d5883a8_0_185"/>
          <p:cNvSpPr txBox="1"/>
          <p:nvPr/>
        </p:nvSpPr>
        <p:spPr>
          <a:xfrm>
            <a:off x="662033" y="482500"/>
            <a:ext cx="3829500" cy="432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rgbClr val="0B5394"/>
                </a:solidFill>
                <a:latin typeface="Questrial"/>
                <a:ea typeface="Questrial"/>
                <a:cs typeface="Questrial"/>
                <a:sym typeface="Questrial"/>
              </a:rPr>
              <a:t>Diversity </a:t>
            </a:r>
            <a:endParaRPr b="0" i="0" sz="1600" u="none" cap="none" strike="noStrike">
              <a:solidFill>
                <a:srgbClr val="0B5394"/>
              </a:solidFill>
              <a:latin typeface="Questrial"/>
              <a:ea typeface="Questrial"/>
              <a:cs typeface="Questrial"/>
              <a:sym typeface="Questrial"/>
            </a:endParaRPr>
          </a:p>
        </p:txBody>
      </p:sp>
      <p:sp>
        <p:nvSpPr>
          <p:cNvPr id="968" name="Google Shape;968;g3756d5883a8_0_185"/>
          <p:cNvSpPr txBox="1"/>
          <p:nvPr/>
        </p:nvSpPr>
        <p:spPr>
          <a:xfrm>
            <a:off x="5098533" y="5279900"/>
            <a:ext cx="3707100" cy="661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rgbClr val="000000"/>
              </a:solidFill>
              <a:latin typeface="Arial"/>
              <a:ea typeface="Arial"/>
              <a:cs typeface="Arial"/>
              <a:sym typeface="Arial"/>
            </a:endParaRPr>
          </a:p>
        </p:txBody>
      </p:sp>
      <p:sp>
        <p:nvSpPr>
          <p:cNvPr id="969" name="Google Shape;969;g3756d5883a8_0_185"/>
          <p:cNvSpPr txBox="1"/>
          <p:nvPr/>
        </p:nvSpPr>
        <p:spPr>
          <a:xfrm>
            <a:off x="662033" y="2879900"/>
            <a:ext cx="10265100" cy="2586000"/>
          </a:xfrm>
          <a:prstGeom prst="rect">
            <a:avLst/>
          </a:prstGeom>
          <a:solidFill>
            <a:srgbClr val="D0E0E3"/>
          </a:solid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We need to stress that all human cultures have common needs, a common sense of humanity.</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But there are differences, too. How in the world do you please a customer, for example, if</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you don’t know what he or she values? That’s what culture is all about, that’s what</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differences are all about. Diversity assumes not only that people are different—we know</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that—but that their difference is value-added. If you know how to harness that difference,</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you’ll be more competitive as a corporation than those firms that don’t, whether in the</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domestic marketplace, and certainly in the global marketplace.37</a:t>
            </a:r>
            <a:endParaRPr b="0" i="0" sz="1900" u="none" cap="none" strike="noStrike">
              <a:solidFill>
                <a:srgbClr val="000000"/>
              </a:solidFill>
              <a:latin typeface="Questrial"/>
              <a:ea typeface="Questrial"/>
              <a:cs typeface="Questrial"/>
              <a:sym typeface="Questrial"/>
            </a:endParaRPr>
          </a:p>
        </p:txBody>
      </p:sp>
      <p:sp>
        <p:nvSpPr>
          <p:cNvPr id="970" name="Google Shape;970;g3756d5883a8_0_185"/>
          <p:cNvSpPr txBox="1"/>
          <p:nvPr/>
        </p:nvSpPr>
        <p:spPr>
          <a:xfrm>
            <a:off x="8027700" y="5936700"/>
            <a:ext cx="3829500" cy="4320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3500"/>
              <a:buFont typeface="Arial"/>
              <a:buNone/>
            </a:pPr>
            <a:r>
              <a:rPr b="1" i="0" lang="en-US" sz="3500" u="none" cap="none" strike="noStrike">
                <a:solidFill>
                  <a:srgbClr val="0000FF"/>
                </a:solidFill>
                <a:latin typeface="Questrial"/>
                <a:ea typeface="Questrial"/>
                <a:cs typeface="Questrial"/>
                <a:sym typeface="Questrial"/>
              </a:rPr>
              <a:t>Inclusion</a:t>
            </a:r>
            <a:endParaRPr b="0" i="0" sz="1600" u="none" cap="none" strike="noStrike">
              <a:solidFill>
                <a:srgbClr val="0000FF"/>
              </a:solidFill>
              <a:latin typeface="Questrial"/>
              <a:ea typeface="Questrial"/>
              <a:cs typeface="Questrial"/>
              <a:sym typeface="Questrial"/>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5" name="Shape 975"/>
        <p:cNvGrpSpPr/>
        <p:nvPr/>
      </p:nvGrpSpPr>
      <p:grpSpPr>
        <a:xfrm>
          <a:off x="0" y="0"/>
          <a:ext cx="0" cy="0"/>
          <a:chOff x="0" y="0"/>
          <a:chExt cx="0" cy="0"/>
        </a:xfrm>
      </p:grpSpPr>
      <p:sp>
        <p:nvSpPr>
          <p:cNvPr id="976" name="Google Shape;976;p3"/>
          <p:cNvSpPr txBox="1"/>
          <p:nvPr>
            <p:ph type="title"/>
          </p:nvPr>
        </p:nvSpPr>
        <p:spPr>
          <a:xfrm>
            <a:off x="609600" y="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t>Elements of Organization Culture</a:t>
            </a:r>
            <a:endParaRPr/>
          </a:p>
        </p:txBody>
      </p:sp>
      <p:sp>
        <p:nvSpPr>
          <p:cNvPr id="977" name="Google Shape;977;p3"/>
          <p:cNvSpPr/>
          <p:nvPr/>
        </p:nvSpPr>
        <p:spPr>
          <a:xfrm>
            <a:off x="1457649" y="1493599"/>
            <a:ext cx="3882919" cy="2329751"/>
          </a:xfrm>
          <a:prstGeom prst="rect">
            <a:avLst/>
          </a:prstGeom>
          <a:solidFill>
            <a:srgbClr val="BBD6EE"/>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3"/>
          <p:cNvSpPr txBox="1"/>
          <p:nvPr/>
        </p:nvSpPr>
        <p:spPr>
          <a:xfrm>
            <a:off x="1457649" y="1493599"/>
            <a:ext cx="3882919" cy="2329751"/>
          </a:xfrm>
          <a:prstGeom prst="rect">
            <a:avLst/>
          </a:prstGeom>
          <a:noFill/>
          <a:ln>
            <a:noFill/>
          </a:ln>
        </p:spPr>
        <p:txBody>
          <a:bodyPr anchorCtr="0" anchor="ctr" bIns="121900" lIns="121900" spcFirstLastPara="1" rIns="121900" wrap="square" tIns="121900">
            <a:noAutofit/>
          </a:bodyPr>
          <a:lstStyle/>
          <a:p>
            <a:pPr indent="0" lvl="0" marL="457200" marR="0" rtl="0" algn="ctr">
              <a:lnSpc>
                <a:spcPct val="90000"/>
              </a:lnSpc>
              <a:spcBef>
                <a:spcPts val="0"/>
              </a:spcBef>
              <a:spcAft>
                <a:spcPts val="0"/>
              </a:spcAft>
              <a:buClr>
                <a:srgbClr val="000000"/>
              </a:buClr>
              <a:buSzPts val="3200"/>
              <a:buFont typeface="Arial"/>
              <a:buNone/>
            </a:pPr>
            <a:r>
              <a:rPr b="1" i="0" lang="en-US" sz="3200" u="none" cap="none" strike="noStrike">
                <a:solidFill>
                  <a:srgbClr val="002060"/>
                </a:solidFill>
                <a:latin typeface="Arial"/>
                <a:ea typeface="Arial"/>
                <a:cs typeface="Arial"/>
                <a:sym typeface="Arial"/>
              </a:rPr>
              <a:t>Organization History</a:t>
            </a:r>
            <a:endParaRPr b="0" i="0" sz="2600" u="none" cap="none" strike="noStrike">
              <a:solidFill>
                <a:srgbClr val="002060"/>
              </a:solidFill>
              <a:latin typeface="Arial"/>
              <a:ea typeface="Arial"/>
              <a:cs typeface="Arial"/>
              <a:sym typeface="Arial"/>
            </a:endParaRPr>
          </a:p>
        </p:txBody>
      </p:sp>
      <p:sp>
        <p:nvSpPr>
          <p:cNvPr id="979" name="Google Shape;979;p3"/>
          <p:cNvSpPr/>
          <p:nvPr/>
        </p:nvSpPr>
        <p:spPr>
          <a:xfrm>
            <a:off x="4007627" y="4211668"/>
            <a:ext cx="3882900" cy="2329800"/>
          </a:xfrm>
          <a:prstGeom prst="rect">
            <a:avLst/>
          </a:prstGeom>
          <a:solidFill>
            <a:srgbClr val="6D9EEB"/>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3"/>
          <p:cNvSpPr txBox="1"/>
          <p:nvPr/>
        </p:nvSpPr>
        <p:spPr>
          <a:xfrm>
            <a:off x="4007627" y="4211668"/>
            <a:ext cx="3882900" cy="2329800"/>
          </a:xfrm>
          <a:prstGeom prst="rect">
            <a:avLst/>
          </a:prstGeom>
          <a:noFill/>
          <a:ln>
            <a:noFill/>
          </a:ln>
        </p:spPr>
        <p:txBody>
          <a:bodyPr anchorCtr="0" anchor="ctr" bIns="137150" lIns="137150" spcFirstLastPara="1" rIns="137150" wrap="square" tIns="137150">
            <a:noAutofit/>
          </a:bodyPr>
          <a:lstStyle/>
          <a:p>
            <a:pPr indent="0" lvl="0" marL="0" marR="0" rtl="0" algn="ctr">
              <a:lnSpc>
                <a:spcPct val="90000"/>
              </a:lnSpc>
              <a:spcBef>
                <a:spcPts val="0"/>
              </a:spcBef>
              <a:spcAft>
                <a:spcPts val="0"/>
              </a:spcAft>
              <a:buClr>
                <a:srgbClr val="000000"/>
              </a:buClr>
              <a:buSzPts val="3600"/>
              <a:buFont typeface="Arial"/>
              <a:buNone/>
            </a:pPr>
            <a:r>
              <a:rPr b="1" i="0" lang="en-US" sz="3600" u="none" cap="none" strike="noStrike">
                <a:solidFill>
                  <a:schemeClr val="dk1"/>
                </a:solidFill>
                <a:latin typeface="Arial"/>
                <a:ea typeface="Arial"/>
                <a:cs typeface="Arial"/>
                <a:sym typeface="Arial"/>
              </a:rPr>
              <a:t>Management Style</a:t>
            </a:r>
            <a:endParaRPr b="0" i="0" sz="3000" u="none" cap="none" strike="noStrike">
              <a:solidFill>
                <a:schemeClr val="dk1"/>
              </a:solidFill>
              <a:latin typeface="Arial"/>
              <a:ea typeface="Arial"/>
              <a:cs typeface="Arial"/>
              <a:sym typeface="Arial"/>
            </a:endParaRPr>
          </a:p>
        </p:txBody>
      </p:sp>
      <p:sp>
        <p:nvSpPr>
          <p:cNvPr id="981" name="Google Shape;981;p3"/>
          <p:cNvSpPr txBox="1"/>
          <p:nvPr/>
        </p:nvSpPr>
        <p:spPr>
          <a:xfrm>
            <a:off x="5728860" y="1493599"/>
            <a:ext cx="4929300" cy="2329800"/>
          </a:xfrm>
          <a:prstGeom prst="rect">
            <a:avLst/>
          </a:prstGeom>
          <a:solidFill>
            <a:srgbClr val="3D85C6"/>
          </a:solidFill>
          <a:ln>
            <a:noFill/>
          </a:ln>
        </p:spPr>
        <p:txBody>
          <a:bodyPr anchorCtr="0" anchor="ctr" bIns="121900" lIns="121900" spcFirstLastPara="1" rIns="121900" wrap="square" tIns="121900">
            <a:noAutofit/>
          </a:bodyPr>
          <a:lstStyle/>
          <a:p>
            <a:pPr indent="0" lvl="0" marL="457200" marR="0" rtl="0" algn="ctr">
              <a:lnSpc>
                <a:spcPct val="90000"/>
              </a:lnSpc>
              <a:spcBef>
                <a:spcPts val="0"/>
              </a:spcBef>
              <a:spcAft>
                <a:spcPts val="0"/>
              </a:spcAft>
              <a:buClr>
                <a:srgbClr val="000000"/>
              </a:buClr>
              <a:buSzPts val="3200"/>
              <a:buFont typeface="Arial"/>
              <a:buNone/>
            </a:pPr>
            <a:r>
              <a:rPr b="1" i="0" lang="en-US" sz="3200" u="none" cap="none" strike="noStrike">
                <a:solidFill>
                  <a:schemeClr val="lt1"/>
                </a:solidFill>
                <a:latin typeface="Arial"/>
                <a:ea typeface="Arial"/>
                <a:cs typeface="Arial"/>
                <a:sym typeface="Arial"/>
              </a:rPr>
              <a:t>Type of Business</a:t>
            </a:r>
            <a:endParaRPr b="0" i="0" sz="2400" u="none" cap="none" strike="noStrike">
              <a:solidFill>
                <a:schemeClr val="lt1"/>
              </a:solidFill>
              <a:latin typeface="Arial"/>
              <a:ea typeface="Arial"/>
              <a:cs typeface="Arial"/>
              <a:sym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pic>
        <p:nvPicPr>
          <p:cNvPr id="986" name="Google Shape;986;p6"/>
          <p:cNvPicPr preferRelativeResize="0"/>
          <p:nvPr/>
        </p:nvPicPr>
        <p:blipFill rotWithShape="1">
          <a:blip r:embed="rId3">
            <a:alphaModFix/>
          </a:blip>
          <a:srcRect b="0" l="0" r="0" t="0"/>
          <a:stretch/>
        </p:blipFill>
        <p:spPr>
          <a:xfrm>
            <a:off x="669701" y="0"/>
            <a:ext cx="11075831" cy="68579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4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2025-01-16T12:11:38Z</dcterms:created>
  <dc:creator>Microsoft account</dc:creator>
</cp:coreProperties>
</file>