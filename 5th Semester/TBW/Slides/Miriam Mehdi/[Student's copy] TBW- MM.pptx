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1" r:id="rId5"/>
    <p:sldMasterId id="2147483676"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Lst>
  <p:sldSz cy="6858000" cx="12192000"/>
  <p:notesSz cx="6858000" cy="9144000"/>
  <p:embeddedFontLst>
    <p:embeddedFont>
      <p:font typeface="Roboto"/>
      <p:regular r:id="rId70"/>
      <p:bold r:id="rId71"/>
      <p:italic r:id="rId72"/>
      <p:boldItalic r:id="rId73"/>
    </p:embeddedFont>
    <p:embeddedFont>
      <p:font typeface="Caveat"/>
      <p:regular r:id="rId74"/>
      <p:bold r:id="rId75"/>
    </p:embeddedFont>
    <p:embeddedFont>
      <p:font typeface="Montserrat"/>
      <p:regular r:id="rId76"/>
      <p:bold r:id="rId77"/>
      <p:italic r:id="rId78"/>
      <p:boldItalic r:id="rId79"/>
    </p:embeddedFont>
    <p:embeddedFont>
      <p:font typeface="Montserrat Medium"/>
      <p:regular r:id="rId80"/>
      <p:bold r:id="rId81"/>
      <p:italic r:id="rId82"/>
      <p:boldItalic r:id="rId83"/>
    </p:embeddedFont>
    <p:embeddedFont>
      <p:font typeface="Caveat Medium"/>
      <p:regular r:id="rId84"/>
      <p:bold r:id="rId85"/>
    </p:embeddedFont>
    <p:embeddedFont>
      <p:font typeface="Questrial"/>
      <p:regular r:id="rId8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87" roundtripDataSignature="AMtx7mh7fQI2Y0sgK9gjtCXZmL9NyKxz5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1A66365-47CE-490B-992D-082B1A927BC5}">
  <a:tblStyle styleId="{D1A66365-47CE-490B-992D-082B1A927BC5}"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6C3F6FD8-FF1D-4B87-889C-26AA7229DB02}" styleName="Table_1">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b="off" i="off"/>
      <a:tcStyle>
        <a:fill>
          <a:solidFill>
            <a:srgbClr val="CFD7E7"/>
          </a:solidFill>
        </a:fill>
      </a:tcStyle>
    </a:band1H>
    <a:band2H>
      <a:tcTxStyle b="off" i="off"/>
    </a:band2H>
    <a:band1V>
      <a:tcTxStyle b="off" i="off"/>
      <a:tcStyle>
        <a:fill>
          <a:solidFill>
            <a:srgbClr val="CFD7E7"/>
          </a:solidFill>
        </a:fill>
      </a:tcStyle>
    </a:band1V>
    <a:band2V>
      <a:tcTxStyle b="off" i="off"/>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 styleId="{44E78BAF-AA13-4F3E-8B7A-7DB5F72B6314}" styleName="Table_2">
    <a:wholeTbl>
      <a:tcTxStyle b="off" i="off">
        <a:font>
          <a:latin typeface="Arial"/>
          <a:ea typeface="Arial"/>
          <a:cs typeface="Arial"/>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5A6C3664-D54D-4FC0-AA2B-948925293A3E}" styleName="Table_3">
    <a:wholeTbl>
      <a:tcTxStyle b="off" i="off">
        <a:font>
          <a:latin typeface="Arial"/>
          <a:ea typeface="Arial"/>
          <a:cs typeface="Arial"/>
        </a:font>
        <a:schemeClr val="dk1"/>
      </a:tcTxStyle>
      <a:tcStyle>
        <a:tcBdr>
          <a:left>
            <a:ln cap="flat" cmpd="sng" w="12700">
              <a:solidFill>
                <a:schemeClr val="accent1"/>
              </a:solidFill>
              <a:prstDash val="solid"/>
              <a:round/>
              <a:headEnd len="sm" w="sm" type="none"/>
              <a:tailEnd len="sm" w="sm" type="none"/>
            </a:ln>
          </a:left>
          <a:right>
            <a:ln cap="flat" cmpd="sng" w="12700">
              <a:solidFill>
                <a:schemeClr val="accent1"/>
              </a:solidFill>
              <a:prstDash val="solid"/>
              <a:round/>
              <a:headEnd len="sm" w="sm" type="none"/>
              <a:tailEnd len="sm" w="sm" type="none"/>
            </a:ln>
          </a:right>
          <a:top>
            <a:ln cap="flat" cmpd="sng" w="12700">
              <a:solidFill>
                <a:schemeClr val="accent1"/>
              </a:solidFill>
              <a:prstDash val="solid"/>
              <a:round/>
              <a:headEnd len="sm" w="sm" type="none"/>
              <a:tailEnd len="sm" w="sm" type="none"/>
            </a:ln>
          </a:top>
          <a:bottom>
            <a:ln cap="flat" cmpd="sng" w="12700">
              <a:solidFill>
                <a:schemeClr val="accent1"/>
              </a:solidFill>
              <a:prstDash val="solid"/>
              <a:round/>
              <a:headEnd len="sm" w="sm" type="none"/>
              <a:tailEnd len="sm" w="sm" type="none"/>
            </a:ln>
          </a:bottom>
          <a:insideH>
            <a:ln cap="flat" cmpd="sng" w="12700">
              <a:solidFill>
                <a:schemeClr val="accent1"/>
              </a:solidFill>
              <a:prstDash val="solid"/>
              <a:round/>
              <a:headEnd len="sm" w="sm" type="none"/>
              <a:tailEnd len="sm" w="sm" type="none"/>
            </a:ln>
          </a:insideH>
          <a:insideV>
            <a:ln cap="flat" cmpd="sng" w="12700">
              <a:solidFill>
                <a:schemeClr val="accent1"/>
              </a:solidFill>
              <a:prstDash val="solid"/>
              <a:round/>
              <a:headEnd len="sm" w="sm" type="none"/>
              <a:tailEnd len="sm" w="sm" type="none"/>
            </a:ln>
          </a:insideV>
        </a:tcBdr>
        <a:fill>
          <a:solidFill>
            <a:srgbClr val="FFFFFF">
              <a:alpha val="0"/>
            </a:srgbClr>
          </a:solidFill>
        </a:fill>
      </a:tcStyle>
    </a:wholeTbl>
    <a:band1H>
      <a:tcTxStyle b="off" i="off"/>
      <a:tcStyle>
        <a:fill>
          <a:solidFill>
            <a:schemeClr val="accent1">
              <a:alpha val="20000"/>
            </a:schemeClr>
          </a:solidFill>
        </a:fill>
      </a:tcStyle>
    </a:band1H>
    <a:band2H>
      <a:tcTxStyle b="off" i="off"/>
    </a:band2H>
    <a:band1V>
      <a:tcTxStyle b="off" i="off"/>
      <a:tcStyle>
        <a:fill>
          <a:solidFill>
            <a:schemeClr val="accent1">
              <a:alpha val="20000"/>
            </a:schemeClr>
          </a:solidFill>
        </a:fill>
      </a:tcStyle>
    </a:band1V>
    <a:band2V>
      <a:tcTxStyle b="off" i="off"/>
    </a:band2V>
    <a:lastCol>
      <a:tcTxStyle b="on" i="off"/>
    </a:lastCol>
    <a:firstCol>
      <a:tcTxStyle b="on" i="off"/>
    </a:firstCol>
    <a:lastRow>
      <a:tcTxStyle b="on" i="off"/>
      <a:tcStyle>
        <a:tcBdr>
          <a:top>
            <a:ln cap="flat" cmpd="sng" w="50800">
              <a:solidFill>
                <a:schemeClr val="accent1"/>
              </a:solidFill>
              <a:prstDash val="solid"/>
              <a:round/>
              <a:headEnd len="sm" w="sm" type="none"/>
              <a:tailEnd len="sm" w="sm" type="none"/>
            </a:ln>
          </a:top>
        </a:tcBdr>
        <a:fill>
          <a:solidFill>
            <a:srgbClr val="FFFFFF">
              <a:alpha val="0"/>
            </a:srgbClr>
          </a:solidFill>
        </a:fill>
      </a:tcStyle>
    </a:lastRow>
    <a:seCell>
      <a:tcTxStyle b="off" i="off"/>
    </a:seCell>
    <a:swCell>
      <a:tcTxStyle b="off" i="off"/>
    </a:swCell>
    <a:firstRow>
      <a:tcTxStyle b="on" i="off"/>
      <a:tcStyle>
        <a:tcBdr>
          <a:bottom>
            <a:ln cap="flat" cmpd="sng" w="25400">
              <a:solidFill>
                <a:schemeClr val="accent1"/>
              </a:solidFill>
              <a:prstDash val="solid"/>
              <a:round/>
              <a:headEnd len="sm" w="sm" type="none"/>
              <a:tailEnd len="sm" w="sm" type="none"/>
            </a:ln>
          </a:bottom>
        </a:tcBdr>
        <a:fill>
          <a:solidFill>
            <a:srgbClr val="FFFFFF">
              <a:alpha val="0"/>
            </a:srgbClr>
          </a:solidFill>
        </a:fill>
      </a:tcStyle>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84" Type="http://schemas.openxmlformats.org/officeDocument/2006/relationships/font" Target="fonts/CaveatMedium-regular.fntdata"/><Relationship Id="rId83" Type="http://schemas.openxmlformats.org/officeDocument/2006/relationships/font" Target="fonts/MontserratMedium-boldItalic.fntdata"/><Relationship Id="rId42" Type="http://schemas.openxmlformats.org/officeDocument/2006/relationships/slide" Target="slides/slide35.xml"/><Relationship Id="rId86" Type="http://schemas.openxmlformats.org/officeDocument/2006/relationships/font" Target="fonts/Questrial-regular.fntdata"/><Relationship Id="rId41" Type="http://schemas.openxmlformats.org/officeDocument/2006/relationships/slide" Target="slides/slide34.xml"/><Relationship Id="rId85" Type="http://schemas.openxmlformats.org/officeDocument/2006/relationships/font" Target="fonts/CaveatMedium-bold.fntdata"/><Relationship Id="rId44" Type="http://schemas.openxmlformats.org/officeDocument/2006/relationships/slide" Target="slides/slide37.xml"/><Relationship Id="rId43" Type="http://schemas.openxmlformats.org/officeDocument/2006/relationships/slide" Target="slides/slide36.xml"/><Relationship Id="rId87" Type="http://customschemas.google.com/relationships/presentationmetadata" Target="metadata"/><Relationship Id="rId46" Type="http://schemas.openxmlformats.org/officeDocument/2006/relationships/slide" Target="slides/slide39.xml"/><Relationship Id="rId45" Type="http://schemas.openxmlformats.org/officeDocument/2006/relationships/slide" Target="slides/slide38.xml"/><Relationship Id="rId80" Type="http://schemas.openxmlformats.org/officeDocument/2006/relationships/font" Target="fonts/MontserratMedium-regular.fntdata"/><Relationship Id="rId82" Type="http://schemas.openxmlformats.org/officeDocument/2006/relationships/font" Target="fonts/MontserratMedium-italic.fntdata"/><Relationship Id="rId81" Type="http://schemas.openxmlformats.org/officeDocument/2006/relationships/font" Target="fonts/MontserratMedium-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font" Target="fonts/Roboto-boldItalic.fntdata"/><Relationship Id="rId72" Type="http://schemas.openxmlformats.org/officeDocument/2006/relationships/font" Target="fonts/Roboto-italic.fntdata"/><Relationship Id="rId31" Type="http://schemas.openxmlformats.org/officeDocument/2006/relationships/slide" Target="slides/slide24.xml"/><Relationship Id="rId75" Type="http://schemas.openxmlformats.org/officeDocument/2006/relationships/font" Target="fonts/Caveat-bold.fntdata"/><Relationship Id="rId30" Type="http://schemas.openxmlformats.org/officeDocument/2006/relationships/slide" Target="slides/slide23.xml"/><Relationship Id="rId74" Type="http://schemas.openxmlformats.org/officeDocument/2006/relationships/font" Target="fonts/Caveat-regular.fntdata"/><Relationship Id="rId33" Type="http://schemas.openxmlformats.org/officeDocument/2006/relationships/slide" Target="slides/slide26.xml"/><Relationship Id="rId77" Type="http://schemas.openxmlformats.org/officeDocument/2006/relationships/font" Target="fonts/Montserrat-bold.fntdata"/><Relationship Id="rId32" Type="http://schemas.openxmlformats.org/officeDocument/2006/relationships/slide" Target="slides/slide25.xml"/><Relationship Id="rId76" Type="http://schemas.openxmlformats.org/officeDocument/2006/relationships/font" Target="fonts/Montserrat-regular.fntdata"/><Relationship Id="rId35" Type="http://schemas.openxmlformats.org/officeDocument/2006/relationships/slide" Target="slides/slide28.xml"/><Relationship Id="rId79" Type="http://schemas.openxmlformats.org/officeDocument/2006/relationships/font" Target="fonts/Montserrat-boldItalic.fntdata"/><Relationship Id="rId34" Type="http://schemas.openxmlformats.org/officeDocument/2006/relationships/slide" Target="slides/slide27.xml"/><Relationship Id="rId78" Type="http://schemas.openxmlformats.org/officeDocument/2006/relationships/font" Target="fonts/Montserrat-italic.fntdata"/><Relationship Id="rId71" Type="http://schemas.openxmlformats.org/officeDocument/2006/relationships/font" Target="fonts/Roboto-bold.fntdata"/><Relationship Id="rId70" Type="http://schemas.openxmlformats.org/officeDocument/2006/relationships/font" Target="fonts/Roboto-regular.fntdata"/><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slide" Target="slides/slide55.xml"/><Relationship Id="rId61" Type="http://schemas.openxmlformats.org/officeDocument/2006/relationships/slide" Target="slides/slide54.xml"/><Relationship Id="rId20" Type="http://schemas.openxmlformats.org/officeDocument/2006/relationships/slide" Target="slides/slide13.xml"/><Relationship Id="rId64" Type="http://schemas.openxmlformats.org/officeDocument/2006/relationships/slide" Target="slides/slide57.xml"/><Relationship Id="rId63" Type="http://schemas.openxmlformats.org/officeDocument/2006/relationships/slide" Target="slides/slide56.xml"/><Relationship Id="rId22" Type="http://schemas.openxmlformats.org/officeDocument/2006/relationships/slide" Target="slides/slide15.xml"/><Relationship Id="rId66" Type="http://schemas.openxmlformats.org/officeDocument/2006/relationships/slide" Target="slides/slide59.xml"/><Relationship Id="rId21" Type="http://schemas.openxmlformats.org/officeDocument/2006/relationships/slide" Target="slides/slide14.xml"/><Relationship Id="rId65" Type="http://schemas.openxmlformats.org/officeDocument/2006/relationships/slide" Target="slides/slide58.xml"/><Relationship Id="rId24" Type="http://schemas.openxmlformats.org/officeDocument/2006/relationships/slide" Target="slides/slide17.xml"/><Relationship Id="rId68" Type="http://schemas.openxmlformats.org/officeDocument/2006/relationships/slide" Target="slides/slide61.xml"/><Relationship Id="rId23" Type="http://schemas.openxmlformats.org/officeDocument/2006/relationships/slide" Target="slides/slide16.xml"/><Relationship Id="rId67" Type="http://schemas.openxmlformats.org/officeDocument/2006/relationships/slide" Target="slides/slide60.xml"/><Relationship Id="rId60" Type="http://schemas.openxmlformats.org/officeDocument/2006/relationships/slide" Target="slides/slide53.xml"/><Relationship Id="rId26" Type="http://schemas.openxmlformats.org/officeDocument/2006/relationships/slide" Target="slides/slide19.xml"/><Relationship Id="rId25" Type="http://schemas.openxmlformats.org/officeDocument/2006/relationships/slide" Target="slides/slide18.xml"/><Relationship Id="rId69" Type="http://schemas.openxmlformats.org/officeDocument/2006/relationships/slide" Target="slides/slide62.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slide" Target="slides/slide50.xml"/><Relationship Id="rId12" Type="http://schemas.openxmlformats.org/officeDocument/2006/relationships/slide" Target="slides/slide5.xml"/><Relationship Id="rId56" Type="http://schemas.openxmlformats.org/officeDocument/2006/relationships/slide" Target="slides/slide49.xml"/><Relationship Id="rId15" Type="http://schemas.openxmlformats.org/officeDocument/2006/relationships/slide" Target="slides/slide8.xml"/><Relationship Id="rId59" Type="http://schemas.openxmlformats.org/officeDocument/2006/relationships/slide" Target="slides/slide52.xml"/><Relationship Id="rId14" Type="http://schemas.openxmlformats.org/officeDocument/2006/relationships/slide" Target="slides/slide7.xml"/><Relationship Id="rId58" Type="http://schemas.openxmlformats.org/officeDocument/2006/relationships/slide" Target="slides/slide51.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9b32936498_0_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3" name="Google Shape;253;g39b32936498_0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9b7157ad26_0_7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8" name="Google Shape;258;g39b7157ad26_0_7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9" name="Google Shape;259;g39b7157ad26_0_7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9b7157ad26_0_3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0" name="Google Shape;270;g39b7157ad26_0_3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9b7157ad26_0_6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6" name="Google Shape;276;g39b7157ad26_0_68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7" name="Google Shape;277;g39b7157ad26_0_68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9b7157ad26_0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3" name="Google Shape;293;g39b7157ad26_0_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4" name="Google Shape;294;g39b7157ad26_0_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9b7157ad26_0_3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1" name="Google Shape;311;g39b7157ad26_0_35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2" name="Google Shape;312;g39b7157ad26_0_35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9b7157ad26_0_7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1" name="Google Shape;321;g39b7157ad26_0_7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9b7157ad26_0_8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0" name="Google Shape;330;g39b7157ad26_0_8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Morals</a:t>
            </a: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Personal principles of right and wrong.</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Shaped by culture, religion, upbringing, or personal beliefs.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Ethics</a:t>
            </a: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Systematic rules or standards of right conduct.</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Often tied to a </a:t>
            </a:r>
            <a:r>
              <a:rPr b="1" lang="en-US" sz="1100">
                <a:latin typeface="Arial"/>
                <a:ea typeface="Arial"/>
                <a:cs typeface="Arial"/>
                <a:sym typeface="Arial"/>
              </a:rPr>
              <a:t>professional or social framework</a:t>
            </a:r>
            <a:r>
              <a:rPr lang="en-US" sz="1100">
                <a:latin typeface="Arial"/>
                <a:ea typeface="Arial"/>
                <a:cs typeface="Arial"/>
                <a:sym typeface="Arial"/>
              </a:rPr>
              <a:t> (like medical ethics, business ethics, legal ethics).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More </a:t>
            </a:r>
            <a:r>
              <a:rPr b="1" lang="en-US" sz="1100">
                <a:latin typeface="Arial"/>
                <a:ea typeface="Arial"/>
                <a:cs typeface="Arial"/>
                <a:sym typeface="Arial"/>
              </a:rPr>
              <a:t>external</a:t>
            </a:r>
            <a:r>
              <a:rPr lang="en-US" sz="1100">
                <a:latin typeface="Arial"/>
                <a:ea typeface="Arial"/>
                <a:cs typeface="Arial"/>
                <a:sym typeface="Arial"/>
              </a:rPr>
              <a:t> and codified.</a:t>
            </a:r>
            <a:endParaRPr/>
          </a:p>
        </p:txBody>
      </p:sp>
      <p:sp>
        <p:nvSpPr>
          <p:cNvPr id="331" name="Google Shape;331;g39b7157ad26_0_85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9b7157ad26_0_8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8" name="Google Shape;338;g39b7157ad26_0_8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Morals</a:t>
            </a: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Personal principles of right and wrong.</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Shaped by culture, religion, upbringing, or personal beliefs.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Ethics</a:t>
            </a: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Systematic rules or standards of right conduct.</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Often tied to a </a:t>
            </a:r>
            <a:r>
              <a:rPr b="1" lang="en-US" sz="1100">
                <a:latin typeface="Arial"/>
                <a:ea typeface="Arial"/>
                <a:cs typeface="Arial"/>
                <a:sym typeface="Arial"/>
              </a:rPr>
              <a:t>professional or social framework</a:t>
            </a:r>
            <a:r>
              <a:rPr lang="en-US" sz="1100">
                <a:latin typeface="Arial"/>
                <a:ea typeface="Arial"/>
                <a:cs typeface="Arial"/>
                <a:sym typeface="Arial"/>
              </a:rPr>
              <a:t> (like medical ethics, business ethics, legal ethics).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More </a:t>
            </a:r>
            <a:r>
              <a:rPr b="1" lang="en-US" sz="1100">
                <a:latin typeface="Arial"/>
                <a:ea typeface="Arial"/>
                <a:cs typeface="Arial"/>
                <a:sym typeface="Arial"/>
              </a:rPr>
              <a:t>external</a:t>
            </a:r>
            <a:r>
              <a:rPr lang="en-US" sz="1100">
                <a:latin typeface="Arial"/>
                <a:ea typeface="Arial"/>
                <a:cs typeface="Arial"/>
                <a:sym typeface="Arial"/>
              </a:rPr>
              <a:t> and codified.</a:t>
            </a:r>
            <a:endParaRPr/>
          </a:p>
        </p:txBody>
      </p:sp>
      <p:sp>
        <p:nvSpPr>
          <p:cNvPr id="339" name="Google Shape;339;g39b7157ad26_0_8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9b7157ad26_0_5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5" name="Google Shape;345;g39b7157ad26_0_59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9b7157ad26_0_8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2" name="Google Shape;352;g39b7157ad26_0_86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Morals</a:t>
            </a: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Personal principles of right and wrong.</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Shaped by culture, religion, upbringing, or personal beliefs.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Ethics</a:t>
            </a: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Systematic rules or standards of right conduct.</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Often tied to a </a:t>
            </a:r>
            <a:r>
              <a:rPr b="1" lang="en-US" sz="1100">
                <a:latin typeface="Arial"/>
                <a:ea typeface="Arial"/>
                <a:cs typeface="Arial"/>
                <a:sym typeface="Arial"/>
              </a:rPr>
              <a:t>professional or social framework</a:t>
            </a:r>
            <a:r>
              <a:rPr lang="en-US" sz="1100">
                <a:latin typeface="Arial"/>
                <a:ea typeface="Arial"/>
                <a:cs typeface="Arial"/>
                <a:sym typeface="Arial"/>
              </a:rPr>
              <a:t> (like medical ethics, business ethics, legal ethics).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More </a:t>
            </a:r>
            <a:r>
              <a:rPr b="1" lang="en-US" sz="1100">
                <a:latin typeface="Arial"/>
                <a:ea typeface="Arial"/>
                <a:cs typeface="Arial"/>
                <a:sym typeface="Arial"/>
              </a:rPr>
              <a:t>external</a:t>
            </a:r>
            <a:r>
              <a:rPr lang="en-US" sz="1100">
                <a:latin typeface="Arial"/>
                <a:ea typeface="Arial"/>
                <a:cs typeface="Arial"/>
                <a:sym typeface="Arial"/>
              </a:rPr>
              <a:t> and codified.</a:t>
            </a:r>
            <a:endParaRPr/>
          </a:p>
        </p:txBody>
      </p:sp>
      <p:sp>
        <p:nvSpPr>
          <p:cNvPr id="353" name="Google Shape;353;g39b7157ad26_0_86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7efbfe7193_0_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9" name="Google Shape;359;g37efbfe7193_0_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0" name="Google Shape;360;g37efbfe7193_0_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7c26b4523b_0_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0" name="Google Shape;380;g37c26b4523b_0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64c8792521_0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5" name="Google Shape;385;g364c8792521_0_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g364c8792521_0_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64c8792521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1" name="Google Shape;391;g364c8792521_0_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2" name="Google Shape;392;g364c8792521_0_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364c8792521_0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7" name="Google Shape;397;g364c8792521_0_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8" name="Google Shape;398;g364c8792521_0_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364c8792521_0_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5" name="Google Shape;405;g364c8792521_0_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g364c8792521_0_3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64c8792521_0_1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1" name="Google Shape;411;g364c8792521_0_1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2" name="Google Shape;412;g364c8792521_0_10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64c8792521_0_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7" name="Google Shape;417;g364c8792521_0_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8" name="Google Shape;418;g364c8792521_0_4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64c8792521_0_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3" name="Google Shape;423;g364c8792521_0_9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4" name="Google Shape;424;g364c8792521_0_9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64c8792521_0_1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0" name="Google Shape;430;g364c8792521_0_13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g364c8792521_0_13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64c8792521_0_1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6" name="Google Shape;436;g364c8792521_0_1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7" name="Google Shape;437;g364c8792521_0_14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364c8792521_0_1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3" name="Google Shape;443;g364c8792521_0_1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4" name="Google Shape;444;g364c8792521_0_1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364c8792521_0_1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2" name="Google Shape;452;g364c8792521_0_1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3" name="Google Shape;453;g364c8792521_0_15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364c8792521_0_1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9" name="Google Shape;459;g364c8792521_0_16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0" name="Google Shape;460;g364c8792521_0_16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364c8792521_0_1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8" name="Google Shape;468;g364c8792521_0_17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9" name="Google Shape;469;g364c8792521_0_17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364c8792521_0_1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5" name="Google Shape;475;g364c8792521_0_17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g364c8792521_0_17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364c8792521_0_1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4" name="Google Shape;484;g364c8792521_0_1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5" name="Google Shape;485;g364c8792521_0_1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364c8792521_0_1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0" name="Google Shape;490;g364c8792521_0_1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g364c8792521_0_1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364c8792521_0_1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6" name="Google Shape;496;g364c8792521_0_18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7" name="Google Shape;497;g364c8792521_0_18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64c8792521_0_1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5" name="Google Shape;505;g364c8792521_0_19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g364c8792521_0_19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364c8792521_0_2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3" name="Google Shape;513;g364c8792521_0_20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4" name="Google Shape;514;g364c8792521_0_20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64c8792521_0_2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1" name="Google Shape;521;g364c8792521_0_2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2" name="Google Shape;522;g364c8792521_0_2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37758a7e781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9" name="Google Shape;529;g37758a7e781_0_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7758a7e781_0_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g37758a7e781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37758a7e781_0_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2" name="Google Shape;542;g37758a7e781_0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37758a7e781_0_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8" name="Google Shape;548;g37758a7e781_0_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37758a7e781_0_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4" name="Google Shape;554;g37758a7e781_0_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37758a7e781_0_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9" name="Google Shape;559;g37758a7e781_0_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37758a7e781_0_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4" name="Google Shape;564;g37758a7e781_0_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5" name="Google Shape;565;g37758a7e781_0_4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37758a7e781_0_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1" name="Google Shape;571;g37758a7e781_0_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Following are some basic guidelines to reduce the risk of misunderstanding:</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When writing documents for other cultures, remember that your work will not be read in the cultural context in which it was written. </a:t>
            </a:r>
            <a:endParaRPr/>
          </a:p>
          <a:p>
            <a:pPr indent="0" lvl="0" marL="0" rtl="0" algn="l">
              <a:lnSpc>
                <a:spcPct val="100000"/>
              </a:lnSpc>
              <a:spcBef>
                <a:spcPts val="0"/>
              </a:spcBef>
              <a:spcAft>
                <a:spcPts val="0"/>
              </a:spcAft>
              <a:buSzPts val="1400"/>
              <a:buNone/>
            </a:pPr>
            <a:r>
              <a:rPr lang="en-US"/>
              <a:t>For that matter, you may lose control of the document altogether if it is translated into a language that you do not know. </a:t>
            </a:r>
            <a:endParaRPr/>
          </a:p>
          <a:p>
            <a:pPr indent="0" lvl="0" marL="0" rtl="0" algn="l">
              <a:lnSpc>
                <a:spcPct val="100000"/>
              </a:lnSpc>
              <a:spcBef>
                <a:spcPts val="0"/>
              </a:spcBef>
              <a:spcAft>
                <a:spcPts val="0"/>
              </a:spcAft>
              <a:buSzPts val="1400"/>
              <a:buNone/>
            </a:pPr>
            <a:r>
              <a:t/>
            </a:r>
            <a:endParaRPr/>
          </a:p>
        </p:txBody>
      </p:sp>
      <p:sp>
        <p:nvSpPr>
          <p:cNvPr id="572" name="Google Shape;572;g37758a7e781_0_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37758a7e781_0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8" name="Google Shape;578;g37758a7e781_0_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Discuss in pairs and present answers to the class.</a:t>
            </a:r>
            <a:endParaRPr/>
          </a:p>
        </p:txBody>
      </p:sp>
      <p:sp>
        <p:nvSpPr>
          <p:cNvPr id="579" name="Google Shape;579;g37758a7e781_0_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37758a7e781_0_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5" name="Google Shape;585;g37758a7e781_0_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37758a7e781_0_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0" name="Google Shape;590;g37758a7e781_0_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37758a7e781_0_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6" name="Google Shape;596;g37758a7e781_0_6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7" name="Google Shape;597;g37758a7e781_0_6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37758a7e781_0_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3" name="Google Shape;603;g37758a7e781_0_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37758a7e781_0_7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9" name="Google Shape;609;g37758a7e781_0_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37758a7e781_0_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5" name="Google Shape;615;g37758a7e781_0_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37758a7e781_0_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0" name="Google Shape;620;g37758a7e781_0_8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Arguments can WIN without being ethical if they WIN at any cost</a:t>
            </a:r>
            <a:endParaRPr/>
          </a:p>
        </p:txBody>
      </p:sp>
      <p:sp>
        <p:nvSpPr>
          <p:cNvPr id="621" name="Google Shape;621;g37758a7e781_0_8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g37758a7e781_0_9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0" name="Google Shape;630;g37758a7e781_0_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g37758a7e781_0_1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8" name="Google Shape;638;g37758a7e781_0_10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                        ,    </a:t>
            </a:r>
            <a:endParaRPr/>
          </a:p>
        </p:txBody>
      </p:sp>
      <p:sp>
        <p:nvSpPr>
          <p:cNvPr id="639" name="Google Shape;639;g37758a7e781_0_10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g3756d5883a8_0_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4" name="Google Shape;644;g3756d5883a8_0_2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756d5883a8_0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1" name="Google Shape;651;g3756d5883a8_0_25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g3756d5883a8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7" name="Google Shape;657;g3756d5883a8_0_19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g3756d5883a8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8" name="Google Shape;668;g3756d5883a8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9" name="Google Shape;669;g3756d5883a8_0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g3756d5883a8_0_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4" name="Google Shape;674;g3756d5883a8_0_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5" name="Google Shape;675;g3756d5883a8_0_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0" name="Google Shape;68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An organization’s culture is not isolated from the cultures of other organizations, or from the wider culture or cultures in which it is located. Organizations, especially businesses and corporations such as M-Global, must respond to the business climate. To compete in today’s global business climate, companies are focusing on quality and efficiency. </a:t>
            </a:r>
            <a:endParaRPr/>
          </a:p>
          <a:p>
            <a:pPr indent="0" lvl="0" marL="0" rtl="0" algn="l">
              <a:lnSpc>
                <a:spcPct val="100000"/>
              </a:lnSpc>
              <a:spcBef>
                <a:spcPts val="0"/>
              </a:spcBef>
              <a:spcAft>
                <a:spcPts val="0"/>
              </a:spcAft>
              <a:buSzPts val="1400"/>
              <a:buNone/>
            </a:pPr>
            <a:r>
              <a:t/>
            </a:r>
            <a:endParaRPr/>
          </a:p>
        </p:txBody>
      </p:sp>
      <p:sp>
        <p:nvSpPr>
          <p:cNvPr id="681" name="Google Shape;681;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8" name="Google Shape;68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solidFill>
                  <a:schemeClr val="dk1"/>
                </a:solidFill>
              </a:rPr>
              <a:t>Although both practices are changing the workplace, they also offer opportunities for companies and employees who are prepared for the global marketplace.</a:t>
            </a:r>
            <a:endParaRPr>
              <a:solidFill>
                <a:schemeClr val="dk1"/>
              </a:solidFill>
            </a:endParaRPr>
          </a:p>
        </p:txBody>
      </p:sp>
      <p:sp>
        <p:nvSpPr>
          <p:cNvPr id="689" name="Google Shape;68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g3756d5883a8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8" name="Google Shape;698;g3756d5883a8_0_17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solidFill>
                <a:schemeClr val="dk1"/>
              </a:solidFill>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g3756d5883a8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5" name="Google Shape;705;g3756d5883a8_0_18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solidFill>
                <a:schemeClr val="dk1"/>
              </a:solidFill>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4" name="Google Shape;71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solidFill>
                  <a:schemeClr val="dk2"/>
                </a:solidFill>
              </a:rPr>
              <a:t>An organization’s culture is influenced by the firm’s history, type of business, management style,</a:t>
            </a:r>
            <a:endParaRPr/>
          </a:p>
          <a:p>
            <a:pPr indent="0" lvl="0" marL="0" rtl="0" algn="l">
              <a:lnSpc>
                <a:spcPct val="100000"/>
              </a:lnSpc>
              <a:spcBef>
                <a:spcPts val="0"/>
              </a:spcBef>
              <a:spcAft>
                <a:spcPts val="0"/>
              </a:spcAft>
              <a:buSzPts val="1400"/>
              <a:buNone/>
            </a:pPr>
            <a:r>
              <a:rPr lang="en-US">
                <a:solidFill>
                  <a:schemeClr val="dk2"/>
                </a:solidFill>
              </a:rPr>
              <a:t>values, attitude toward customers, and attitude toward its own employees. Taken together, all features of a particular organization’s culture create a definable quality of life within the working world of that organization.</a:t>
            </a:r>
            <a:endParaRPr>
              <a:solidFill>
                <a:schemeClr val="dk2"/>
              </a:solidFill>
            </a:endParaRPr>
          </a:p>
        </p:txBody>
      </p:sp>
      <p:sp>
        <p:nvSpPr>
          <p:cNvPr id="715" name="Google Shape;71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solidFill>
                  <a:srgbClr val="000000"/>
                </a:solidFill>
              </a:rPr>
              <a:t>‹#›</a:t>
            </a:fld>
            <a:endParaRPr>
              <a:solidFill>
                <a:srgbClr val="000000"/>
              </a:solidFill>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5" name="Google Shape;72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sp>
        <p:nvSpPr>
          <p:cNvPr id="22" name="Google Shape;22;g3756d5883a8_0_60"/>
          <p:cNvSpPr txBox="1"/>
          <p:nvPr>
            <p:ph type="title"/>
          </p:nvPr>
        </p:nvSpPr>
        <p:spPr>
          <a:xfrm>
            <a:off x="415600" y="593367"/>
            <a:ext cx="11360700" cy="7635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SzPts val="4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g3756d5883a8_0_60"/>
          <p:cNvSpPr txBox="1"/>
          <p:nvPr>
            <p:ph idx="1" type="body"/>
          </p:nvPr>
        </p:nvSpPr>
        <p:spPr>
          <a:xfrm>
            <a:off x="415600" y="1536633"/>
            <a:ext cx="11360700" cy="45552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SzPts val="2800"/>
              <a:buChar char="•"/>
              <a:defRPr/>
            </a:lvl1pPr>
            <a:lvl2pPr indent="-381000" lvl="1" marL="914400" algn="l">
              <a:lnSpc>
                <a:spcPct val="90000"/>
              </a:lnSpc>
              <a:spcBef>
                <a:spcPts val="500"/>
              </a:spcBef>
              <a:spcAft>
                <a:spcPts val="0"/>
              </a:spcAft>
              <a:buSzPts val="2400"/>
              <a:buChar char="•"/>
              <a:defRPr/>
            </a:lvl2pPr>
            <a:lvl3pPr indent="-355600" lvl="2" marL="1371600" algn="l">
              <a:lnSpc>
                <a:spcPct val="90000"/>
              </a:lnSpc>
              <a:spcBef>
                <a:spcPts val="500"/>
              </a:spcBef>
              <a:spcAft>
                <a:spcPts val="0"/>
              </a:spcAft>
              <a:buSzPts val="20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SzPts val="1800"/>
              <a:buChar char="•"/>
              <a:defRPr/>
            </a:lvl6pPr>
            <a:lvl7pPr indent="-342900" lvl="6" marL="3200400" algn="l">
              <a:lnSpc>
                <a:spcPct val="90000"/>
              </a:lnSpc>
              <a:spcBef>
                <a:spcPts val="500"/>
              </a:spcBef>
              <a:spcAft>
                <a:spcPts val="0"/>
              </a:spcAft>
              <a:buSzPts val="1800"/>
              <a:buChar char="•"/>
              <a:defRPr/>
            </a:lvl7pPr>
            <a:lvl8pPr indent="-342900" lvl="7" marL="3657600" algn="l">
              <a:lnSpc>
                <a:spcPct val="90000"/>
              </a:lnSpc>
              <a:spcBef>
                <a:spcPts val="500"/>
              </a:spcBef>
              <a:spcAft>
                <a:spcPts val="0"/>
              </a:spcAft>
              <a:buSzPts val="1800"/>
              <a:buChar char="•"/>
              <a:defRPr/>
            </a:lvl8pPr>
            <a:lvl9pPr indent="-342900" lvl="8" marL="4114800" algn="l">
              <a:lnSpc>
                <a:spcPct val="90000"/>
              </a:lnSpc>
              <a:spcBef>
                <a:spcPts val="500"/>
              </a:spcBef>
              <a:spcAft>
                <a:spcPts val="0"/>
              </a:spcAft>
              <a:buSzPts val="1800"/>
              <a:buChar char="•"/>
              <a:defRPr/>
            </a:lvl9pPr>
          </a:lstStyle>
          <a:p/>
        </p:txBody>
      </p:sp>
      <p:sp>
        <p:nvSpPr>
          <p:cNvPr id="24" name="Google Shape;24;g3756d5883a8_0_60"/>
          <p:cNvSpPr txBox="1"/>
          <p:nvPr>
            <p:ph idx="12" type="sldNum"/>
          </p:nvPr>
        </p:nvSpPr>
        <p:spPr>
          <a:xfrm>
            <a:off x="11296610" y="6217622"/>
            <a:ext cx="731700" cy="5247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3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3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3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4" name="Google Shape;34;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3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3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3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3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3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3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3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2" name="Shape 62"/>
        <p:cNvGrpSpPr/>
        <p:nvPr/>
      </p:nvGrpSpPr>
      <p:grpSpPr>
        <a:xfrm>
          <a:off x="0" y="0"/>
          <a:ext cx="0" cy="0"/>
          <a:chOff x="0" y="0"/>
          <a:chExt cx="0" cy="0"/>
        </a:xfrm>
      </p:grpSpPr>
      <p:sp>
        <p:nvSpPr>
          <p:cNvPr id="63" name="Google Shape;63;p4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4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5" name="Google Shape;65;p4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6" name="Google Shape;66;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9" name="Shape 69"/>
        <p:cNvGrpSpPr/>
        <p:nvPr/>
      </p:nvGrpSpPr>
      <p:grpSpPr>
        <a:xfrm>
          <a:off x="0" y="0"/>
          <a:ext cx="0" cy="0"/>
          <a:chOff x="0" y="0"/>
          <a:chExt cx="0" cy="0"/>
        </a:xfrm>
      </p:grpSpPr>
      <p:sp>
        <p:nvSpPr>
          <p:cNvPr id="70" name="Google Shape;70;p4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41"/>
          <p:cNvSpPr/>
          <p:nvPr>
            <p:ph idx="2" type="pic"/>
          </p:nvPr>
        </p:nvSpPr>
        <p:spPr>
          <a:xfrm>
            <a:off x="5183188" y="987425"/>
            <a:ext cx="6172200" cy="4873625"/>
          </a:xfrm>
          <a:prstGeom prst="rect">
            <a:avLst/>
          </a:prstGeom>
          <a:noFill/>
          <a:ln>
            <a:noFill/>
          </a:ln>
        </p:spPr>
      </p:sp>
      <p:sp>
        <p:nvSpPr>
          <p:cNvPr id="72" name="Google Shape;72;p4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3" name="Google Shape;73;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6" name="Shape 76"/>
        <p:cNvGrpSpPr/>
        <p:nvPr/>
      </p:nvGrpSpPr>
      <p:grpSpPr>
        <a:xfrm>
          <a:off x="0" y="0"/>
          <a:ext cx="0" cy="0"/>
          <a:chOff x="0" y="0"/>
          <a:chExt cx="0" cy="0"/>
        </a:xfrm>
      </p:grpSpPr>
      <p:sp>
        <p:nvSpPr>
          <p:cNvPr id="77" name="Google Shape;77;p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4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9" name="Google Shape;79;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2" name="Shape 82"/>
        <p:cNvGrpSpPr/>
        <p:nvPr/>
      </p:nvGrpSpPr>
      <p:grpSpPr>
        <a:xfrm>
          <a:off x="0" y="0"/>
          <a:ext cx="0" cy="0"/>
          <a:chOff x="0" y="0"/>
          <a:chExt cx="0" cy="0"/>
        </a:xfrm>
      </p:grpSpPr>
      <p:sp>
        <p:nvSpPr>
          <p:cNvPr id="83" name="Google Shape;83;p4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4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 name="Google Shape;85;p4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4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4" name="Shape 94"/>
        <p:cNvGrpSpPr/>
        <p:nvPr/>
      </p:nvGrpSpPr>
      <p:grpSpPr>
        <a:xfrm>
          <a:off x="0" y="0"/>
          <a:ext cx="0" cy="0"/>
          <a:chOff x="0" y="0"/>
          <a:chExt cx="0" cy="0"/>
        </a:xfrm>
      </p:grpSpPr>
      <p:sp>
        <p:nvSpPr>
          <p:cNvPr id="95" name="Google Shape;95;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7" name="Google Shape;97;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0" name="Shape 100"/>
        <p:cNvGrpSpPr/>
        <p:nvPr/>
      </p:nvGrpSpPr>
      <p:grpSpPr>
        <a:xfrm>
          <a:off x="0" y="0"/>
          <a:ext cx="0" cy="0"/>
          <a:chOff x="0" y="0"/>
          <a:chExt cx="0" cy="0"/>
        </a:xfrm>
      </p:grpSpPr>
      <p:sp>
        <p:nvSpPr>
          <p:cNvPr id="101" name="Google Shape;101;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4" name="Shape 104"/>
        <p:cNvGrpSpPr/>
        <p:nvPr/>
      </p:nvGrpSpPr>
      <p:grpSpPr>
        <a:xfrm>
          <a:off x="0" y="0"/>
          <a:ext cx="0" cy="0"/>
          <a:chOff x="0" y="0"/>
          <a:chExt cx="0" cy="0"/>
        </a:xfrm>
      </p:grpSpPr>
      <p:sp>
        <p:nvSpPr>
          <p:cNvPr id="105" name="Google Shape;105;g3859f75bb62_0_59"/>
          <p:cNvSpPr txBox="1"/>
          <p:nvPr>
            <p:ph type="title"/>
          </p:nvPr>
        </p:nvSpPr>
        <p:spPr>
          <a:xfrm>
            <a:off x="415600" y="593367"/>
            <a:ext cx="11360700" cy="7635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SzPts val="4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g3859f75bb62_0_59"/>
          <p:cNvSpPr txBox="1"/>
          <p:nvPr>
            <p:ph idx="1" type="body"/>
          </p:nvPr>
        </p:nvSpPr>
        <p:spPr>
          <a:xfrm>
            <a:off x="415600" y="1536633"/>
            <a:ext cx="11360700" cy="4555200"/>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SzPts val="2800"/>
              <a:buChar char="•"/>
              <a:defRPr/>
            </a:lvl1pPr>
            <a:lvl2pPr indent="-381000" lvl="1" marL="914400" algn="l">
              <a:lnSpc>
                <a:spcPct val="90000"/>
              </a:lnSpc>
              <a:spcBef>
                <a:spcPts val="500"/>
              </a:spcBef>
              <a:spcAft>
                <a:spcPts val="0"/>
              </a:spcAft>
              <a:buSzPts val="2400"/>
              <a:buChar char="•"/>
              <a:defRPr/>
            </a:lvl2pPr>
            <a:lvl3pPr indent="-355600" lvl="2" marL="1371600" algn="l">
              <a:lnSpc>
                <a:spcPct val="90000"/>
              </a:lnSpc>
              <a:spcBef>
                <a:spcPts val="500"/>
              </a:spcBef>
              <a:spcAft>
                <a:spcPts val="0"/>
              </a:spcAft>
              <a:buSzPts val="2000"/>
              <a:buChar char="•"/>
              <a:defRPr/>
            </a:lvl3pPr>
            <a:lvl4pPr indent="-342900" lvl="3" marL="1828800" algn="l">
              <a:lnSpc>
                <a:spcPct val="90000"/>
              </a:lnSpc>
              <a:spcBef>
                <a:spcPts val="500"/>
              </a:spcBef>
              <a:spcAft>
                <a:spcPts val="0"/>
              </a:spcAft>
              <a:buSzPts val="1800"/>
              <a:buChar char="•"/>
              <a:defRPr/>
            </a:lvl4pPr>
            <a:lvl5pPr indent="-342900" lvl="4" marL="2286000" algn="l">
              <a:lnSpc>
                <a:spcPct val="90000"/>
              </a:lnSpc>
              <a:spcBef>
                <a:spcPts val="500"/>
              </a:spcBef>
              <a:spcAft>
                <a:spcPts val="0"/>
              </a:spcAft>
              <a:buSzPts val="1800"/>
              <a:buChar char="•"/>
              <a:defRPr/>
            </a:lvl5pPr>
            <a:lvl6pPr indent="-342900" lvl="5" marL="2743200" algn="l">
              <a:lnSpc>
                <a:spcPct val="90000"/>
              </a:lnSpc>
              <a:spcBef>
                <a:spcPts val="500"/>
              </a:spcBef>
              <a:spcAft>
                <a:spcPts val="0"/>
              </a:spcAft>
              <a:buSzPts val="1800"/>
              <a:buChar char="•"/>
              <a:defRPr/>
            </a:lvl6pPr>
            <a:lvl7pPr indent="-342900" lvl="6" marL="3200400" algn="l">
              <a:lnSpc>
                <a:spcPct val="90000"/>
              </a:lnSpc>
              <a:spcBef>
                <a:spcPts val="500"/>
              </a:spcBef>
              <a:spcAft>
                <a:spcPts val="0"/>
              </a:spcAft>
              <a:buSzPts val="1800"/>
              <a:buChar char="•"/>
              <a:defRPr/>
            </a:lvl7pPr>
            <a:lvl8pPr indent="-342900" lvl="7" marL="3657600" algn="l">
              <a:lnSpc>
                <a:spcPct val="90000"/>
              </a:lnSpc>
              <a:spcBef>
                <a:spcPts val="500"/>
              </a:spcBef>
              <a:spcAft>
                <a:spcPts val="0"/>
              </a:spcAft>
              <a:buSzPts val="1800"/>
              <a:buChar char="•"/>
              <a:defRPr/>
            </a:lvl8pPr>
            <a:lvl9pPr indent="-342900" lvl="8" marL="4114800" algn="l">
              <a:lnSpc>
                <a:spcPct val="90000"/>
              </a:lnSpc>
              <a:spcBef>
                <a:spcPts val="500"/>
              </a:spcBef>
              <a:spcAft>
                <a:spcPts val="0"/>
              </a:spcAft>
              <a:buSzPts val="1800"/>
              <a:buChar char="•"/>
              <a:defRPr/>
            </a:lvl9pPr>
          </a:lstStyle>
          <a:p/>
        </p:txBody>
      </p:sp>
      <p:sp>
        <p:nvSpPr>
          <p:cNvPr id="107" name="Google Shape;107;g3859f75bb62_0_59"/>
          <p:cNvSpPr txBox="1"/>
          <p:nvPr>
            <p:ph idx="12" type="sldNum"/>
          </p:nvPr>
        </p:nvSpPr>
        <p:spPr>
          <a:xfrm>
            <a:off x="11296610" y="6217622"/>
            <a:ext cx="731700" cy="5247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HEADER_1">
  <p:cSld name="SECTION_HEADER_1">
    <p:spTree>
      <p:nvGrpSpPr>
        <p:cNvPr id="108" name="Shape 108"/>
        <p:cNvGrpSpPr/>
        <p:nvPr/>
      </p:nvGrpSpPr>
      <p:grpSpPr>
        <a:xfrm>
          <a:off x="0" y="0"/>
          <a:ext cx="0" cy="0"/>
          <a:chOff x="0" y="0"/>
          <a:chExt cx="0" cy="0"/>
        </a:xfrm>
      </p:grpSpPr>
      <p:sp>
        <p:nvSpPr>
          <p:cNvPr id="109" name="Google Shape;109;g3756d5883a8_0_365"/>
          <p:cNvSpPr txBox="1"/>
          <p:nvPr>
            <p:ph type="title"/>
          </p:nvPr>
        </p:nvSpPr>
        <p:spPr>
          <a:xfrm>
            <a:off x="415600" y="2867800"/>
            <a:ext cx="11360700" cy="1122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110" name="Google Shape;110;g3756d5883a8_0_365"/>
          <p:cNvSpPr txBox="1"/>
          <p:nvPr>
            <p:ph idx="12" type="sldNum"/>
          </p:nvPr>
        </p:nvSpPr>
        <p:spPr>
          <a:xfrm>
            <a:off x="11296610" y="6217622"/>
            <a:ext cx="731700" cy="5247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1" name="Shape 111"/>
        <p:cNvGrpSpPr/>
        <p:nvPr/>
      </p:nvGrpSpPr>
      <p:grpSpPr>
        <a:xfrm>
          <a:off x="0" y="0"/>
          <a:ext cx="0" cy="0"/>
          <a:chOff x="0" y="0"/>
          <a:chExt cx="0" cy="0"/>
        </a:xfrm>
      </p:grpSpPr>
      <p:sp>
        <p:nvSpPr>
          <p:cNvPr id="112" name="Google Shape;112;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 name="Google Shape;113;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 name="Google Shape;115;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6" name="Shape 116"/>
        <p:cNvGrpSpPr/>
        <p:nvPr/>
      </p:nvGrpSpPr>
      <p:grpSpPr>
        <a:xfrm>
          <a:off x="0" y="0"/>
          <a:ext cx="0" cy="0"/>
          <a:chOff x="0" y="0"/>
          <a:chExt cx="0" cy="0"/>
        </a:xfrm>
      </p:grpSpPr>
      <p:sp>
        <p:nvSpPr>
          <p:cNvPr id="117" name="Google Shape;117;p4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Times New Roman"/>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 name="Google Shape;118;p4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19" name="Google Shape;119;p4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0" name="Google Shape;120;p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2" name="Shape 122"/>
        <p:cNvGrpSpPr/>
        <p:nvPr/>
      </p:nvGrpSpPr>
      <p:grpSpPr>
        <a:xfrm>
          <a:off x="0" y="0"/>
          <a:ext cx="0" cy="0"/>
          <a:chOff x="0" y="0"/>
          <a:chExt cx="0" cy="0"/>
        </a:xfrm>
      </p:grpSpPr>
      <p:sp>
        <p:nvSpPr>
          <p:cNvPr id="123" name="Google Shape;123;p4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Times New Roman"/>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 name="Google Shape;124;p4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25" name="Google Shape;125;p4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 name="Google Shape;126;p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 name="Google Shape;127;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28" name="Shape 128"/>
        <p:cNvGrpSpPr/>
        <p:nvPr/>
      </p:nvGrpSpPr>
      <p:grpSpPr>
        <a:xfrm>
          <a:off x="0" y="0"/>
          <a:ext cx="0" cy="0"/>
          <a:chOff x="0" y="0"/>
          <a:chExt cx="0" cy="0"/>
        </a:xfrm>
      </p:grpSpPr>
      <p:sp>
        <p:nvSpPr>
          <p:cNvPr id="129" name="Google Shape;129;p4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0" name="Google Shape;130;p4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1" name="Google Shape;131;p4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2" name="Google Shape;132;p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3" name="Google Shape;133;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4" name="Google Shape;134;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35" name="Shape 135"/>
        <p:cNvGrpSpPr/>
        <p:nvPr/>
      </p:nvGrpSpPr>
      <p:grpSpPr>
        <a:xfrm>
          <a:off x="0" y="0"/>
          <a:ext cx="0" cy="0"/>
          <a:chOff x="0" y="0"/>
          <a:chExt cx="0" cy="0"/>
        </a:xfrm>
      </p:grpSpPr>
      <p:sp>
        <p:nvSpPr>
          <p:cNvPr id="136" name="Google Shape;136;p4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7" name="Google Shape;137;p4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38" name="Google Shape;138;p4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9" name="Google Shape;139;p4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40" name="Google Shape;140;p4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1" name="Google Shape;141;p4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p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3" name="Google Shape;143;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44" name="Shape 144"/>
        <p:cNvGrpSpPr/>
        <p:nvPr/>
      </p:nvGrpSpPr>
      <p:grpSpPr>
        <a:xfrm>
          <a:off x="0" y="0"/>
          <a:ext cx="0" cy="0"/>
          <a:chOff x="0" y="0"/>
          <a:chExt cx="0" cy="0"/>
        </a:xfrm>
      </p:grpSpPr>
      <p:sp>
        <p:nvSpPr>
          <p:cNvPr id="145" name="Google Shape;145;p4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Times New Roman"/>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6" name="Google Shape;146;p48"/>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47" name="Google Shape;147;p48"/>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48" name="Google Shape;148;p4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9" name="Google Shape;149;p4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0" name="Google Shape;150;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51" name="Shape 151"/>
        <p:cNvGrpSpPr/>
        <p:nvPr/>
      </p:nvGrpSpPr>
      <p:grpSpPr>
        <a:xfrm>
          <a:off x="0" y="0"/>
          <a:ext cx="0" cy="0"/>
          <a:chOff x="0" y="0"/>
          <a:chExt cx="0" cy="0"/>
        </a:xfrm>
      </p:grpSpPr>
      <p:sp>
        <p:nvSpPr>
          <p:cNvPr id="152" name="Google Shape;152;p4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Times New Roman"/>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3" name="Google Shape;153;p49"/>
          <p:cNvSpPr/>
          <p:nvPr>
            <p:ph idx="2" type="pic"/>
          </p:nvPr>
        </p:nvSpPr>
        <p:spPr>
          <a:xfrm>
            <a:off x="5183188" y="987425"/>
            <a:ext cx="6172200" cy="4873625"/>
          </a:xfrm>
          <a:prstGeom prst="rect">
            <a:avLst/>
          </a:prstGeom>
          <a:noFill/>
          <a:ln>
            <a:noFill/>
          </a:ln>
        </p:spPr>
      </p:sp>
      <p:sp>
        <p:nvSpPr>
          <p:cNvPr id="154" name="Google Shape;154;p49"/>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55" name="Google Shape;155;p4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6" name="Google Shape;156;p4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7" name="Google Shape;157;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58" name="Shape 158"/>
        <p:cNvGrpSpPr/>
        <p:nvPr/>
      </p:nvGrpSpPr>
      <p:grpSpPr>
        <a:xfrm>
          <a:off x="0" y="0"/>
          <a:ext cx="0" cy="0"/>
          <a:chOff x="0" y="0"/>
          <a:chExt cx="0" cy="0"/>
        </a:xfrm>
      </p:grpSpPr>
      <p:sp>
        <p:nvSpPr>
          <p:cNvPr id="159" name="Google Shape;159;p5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0" name="Google Shape;160;p50"/>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1" name="Google Shape;161;p5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2" name="Google Shape;162;p5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3" name="Google Shape;163;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64" name="Shape 164"/>
        <p:cNvGrpSpPr/>
        <p:nvPr/>
      </p:nvGrpSpPr>
      <p:grpSpPr>
        <a:xfrm>
          <a:off x="0" y="0"/>
          <a:ext cx="0" cy="0"/>
          <a:chOff x="0" y="0"/>
          <a:chExt cx="0" cy="0"/>
        </a:xfrm>
      </p:grpSpPr>
      <p:sp>
        <p:nvSpPr>
          <p:cNvPr id="165" name="Google Shape;165;p51"/>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6" name="Google Shape;166;p51"/>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7" name="Google Shape;167;p5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8" name="Google Shape;168;p5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9" name="Google Shape;169;p5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p:cSld name="Title and Content">
    <p:spTree>
      <p:nvGrpSpPr>
        <p:cNvPr id="170" name="Shape 170"/>
        <p:cNvGrpSpPr/>
        <p:nvPr/>
      </p:nvGrpSpPr>
      <p:grpSpPr>
        <a:xfrm>
          <a:off x="0" y="0"/>
          <a:ext cx="0" cy="0"/>
          <a:chOff x="0" y="0"/>
          <a:chExt cx="0" cy="0"/>
        </a:xfrm>
      </p:grpSpPr>
      <p:sp>
        <p:nvSpPr>
          <p:cNvPr id="171" name="Google Shape;171;g39b7157ad26_0_674"/>
          <p:cNvSpPr txBox="1"/>
          <p:nvPr>
            <p:ph type="title"/>
          </p:nvPr>
        </p:nvSpPr>
        <p:spPr>
          <a:xfrm>
            <a:off x="304800" y="183092"/>
            <a:ext cx="5486400" cy="762000"/>
          </a:xfrm>
          <a:prstGeom prst="rect">
            <a:avLst/>
          </a:prstGeom>
          <a:noFill/>
          <a:ln>
            <a:noFill/>
          </a:ln>
        </p:spPr>
        <p:txBody>
          <a:bodyPr anchorCtr="0" anchor="ctr" bIns="30475" lIns="60950" spcFirstLastPara="1" rIns="60950" wrap="square" tIns="30475">
            <a:normAutofit/>
          </a:bodyPr>
          <a:lstStyle>
            <a:lvl1pPr lvl="0" algn="ctr">
              <a:lnSpc>
                <a:spcPct val="100000"/>
              </a:lnSpc>
              <a:spcBef>
                <a:spcPts val="0"/>
              </a:spcBef>
              <a:spcAft>
                <a:spcPts val="0"/>
              </a:spcAft>
              <a:buSzPts val="2900"/>
              <a:buNone/>
              <a:defRPr/>
            </a:lvl1pPr>
            <a:lvl2pPr lvl="1" algn="l">
              <a:lnSpc>
                <a:spcPct val="100000"/>
              </a:lnSpc>
              <a:spcBef>
                <a:spcPts val="0"/>
              </a:spcBef>
              <a:spcAft>
                <a:spcPts val="0"/>
              </a:spcAft>
              <a:buSzPts val="900"/>
              <a:buNone/>
              <a:defRPr/>
            </a:lvl2pPr>
            <a:lvl3pPr lvl="2" algn="l">
              <a:lnSpc>
                <a:spcPct val="100000"/>
              </a:lnSpc>
              <a:spcBef>
                <a:spcPts val="0"/>
              </a:spcBef>
              <a:spcAft>
                <a:spcPts val="0"/>
              </a:spcAft>
              <a:buSzPts val="900"/>
              <a:buNone/>
              <a:defRPr/>
            </a:lvl3pPr>
            <a:lvl4pPr lvl="3" algn="l">
              <a:lnSpc>
                <a:spcPct val="100000"/>
              </a:lnSpc>
              <a:spcBef>
                <a:spcPts val="0"/>
              </a:spcBef>
              <a:spcAft>
                <a:spcPts val="0"/>
              </a:spcAft>
              <a:buSzPts val="900"/>
              <a:buNone/>
              <a:defRPr/>
            </a:lvl4pPr>
            <a:lvl5pPr lvl="4" algn="l">
              <a:lnSpc>
                <a:spcPct val="100000"/>
              </a:lnSpc>
              <a:spcBef>
                <a:spcPts val="0"/>
              </a:spcBef>
              <a:spcAft>
                <a:spcPts val="0"/>
              </a:spcAft>
              <a:buSzPts val="900"/>
              <a:buNone/>
              <a:defRPr/>
            </a:lvl5pPr>
            <a:lvl6pPr lvl="5" algn="l">
              <a:lnSpc>
                <a:spcPct val="100000"/>
              </a:lnSpc>
              <a:spcBef>
                <a:spcPts val="0"/>
              </a:spcBef>
              <a:spcAft>
                <a:spcPts val="0"/>
              </a:spcAft>
              <a:buSzPts val="900"/>
              <a:buNone/>
              <a:defRPr/>
            </a:lvl6pPr>
            <a:lvl7pPr lvl="6" algn="l">
              <a:lnSpc>
                <a:spcPct val="100000"/>
              </a:lnSpc>
              <a:spcBef>
                <a:spcPts val="0"/>
              </a:spcBef>
              <a:spcAft>
                <a:spcPts val="0"/>
              </a:spcAft>
              <a:buSzPts val="900"/>
              <a:buNone/>
              <a:defRPr/>
            </a:lvl7pPr>
            <a:lvl8pPr lvl="7" algn="l">
              <a:lnSpc>
                <a:spcPct val="100000"/>
              </a:lnSpc>
              <a:spcBef>
                <a:spcPts val="0"/>
              </a:spcBef>
              <a:spcAft>
                <a:spcPts val="0"/>
              </a:spcAft>
              <a:buSzPts val="900"/>
              <a:buNone/>
              <a:defRPr/>
            </a:lvl8pPr>
            <a:lvl9pPr lvl="8" algn="l">
              <a:lnSpc>
                <a:spcPct val="100000"/>
              </a:lnSpc>
              <a:spcBef>
                <a:spcPts val="0"/>
              </a:spcBef>
              <a:spcAft>
                <a:spcPts val="0"/>
              </a:spcAft>
              <a:buSzPts val="900"/>
              <a:buNone/>
              <a:defRPr/>
            </a:lvl9pPr>
          </a:lstStyle>
          <a:p/>
        </p:txBody>
      </p:sp>
      <p:sp>
        <p:nvSpPr>
          <p:cNvPr id="172" name="Google Shape;172;g39b7157ad26_0_674"/>
          <p:cNvSpPr txBox="1"/>
          <p:nvPr>
            <p:ph idx="1" type="body"/>
          </p:nvPr>
        </p:nvSpPr>
        <p:spPr>
          <a:xfrm>
            <a:off x="304800" y="1066800"/>
            <a:ext cx="5486400" cy="3017400"/>
          </a:xfrm>
          <a:prstGeom prst="rect">
            <a:avLst/>
          </a:prstGeom>
          <a:noFill/>
          <a:ln>
            <a:noFill/>
          </a:ln>
        </p:spPr>
        <p:txBody>
          <a:bodyPr anchorCtr="0" anchor="t" bIns="30475" lIns="60950" spcFirstLastPara="1" rIns="60950" wrap="square" tIns="30475">
            <a:normAutofit/>
          </a:bodyPr>
          <a:lstStyle>
            <a:lvl1pPr indent="-361950" lvl="0" marL="457200" algn="l">
              <a:lnSpc>
                <a:spcPct val="100000"/>
              </a:lnSpc>
              <a:spcBef>
                <a:spcPts val="400"/>
              </a:spcBef>
              <a:spcAft>
                <a:spcPts val="0"/>
              </a:spcAft>
              <a:buSzPts val="2100"/>
              <a:buChar char="•"/>
              <a:defRPr/>
            </a:lvl1pPr>
            <a:lvl2pPr indent="-349250" lvl="1" marL="914400" algn="l">
              <a:lnSpc>
                <a:spcPct val="100000"/>
              </a:lnSpc>
              <a:spcBef>
                <a:spcPts val="400"/>
              </a:spcBef>
              <a:spcAft>
                <a:spcPts val="0"/>
              </a:spcAft>
              <a:buSzPts val="1900"/>
              <a:buChar char="•"/>
              <a:defRPr/>
            </a:lvl2pPr>
            <a:lvl3pPr indent="-330200" lvl="2" marL="1371600" algn="l">
              <a:lnSpc>
                <a:spcPct val="100000"/>
              </a:lnSpc>
              <a:spcBef>
                <a:spcPts val="300"/>
              </a:spcBef>
              <a:spcAft>
                <a:spcPts val="0"/>
              </a:spcAft>
              <a:buSzPts val="1600"/>
              <a:buChar char="•"/>
              <a:defRPr/>
            </a:lvl3pPr>
            <a:lvl4pPr indent="-311150" lvl="3" marL="1828800" algn="l">
              <a:lnSpc>
                <a:spcPct val="100000"/>
              </a:lnSpc>
              <a:spcBef>
                <a:spcPts val="300"/>
              </a:spcBef>
              <a:spcAft>
                <a:spcPts val="0"/>
              </a:spcAft>
              <a:buSzPts val="1300"/>
              <a:buChar char="•"/>
              <a:defRPr/>
            </a:lvl4pPr>
            <a:lvl5pPr indent="-311150" lvl="4" marL="2286000" algn="l">
              <a:lnSpc>
                <a:spcPct val="100000"/>
              </a:lnSpc>
              <a:spcBef>
                <a:spcPts val="300"/>
              </a:spcBef>
              <a:spcAft>
                <a:spcPts val="0"/>
              </a:spcAft>
              <a:buSzPts val="1300"/>
              <a:buChar char="•"/>
              <a:defRPr/>
            </a:lvl5pPr>
            <a:lvl6pPr indent="-311150" lvl="5" marL="2743200" algn="l">
              <a:lnSpc>
                <a:spcPct val="100000"/>
              </a:lnSpc>
              <a:spcBef>
                <a:spcPts val="300"/>
              </a:spcBef>
              <a:spcAft>
                <a:spcPts val="0"/>
              </a:spcAft>
              <a:buSzPts val="1300"/>
              <a:buChar char="•"/>
              <a:defRPr/>
            </a:lvl6pPr>
            <a:lvl7pPr indent="-311150" lvl="6" marL="3200400" algn="l">
              <a:lnSpc>
                <a:spcPct val="100000"/>
              </a:lnSpc>
              <a:spcBef>
                <a:spcPts val="300"/>
              </a:spcBef>
              <a:spcAft>
                <a:spcPts val="0"/>
              </a:spcAft>
              <a:buSzPts val="1300"/>
              <a:buChar char="•"/>
              <a:defRPr/>
            </a:lvl7pPr>
            <a:lvl8pPr indent="-311150" lvl="7" marL="3657600" algn="l">
              <a:lnSpc>
                <a:spcPct val="100000"/>
              </a:lnSpc>
              <a:spcBef>
                <a:spcPts val="300"/>
              </a:spcBef>
              <a:spcAft>
                <a:spcPts val="0"/>
              </a:spcAft>
              <a:buSzPts val="1300"/>
              <a:buChar char="•"/>
              <a:defRPr/>
            </a:lvl8pPr>
            <a:lvl9pPr indent="-311150" lvl="8" marL="4114800" algn="l">
              <a:lnSpc>
                <a:spcPct val="100000"/>
              </a:lnSpc>
              <a:spcBef>
                <a:spcPts val="300"/>
              </a:spcBef>
              <a:spcAft>
                <a:spcPts val="0"/>
              </a:spcAft>
              <a:buSzPts val="1300"/>
              <a:buChar char="•"/>
              <a:defRPr/>
            </a:lvl9pPr>
          </a:lstStyle>
          <a:p/>
        </p:txBody>
      </p:sp>
      <p:sp>
        <p:nvSpPr>
          <p:cNvPr id="173" name="Google Shape;173;g39b7157ad26_0_674"/>
          <p:cNvSpPr txBox="1"/>
          <p:nvPr>
            <p:ph idx="10" type="dt"/>
          </p:nvPr>
        </p:nvSpPr>
        <p:spPr>
          <a:xfrm>
            <a:off x="304800" y="4237567"/>
            <a:ext cx="1422300" cy="243300"/>
          </a:xfrm>
          <a:prstGeom prst="rect">
            <a:avLst/>
          </a:prstGeom>
          <a:noFill/>
          <a:ln>
            <a:noFill/>
          </a:ln>
        </p:spPr>
        <p:txBody>
          <a:bodyPr anchorCtr="0" anchor="ctr" bIns="30475" lIns="60950" spcFirstLastPara="1" rIns="60950" wrap="square" tIns="30475">
            <a:noAutofit/>
          </a:bodyPr>
          <a:lstStyle>
            <a:lvl1pPr lvl="0" algn="l">
              <a:lnSpc>
                <a:spcPct val="100000"/>
              </a:lnSpc>
              <a:spcBef>
                <a:spcPts val="0"/>
              </a:spcBef>
              <a:spcAft>
                <a:spcPts val="0"/>
              </a:spcAft>
              <a:buSzPts val="900"/>
              <a:buNone/>
              <a:defRPr/>
            </a:lvl1pPr>
            <a:lvl2pPr lvl="1" algn="l">
              <a:lnSpc>
                <a:spcPct val="100000"/>
              </a:lnSpc>
              <a:spcBef>
                <a:spcPts val="0"/>
              </a:spcBef>
              <a:spcAft>
                <a:spcPts val="0"/>
              </a:spcAft>
              <a:buSzPts val="900"/>
              <a:buNone/>
              <a:defRPr/>
            </a:lvl2pPr>
            <a:lvl3pPr lvl="2" algn="l">
              <a:lnSpc>
                <a:spcPct val="100000"/>
              </a:lnSpc>
              <a:spcBef>
                <a:spcPts val="0"/>
              </a:spcBef>
              <a:spcAft>
                <a:spcPts val="0"/>
              </a:spcAft>
              <a:buSzPts val="900"/>
              <a:buNone/>
              <a:defRPr/>
            </a:lvl3pPr>
            <a:lvl4pPr lvl="3" algn="l">
              <a:lnSpc>
                <a:spcPct val="100000"/>
              </a:lnSpc>
              <a:spcBef>
                <a:spcPts val="0"/>
              </a:spcBef>
              <a:spcAft>
                <a:spcPts val="0"/>
              </a:spcAft>
              <a:buSzPts val="900"/>
              <a:buNone/>
              <a:defRPr/>
            </a:lvl4pPr>
            <a:lvl5pPr lvl="4" algn="l">
              <a:lnSpc>
                <a:spcPct val="100000"/>
              </a:lnSpc>
              <a:spcBef>
                <a:spcPts val="0"/>
              </a:spcBef>
              <a:spcAft>
                <a:spcPts val="0"/>
              </a:spcAft>
              <a:buSzPts val="900"/>
              <a:buNone/>
              <a:defRPr/>
            </a:lvl5pPr>
            <a:lvl6pPr lvl="5" algn="l">
              <a:lnSpc>
                <a:spcPct val="100000"/>
              </a:lnSpc>
              <a:spcBef>
                <a:spcPts val="0"/>
              </a:spcBef>
              <a:spcAft>
                <a:spcPts val="0"/>
              </a:spcAft>
              <a:buSzPts val="900"/>
              <a:buNone/>
              <a:defRPr/>
            </a:lvl6pPr>
            <a:lvl7pPr lvl="6" algn="l">
              <a:lnSpc>
                <a:spcPct val="100000"/>
              </a:lnSpc>
              <a:spcBef>
                <a:spcPts val="0"/>
              </a:spcBef>
              <a:spcAft>
                <a:spcPts val="0"/>
              </a:spcAft>
              <a:buSzPts val="900"/>
              <a:buNone/>
              <a:defRPr/>
            </a:lvl7pPr>
            <a:lvl8pPr lvl="7" algn="l">
              <a:lnSpc>
                <a:spcPct val="100000"/>
              </a:lnSpc>
              <a:spcBef>
                <a:spcPts val="0"/>
              </a:spcBef>
              <a:spcAft>
                <a:spcPts val="0"/>
              </a:spcAft>
              <a:buSzPts val="900"/>
              <a:buNone/>
              <a:defRPr/>
            </a:lvl8pPr>
            <a:lvl9pPr lvl="8" algn="l">
              <a:lnSpc>
                <a:spcPct val="100000"/>
              </a:lnSpc>
              <a:spcBef>
                <a:spcPts val="0"/>
              </a:spcBef>
              <a:spcAft>
                <a:spcPts val="0"/>
              </a:spcAft>
              <a:buSzPts val="900"/>
              <a:buNone/>
              <a:defRPr/>
            </a:lvl9pPr>
          </a:lstStyle>
          <a:p/>
        </p:txBody>
      </p:sp>
      <p:sp>
        <p:nvSpPr>
          <p:cNvPr id="174" name="Google Shape;174;g39b7157ad26_0_674"/>
          <p:cNvSpPr txBox="1"/>
          <p:nvPr>
            <p:ph idx="11" type="ftr"/>
          </p:nvPr>
        </p:nvSpPr>
        <p:spPr>
          <a:xfrm>
            <a:off x="2082800" y="4237567"/>
            <a:ext cx="1930500" cy="243300"/>
          </a:xfrm>
          <a:prstGeom prst="rect">
            <a:avLst/>
          </a:prstGeom>
          <a:noFill/>
          <a:ln>
            <a:noFill/>
          </a:ln>
        </p:spPr>
        <p:txBody>
          <a:bodyPr anchorCtr="0" anchor="ctr" bIns="30475" lIns="60950" spcFirstLastPara="1" rIns="60950" wrap="square" tIns="30475">
            <a:noAutofit/>
          </a:bodyPr>
          <a:lstStyle>
            <a:lvl1pPr lvl="0" algn="ctr">
              <a:lnSpc>
                <a:spcPct val="100000"/>
              </a:lnSpc>
              <a:spcBef>
                <a:spcPts val="0"/>
              </a:spcBef>
              <a:spcAft>
                <a:spcPts val="0"/>
              </a:spcAft>
              <a:buSzPts val="900"/>
              <a:buNone/>
              <a:defRPr/>
            </a:lvl1pPr>
            <a:lvl2pPr lvl="1" algn="l">
              <a:lnSpc>
                <a:spcPct val="100000"/>
              </a:lnSpc>
              <a:spcBef>
                <a:spcPts val="0"/>
              </a:spcBef>
              <a:spcAft>
                <a:spcPts val="0"/>
              </a:spcAft>
              <a:buSzPts val="900"/>
              <a:buNone/>
              <a:defRPr/>
            </a:lvl2pPr>
            <a:lvl3pPr lvl="2" algn="l">
              <a:lnSpc>
                <a:spcPct val="100000"/>
              </a:lnSpc>
              <a:spcBef>
                <a:spcPts val="0"/>
              </a:spcBef>
              <a:spcAft>
                <a:spcPts val="0"/>
              </a:spcAft>
              <a:buSzPts val="900"/>
              <a:buNone/>
              <a:defRPr/>
            </a:lvl3pPr>
            <a:lvl4pPr lvl="3" algn="l">
              <a:lnSpc>
                <a:spcPct val="100000"/>
              </a:lnSpc>
              <a:spcBef>
                <a:spcPts val="0"/>
              </a:spcBef>
              <a:spcAft>
                <a:spcPts val="0"/>
              </a:spcAft>
              <a:buSzPts val="900"/>
              <a:buNone/>
              <a:defRPr/>
            </a:lvl4pPr>
            <a:lvl5pPr lvl="4" algn="l">
              <a:lnSpc>
                <a:spcPct val="100000"/>
              </a:lnSpc>
              <a:spcBef>
                <a:spcPts val="0"/>
              </a:spcBef>
              <a:spcAft>
                <a:spcPts val="0"/>
              </a:spcAft>
              <a:buSzPts val="900"/>
              <a:buNone/>
              <a:defRPr/>
            </a:lvl5pPr>
            <a:lvl6pPr lvl="5" algn="l">
              <a:lnSpc>
                <a:spcPct val="100000"/>
              </a:lnSpc>
              <a:spcBef>
                <a:spcPts val="0"/>
              </a:spcBef>
              <a:spcAft>
                <a:spcPts val="0"/>
              </a:spcAft>
              <a:buSzPts val="900"/>
              <a:buNone/>
              <a:defRPr/>
            </a:lvl6pPr>
            <a:lvl7pPr lvl="6" algn="l">
              <a:lnSpc>
                <a:spcPct val="100000"/>
              </a:lnSpc>
              <a:spcBef>
                <a:spcPts val="0"/>
              </a:spcBef>
              <a:spcAft>
                <a:spcPts val="0"/>
              </a:spcAft>
              <a:buSzPts val="900"/>
              <a:buNone/>
              <a:defRPr/>
            </a:lvl7pPr>
            <a:lvl8pPr lvl="7" algn="l">
              <a:lnSpc>
                <a:spcPct val="100000"/>
              </a:lnSpc>
              <a:spcBef>
                <a:spcPts val="0"/>
              </a:spcBef>
              <a:spcAft>
                <a:spcPts val="0"/>
              </a:spcAft>
              <a:buSzPts val="900"/>
              <a:buNone/>
              <a:defRPr/>
            </a:lvl8pPr>
            <a:lvl9pPr lvl="8" algn="l">
              <a:lnSpc>
                <a:spcPct val="100000"/>
              </a:lnSpc>
              <a:spcBef>
                <a:spcPts val="0"/>
              </a:spcBef>
              <a:spcAft>
                <a:spcPts val="0"/>
              </a:spcAft>
              <a:buSzPts val="900"/>
              <a:buNone/>
              <a:defRPr/>
            </a:lvl9pPr>
          </a:lstStyle>
          <a:p/>
        </p:txBody>
      </p:sp>
      <p:sp>
        <p:nvSpPr>
          <p:cNvPr id="175" name="Google Shape;175;g39b7157ad26_0_674"/>
          <p:cNvSpPr txBox="1"/>
          <p:nvPr>
            <p:ph idx="12" type="sldNum"/>
          </p:nvPr>
        </p:nvSpPr>
        <p:spPr>
          <a:xfrm>
            <a:off x="4368800" y="4237567"/>
            <a:ext cx="1422300" cy="243300"/>
          </a:xfrm>
          <a:prstGeom prst="rect">
            <a:avLst/>
          </a:prstGeom>
          <a:noFill/>
          <a:ln>
            <a:noFill/>
          </a:ln>
        </p:spPr>
        <p:txBody>
          <a:bodyPr anchorCtr="0" anchor="ctr" bIns="30475" lIns="60950" spcFirstLastPara="1" rIns="60950" wrap="square" tIns="30475">
            <a:noAutofit/>
          </a:bodyPr>
          <a:lstStyle>
            <a:lvl1pPr indent="0" lvl="0" marL="0" marR="0" algn="r">
              <a:lnSpc>
                <a:spcPct val="100000"/>
              </a:lnSpc>
              <a:spcBef>
                <a:spcPts val="0"/>
              </a:spcBef>
              <a:spcAft>
                <a:spcPts val="0"/>
              </a:spcAft>
              <a:buClr>
                <a:srgbClr val="000000"/>
              </a:buClr>
              <a:buSzPts val="8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2" name="Shape 182"/>
        <p:cNvGrpSpPr/>
        <p:nvPr/>
      </p:nvGrpSpPr>
      <p:grpSpPr>
        <a:xfrm>
          <a:off x="0" y="0"/>
          <a:ext cx="0" cy="0"/>
          <a:chOff x="0" y="0"/>
          <a:chExt cx="0" cy="0"/>
        </a:xfrm>
      </p:grpSpPr>
      <p:sp>
        <p:nvSpPr>
          <p:cNvPr id="183" name="Google Shape;183;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4" name="Google Shape;184;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5" name="Google Shape;185;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6" name="Google Shape;186;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7" name="Shape 187"/>
        <p:cNvGrpSpPr/>
        <p:nvPr/>
      </p:nvGrpSpPr>
      <p:grpSpPr>
        <a:xfrm>
          <a:off x="0" y="0"/>
          <a:ext cx="0" cy="0"/>
          <a:chOff x="0" y="0"/>
          <a:chExt cx="0" cy="0"/>
        </a:xfrm>
      </p:grpSpPr>
      <p:sp>
        <p:nvSpPr>
          <p:cNvPr id="188" name="Google Shape;188;p5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Times New Roman"/>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9" name="Google Shape;189;p5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90" name="Google Shape;190;p5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1" name="Google Shape;191;p5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2" name="Google Shape;192;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3" name="Shape 193"/>
        <p:cNvGrpSpPr/>
        <p:nvPr/>
      </p:nvGrpSpPr>
      <p:grpSpPr>
        <a:xfrm>
          <a:off x="0" y="0"/>
          <a:ext cx="0" cy="0"/>
          <a:chOff x="0" y="0"/>
          <a:chExt cx="0" cy="0"/>
        </a:xfrm>
      </p:grpSpPr>
      <p:sp>
        <p:nvSpPr>
          <p:cNvPr id="194" name="Google Shape;194;p5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5" name="Google Shape;195;p5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6" name="Google Shape;196;p5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7" name="Google Shape;197;p5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8" name="Google Shape;198;p5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9" name="Shape 199"/>
        <p:cNvGrpSpPr/>
        <p:nvPr/>
      </p:nvGrpSpPr>
      <p:grpSpPr>
        <a:xfrm>
          <a:off x="0" y="0"/>
          <a:ext cx="0" cy="0"/>
          <a:chOff x="0" y="0"/>
          <a:chExt cx="0" cy="0"/>
        </a:xfrm>
      </p:grpSpPr>
      <p:sp>
        <p:nvSpPr>
          <p:cNvPr id="200" name="Google Shape;200;p5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Times New Roman"/>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1" name="Google Shape;201;p5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02" name="Google Shape;202;p5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3" name="Google Shape;203;p5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4" name="Google Shape;204;p5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05" name="Shape 205"/>
        <p:cNvGrpSpPr/>
        <p:nvPr/>
      </p:nvGrpSpPr>
      <p:grpSpPr>
        <a:xfrm>
          <a:off x="0" y="0"/>
          <a:ext cx="0" cy="0"/>
          <a:chOff x="0" y="0"/>
          <a:chExt cx="0" cy="0"/>
        </a:xfrm>
      </p:grpSpPr>
      <p:sp>
        <p:nvSpPr>
          <p:cNvPr id="206" name="Google Shape;206;p5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7" name="Google Shape;207;p5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8" name="Google Shape;208;p5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9" name="Google Shape;209;p5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0" name="Google Shape;210;p5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1" name="Google Shape;211;p5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12" name="Shape 212"/>
        <p:cNvGrpSpPr/>
        <p:nvPr/>
      </p:nvGrpSpPr>
      <p:grpSpPr>
        <a:xfrm>
          <a:off x="0" y="0"/>
          <a:ext cx="0" cy="0"/>
          <a:chOff x="0" y="0"/>
          <a:chExt cx="0" cy="0"/>
        </a:xfrm>
      </p:grpSpPr>
      <p:sp>
        <p:nvSpPr>
          <p:cNvPr id="213" name="Google Shape;213;p5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4" name="Google Shape;214;p5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15" name="Google Shape;215;p5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6" name="Google Shape;216;p5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17" name="Google Shape;217;p5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8" name="Google Shape;218;p5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9" name="Google Shape;219;p5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0" name="Google Shape;220;p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21" name="Shape 221"/>
        <p:cNvGrpSpPr/>
        <p:nvPr/>
      </p:nvGrpSpPr>
      <p:grpSpPr>
        <a:xfrm>
          <a:off x="0" y="0"/>
          <a:ext cx="0" cy="0"/>
          <a:chOff x="0" y="0"/>
          <a:chExt cx="0" cy="0"/>
        </a:xfrm>
      </p:grpSpPr>
      <p:sp>
        <p:nvSpPr>
          <p:cNvPr id="222" name="Google Shape;222;p5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3" name="Google Shape;223;p5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4" name="Google Shape;224;p5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25" name="Shape 225"/>
        <p:cNvGrpSpPr/>
        <p:nvPr/>
      </p:nvGrpSpPr>
      <p:grpSpPr>
        <a:xfrm>
          <a:off x="0" y="0"/>
          <a:ext cx="0" cy="0"/>
          <a:chOff x="0" y="0"/>
          <a:chExt cx="0" cy="0"/>
        </a:xfrm>
      </p:grpSpPr>
      <p:sp>
        <p:nvSpPr>
          <p:cNvPr id="226" name="Google Shape;226;p5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Times New Roman"/>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7" name="Google Shape;227;p58"/>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228" name="Google Shape;228;p58"/>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229" name="Google Shape;229;p5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0" name="Google Shape;230;p5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1" name="Google Shape;231;p5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32" name="Shape 232"/>
        <p:cNvGrpSpPr/>
        <p:nvPr/>
      </p:nvGrpSpPr>
      <p:grpSpPr>
        <a:xfrm>
          <a:off x="0" y="0"/>
          <a:ext cx="0" cy="0"/>
          <a:chOff x="0" y="0"/>
          <a:chExt cx="0" cy="0"/>
        </a:xfrm>
      </p:grpSpPr>
      <p:sp>
        <p:nvSpPr>
          <p:cNvPr id="233" name="Google Shape;233;p5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Times New Roman"/>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4" name="Google Shape;234;p59"/>
          <p:cNvSpPr/>
          <p:nvPr>
            <p:ph idx="2" type="pic"/>
          </p:nvPr>
        </p:nvSpPr>
        <p:spPr>
          <a:xfrm>
            <a:off x="5183188" y="987425"/>
            <a:ext cx="6172200" cy="4873625"/>
          </a:xfrm>
          <a:prstGeom prst="rect">
            <a:avLst/>
          </a:prstGeom>
          <a:noFill/>
          <a:ln>
            <a:noFill/>
          </a:ln>
        </p:spPr>
      </p:sp>
      <p:sp>
        <p:nvSpPr>
          <p:cNvPr id="235" name="Google Shape;235;p59"/>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236" name="Google Shape;236;p5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7" name="Google Shape;237;p5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8" name="Google Shape;238;p5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39" name="Shape 239"/>
        <p:cNvGrpSpPr/>
        <p:nvPr/>
      </p:nvGrpSpPr>
      <p:grpSpPr>
        <a:xfrm>
          <a:off x="0" y="0"/>
          <a:ext cx="0" cy="0"/>
          <a:chOff x="0" y="0"/>
          <a:chExt cx="0" cy="0"/>
        </a:xfrm>
      </p:grpSpPr>
      <p:sp>
        <p:nvSpPr>
          <p:cNvPr id="240" name="Google Shape;240;p6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1" name="Google Shape;241;p60"/>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2" name="Google Shape;242;p6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3" name="Google Shape;243;p6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4" name="Google Shape;244;p6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45" name="Shape 245"/>
        <p:cNvGrpSpPr/>
        <p:nvPr/>
      </p:nvGrpSpPr>
      <p:grpSpPr>
        <a:xfrm>
          <a:off x="0" y="0"/>
          <a:ext cx="0" cy="0"/>
          <a:chOff x="0" y="0"/>
          <a:chExt cx="0" cy="0"/>
        </a:xfrm>
      </p:grpSpPr>
      <p:sp>
        <p:nvSpPr>
          <p:cNvPr id="246" name="Google Shape;246;p61"/>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7" name="Google Shape;247;p61"/>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8" name="Google Shape;248;p6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9" name="Google Shape;249;p6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0" name="Google Shape;250;p6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3" Type="http://schemas.openxmlformats.org/officeDocument/2006/relationships/slideLayout" Target="../slideLayouts/slideLayout25.xml"/><Relationship Id="rId12" Type="http://schemas.openxmlformats.org/officeDocument/2006/relationships/slideLayout" Target="../slideLayouts/slideLayout24.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5" Type="http://schemas.openxmlformats.org/officeDocument/2006/relationships/theme" Target="../theme/theme1.xml"/><Relationship Id="rId14" Type="http://schemas.openxmlformats.org/officeDocument/2006/relationships/slideLayout" Target="../slideLayouts/slideLayout2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7.xml"/><Relationship Id="rId10" Type="http://schemas.openxmlformats.org/officeDocument/2006/relationships/slideLayout" Target="../slideLayouts/slideLayout36.xml"/><Relationship Id="rId12" Type="http://schemas.openxmlformats.org/officeDocument/2006/relationships/theme" Target="../theme/theme3.xml"/><Relationship Id="rId1" Type="http://schemas.openxmlformats.org/officeDocument/2006/relationships/slideLayout" Target="../slideLayouts/slideLayout27.xml"/><Relationship Id="rId2" Type="http://schemas.openxmlformats.org/officeDocument/2006/relationships/slideLayout" Target="../slideLayouts/slideLayout28.xml"/><Relationship Id="rId3" Type="http://schemas.openxmlformats.org/officeDocument/2006/relationships/slideLayout" Target="../slideLayouts/slideLayout29.xml"/><Relationship Id="rId4" Type="http://schemas.openxmlformats.org/officeDocument/2006/relationships/slideLayout" Target="../slideLayouts/slideLayout30.xml"/><Relationship Id="rId9" Type="http://schemas.openxmlformats.org/officeDocument/2006/relationships/slideLayout" Target="../slideLayouts/slideLayout35.xml"/><Relationship Id="rId5" Type="http://schemas.openxmlformats.org/officeDocument/2006/relationships/slideLayout" Target="../slideLayouts/slideLayout31.xml"/><Relationship Id="rId6" Type="http://schemas.openxmlformats.org/officeDocument/2006/relationships/slideLayout" Target="../slideLayouts/slideLayout32.xml"/><Relationship Id="rId7" Type="http://schemas.openxmlformats.org/officeDocument/2006/relationships/slideLayout" Target="../slideLayouts/slideLayout33.xml"/><Relationship Id="rId8"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8" name="Shape 88"/>
        <p:cNvGrpSpPr/>
        <p:nvPr/>
      </p:nvGrpSpPr>
      <p:grpSpPr>
        <a:xfrm>
          <a:off x="0" y="0"/>
          <a:ext cx="0" cy="0"/>
          <a:chOff x="0" y="0"/>
          <a:chExt cx="0" cy="0"/>
        </a:xfrm>
      </p:grpSpPr>
      <p:sp>
        <p:nvSpPr>
          <p:cNvPr id="89" name="Google Shape;89;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Times New Roman"/>
              <a:buNone/>
              <a:defRPr b="0" i="0" sz="44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90" name="Google Shape;90;p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91" name="Google Shape;91;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92" name="Google Shape;92;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93" name="Google Shape;93;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6" name="Shape 176"/>
        <p:cNvGrpSpPr/>
        <p:nvPr/>
      </p:nvGrpSpPr>
      <p:grpSpPr>
        <a:xfrm>
          <a:off x="0" y="0"/>
          <a:ext cx="0" cy="0"/>
          <a:chOff x="0" y="0"/>
          <a:chExt cx="0" cy="0"/>
        </a:xfrm>
      </p:grpSpPr>
      <p:sp>
        <p:nvSpPr>
          <p:cNvPr id="177" name="Google Shape;177;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Times New Roman"/>
              <a:buNone/>
              <a:defRPr b="0" i="0" sz="44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78" name="Google Shape;178;p3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79" name="Google Shape;179;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80" name="Google Shape;180;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81" name="Google Shape;181;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4.xml"/><Relationship Id="rId3"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 Id="rId3" Type="http://schemas.openxmlformats.org/officeDocument/2006/relationships/image" Target="../media/image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 Id="rId3" Type="http://schemas.openxmlformats.org/officeDocument/2006/relationships/image" Target="../media/image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0.xml"/><Relationship Id="rId3" Type="http://schemas.openxmlformats.org/officeDocument/2006/relationships/image" Target="../media/image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6.xml"/><Relationship Id="rId3" Type="http://schemas.openxmlformats.org/officeDocument/2006/relationships/image" Target="../media/image6.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2.xml"/><Relationship Id="rId3" Type="http://schemas.openxmlformats.org/officeDocument/2006/relationships/image" Target="../media/image7.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g39b32936498_0_18"/>
          <p:cNvSpPr txBox="1"/>
          <p:nvPr>
            <p:ph type="ctrTitle"/>
          </p:nvPr>
        </p:nvSpPr>
        <p:spPr>
          <a:xfrm>
            <a:off x="127200" y="1766450"/>
            <a:ext cx="11937600" cy="15414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2F5496"/>
              </a:buClr>
              <a:buSzPts val="4400"/>
              <a:buFont typeface="Times New Roman"/>
              <a:buNone/>
            </a:pPr>
            <a:r>
              <a:rPr b="1" lang="en-US" sz="4400">
                <a:solidFill>
                  <a:srgbClr val="2F5496"/>
                </a:solidFill>
                <a:latin typeface="Times New Roman"/>
                <a:ea typeface="Times New Roman"/>
                <a:cs typeface="Times New Roman"/>
                <a:sym typeface="Times New Roman"/>
              </a:rPr>
              <a:t>Technical Communication in the</a:t>
            </a:r>
            <a:br>
              <a:rPr b="1" lang="en-US" sz="4400">
                <a:solidFill>
                  <a:srgbClr val="2F5496"/>
                </a:solidFill>
                <a:latin typeface="Times New Roman"/>
                <a:ea typeface="Times New Roman"/>
                <a:cs typeface="Times New Roman"/>
                <a:sym typeface="Times New Roman"/>
              </a:rPr>
            </a:br>
            <a:r>
              <a:rPr b="1" lang="en-US" sz="4400">
                <a:solidFill>
                  <a:srgbClr val="2F5496"/>
                </a:solidFill>
                <a:latin typeface="Times New Roman"/>
                <a:ea typeface="Times New Roman"/>
                <a:cs typeface="Times New Roman"/>
                <a:sym typeface="Times New Roman"/>
              </a:rPr>
              <a:t>Workplace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g39b7157ad26_0_715"/>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1000"/>
              </a:spcBef>
              <a:spcAft>
                <a:spcPts val="0"/>
              </a:spcAft>
              <a:buSzPts val="1800"/>
              <a:buNone/>
            </a:pPr>
            <a:r>
              <a:rPr b="1" lang="en-US" sz="3600">
                <a:latin typeface="Montserrat"/>
                <a:ea typeface="Montserrat"/>
                <a:cs typeface="Montserrat"/>
                <a:sym typeface="Montserrat"/>
              </a:rPr>
              <a:t>Research Introduction </a:t>
            </a:r>
            <a:endParaRPr b="1" sz="3600">
              <a:latin typeface="Montserrat"/>
              <a:ea typeface="Montserrat"/>
              <a:cs typeface="Montserrat"/>
              <a:sym typeface="Montserrat"/>
            </a:endParaRPr>
          </a:p>
        </p:txBody>
      </p:sp>
      <p:grpSp>
        <p:nvGrpSpPr>
          <p:cNvPr id="262" name="Google Shape;262;g39b7157ad26_0_715"/>
          <p:cNvGrpSpPr/>
          <p:nvPr/>
        </p:nvGrpSpPr>
        <p:grpSpPr>
          <a:xfrm>
            <a:off x="0" y="1851911"/>
            <a:ext cx="3442621" cy="4643677"/>
            <a:chOff x="0" y="1189989"/>
            <a:chExt cx="3546900" cy="3482845"/>
          </a:xfrm>
        </p:grpSpPr>
        <p:sp>
          <p:nvSpPr>
            <p:cNvPr id="263" name="Google Shape;263;g39b7157ad26_0_715"/>
            <p:cNvSpPr/>
            <p:nvPr/>
          </p:nvSpPr>
          <p:spPr>
            <a:xfrm>
              <a:off x="0" y="1189989"/>
              <a:ext cx="3546900" cy="669000"/>
            </a:xfrm>
            <a:prstGeom prst="homePlate">
              <a:avLst>
                <a:gd fmla="val 50000" name="adj"/>
              </a:avLst>
            </a:prstGeom>
            <a:solidFill>
              <a:srgbClr val="561561"/>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2300"/>
                <a:buFont typeface="Arial"/>
                <a:buNone/>
              </a:pPr>
              <a:r>
                <a:rPr b="1" i="0" lang="en-US" sz="2300" u="none" cap="none" strike="noStrike">
                  <a:solidFill>
                    <a:srgbClr val="FFFFFF"/>
                  </a:solidFill>
                  <a:latin typeface="Montserrat"/>
                  <a:ea typeface="Montserrat"/>
                  <a:cs typeface="Montserrat"/>
                  <a:sym typeface="Montserrat"/>
                </a:rPr>
                <a:t>Topic</a:t>
              </a:r>
              <a:endParaRPr b="1" i="0" sz="2300" u="none" cap="none" strike="noStrike">
                <a:solidFill>
                  <a:srgbClr val="FFFFFF"/>
                </a:solidFill>
                <a:latin typeface="Montserrat"/>
                <a:ea typeface="Montserrat"/>
                <a:cs typeface="Montserrat"/>
                <a:sym typeface="Montserrat"/>
              </a:endParaRPr>
            </a:p>
          </p:txBody>
        </p:sp>
        <p:sp>
          <p:nvSpPr>
            <p:cNvPr id="264" name="Google Shape;264;g39b7157ad26_0_715"/>
            <p:cNvSpPr txBox="1"/>
            <p:nvPr/>
          </p:nvSpPr>
          <p:spPr>
            <a:xfrm>
              <a:off x="341670" y="2057134"/>
              <a:ext cx="2692500" cy="2615700"/>
            </a:xfrm>
            <a:prstGeom prst="rect">
              <a:avLst/>
            </a:prstGeom>
            <a:noFill/>
            <a:ln>
              <a:noFill/>
            </a:ln>
          </p:spPr>
          <p:txBody>
            <a:bodyPr anchorCtr="0" anchor="t" bIns="121900" lIns="121900" spcFirstLastPara="1" rIns="121900" wrap="square" tIns="121900">
              <a:noAutofit/>
            </a:bodyPr>
            <a:lstStyle/>
            <a:p>
              <a:pPr indent="-342900" lvl="0" marL="457200" marR="0" rtl="0" algn="l">
                <a:lnSpc>
                  <a:spcPct val="90000"/>
                </a:lnSpc>
                <a:spcBef>
                  <a:spcPts val="1000"/>
                </a:spcBef>
                <a:spcAft>
                  <a:spcPts val="0"/>
                </a:spcAft>
                <a:buClr>
                  <a:schemeClr val="dk1"/>
                </a:buClr>
                <a:buSzPts val="1800"/>
                <a:buFont typeface="Montserrat"/>
                <a:buChar char="●"/>
              </a:pPr>
              <a:r>
                <a:rPr b="0" i="0" lang="en-US" sz="1800" u="none" cap="none" strike="noStrike">
                  <a:solidFill>
                    <a:schemeClr val="dk1"/>
                  </a:solidFill>
                  <a:latin typeface="Montserrat"/>
                  <a:ea typeface="Montserrat"/>
                  <a:cs typeface="Montserrat"/>
                  <a:sym typeface="Montserrat"/>
                </a:rPr>
                <a:t>Topic selection</a:t>
              </a:r>
              <a:endParaRPr b="0" i="0" sz="1800" u="none" cap="none" strike="noStrike">
                <a:solidFill>
                  <a:schemeClr val="dk1"/>
                </a:solidFill>
                <a:latin typeface="Montserrat"/>
                <a:ea typeface="Montserrat"/>
                <a:cs typeface="Montserrat"/>
                <a:sym typeface="Montserrat"/>
              </a:endParaRPr>
            </a:p>
            <a:p>
              <a:pPr indent="-342900" lvl="0" marL="457200" marR="0" rtl="0" algn="l">
                <a:lnSpc>
                  <a:spcPct val="90000"/>
                </a:lnSpc>
                <a:spcBef>
                  <a:spcPts val="0"/>
                </a:spcBef>
                <a:spcAft>
                  <a:spcPts val="0"/>
                </a:spcAft>
                <a:buClr>
                  <a:schemeClr val="dk1"/>
                </a:buClr>
                <a:buSzPts val="1800"/>
                <a:buFont typeface="Montserrat"/>
                <a:buChar char="●"/>
              </a:pPr>
              <a:r>
                <a:rPr b="0" i="0" lang="en-US" sz="1800" u="none" cap="none" strike="noStrike">
                  <a:solidFill>
                    <a:schemeClr val="dk1"/>
                  </a:solidFill>
                  <a:latin typeface="Montserrat"/>
                  <a:ea typeface="Montserrat"/>
                  <a:cs typeface="Montserrat"/>
                  <a:sym typeface="Montserrat"/>
                </a:rPr>
                <a:t>Defining a topic </a:t>
              </a:r>
              <a:endParaRPr b="0" i="0" sz="1800" u="none" cap="none" strike="noStrike">
                <a:solidFill>
                  <a:schemeClr val="dk1"/>
                </a:solidFill>
                <a:latin typeface="Montserrat"/>
                <a:ea typeface="Montserrat"/>
                <a:cs typeface="Montserrat"/>
                <a:sym typeface="Montserrat"/>
              </a:endParaRPr>
            </a:p>
            <a:p>
              <a:pPr indent="-342900" lvl="0" marL="457200" marR="0" rtl="0" algn="l">
                <a:lnSpc>
                  <a:spcPct val="90000"/>
                </a:lnSpc>
                <a:spcBef>
                  <a:spcPts val="0"/>
                </a:spcBef>
                <a:spcAft>
                  <a:spcPts val="0"/>
                </a:spcAft>
                <a:buClr>
                  <a:schemeClr val="dk1"/>
                </a:buClr>
                <a:buSzPts val="1800"/>
                <a:buFont typeface="Montserrat"/>
                <a:buChar char="●"/>
              </a:pPr>
              <a:r>
                <a:rPr b="0" i="0" lang="en-US" sz="1800" u="none" cap="none" strike="noStrike">
                  <a:solidFill>
                    <a:schemeClr val="dk1"/>
                  </a:solidFill>
                  <a:latin typeface="Montserrat"/>
                  <a:ea typeface="Montserrat"/>
                  <a:cs typeface="Montserrat"/>
                  <a:sym typeface="Montserrat"/>
                </a:rPr>
                <a:t>Identifying resources </a:t>
              </a:r>
              <a:endParaRPr b="0" i="0" sz="1800" u="none" cap="none" strike="noStrike">
                <a:solidFill>
                  <a:schemeClr val="dk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Roboto"/>
                <a:ea typeface="Roboto"/>
                <a:cs typeface="Roboto"/>
                <a:sym typeface="Roboto"/>
              </a:endParaRPr>
            </a:p>
          </p:txBody>
        </p:sp>
      </p:grpSp>
      <p:grpSp>
        <p:nvGrpSpPr>
          <p:cNvPr id="265" name="Google Shape;265;g39b7157ad26_0_715"/>
          <p:cNvGrpSpPr/>
          <p:nvPr/>
        </p:nvGrpSpPr>
        <p:grpSpPr>
          <a:xfrm>
            <a:off x="2857644" y="1851625"/>
            <a:ext cx="3208512" cy="4643963"/>
            <a:chOff x="2944204" y="1189775"/>
            <a:chExt cx="3305700" cy="3483059"/>
          </a:xfrm>
        </p:grpSpPr>
        <p:sp>
          <p:nvSpPr>
            <p:cNvPr id="266" name="Google Shape;266;g39b7157ad26_0_715"/>
            <p:cNvSpPr/>
            <p:nvPr/>
          </p:nvSpPr>
          <p:spPr>
            <a:xfrm>
              <a:off x="2944204" y="1189775"/>
              <a:ext cx="3305700" cy="669000"/>
            </a:xfrm>
            <a:prstGeom prst="chevron">
              <a:avLst>
                <a:gd fmla="val 50000" name="adj"/>
              </a:avLst>
            </a:prstGeom>
            <a:solidFill>
              <a:srgbClr val="771E86"/>
            </a:solidFill>
            <a:ln>
              <a:noFill/>
            </a:ln>
          </p:spPr>
          <p:txBody>
            <a:bodyPr anchorCtr="0" anchor="ctr" bIns="121900" lIns="121900" spcFirstLastPara="1" rIns="121900" wrap="square" tIns="121900">
              <a:noAutofit/>
            </a:bodyPr>
            <a:lstStyle/>
            <a:p>
              <a:pPr indent="0" lvl="0" marL="0" marR="0" rtl="0" algn="ctr">
                <a:lnSpc>
                  <a:spcPct val="90000"/>
                </a:lnSpc>
                <a:spcBef>
                  <a:spcPts val="1000"/>
                </a:spcBef>
                <a:spcAft>
                  <a:spcPts val="0"/>
                </a:spcAft>
                <a:buClr>
                  <a:srgbClr val="000000"/>
                </a:buClr>
                <a:buSzPts val="2300"/>
                <a:buFont typeface="Arial"/>
                <a:buNone/>
              </a:pPr>
              <a:r>
                <a:rPr b="1" i="0" lang="en-US" sz="2300" u="none" cap="none" strike="noStrike">
                  <a:solidFill>
                    <a:schemeClr val="lt1"/>
                  </a:solidFill>
                  <a:latin typeface="Montserrat"/>
                  <a:ea typeface="Montserrat"/>
                  <a:cs typeface="Montserrat"/>
                  <a:sym typeface="Montserrat"/>
                </a:rPr>
                <a:t>Research Objectives </a:t>
              </a:r>
              <a:endParaRPr b="1" i="0" sz="1900" u="none" cap="none" strike="noStrike">
                <a:solidFill>
                  <a:srgbClr val="FFFFFF"/>
                </a:solidFill>
                <a:latin typeface="Roboto"/>
                <a:ea typeface="Roboto"/>
                <a:cs typeface="Roboto"/>
                <a:sym typeface="Roboto"/>
              </a:endParaRPr>
            </a:p>
          </p:txBody>
        </p:sp>
        <p:sp>
          <p:nvSpPr>
            <p:cNvPr id="267" name="Google Shape;267;g39b7157ad26_0_715"/>
            <p:cNvSpPr txBox="1"/>
            <p:nvPr/>
          </p:nvSpPr>
          <p:spPr>
            <a:xfrm>
              <a:off x="3239027" y="2057134"/>
              <a:ext cx="2624100" cy="2615700"/>
            </a:xfrm>
            <a:prstGeom prst="rect">
              <a:avLst/>
            </a:prstGeom>
            <a:noFill/>
            <a:ln>
              <a:noFill/>
            </a:ln>
          </p:spPr>
          <p:txBody>
            <a:bodyPr anchorCtr="0" anchor="t" bIns="121900" lIns="121900" spcFirstLastPara="1" rIns="121900" wrap="square" tIns="121900">
              <a:noAutofit/>
            </a:bodyPr>
            <a:lstStyle/>
            <a:p>
              <a:pPr indent="-330200" lvl="0" marL="457200" marR="0" rtl="0" algn="l">
                <a:lnSpc>
                  <a:spcPct val="115000"/>
                </a:lnSpc>
                <a:spcBef>
                  <a:spcPts val="0"/>
                </a:spcBef>
                <a:spcAft>
                  <a:spcPts val="0"/>
                </a:spcAft>
                <a:buClr>
                  <a:srgbClr val="000000"/>
                </a:buClr>
                <a:buSzPts val="1600"/>
                <a:buFont typeface="Montserrat"/>
                <a:buChar char="●"/>
              </a:pPr>
              <a:r>
                <a:rPr b="0" i="0" lang="en-US" sz="1600" u="none" cap="none" strike="noStrike">
                  <a:solidFill>
                    <a:srgbClr val="000000"/>
                  </a:solidFill>
                  <a:latin typeface="Montserrat"/>
                  <a:ea typeface="Montserrat"/>
                  <a:cs typeface="Montserrat"/>
                  <a:sym typeface="Montserrat"/>
                </a:rPr>
                <a:t>What is the quest? the learning outcomes? </a:t>
              </a:r>
              <a:endParaRPr b="0" i="0" sz="1600" u="none" cap="none" strike="noStrike">
                <a:solidFill>
                  <a:srgbClr val="000000"/>
                </a:solidFill>
                <a:latin typeface="Montserrat"/>
                <a:ea typeface="Montserrat"/>
                <a:cs typeface="Montserrat"/>
                <a:sym typeface="Montserrat"/>
              </a:endParaRPr>
            </a:p>
            <a:p>
              <a:pPr indent="-330200" lvl="0" marL="457200" marR="0" rtl="0" algn="l">
                <a:lnSpc>
                  <a:spcPct val="115000"/>
                </a:lnSpc>
                <a:spcBef>
                  <a:spcPts val="0"/>
                </a:spcBef>
                <a:spcAft>
                  <a:spcPts val="0"/>
                </a:spcAft>
                <a:buClr>
                  <a:srgbClr val="000000"/>
                </a:buClr>
                <a:buSzPts val="1600"/>
                <a:buFont typeface="Montserrat"/>
                <a:buChar char="●"/>
              </a:pPr>
              <a:r>
                <a:rPr b="0" i="0" lang="en-US" sz="1600" u="none" cap="none" strike="noStrike">
                  <a:solidFill>
                    <a:srgbClr val="000000"/>
                  </a:solidFill>
                  <a:latin typeface="Montserrat"/>
                  <a:ea typeface="Montserrat"/>
                  <a:cs typeface="Montserrat"/>
                  <a:sym typeface="Montserrat"/>
                </a:rPr>
                <a:t>Listing them clearly</a:t>
              </a:r>
              <a:endParaRPr b="0" i="0" sz="1600" u="none" cap="none" strike="noStrike">
                <a:solidFill>
                  <a:srgbClr val="000000"/>
                </a:solidFill>
                <a:latin typeface="Montserrat"/>
                <a:ea typeface="Montserrat"/>
                <a:cs typeface="Montserrat"/>
                <a:sym typeface="Montserrat"/>
              </a:endParaRPr>
            </a:p>
            <a:p>
              <a:pPr indent="-330200" lvl="0" marL="457200" marR="0" rtl="0" algn="l">
                <a:lnSpc>
                  <a:spcPct val="115000"/>
                </a:lnSpc>
                <a:spcBef>
                  <a:spcPts val="0"/>
                </a:spcBef>
                <a:spcAft>
                  <a:spcPts val="0"/>
                </a:spcAft>
                <a:buClr>
                  <a:srgbClr val="000000"/>
                </a:buClr>
                <a:buSzPts val="1600"/>
                <a:buFont typeface="Montserrat"/>
                <a:buChar char="●"/>
              </a:pPr>
              <a:r>
                <a:rPr b="0" i="0" lang="en-US" sz="1600" u="none" cap="none" strike="noStrike">
                  <a:solidFill>
                    <a:srgbClr val="000000"/>
                  </a:solidFill>
                  <a:latin typeface="Montserrat"/>
                  <a:ea typeface="Montserrat"/>
                  <a:cs typeface="Montserrat"/>
                  <a:sym typeface="Montserrat"/>
                </a:rPr>
                <a:t>Focus on the problem understanding </a:t>
              </a:r>
              <a:endParaRPr b="0" i="0" sz="1600" u="none" cap="none" strike="noStrike">
                <a:solidFill>
                  <a:srgbClr val="000000"/>
                </a:solidFill>
                <a:latin typeface="Montserrat"/>
                <a:ea typeface="Montserrat"/>
                <a:cs typeface="Montserrat"/>
                <a:sym typeface="Montserrat"/>
              </a:endParaRPr>
            </a:p>
            <a:p>
              <a:pPr indent="-330200" lvl="0" marL="457200" marR="0" rtl="0" algn="l">
                <a:lnSpc>
                  <a:spcPct val="115000"/>
                </a:lnSpc>
                <a:spcBef>
                  <a:spcPts val="0"/>
                </a:spcBef>
                <a:spcAft>
                  <a:spcPts val="0"/>
                </a:spcAft>
                <a:buClr>
                  <a:srgbClr val="000000"/>
                </a:buClr>
                <a:buSzPts val="1600"/>
                <a:buFont typeface="Montserrat"/>
                <a:buChar char="●"/>
              </a:pPr>
              <a:r>
                <a:rPr b="0" i="0" lang="en-US" sz="1600" u="none" cap="none" strike="noStrike">
                  <a:solidFill>
                    <a:srgbClr val="000000"/>
                  </a:solidFill>
                  <a:latin typeface="Montserrat"/>
                  <a:ea typeface="Montserrat"/>
                  <a:cs typeface="Montserrat"/>
                  <a:sym typeface="Montserrat"/>
                </a:rPr>
                <a:t>Unbiased and neutral </a:t>
              </a:r>
              <a:endParaRPr b="0" i="0" sz="1600" u="none" cap="none" strike="noStrike">
                <a:solidFill>
                  <a:srgbClr val="000000"/>
                </a:solidFill>
                <a:latin typeface="Montserrat"/>
                <a:ea typeface="Montserrat"/>
                <a:cs typeface="Montserrat"/>
                <a:sym typeface="Montserrat"/>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0FF"/>
        </a:solidFill>
      </p:bgPr>
    </p:bg>
    <p:spTree>
      <p:nvGrpSpPr>
        <p:cNvPr id="271" name="Shape 271"/>
        <p:cNvGrpSpPr/>
        <p:nvPr/>
      </p:nvGrpSpPr>
      <p:grpSpPr>
        <a:xfrm>
          <a:off x="0" y="0"/>
          <a:ext cx="0" cy="0"/>
          <a:chOff x="0" y="0"/>
          <a:chExt cx="0" cy="0"/>
        </a:xfrm>
      </p:grpSpPr>
      <p:sp>
        <p:nvSpPr>
          <p:cNvPr id="272" name="Google Shape;272;g39b7157ad26_0_376"/>
          <p:cNvSpPr txBox="1"/>
          <p:nvPr/>
        </p:nvSpPr>
        <p:spPr>
          <a:xfrm>
            <a:off x="563250" y="829300"/>
            <a:ext cx="11065500" cy="898800"/>
          </a:xfrm>
          <a:prstGeom prst="rect">
            <a:avLst/>
          </a:prstGeom>
          <a:noFill/>
          <a:ln>
            <a:noFill/>
          </a:ln>
        </p:spPr>
        <p:txBody>
          <a:bodyPr anchorCtr="0" anchor="t" bIns="0" lIns="0" spcFirstLastPara="1" rIns="0" wrap="square" tIns="0">
            <a:spAutoFit/>
          </a:bodyPr>
          <a:lstStyle/>
          <a:p>
            <a:pPr indent="0" lvl="0" marL="0" marR="0" rtl="0" algn="ctr">
              <a:lnSpc>
                <a:spcPct val="80000"/>
              </a:lnSpc>
              <a:spcBef>
                <a:spcPts val="0"/>
              </a:spcBef>
              <a:spcAft>
                <a:spcPts val="0"/>
              </a:spcAft>
              <a:buClr>
                <a:srgbClr val="000000"/>
              </a:buClr>
              <a:buSzPts val="3200"/>
              <a:buFont typeface="Arial"/>
              <a:buNone/>
            </a:pPr>
            <a:r>
              <a:rPr b="1" i="0" lang="en-US" sz="3200" u="none" cap="none" strike="noStrike">
                <a:solidFill>
                  <a:srgbClr val="000000"/>
                </a:solidFill>
                <a:latin typeface="Montserrat"/>
                <a:ea typeface="Montserrat"/>
                <a:cs typeface="Montserrat"/>
                <a:sym typeface="Montserrat"/>
              </a:rPr>
              <a:t>Before starting your research, you ask yourself the following questions, to give direction to your work:</a:t>
            </a:r>
            <a:br>
              <a:rPr b="1" i="0" lang="en-US" sz="6900" u="none" cap="none" strike="noStrike">
                <a:solidFill>
                  <a:srgbClr val="000000"/>
                </a:solidFill>
                <a:latin typeface="Montserrat"/>
                <a:ea typeface="Montserrat"/>
                <a:cs typeface="Montserrat"/>
                <a:sym typeface="Montserrat"/>
              </a:rPr>
            </a:br>
            <a:endParaRPr b="1" i="0" sz="900" u="none" cap="none" strike="noStrike">
              <a:solidFill>
                <a:srgbClr val="000000"/>
              </a:solidFill>
              <a:latin typeface="Montserrat"/>
              <a:ea typeface="Montserrat"/>
              <a:cs typeface="Montserrat"/>
              <a:sym typeface="Montserrat"/>
            </a:endParaRPr>
          </a:p>
        </p:txBody>
      </p:sp>
      <p:sp>
        <p:nvSpPr>
          <p:cNvPr id="273" name="Google Shape;273;g39b7157ad26_0_376"/>
          <p:cNvSpPr txBox="1"/>
          <p:nvPr/>
        </p:nvSpPr>
        <p:spPr>
          <a:xfrm>
            <a:off x="1526250" y="2478175"/>
            <a:ext cx="9139500" cy="2801400"/>
          </a:xfrm>
          <a:prstGeom prst="rect">
            <a:avLst/>
          </a:prstGeom>
          <a:noFill/>
          <a:ln>
            <a:noFill/>
          </a:ln>
        </p:spPr>
        <p:txBody>
          <a:bodyPr anchorCtr="0" anchor="t" bIns="0" lIns="0" spcFirstLastPara="1" rIns="0" wrap="square" tIns="0">
            <a:spAutoFit/>
          </a:bodyPr>
          <a:lstStyle/>
          <a:p>
            <a:pPr indent="-393700" lvl="0" marL="457200" marR="0" rtl="0" algn="l">
              <a:lnSpc>
                <a:spcPct val="100000"/>
              </a:lnSpc>
              <a:spcBef>
                <a:spcPts val="0"/>
              </a:spcBef>
              <a:spcAft>
                <a:spcPts val="0"/>
              </a:spcAft>
              <a:buClr>
                <a:srgbClr val="B509D1"/>
              </a:buClr>
              <a:buSzPts val="2600"/>
              <a:buFont typeface="Montserrat"/>
              <a:buChar char="●"/>
            </a:pPr>
            <a:r>
              <a:rPr b="0" i="0" lang="en-US" sz="2600" u="none" cap="none" strike="noStrike">
                <a:solidFill>
                  <a:schemeClr val="dk1"/>
                </a:solidFill>
                <a:latin typeface="Montserrat"/>
                <a:ea typeface="Montserrat"/>
                <a:cs typeface="Montserrat"/>
                <a:sym typeface="Montserrat"/>
              </a:rPr>
              <a:t>What questions must be answered during the research phase?</a:t>
            </a:r>
            <a:endParaRPr b="0" i="0" sz="300" u="none" cap="none" strike="noStrike">
              <a:solidFill>
                <a:srgbClr val="000000"/>
              </a:solidFill>
              <a:latin typeface="Montserrat"/>
              <a:ea typeface="Montserrat"/>
              <a:cs typeface="Montserrat"/>
              <a:sym typeface="Montserrat"/>
            </a:endParaRPr>
          </a:p>
          <a:p>
            <a:pPr indent="-393700" lvl="0" marL="457200" marR="0" rtl="0" algn="l">
              <a:lnSpc>
                <a:spcPct val="100000"/>
              </a:lnSpc>
              <a:spcBef>
                <a:spcPts val="0"/>
              </a:spcBef>
              <a:spcAft>
                <a:spcPts val="0"/>
              </a:spcAft>
              <a:buClr>
                <a:srgbClr val="B509D1"/>
              </a:buClr>
              <a:buSzPts val="2600"/>
              <a:buFont typeface="Montserrat"/>
              <a:buChar char="●"/>
            </a:pPr>
            <a:r>
              <a:rPr b="0" i="0" lang="en-US" sz="2600" u="none" cap="none" strike="noStrike">
                <a:solidFill>
                  <a:schemeClr val="dk1"/>
                </a:solidFill>
                <a:latin typeface="Montserrat"/>
                <a:ea typeface="Montserrat"/>
                <a:cs typeface="Montserrat"/>
                <a:sym typeface="Montserrat"/>
              </a:rPr>
              <a:t>What information might be most useful?</a:t>
            </a:r>
            <a:endParaRPr b="0" i="0" sz="300" u="none" cap="none" strike="noStrike">
              <a:solidFill>
                <a:srgbClr val="000000"/>
              </a:solidFill>
              <a:latin typeface="Montserrat"/>
              <a:ea typeface="Montserrat"/>
              <a:cs typeface="Montserrat"/>
              <a:sym typeface="Montserrat"/>
            </a:endParaRPr>
          </a:p>
          <a:p>
            <a:pPr indent="-393700" lvl="0" marL="457200" marR="0" rtl="0" algn="l">
              <a:lnSpc>
                <a:spcPct val="100000"/>
              </a:lnSpc>
              <a:spcBef>
                <a:spcPts val="0"/>
              </a:spcBef>
              <a:spcAft>
                <a:spcPts val="0"/>
              </a:spcAft>
              <a:buClr>
                <a:srgbClr val="B509D1"/>
              </a:buClr>
              <a:buSzPts val="2600"/>
              <a:buFont typeface="Montserrat"/>
              <a:buChar char="●"/>
            </a:pPr>
            <a:r>
              <a:rPr b="0" i="0" lang="en-US" sz="2600" u="none" cap="none" strike="noStrike">
                <a:solidFill>
                  <a:schemeClr val="dk1"/>
                </a:solidFill>
                <a:latin typeface="Montserrat"/>
                <a:ea typeface="Montserrat"/>
                <a:cs typeface="Montserrat"/>
                <a:sym typeface="Montserrat"/>
              </a:rPr>
              <a:t>What print and electronic sources would be most appropriate?</a:t>
            </a:r>
            <a:endParaRPr b="0" i="0" sz="300" u="none" cap="none" strike="noStrike">
              <a:solidFill>
                <a:srgbClr val="000000"/>
              </a:solidFill>
              <a:latin typeface="Montserrat"/>
              <a:ea typeface="Montserrat"/>
              <a:cs typeface="Montserrat"/>
              <a:sym typeface="Montserrat"/>
            </a:endParaRPr>
          </a:p>
          <a:p>
            <a:pPr indent="-393700" lvl="0" marL="457200" marR="0" rtl="0" algn="l">
              <a:lnSpc>
                <a:spcPct val="100000"/>
              </a:lnSpc>
              <a:spcBef>
                <a:spcPts val="0"/>
              </a:spcBef>
              <a:spcAft>
                <a:spcPts val="0"/>
              </a:spcAft>
              <a:buClr>
                <a:srgbClr val="B509D1"/>
              </a:buClr>
              <a:buSzPts val="2600"/>
              <a:buFont typeface="Montserrat"/>
              <a:buChar char="●"/>
            </a:pPr>
            <a:r>
              <a:rPr b="0" i="0" lang="en-US" sz="2600" u="none" cap="none" strike="noStrike">
                <a:solidFill>
                  <a:schemeClr val="dk1"/>
                </a:solidFill>
                <a:latin typeface="Montserrat"/>
                <a:ea typeface="Montserrat"/>
                <a:cs typeface="Montserrat"/>
                <a:sym typeface="Montserrat"/>
              </a:rPr>
              <a:t>What format must be used to document material borrowed from sources?</a:t>
            </a:r>
            <a:endParaRPr b="0" i="0" sz="300" u="none" cap="none" strike="noStrike">
              <a:solidFill>
                <a:srgbClr val="000000"/>
              </a:solidFill>
              <a:latin typeface="Montserrat"/>
              <a:ea typeface="Montserrat"/>
              <a:cs typeface="Montserrat"/>
              <a:sym typeface="Montserrat"/>
            </a:endParaRPr>
          </a:p>
        </p:txBody>
      </p:sp>
    </p:spTree>
  </p:cSld>
  <p:clrMapOvr>
    <a:masterClrMapping/>
  </p:clrMapOvr>
  <p:transition>
    <p:push/>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g39b7157ad26_0_68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1000"/>
              </a:spcBef>
              <a:spcAft>
                <a:spcPts val="0"/>
              </a:spcAft>
              <a:buSzPts val="1800"/>
              <a:buNone/>
            </a:pPr>
            <a:r>
              <a:rPr b="1" lang="en-US" sz="3600">
                <a:latin typeface="Montserrat"/>
                <a:ea typeface="Montserrat"/>
                <a:cs typeface="Montserrat"/>
                <a:sym typeface="Montserrat"/>
              </a:rPr>
              <a:t>Secondary Research</a:t>
            </a:r>
            <a:endParaRPr b="1" sz="3600">
              <a:latin typeface="Montserrat"/>
              <a:ea typeface="Montserrat"/>
              <a:cs typeface="Montserrat"/>
              <a:sym typeface="Montserrat"/>
            </a:endParaRPr>
          </a:p>
        </p:txBody>
      </p:sp>
      <p:grpSp>
        <p:nvGrpSpPr>
          <p:cNvPr id="280" name="Google Shape;280;g39b7157ad26_0_680"/>
          <p:cNvGrpSpPr/>
          <p:nvPr/>
        </p:nvGrpSpPr>
        <p:grpSpPr>
          <a:xfrm>
            <a:off x="5466727" y="1851625"/>
            <a:ext cx="3208512" cy="4643963"/>
            <a:chOff x="5632317" y="1189775"/>
            <a:chExt cx="3305700" cy="3483059"/>
          </a:xfrm>
        </p:grpSpPr>
        <p:sp>
          <p:nvSpPr>
            <p:cNvPr id="281" name="Google Shape;281;g39b7157ad26_0_680"/>
            <p:cNvSpPr/>
            <p:nvPr/>
          </p:nvSpPr>
          <p:spPr>
            <a:xfrm>
              <a:off x="5632317" y="1189775"/>
              <a:ext cx="3305700" cy="669000"/>
            </a:xfrm>
            <a:prstGeom prst="chevron">
              <a:avLst>
                <a:gd fmla="val 50000" name="adj"/>
              </a:avLst>
            </a:prstGeom>
            <a:solidFill>
              <a:srgbClr val="9325A5"/>
            </a:solidFill>
            <a:ln>
              <a:noFill/>
            </a:ln>
          </p:spPr>
          <p:txBody>
            <a:bodyPr anchorCtr="0" anchor="ctr" bIns="121900" lIns="121900" spcFirstLastPara="1" rIns="121900" wrap="square" tIns="121900">
              <a:noAutofit/>
            </a:bodyPr>
            <a:lstStyle/>
            <a:p>
              <a:pPr indent="0" lvl="0" marL="0" marR="0" rtl="0" algn="ctr">
                <a:lnSpc>
                  <a:spcPct val="90000"/>
                </a:lnSpc>
                <a:spcBef>
                  <a:spcPts val="1000"/>
                </a:spcBef>
                <a:spcAft>
                  <a:spcPts val="0"/>
                </a:spcAft>
                <a:buClr>
                  <a:srgbClr val="000000"/>
                </a:buClr>
                <a:buSzPts val="2300"/>
                <a:buFont typeface="Arial"/>
                <a:buNone/>
              </a:pPr>
              <a:r>
                <a:rPr b="1" i="0" lang="en-US" sz="2300" u="none" cap="none" strike="noStrike">
                  <a:solidFill>
                    <a:schemeClr val="lt1"/>
                  </a:solidFill>
                  <a:latin typeface="Montserrat"/>
                  <a:ea typeface="Montserrat"/>
                  <a:cs typeface="Montserrat"/>
                  <a:sym typeface="Montserrat"/>
                </a:rPr>
                <a:t>Secondary Research</a:t>
              </a:r>
              <a:endParaRPr b="1" i="0" sz="1900" u="none" cap="none" strike="noStrike">
                <a:solidFill>
                  <a:schemeClr val="lt1"/>
                </a:solidFill>
                <a:latin typeface="Roboto"/>
                <a:ea typeface="Roboto"/>
                <a:cs typeface="Roboto"/>
                <a:sym typeface="Roboto"/>
              </a:endParaRPr>
            </a:p>
          </p:txBody>
        </p:sp>
        <p:sp>
          <p:nvSpPr>
            <p:cNvPr id="282" name="Google Shape;282;g39b7157ad26_0_680"/>
            <p:cNvSpPr txBox="1"/>
            <p:nvPr/>
          </p:nvSpPr>
          <p:spPr>
            <a:xfrm>
              <a:off x="5863049" y="2057134"/>
              <a:ext cx="2801700" cy="2615700"/>
            </a:xfrm>
            <a:prstGeom prst="rect">
              <a:avLst/>
            </a:prstGeom>
            <a:noFill/>
            <a:ln>
              <a:noFill/>
            </a:ln>
          </p:spPr>
          <p:txBody>
            <a:bodyPr anchorCtr="0" anchor="t" bIns="121900" lIns="121900" spcFirstLastPara="1" rIns="121900" wrap="square" tIns="121900">
              <a:noAutofit/>
            </a:bodyPr>
            <a:lstStyle/>
            <a:p>
              <a:pPr indent="-330200" lvl="0" marL="457200" marR="0" rtl="0" algn="l">
                <a:lnSpc>
                  <a:spcPct val="115000"/>
                </a:lnSpc>
                <a:spcBef>
                  <a:spcPts val="0"/>
                </a:spcBef>
                <a:spcAft>
                  <a:spcPts val="0"/>
                </a:spcAft>
                <a:buClr>
                  <a:srgbClr val="000000"/>
                </a:buClr>
                <a:buSzPts val="1600"/>
                <a:buFont typeface="Montserrat Medium"/>
                <a:buChar char="●"/>
              </a:pPr>
              <a:r>
                <a:rPr b="0" i="0" lang="en-US" sz="1600" u="none" cap="none" strike="noStrike">
                  <a:solidFill>
                    <a:srgbClr val="000000"/>
                  </a:solidFill>
                  <a:latin typeface="Montserrat Medium"/>
                  <a:ea typeface="Montserrat Medium"/>
                  <a:cs typeface="Montserrat Medium"/>
                  <a:sym typeface="Montserrat Medium"/>
                </a:rPr>
                <a:t>Review of the existing literature, information. </a:t>
              </a:r>
              <a:endParaRPr b="0" i="0" sz="1600" u="none" cap="none" strike="noStrike">
                <a:solidFill>
                  <a:srgbClr val="000000"/>
                </a:solidFill>
                <a:latin typeface="Montserrat Medium"/>
                <a:ea typeface="Montserrat Medium"/>
                <a:cs typeface="Montserrat Medium"/>
                <a:sym typeface="Montserrat Medium"/>
              </a:endParaRPr>
            </a:p>
            <a:p>
              <a:pPr indent="-330200" lvl="0" marL="457200" marR="0" rtl="0" algn="l">
                <a:lnSpc>
                  <a:spcPct val="115000"/>
                </a:lnSpc>
                <a:spcBef>
                  <a:spcPts val="0"/>
                </a:spcBef>
                <a:spcAft>
                  <a:spcPts val="0"/>
                </a:spcAft>
                <a:buClr>
                  <a:srgbClr val="000000"/>
                </a:buClr>
                <a:buSzPts val="1600"/>
                <a:buFont typeface="Montserrat Medium"/>
                <a:buChar char="●"/>
              </a:pPr>
              <a:r>
                <a:rPr b="0" i="0" lang="en-US" sz="1600" u="none" cap="none" strike="noStrike">
                  <a:solidFill>
                    <a:srgbClr val="000000"/>
                  </a:solidFill>
                  <a:latin typeface="Montserrat Medium"/>
                  <a:ea typeface="Montserrat Medium"/>
                  <a:cs typeface="Montserrat Medium"/>
                  <a:sym typeface="Montserrat Medium"/>
                </a:rPr>
                <a:t>Being curious. Ignoring existing research can point to arrogance. </a:t>
              </a:r>
              <a:endParaRPr b="0" i="0" sz="1600" u="none" cap="none" strike="noStrike">
                <a:solidFill>
                  <a:srgbClr val="000000"/>
                </a:solidFill>
                <a:latin typeface="Montserrat Medium"/>
                <a:ea typeface="Montserrat Medium"/>
                <a:cs typeface="Montserrat Medium"/>
                <a:sym typeface="Montserrat Medium"/>
              </a:endParaRPr>
            </a:p>
            <a:p>
              <a:pPr indent="0" lvl="0" marL="0" marR="0" rtl="0" algn="l">
                <a:lnSpc>
                  <a:spcPct val="115000"/>
                </a:lnSpc>
                <a:spcBef>
                  <a:spcPts val="0"/>
                </a:spcBef>
                <a:spcAft>
                  <a:spcPts val="0"/>
                </a:spcAft>
                <a:buClr>
                  <a:srgbClr val="000000"/>
                </a:buClr>
                <a:buSzPts val="1600"/>
                <a:buFont typeface="Arial"/>
                <a:buNone/>
              </a:pPr>
              <a:r>
                <a:t/>
              </a:r>
              <a:endParaRPr b="0" i="0" sz="1600" u="none" cap="none" strike="noStrike">
                <a:solidFill>
                  <a:srgbClr val="000000"/>
                </a:solidFill>
                <a:latin typeface="Montserrat Medium"/>
                <a:ea typeface="Montserrat Medium"/>
                <a:cs typeface="Montserrat Medium"/>
                <a:sym typeface="Montserrat Medium"/>
              </a:endParaRPr>
            </a:p>
          </p:txBody>
        </p:sp>
      </p:grpSp>
      <p:grpSp>
        <p:nvGrpSpPr>
          <p:cNvPr id="283" name="Google Shape;283;g39b7157ad26_0_680"/>
          <p:cNvGrpSpPr/>
          <p:nvPr/>
        </p:nvGrpSpPr>
        <p:grpSpPr>
          <a:xfrm>
            <a:off x="0" y="1851911"/>
            <a:ext cx="3442621" cy="4643677"/>
            <a:chOff x="0" y="1189989"/>
            <a:chExt cx="3546900" cy="3482845"/>
          </a:xfrm>
        </p:grpSpPr>
        <p:sp>
          <p:nvSpPr>
            <p:cNvPr id="284" name="Google Shape;284;g39b7157ad26_0_680"/>
            <p:cNvSpPr/>
            <p:nvPr/>
          </p:nvSpPr>
          <p:spPr>
            <a:xfrm>
              <a:off x="0" y="1189989"/>
              <a:ext cx="3546900" cy="669000"/>
            </a:xfrm>
            <a:prstGeom prst="homePlate">
              <a:avLst>
                <a:gd fmla="val 50000" name="adj"/>
              </a:avLst>
            </a:prstGeom>
            <a:solidFill>
              <a:srgbClr val="561561"/>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2300"/>
                <a:buFont typeface="Arial"/>
                <a:buNone/>
              </a:pPr>
              <a:r>
                <a:rPr b="1" i="0" lang="en-US" sz="2300" u="none" cap="none" strike="noStrike">
                  <a:solidFill>
                    <a:srgbClr val="FFFFFF"/>
                  </a:solidFill>
                  <a:latin typeface="Montserrat"/>
                  <a:ea typeface="Montserrat"/>
                  <a:cs typeface="Montserrat"/>
                  <a:sym typeface="Montserrat"/>
                </a:rPr>
                <a:t>Topic</a:t>
              </a:r>
              <a:endParaRPr b="1" i="0" sz="2300" u="none" cap="none" strike="noStrike">
                <a:solidFill>
                  <a:srgbClr val="FFFFFF"/>
                </a:solidFill>
                <a:latin typeface="Montserrat"/>
                <a:ea typeface="Montserrat"/>
                <a:cs typeface="Montserrat"/>
                <a:sym typeface="Montserrat"/>
              </a:endParaRPr>
            </a:p>
          </p:txBody>
        </p:sp>
        <p:sp>
          <p:nvSpPr>
            <p:cNvPr id="285" name="Google Shape;285;g39b7157ad26_0_680"/>
            <p:cNvSpPr txBox="1"/>
            <p:nvPr/>
          </p:nvSpPr>
          <p:spPr>
            <a:xfrm>
              <a:off x="341670" y="2057134"/>
              <a:ext cx="2692500" cy="2615700"/>
            </a:xfrm>
            <a:prstGeom prst="rect">
              <a:avLst/>
            </a:prstGeom>
            <a:noFill/>
            <a:ln>
              <a:noFill/>
            </a:ln>
          </p:spPr>
          <p:txBody>
            <a:bodyPr anchorCtr="0" anchor="t" bIns="121900" lIns="121900" spcFirstLastPara="1" rIns="121900" wrap="square" tIns="121900">
              <a:noAutofit/>
            </a:bodyPr>
            <a:lstStyle/>
            <a:p>
              <a:pPr indent="-342900" lvl="0" marL="457200" marR="0" rtl="0" algn="l">
                <a:lnSpc>
                  <a:spcPct val="90000"/>
                </a:lnSpc>
                <a:spcBef>
                  <a:spcPts val="1000"/>
                </a:spcBef>
                <a:spcAft>
                  <a:spcPts val="0"/>
                </a:spcAft>
                <a:buClr>
                  <a:schemeClr val="dk1"/>
                </a:buClr>
                <a:buSzPts val="1800"/>
                <a:buFont typeface="Montserrat"/>
                <a:buChar char="●"/>
              </a:pPr>
              <a:r>
                <a:rPr b="0" i="0" lang="en-US" sz="1800" u="none" cap="none" strike="noStrike">
                  <a:solidFill>
                    <a:schemeClr val="dk1"/>
                  </a:solidFill>
                  <a:latin typeface="Montserrat"/>
                  <a:ea typeface="Montserrat"/>
                  <a:cs typeface="Montserrat"/>
                  <a:sym typeface="Montserrat"/>
                </a:rPr>
                <a:t>Topic selection</a:t>
              </a:r>
              <a:endParaRPr b="0" i="0" sz="1800" u="none" cap="none" strike="noStrike">
                <a:solidFill>
                  <a:schemeClr val="dk1"/>
                </a:solidFill>
                <a:latin typeface="Montserrat"/>
                <a:ea typeface="Montserrat"/>
                <a:cs typeface="Montserrat"/>
                <a:sym typeface="Montserrat"/>
              </a:endParaRPr>
            </a:p>
            <a:p>
              <a:pPr indent="-342900" lvl="0" marL="457200" marR="0" rtl="0" algn="l">
                <a:lnSpc>
                  <a:spcPct val="90000"/>
                </a:lnSpc>
                <a:spcBef>
                  <a:spcPts val="0"/>
                </a:spcBef>
                <a:spcAft>
                  <a:spcPts val="0"/>
                </a:spcAft>
                <a:buClr>
                  <a:schemeClr val="dk1"/>
                </a:buClr>
                <a:buSzPts val="1800"/>
                <a:buFont typeface="Montserrat"/>
                <a:buChar char="●"/>
              </a:pPr>
              <a:r>
                <a:rPr b="0" i="0" lang="en-US" sz="1800" u="none" cap="none" strike="noStrike">
                  <a:solidFill>
                    <a:schemeClr val="dk1"/>
                  </a:solidFill>
                  <a:latin typeface="Montserrat"/>
                  <a:ea typeface="Montserrat"/>
                  <a:cs typeface="Montserrat"/>
                  <a:sym typeface="Montserrat"/>
                </a:rPr>
                <a:t>Defining a topic </a:t>
              </a:r>
              <a:endParaRPr b="0" i="0" sz="1800" u="none" cap="none" strike="noStrike">
                <a:solidFill>
                  <a:schemeClr val="dk1"/>
                </a:solidFill>
                <a:latin typeface="Montserrat"/>
                <a:ea typeface="Montserrat"/>
                <a:cs typeface="Montserrat"/>
                <a:sym typeface="Montserrat"/>
              </a:endParaRPr>
            </a:p>
            <a:p>
              <a:pPr indent="-342900" lvl="0" marL="457200" marR="0" rtl="0" algn="l">
                <a:lnSpc>
                  <a:spcPct val="90000"/>
                </a:lnSpc>
                <a:spcBef>
                  <a:spcPts val="0"/>
                </a:spcBef>
                <a:spcAft>
                  <a:spcPts val="0"/>
                </a:spcAft>
                <a:buClr>
                  <a:schemeClr val="dk1"/>
                </a:buClr>
                <a:buSzPts val="1800"/>
                <a:buFont typeface="Montserrat"/>
                <a:buChar char="●"/>
              </a:pPr>
              <a:r>
                <a:rPr b="0" i="0" lang="en-US" sz="1800" u="none" cap="none" strike="noStrike">
                  <a:solidFill>
                    <a:schemeClr val="dk1"/>
                  </a:solidFill>
                  <a:latin typeface="Montserrat"/>
                  <a:ea typeface="Montserrat"/>
                  <a:cs typeface="Montserrat"/>
                  <a:sym typeface="Montserrat"/>
                </a:rPr>
                <a:t>Identifying resources </a:t>
              </a:r>
              <a:endParaRPr b="0" i="0" sz="1800" u="none" cap="none" strike="noStrike">
                <a:solidFill>
                  <a:schemeClr val="dk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Roboto"/>
                <a:ea typeface="Roboto"/>
                <a:cs typeface="Roboto"/>
                <a:sym typeface="Roboto"/>
              </a:endParaRPr>
            </a:p>
          </p:txBody>
        </p:sp>
      </p:grpSp>
      <p:grpSp>
        <p:nvGrpSpPr>
          <p:cNvPr id="286" name="Google Shape;286;g39b7157ad26_0_680"/>
          <p:cNvGrpSpPr/>
          <p:nvPr/>
        </p:nvGrpSpPr>
        <p:grpSpPr>
          <a:xfrm>
            <a:off x="2857644" y="1851625"/>
            <a:ext cx="3208512" cy="4643963"/>
            <a:chOff x="2944204" y="1189775"/>
            <a:chExt cx="3305700" cy="3483059"/>
          </a:xfrm>
        </p:grpSpPr>
        <p:sp>
          <p:nvSpPr>
            <p:cNvPr id="287" name="Google Shape;287;g39b7157ad26_0_680"/>
            <p:cNvSpPr/>
            <p:nvPr/>
          </p:nvSpPr>
          <p:spPr>
            <a:xfrm>
              <a:off x="2944204" y="1189775"/>
              <a:ext cx="3305700" cy="669000"/>
            </a:xfrm>
            <a:prstGeom prst="chevron">
              <a:avLst>
                <a:gd fmla="val 50000" name="adj"/>
              </a:avLst>
            </a:prstGeom>
            <a:solidFill>
              <a:srgbClr val="771E86"/>
            </a:solidFill>
            <a:ln>
              <a:noFill/>
            </a:ln>
          </p:spPr>
          <p:txBody>
            <a:bodyPr anchorCtr="0" anchor="ctr" bIns="121900" lIns="121900" spcFirstLastPara="1" rIns="121900" wrap="square" tIns="121900">
              <a:noAutofit/>
            </a:bodyPr>
            <a:lstStyle/>
            <a:p>
              <a:pPr indent="0" lvl="0" marL="0" marR="0" rtl="0" algn="ctr">
                <a:lnSpc>
                  <a:spcPct val="90000"/>
                </a:lnSpc>
                <a:spcBef>
                  <a:spcPts val="1000"/>
                </a:spcBef>
                <a:spcAft>
                  <a:spcPts val="0"/>
                </a:spcAft>
                <a:buClr>
                  <a:srgbClr val="000000"/>
                </a:buClr>
                <a:buSzPts val="2300"/>
                <a:buFont typeface="Arial"/>
                <a:buNone/>
              </a:pPr>
              <a:r>
                <a:rPr b="1" i="0" lang="en-US" sz="2300" u="none" cap="none" strike="noStrike">
                  <a:solidFill>
                    <a:schemeClr val="lt1"/>
                  </a:solidFill>
                  <a:latin typeface="Montserrat"/>
                  <a:ea typeface="Montserrat"/>
                  <a:cs typeface="Montserrat"/>
                  <a:sym typeface="Montserrat"/>
                </a:rPr>
                <a:t>Research Objectives </a:t>
              </a:r>
              <a:endParaRPr b="1" i="0" sz="1900" u="none" cap="none" strike="noStrike">
                <a:solidFill>
                  <a:srgbClr val="FFFFFF"/>
                </a:solidFill>
                <a:latin typeface="Roboto"/>
                <a:ea typeface="Roboto"/>
                <a:cs typeface="Roboto"/>
                <a:sym typeface="Roboto"/>
              </a:endParaRPr>
            </a:p>
          </p:txBody>
        </p:sp>
        <p:sp>
          <p:nvSpPr>
            <p:cNvPr id="288" name="Google Shape;288;g39b7157ad26_0_680"/>
            <p:cNvSpPr txBox="1"/>
            <p:nvPr/>
          </p:nvSpPr>
          <p:spPr>
            <a:xfrm>
              <a:off x="3239027" y="2057134"/>
              <a:ext cx="2624100" cy="2615700"/>
            </a:xfrm>
            <a:prstGeom prst="rect">
              <a:avLst/>
            </a:prstGeom>
            <a:noFill/>
            <a:ln>
              <a:noFill/>
            </a:ln>
          </p:spPr>
          <p:txBody>
            <a:bodyPr anchorCtr="0" anchor="t" bIns="121900" lIns="121900" spcFirstLastPara="1" rIns="121900" wrap="square" tIns="121900">
              <a:noAutofit/>
            </a:bodyPr>
            <a:lstStyle/>
            <a:p>
              <a:pPr indent="-330200" lvl="0" marL="457200" marR="0" rtl="0" algn="l">
                <a:lnSpc>
                  <a:spcPct val="115000"/>
                </a:lnSpc>
                <a:spcBef>
                  <a:spcPts val="0"/>
                </a:spcBef>
                <a:spcAft>
                  <a:spcPts val="0"/>
                </a:spcAft>
                <a:buClr>
                  <a:srgbClr val="000000"/>
                </a:buClr>
                <a:buSzPts val="1600"/>
                <a:buFont typeface="Montserrat"/>
                <a:buChar char="●"/>
              </a:pPr>
              <a:r>
                <a:rPr b="0" i="0" lang="en-US" sz="1600" u="none" cap="none" strike="noStrike">
                  <a:solidFill>
                    <a:srgbClr val="000000"/>
                  </a:solidFill>
                  <a:latin typeface="Montserrat"/>
                  <a:ea typeface="Montserrat"/>
                  <a:cs typeface="Montserrat"/>
                  <a:sym typeface="Montserrat"/>
                </a:rPr>
                <a:t>What is the quest? the learning outcomes? </a:t>
              </a:r>
              <a:endParaRPr b="0" i="0" sz="1600" u="none" cap="none" strike="noStrike">
                <a:solidFill>
                  <a:srgbClr val="000000"/>
                </a:solidFill>
                <a:latin typeface="Montserrat"/>
                <a:ea typeface="Montserrat"/>
                <a:cs typeface="Montserrat"/>
                <a:sym typeface="Montserrat"/>
              </a:endParaRPr>
            </a:p>
            <a:p>
              <a:pPr indent="-330200" lvl="0" marL="457200" marR="0" rtl="0" algn="l">
                <a:lnSpc>
                  <a:spcPct val="115000"/>
                </a:lnSpc>
                <a:spcBef>
                  <a:spcPts val="0"/>
                </a:spcBef>
                <a:spcAft>
                  <a:spcPts val="0"/>
                </a:spcAft>
                <a:buClr>
                  <a:srgbClr val="000000"/>
                </a:buClr>
                <a:buSzPts val="1600"/>
                <a:buFont typeface="Montserrat"/>
                <a:buChar char="●"/>
              </a:pPr>
              <a:r>
                <a:rPr b="0" i="0" lang="en-US" sz="1600" u="none" cap="none" strike="noStrike">
                  <a:solidFill>
                    <a:srgbClr val="000000"/>
                  </a:solidFill>
                  <a:latin typeface="Montserrat"/>
                  <a:ea typeface="Montserrat"/>
                  <a:cs typeface="Montserrat"/>
                  <a:sym typeface="Montserrat"/>
                </a:rPr>
                <a:t>Listing them clearly</a:t>
              </a:r>
              <a:endParaRPr b="0" i="0" sz="1600" u="none" cap="none" strike="noStrike">
                <a:solidFill>
                  <a:srgbClr val="000000"/>
                </a:solidFill>
                <a:latin typeface="Montserrat"/>
                <a:ea typeface="Montserrat"/>
                <a:cs typeface="Montserrat"/>
                <a:sym typeface="Montserrat"/>
              </a:endParaRPr>
            </a:p>
            <a:p>
              <a:pPr indent="-330200" lvl="0" marL="457200" marR="0" rtl="0" algn="l">
                <a:lnSpc>
                  <a:spcPct val="115000"/>
                </a:lnSpc>
                <a:spcBef>
                  <a:spcPts val="0"/>
                </a:spcBef>
                <a:spcAft>
                  <a:spcPts val="0"/>
                </a:spcAft>
                <a:buClr>
                  <a:srgbClr val="000000"/>
                </a:buClr>
                <a:buSzPts val="1600"/>
                <a:buFont typeface="Montserrat"/>
                <a:buChar char="●"/>
              </a:pPr>
              <a:r>
                <a:rPr b="0" i="0" lang="en-US" sz="1600" u="none" cap="none" strike="noStrike">
                  <a:solidFill>
                    <a:srgbClr val="000000"/>
                  </a:solidFill>
                  <a:latin typeface="Montserrat"/>
                  <a:ea typeface="Montserrat"/>
                  <a:cs typeface="Montserrat"/>
                  <a:sym typeface="Montserrat"/>
                </a:rPr>
                <a:t>Focus on the problem understanding </a:t>
              </a:r>
              <a:endParaRPr b="0" i="0" sz="1600" u="none" cap="none" strike="noStrike">
                <a:solidFill>
                  <a:srgbClr val="000000"/>
                </a:solidFill>
                <a:latin typeface="Montserrat"/>
                <a:ea typeface="Montserrat"/>
                <a:cs typeface="Montserrat"/>
                <a:sym typeface="Montserrat"/>
              </a:endParaRPr>
            </a:p>
            <a:p>
              <a:pPr indent="-330200" lvl="0" marL="457200" marR="0" rtl="0" algn="l">
                <a:lnSpc>
                  <a:spcPct val="115000"/>
                </a:lnSpc>
                <a:spcBef>
                  <a:spcPts val="0"/>
                </a:spcBef>
                <a:spcAft>
                  <a:spcPts val="0"/>
                </a:spcAft>
                <a:buClr>
                  <a:srgbClr val="000000"/>
                </a:buClr>
                <a:buSzPts val="1600"/>
                <a:buFont typeface="Montserrat"/>
                <a:buChar char="●"/>
              </a:pPr>
              <a:r>
                <a:rPr b="0" i="0" lang="en-US" sz="1600" u="none" cap="none" strike="noStrike">
                  <a:solidFill>
                    <a:srgbClr val="000000"/>
                  </a:solidFill>
                  <a:latin typeface="Montserrat"/>
                  <a:ea typeface="Montserrat"/>
                  <a:cs typeface="Montserrat"/>
                  <a:sym typeface="Montserrat"/>
                </a:rPr>
                <a:t>Unbiased and neutral </a:t>
              </a:r>
              <a:endParaRPr b="0" i="0" sz="1600" u="none" cap="none" strike="noStrike">
                <a:solidFill>
                  <a:srgbClr val="000000"/>
                </a:solidFill>
                <a:latin typeface="Montserrat"/>
                <a:ea typeface="Montserrat"/>
                <a:cs typeface="Montserrat"/>
                <a:sym typeface="Montserrat"/>
              </a:endParaRPr>
            </a:p>
          </p:txBody>
        </p:sp>
      </p:grpSp>
      <p:sp>
        <p:nvSpPr>
          <p:cNvPr id="289" name="Google Shape;289;g39b7157ad26_0_680"/>
          <p:cNvSpPr txBox="1"/>
          <p:nvPr/>
        </p:nvSpPr>
        <p:spPr>
          <a:xfrm>
            <a:off x="8572525" y="4463700"/>
            <a:ext cx="3294600" cy="2031900"/>
          </a:xfrm>
          <a:prstGeom prst="rect">
            <a:avLst/>
          </a:prstGeom>
          <a:solidFill>
            <a:srgbClr val="D9D2E9"/>
          </a:solidFill>
          <a:ln>
            <a:noFill/>
          </a:ln>
        </p:spPr>
        <p:txBody>
          <a:bodyPr anchorCtr="0" anchor="t" bIns="91425" lIns="91425" spcFirstLastPara="1" rIns="91425" wrap="square" tIns="91425">
            <a:spAutoFit/>
          </a:bodyPr>
          <a:lstStyle/>
          <a:p>
            <a:pPr indent="-381000" lvl="0" marL="457200" marR="0" rtl="0" algn="l">
              <a:lnSpc>
                <a:spcPct val="100000"/>
              </a:lnSpc>
              <a:spcBef>
                <a:spcPts val="0"/>
              </a:spcBef>
              <a:spcAft>
                <a:spcPts val="0"/>
              </a:spcAft>
              <a:buClr>
                <a:schemeClr val="dk1"/>
              </a:buClr>
              <a:buSzPts val="2400"/>
              <a:buFont typeface="Montserrat"/>
              <a:buChar char="●"/>
            </a:pPr>
            <a:r>
              <a:rPr b="0" i="1" lang="en-US" sz="2400" u="none" cap="none" strike="noStrike">
                <a:solidFill>
                  <a:schemeClr val="dk1"/>
                </a:solidFill>
                <a:latin typeface="Montserrat"/>
                <a:ea typeface="Montserrat"/>
                <a:cs typeface="Montserrat"/>
                <a:sym typeface="Montserrat"/>
              </a:rPr>
              <a:t>Books </a:t>
            </a:r>
            <a:endParaRPr b="0" i="1" sz="2400" u="none" cap="none" strike="noStrike">
              <a:solidFill>
                <a:schemeClr val="dk1"/>
              </a:solidFill>
              <a:latin typeface="Montserrat"/>
              <a:ea typeface="Montserrat"/>
              <a:cs typeface="Montserrat"/>
              <a:sym typeface="Montserrat"/>
            </a:endParaRPr>
          </a:p>
          <a:p>
            <a:pPr indent="-381000" lvl="0" marL="457200" marR="0" rtl="0" algn="l">
              <a:lnSpc>
                <a:spcPct val="100000"/>
              </a:lnSpc>
              <a:spcBef>
                <a:spcPts val="0"/>
              </a:spcBef>
              <a:spcAft>
                <a:spcPts val="0"/>
              </a:spcAft>
              <a:buClr>
                <a:schemeClr val="dk1"/>
              </a:buClr>
              <a:buSzPts val="2400"/>
              <a:buFont typeface="Montserrat"/>
              <a:buChar char="●"/>
            </a:pPr>
            <a:r>
              <a:rPr b="0" i="1" lang="en-US" sz="2400" u="none" cap="none" strike="noStrike">
                <a:solidFill>
                  <a:schemeClr val="dk1"/>
                </a:solidFill>
                <a:latin typeface="Montserrat"/>
                <a:ea typeface="Montserrat"/>
                <a:cs typeface="Montserrat"/>
                <a:sym typeface="Montserrat"/>
              </a:rPr>
              <a:t>Journals </a:t>
            </a:r>
            <a:endParaRPr b="0" i="1" sz="2400" u="none" cap="none" strike="noStrike">
              <a:solidFill>
                <a:schemeClr val="dk1"/>
              </a:solidFill>
              <a:latin typeface="Montserrat"/>
              <a:ea typeface="Montserrat"/>
              <a:cs typeface="Montserrat"/>
              <a:sym typeface="Montserrat"/>
            </a:endParaRPr>
          </a:p>
          <a:p>
            <a:pPr indent="-381000" lvl="0" marL="457200" marR="0" rtl="0" algn="l">
              <a:lnSpc>
                <a:spcPct val="100000"/>
              </a:lnSpc>
              <a:spcBef>
                <a:spcPts val="0"/>
              </a:spcBef>
              <a:spcAft>
                <a:spcPts val="0"/>
              </a:spcAft>
              <a:buClr>
                <a:schemeClr val="dk1"/>
              </a:buClr>
              <a:buSzPts val="2400"/>
              <a:buFont typeface="Montserrat"/>
              <a:buChar char="●"/>
            </a:pPr>
            <a:r>
              <a:rPr b="0" i="1" lang="en-US" sz="2400" u="none" cap="none" strike="noStrike">
                <a:solidFill>
                  <a:schemeClr val="dk1"/>
                </a:solidFill>
                <a:latin typeface="Montserrat"/>
                <a:ea typeface="Montserrat"/>
                <a:cs typeface="Montserrat"/>
                <a:sym typeface="Montserrat"/>
              </a:rPr>
              <a:t>Research papers </a:t>
            </a:r>
            <a:endParaRPr b="0" i="1" sz="2400" u="none" cap="none" strike="noStrike">
              <a:solidFill>
                <a:schemeClr val="dk1"/>
              </a:solidFill>
              <a:latin typeface="Montserrat"/>
              <a:ea typeface="Montserrat"/>
              <a:cs typeface="Montserrat"/>
              <a:sym typeface="Montserrat"/>
            </a:endParaRPr>
          </a:p>
          <a:p>
            <a:pPr indent="-381000" lvl="0" marL="457200" marR="0" rtl="0" algn="l">
              <a:lnSpc>
                <a:spcPct val="100000"/>
              </a:lnSpc>
              <a:spcBef>
                <a:spcPts val="0"/>
              </a:spcBef>
              <a:spcAft>
                <a:spcPts val="0"/>
              </a:spcAft>
              <a:buClr>
                <a:schemeClr val="dk1"/>
              </a:buClr>
              <a:buSzPts val="2400"/>
              <a:buFont typeface="Montserrat"/>
              <a:buChar char="●"/>
            </a:pPr>
            <a:r>
              <a:rPr b="0" i="1" lang="en-US" sz="2400" u="none" cap="none" strike="noStrike">
                <a:solidFill>
                  <a:schemeClr val="dk1"/>
                </a:solidFill>
                <a:latin typeface="Montserrat"/>
                <a:ea typeface="Montserrat"/>
                <a:cs typeface="Montserrat"/>
                <a:sym typeface="Montserrat"/>
              </a:rPr>
              <a:t>Documentaries </a:t>
            </a:r>
            <a:endParaRPr b="0" i="1" sz="2400" u="none" cap="none" strike="noStrike">
              <a:solidFill>
                <a:schemeClr val="dk1"/>
              </a:solidFill>
              <a:latin typeface="Montserrat"/>
              <a:ea typeface="Montserrat"/>
              <a:cs typeface="Montserrat"/>
              <a:sym typeface="Montserrat"/>
            </a:endParaRPr>
          </a:p>
          <a:p>
            <a:pPr indent="-381000" lvl="0" marL="457200" marR="0" rtl="0" algn="l">
              <a:lnSpc>
                <a:spcPct val="100000"/>
              </a:lnSpc>
              <a:spcBef>
                <a:spcPts val="0"/>
              </a:spcBef>
              <a:spcAft>
                <a:spcPts val="0"/>
              </a:spcAft>
              <a:buClr>
                <a:schemeClr val="dk1"/>
              </a:buClr>
              <a:buSzPts val="2400"/>
              <a:buFont typeface="Montserrat"/>
              <a:buChar char="●"/>
            </a:pPr>
            <a:r>
              <a:rPr b="0" i="1" lang="en-US" sz="2400" u="none" cap="none" strike="noStrike">
                <a:solidFill>
                  <a:schemeClr val="dk1"/>
                </a:solidFill>
                <a:latin typeface="Montserrat"/>
                <a:ea typeface="Montserrat"/>
                <a:cs typeface="Montserrat"/>
                <a:sym typeface="Montserrat"/>
              </a:rPr>
              <a:t>Podcasts </a:t>
            </a:r>
            <a:endParaRPr b="0" i="1" sz="2400" u="none" cap="none" strike="noStrike">
              <a:solidFill>
                <a:schemeClr val="dk1"/>
              </a:solidFill>
              <a:latin typeface="Montserrat"/>
              <a:ea typeface="Montserrat"/>
              <a:cs typeface="Montserrat"/>
              <a:sym typeface="Montserrat"/>
            </a:endParaRPr>
          </a:p>
        </p:txBody>
      </p:sp>
      <p:sp>
        <p:nvSpPr>
          <p:cNvPr id="290" name="Google Shape;290;g39b7157ad26_0_680"/>
          <p:cNvSpPr txBox="1"/>
          <p:nvPr/>
        </p:nvSpPr>
        <p:spPr>
          <a:xfrm>
            <a:off x="8572531" y="2597850"/>
            <a:ext cx="3294600" cy="1662300"/>
          </a:xfrm>
          <a:prstGeom prst="rect">
            <a:avLst/>
          </a:prstGeom>
          <a:solidFill>
            <a:srgbClr val="CFE2F3"/>
          </a:solidFill>
          <a:ln>
            <a:noFill/>
          </a:ln>
        </p:spPr>
        <p:txBody>
          <a:bodyPr anchorCtr="0" anchor="t" bIns="91425" lIns="91425" spcFirstLastPara="1" rIns="91425" wrap="square" tIns="91425">
            <a:spAutoFit/>
          </a:bodyPr>
          <a:lstStyle/>
          <a:p>
            <a:pPr indent="-381000" lvl="0" marL="457200" marR="0" rtl="0" algn="l">
              <a:lnSpc>
                <a:spcPct val="100000"/>
              </a:lnSpc>
              <a:spcBef>
                <a:spcPts val="0"/>
              </a:spcBef>
              <a:spcAft>
                <a:spcPts val="0"/>
              </a:spcAft>
              <a:buClr>
                <a:schemeClr val="dk1"/>
              </a:buClr>
              <a:buSzPts val="2400"/>
              <a:buFont typeface="Montserrat"/>
              <a:buChar char="➔"/>
            </a:pPr>
            <a:r>
              <a:rPr b="0" i="1" lang="en-US" sz="2400" u="none" cap="none" strike="noStrike">
                <a:solidFill>
                  <a:schemeClr val="dk1"/>
                </a:solidFill>
                <a:latin typeface="Montserrat"/>
                <a:ea typeface="Montserrat"/>
                <a:cs typeface="Montserrat"/>
                <a:sym typeface="Montserrat"/>
              </a:rPr>
              <a:t>Authenticity </a:t>
            </a:r>
            <a:endParaRPr b="0" i="1" sz="2400" u="none" cap="none" strike="noStrike">
              <a:solidFill>
                <a:schemeClr val="dk1"/>
              </a:solidFill>
              <a:latin typeface="Montserrat"/>
              <a:ea typeface="Montserrat"/>
              <a:cs typeface="Montserrat"/>
              <a:sym typeface="Montserrat"/>
            </a:endParaRPr>
          </a:p>
          <a:p>
            <a:pPr indent="-381000" lvl="0" marL="457200" marR="0" rtl="0" algn="l">
              <a:lnSpc>
                <a:spcPct val="100000"/>
              </a:lnSpc>
              <a:spcBef>
                <a:spcPts val="0"/>
              </a:spcBef>
              <a:spcAft>
                <a:spcPts val="0"/>
              </a:spcAft>
              <a:buClr>
                <a:schemeClr val="dk1"/>
              </a:buClr>
              <a:buSzPts val="2400"/>
              <a:buFont typeface="Montserrat"/>
              <a:buChar char="➔"/>
            </a:pPr>
            <a:r>
              <a:rPr b="0" i="1" lang="en-US" sz="2400" u="none" cap="none" strike="noStrike">
                <a:solidFill>
                  <a:schemeClr val="dk1"/>
                </a:solidFill>
                <a:latin typeface="Montserrat"/>
                <a:ea typeface="Montserrat"/>
                <a:cs typeface="Montserrat"/>
                <a:sym typeface="Montserrat"/>
              </a:rPr>
              <a:t>Credibility </a:t>
            </a:r>
            <a:endParaRPr b="0" i="1" sz="2400" u="none" cap="none" strike="noStrike">
              <a:solidFill>
                <a:schemeClr val="dk1"/>
              </a:solidFill>
              <a:latin typeface="Montserrat"/>
              <a:ea typeface="Montserrat"/>
              <a:cs typeface="Montserrat"/>
              <a:sym typeface="Montserrat"/>
            </a:endParaRPr>
          </a:p>
          <a:p>
            <a:pPr indent="-381000" lvl="0" marL="457200" marR="0" rtl="0" algn="l">
              <a:lnSpc>
                <a:spcPct val="100000"/>
              </a:lnSpc>
              <a:spcBef>
                <a:spcPts val="0"/>
              </a:spcBef>
              <a:spcAft>
                <a:spcPts val="0"/>
              </a:spcAft>
              <a:buClr>
                <a:schemeClr val="dk1"/>
              </a:buClr>
              <a:buSzPts val="2400"/>
              <a:buFont typeface="Montserrat"/>
              <a:buChar char="➔"/>
            </a:pPr>
            <a:r>
              <a:rPr b="0" i="1" lang="en-US" sz="2400" u="none" cap="none" strike="noStrike">
                <a:solidFill>
                  <a:schemeClr val="dk1"/>
                </a:solidFill>
                <a:latin typeface="Montserrat"/>
                <a:ea typeface="Montserrat"/>
                <a:cs typeface="Montserrat"/>
                <a:sym typeface="Montserrat"/>
              </a:rPr>
              <a:t>Relevance </a:t>
            </a:r>
            <a:endParaRPr b="0" i="1" sz="2400" u="none" cap="none" strike="noStrike">
              <a:solidFill>
                <a:schemeClr val="dk1"/>
              </a:solidFill>
              <a:latin typeface="Montserrat"/>
              <a:ea typeface="Montserrat"/>
              <a:cs typeface="Montserrat"/>
              <a:sym typeface="Montserrat"/>
            </a:endParaRPr>
          </a:p>
          <a:p>
            <a:pPr indent="-381000" lvl="0" marL="457200" marR="0" rtl="0" algn="l">
              <a:lnSpc>
                <a:spcPct val="100000"/>
              </a:lnSpc>
              <a:spcBef>
                <a:spcPts val="0"/>
              </a:spcBef>
              <a:spcAft>
                <a:spcPts val="0"/>
              </a:spcAft>
              <a:buClr>
                <a:schemeClr val="dk1"/>
              </a:buClr>
              <a:buSzPts val="2400"/>
              <a:buFont typeface="Montserrat"/>
              <a:buChar char="➔"/>
            </a:pPr>
            <a:r>
              <a:rPr b="0" i="1" lang="en-US" sz="2400" u="none" cap="none" strike="noStrike">
                <a:solidFill>
                  <a:schemeClr val="dk1"/>
                </a:solidFill>
                <a:latin typeface="Montserrat"/>
                <a:ea typeface="Montserrat"/>
                <a:cs typeface="Montserrat"/>
                <a:sym typeface="Montserrat"/>
              </a:rPr>
              <a:t>Scope </a:t>
            </a:r>
            <a:endParaRPr b="0" i="1" sz="2400" u="none" cap="none" strike="noStrike">
              <a:solidFill>
                <a:schemeClr val="dk1"/>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g39b7157ad26_0_26"/>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1000"/>
              </a:spcBef>
              <a:spcAft>
                <a:spcPts val="0"/>
              </a:spcAft>
              <a:buSzPts val="1800"/>
              <a:buNone/>
            </a:pPr>
            <a:r>
              <a:rPr b="1" lang="en-US" sz="3600">
                <a:latin typeface="Montserrat"/>
                <a:ea typeface="Montserrat"/>
                <a:cs typeface="Montserrat"/>
                <a:sym typeface="Montserrat"/>
              </a:rPr>
              <a:t>Respondent’s profile</a:t>
            </a:r>
            <a:endParaRPr b="1" sz="3600">
              <a:latin typeface="Montserrat"/>
              <a:ea typeface="Montserrat"/>
              <a:cs typeface="Montserrat"/>
              <a:sym typeface="Montserrat"/>
            </a:endParaRPr>
          </a:p>
        </p:txBody>
      </p:sp>
      <p:grpSp>
        <p:nvGrpSpPr>
          <p:cNvPr id="297" name="Google Shape;297;g39b7157ad26_0_26"/>
          <p:cNvGrpSpPr/>
          <p:nvPr/>
        </p:nvGrpSpPr>
        <p:grpSpPr>
          <a:xfrm>
            <a:off x="5466727" y="1851625"/>
            <a:ext cx="3208512" cy="4643963"/>
            <a:chOff x="5632317" y="1189775"/>
            <a:chExt cx="3305700" cy="3483059"/>
          </a:xfrm>
        </p:grpSpPr>
        <p:sp>
          <p:nvSpPr>
            <p:cNvPr id="298" name="Google Shape;298;g39b7157ad26_0_26"/>
            <p:cNvSpPr/>
            <p:nvPr/>
          </p:nvSpPr>
          <p:spPr>
            <a:xfrm>
              <a:off x="5632317" y="1189775"/>
              <a:ext cx="3305700" cy="669000"/>
            </a:xfrm>
            <a:prstGeom prst="chevron">
              <a:avLst>
                <a:gd fmla="val 50000" name="adj"/>
              </a:avLst>
            </a:prstGeom>
            <a:solidFill>
              <a:srgbClr val="9325A5"/>
            </a:solidFill>
            <a:ln>
              <a:noFill/>
            </a:ln>
          </p:spPr>
          <p:txBody>
            <a:bodyPr anchorCtr="0" anchor="ctr" bIns="121900" lIns="121900" spcFirstLastPara="1" rIns="121900" wrap="square" tIns="121900">
              <a:noAutofit/>
            </a:bodyPr>
            <a:lstStyle/>
            <a:p>
              <a:pPr indent="0" lvl="0" marL="0" marR="0" rtl="0" algn="ctr">
                <a:lnSpc>
                  <a:spcPct val="90000"/>
                </a:lnSpc>
                <a:spcBef>
                  <a:spcPts val="1000"/>
                </a:spcBef>
                <a:spcAft>
                  <a:spcPts val="0"/>
                </a:spcAft>
                <a:buClr>
                  <a:srgbClr val="000000"/>
                </a:buClr>
                <a:buSzPts val="2300"/>
                <a:buFont typeface="Arial"/>
                <a:buNone/>
              </a:pPr>
              <a:r>
                <a:rPr b="1" i="0" lang="en-US" sz="2300" u="none" cap="none" strike="noStrike">
                  <a:solidFill>
                    <a:schemeClr val="lt1"/>
                  </a:solidFill>
                  <a:latin typeface="Montserrat"/>
                  <a:ea typeface="Montserrat"/>
                  <a:cs typeface="Montserrat"/>
                  <a:sym typeface="Montserrat"/>
                </a:rPr>
                <a:t>Secondary Research</a:t>
              </a:r>
              <a:endParaRPr b="1" i="0" sz="1900" u="none" cap="none" strike="noStrike">
                <a:solidFill>
                  <a:schemeClr val="lt1"/>
                </a:solidFill>
                <a:latin typeface="Roboto"/>
                <a:ea typeface="Roboto"/>
                <a:cs typeface="Roboto"/>
                <a:sym typeface="Roboto"/>
              </a:endParaRPr>
            </a:p>
          </p:txBody>
        </p:sp>
        <p:sp>
          <p:nvSpPr>
            <p:cNvPr id="299" name="Google Shape;299;g39b7157ad26_0_26"/>
            <p:cNvSpPr txBox="1"/>
            <p:nvPr/>
          </p:nvSpPr>
          <p:spPr>
            <a:xfrm>
              <a:off x="5863049" y="2057134"/>
              <a:ext cx="2801700" cy="2615700"/>
            </a:xfrm>
            <a:prstGeom prst="rect">
              <a:avLst/>
            </a:prstGeom>
            <a:noFill/>
            <a:ln>
              <a:noFill/>
            </a:ln>
          </p:spPr>
          <p:txBody>
            <a:bodyPr anchorCtr="0" anchor="t" bIns="121900" lIns="121900" spcFirstLastPara="1" rIns="121900" wrap="square" tIns="121900">
              <a:noAutofit/>
            </a:bodyPr>
            <a:lstStyle/>
            <a:p>
              <a:pPr indent="-330200" lvl="0" marL="457200" marR="0" rtl="0" algn="l">
                <a:lnSpc>
                  <a:spcPct val="115000"/>
                </a:lnSpc>
                <a:spcBef>
                  <a:spcPts val="0"/>
                </a:spcBef>
                <a:spcAft>
                  <a:spcPts val="0"/>
                </a:spcAft>
                <a:buClr>
                  <a:srgbClr val="000000"/>
                </a:buClr>
                <a:buSzPts val="1600"/>
                <a:buFont typeface="Montserrat Medium"/>
                <a:buChar char="●"/>
              </a:pPr>
              <a:r>
                <a:rPr b="0" i="0" lang="en-US" sz="1600" u="none" cap="none" strike="noStrike">
                  <a:solidFill>
                    <a:srgbClr val="000000"/>
                  </a:solidFill>
                  <a:latin typeface="Montserrat Medium"/>
                  <a:ea typeface="Montserrat Medium"/>
                  <a:cs typeface="Montserrat Medium"/>
                  <a:sym typeface="Montserrat Medium"/>
                </a:rPr>
                <a:t>Review of the existing literature, information. </a:t>
              </a:r>
              <a:endParaRPr b="0" i="0" sz="1600" u="none" cap="none" strike="noStrike">
                <a:solidFill>
                  <a:srgbClr val="000000"/>
                </a:solidFill>
                <a:latin typeface="Montserrat Medium"/>
                <a:ea typeface="Montserrat Medium"/>
                <a:cs typeface="Montserrat Medium"/>
                <a:sym typeface="Montserrat Medium"/>
              </a:endParaRPr>
            </a:p>
            <a:p>
              <a:pPr indent="-330200" lvl="0" marL="457200" marR="0" rtl="0" algn="l">
                <a:lnSpc>
                  <a:spcPct val="115000"/>
                </a:lnSpc>
                <a:spcBef>
                  <a:spcPts val="0"/>
                </a:spcBef>
                <a:spcAft>
                  <a:spcPts val="0"/>
                </a:spcAft>
                <a:buClr>
                  <a:srgbClr val="000000"/>
                </a:buClr>
                <a:buSzPts val="1600"/>
                <a:buFont typeface="Montserrat Medium"/>
                <a:buChar char="●"/>
              </a:pPr>
              <a:r>
                <a:rPr b="0" i="0" lang="en-US" sz="1600" u="none" cap="none" strike="noStrike">
                  <a:solidFill>
                    <a:srgbClr val="000000"/>
                  </a:solidFill>
                  <a:latin typeface="Montserrat Medium"/>
                  <a:ea typeface="Montserrat Medium"/>
                  <a:cs typeface="Montserrat Medium"/>
                  <a:sym typeface="Montserrat Medium"/>
                </a:rPr>
                <a:t>Being curious. Ignoring existing research can point to arrogance. </a:t>
              </a:r>
              <a:endParaRPr b="0" i="0" sz="1600" u="none" cap="none" strike="noStrike">
                <a:solidFill>
                  <a:srgbClr val="000000"/>
                </a:solidFill>
                <a:latin typeface="Montserrat Medium"/>
                <a:ea typeface="Montserrat Medium"/>
                <a:cs typeface="Montserrat Medium"/>
                <a:sym typeface="Montserrat Medium"/>
              </a:endParaRPr>
            </a:p>
            <a:p>
              <a:pPr indent="0" lvl="0" marL="0" marR="0" rtl="0" algn="l">
                <a:lnSpc>
                  <a:spcPct val="115000"/>
                </a:lnSpc>
                <a:spcBef>
                  <a:spcPts val="0"/>
                </a:spcBef>
                <a:spcAft>
                  <a:spcPts val="0"/>
                </a:spcAft>
                <a:buClr>
                  <a:srgbClr val="000000"/>
                </a:buClr>
                <a:buSzPts val="1600"/>
                <a:buFont typeface="Arial"/>
                <a:buNone/>
              </a:pPr>
              <a:r>
                <a:t/>
              </a:r>
              <a:endParaRPr b="0" i="0" sz="1600" u="none" cap="none" strike="noStrike">
                <a:solidFill>
                  <a:srgbClr val="000000"/>
                </a:solidFill>
                <a:latin typeface="Montserrat Medium"/>
                <a:ea typeface="Montserrat Medium"/>
                <a:cs typeface="Montserrat Medium"/>
                <a:sym typeface="Montserrat Medium"/>
              </a:endParaRPr>
            </a:p>
          </p:txBody>
        </p:sp>
      </p:grpSp>
      <p:grpSp>
        <p:nvGrpSpPr>
          <p:cNvPr id="300" name="Google Shape;300;g39b7157ad26_0_26"/>
          <p:cNvGrpSpPr/>
          <p:nvPr/>
        </p:nvGrpSpPr>
        <p:grpSpPr>
          <a:xfrm>
            <a:off x="0" y="1851911"/>
            <a:ext cx="3442621" cy="4643677"/>
            <a:chOff x="0" y="1189989"/>
            <a:chExt cx="3546900" cy="3482845"/>
          </a:xfrm>
        </p:grpSpPr>
        <p:sp>
          <p:nvSpPr>
            <p:cNvPr id="301" name="Google Shape;301;g39b7157ad26_0_26"/>
            <p:cNvSpPr/>
            <p:nvPr/>
          </p:nvSpPr>
          <p:spPr>
            <a:xfrm>
              <a:off x="0" y="1189989"/>
              <a:ext cx="3546900" cy="669000"/>
            </a:xfrm>
            <a:prstGeom prst="homePlate">
              <a:avLst>
                <a:gd fmla="val 50000" name="adj"/>
              </a:avLst>
            </a:prstGeom>
            <a:solidFill>
              <a:srgbClr val="561561"/>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2300"/>
                <a:buFont typeface="Arial"/>
                <a:buNone/>
              </a:pPr>
              <a:r>
                <a:rPr b="1" i="0" lang="en-US" sz="2300" u="none" cap="none" strike="noStrike">
                  <a:solidFill>
                    <a:srgbClr val="FFFFFF"/>
                  </a:solidFill>
                  <a:latin typeface="Montserrat"/>
                  <a:ea typeface="Montserrat"/>
                  <a:cs typeface="Montserrat"/>
                  <a:sym typeface="Montserrat"/>
                </a:rPr>
                <a:t>Topic</a:t>
              </a:r>
              <a:endParaRPr b="1" i="0" sz="2300" u="none" cap="none" strike="noStrike">
                <a:solidFill>
                  <a:srgbClr val="FFFFFF"/>
                </a:solidFill>
                <a:latin typeface="Montserrat"/>
                <a:ea typeface="Montserrat"/>
                <a:cs typeface="Montserrat"/>
                <a:sym typeface="Montserrat"/>
              </a:endParaRPr>
            </a:p>
          </p:txBody>
        </p:sp>
        <p:sp>
          <p:nvSpPr>
            <p:cNvPr id="302" name="Google Shape;302;g39b7157ad26_0_26"/>
            <p:cNvSpPr txBox="1"/>
            <p:nvPr/>
          </p:nvSpPr>
          <p:spPr>
            <a:xfrm>
              <a:off x="341670" y="2057134"/>
              <a:ext cx="2692500" cy="2615700"/>
            </a:xfrm>
            <a:prstGeom prst="rect">
              <a:avLst/>
            </a:prstGeom>
            <a:noFill/>
            <a:ln>
              <a:noFill/>
            </a:ln>
          </p:spPr>
          <p:txBody>
            <a:bodyPr anchorCtr="0" anchor="t" bIns="121900" lIns="121900" spcFirstLastPara="1" rIns="121900" wrap="square" tIns="121900">
              <a:noAutofit/>
            </a:bodyPr>
            <a:lstStyle/>
            <a:p>
              <a:pPr indent="-342900" lvl="0" marL="457200" marR="0" rtl="0" algn="l">
                <a:lnSpc>
                  <a:spcPct val="90000"/>
                </a:lnSpc>
                <a:spcBef>
                  <a:spcPts val="1000"/>
                </a:spcBef>
                <a:spcAft>
                  <a:spcPts val="0"/>
                </a:spcAft>
                <a:buClr>
                  <a:schemeClr val="dk1"/>
                </a:buClr>
                <a:buSzPts val="1800"/>
                <a:buFont typeface="Montserrat"/>
                <a:buChar char="●"/>
              </a:pPr>
              <a:r>
                <a:rPr b="0" i="0" lang="en-US" sz="1800" u="none" cap="none" strike="noStrike">
                  <a:solidFill>
                    <a:schemeClr val="dk1"/>
                  </a:solidFill>
                  <a:latin typeface="Montserrat"/>
                  <a:ea typeface="Montserrat"/>
                  <a:cs typeface="Montserrat"/>
                  <a:sym typeface="Montserrat"/>
                </a:rPr>
                <a:t>Topic selection</a:t>
              </a:r>
              <a:endParaRPr b="0" i="0" sz="1800" u="none" cap="none" strike="noStrike">
                <a:solidFill>
                  <a:schemeClr val="dk1"/>
                </a:solidFill>
                <a:latin typeface="Montserrat"/>
                <a:ea typeface="Montserrat"/>
                <a:cs typeface="Montserrat"/>
                <a:sym typeface="Montserrat"/>
              </a:endParaRPr>
            </a:p>
            <a:p>
              <a:pPr indent="-342900" lvl="0" marL="457200" marR="0" rtl="0" algn="l">
                <a:lnSpc>
                  <a:spcPct val="90000"/>
                </a:lnSpc>
                <a:spcBef>
                  <a:spcPts val="0"/>
                </a:spcBef>
                <a:spcAft>
                  <a:spcPts val="0"/>
                </a:spcAft>
                <a:buClr>
                  <a:schemeClr val="dk1"/>
                </a:buClr>
                <a:buSzPts val="1800"/>
                <a:buFont typeface="Montserrat"/>
                <a:buChar char="●"/>
              </a:pPr>
              <a:r>
                <a:rPr b="0" i="0" lang="en-US" sz="1800" u="none" cap="none" strike="noStrike">
                  <a:solidFill>
                    <a:schemeClr val="dk1"/>
                  </a:solidFill>
                  <a:latin typeface="Montserrat"/>
                  <a:ea typeface="Montserrat"/>
                  <a:cs typeface="Montserrat"/>
                  <a:sym typeface="Montserrat"/>
                </a:rPr>
                <a:t>Defining a topic </a:t>
              </a:r>
              <a:endParaRPr b="0" i="0" sz="1800" u="none" cap="none" strike="noStrike">
                <a:solidFill>
                  <a:schemeClr val="dk1"/>
                </a:solidFill>
                <a:latin typeface="Montserrat"/>
                <a:ea typeface="Montserrat"/>
                <a:cs typeface="Montserrat"/>
                <a:sym typeface="Montserrat"/>
              </a:endParaRPr>
            </a:p>
            <a:p>
              <a:pPr indent="-342900" lvl="0" marL="457200" marR="0" rtl="0" algn="l">
                <a:lnSpc>
                  <a:spcPct val="90000"/>
                </a:lnSpc>
                <a:spcBef>
                  <a:spcPts val="0"/>
                </a:spcBef>
                <a:spcAft>
                  <a:spcPts val="0"/>
                </a:spcAft>
                <a:buClr>
                  <a:schemeClr val="dk1"/>
                </a:buClr>
                <a:buSzPts val="1800"/>
                <a:buFont typeface="Montserrat"/>
                <a:buChar char="●"/>
              </a:pPr>
              <a:r>
                <a:rPr b="0" i="0" lang="en-US" sz="1800" u="none" cap="none" strike="noStrike">
                  <a:solidFill>
                    <a:schemeClr val="dk1"/>
                  </a:solidFill>
                  <a:latin typeface="Montserrat"/>
                  <a:ea typeface="Montserrat"/>
                  <a:cs typeface="Montserrat"/>
                  <a:sym typeface="Montserrat"/>
                </a:rPr>
                <a:t>Identifying resources </a:t>
              </a:r>
              <a:endParaRPr b="0" i="0" sz="1800" u="none" cap="none" strike="noStrike">
                <a:solidFill>
                  <a:schemeClr val="dk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Roboto"/>
                <a:ea typeface="Roboto"/>
                <a:cs typeface="Roboto"/>
                <a:sym typeface="Roboto"/>
              </a:endParaRPr>
            </a:p>
          </p:txBody>
        </p:sp>
      </p:grpSp>
      <p:grpSp>
        <p:nvGrpSpPr>
          <p:cNvPr id="303" name="Google Shape;303;g39b7157ad26_0_26"/>
          <p:cNvGrpSpPr/>
          <p:nvPr/>
        </p:nvGrpSpPr>
        <p:grpSpPr>
          <a:xfrm>
            <a:off x="2857644" y="1851625"/>
            <a:ext cx="3208512" cy="4643963"/>
            <a:chOff x="2944204" y="1189775"/>
            <a:chExt cx="3305700" cy="3483059"/>
          </a:xfrm>
        </p:grpSpPr>
        <p:sp>
          <p:nvSpPr>
            <p:cNvPr id="304" name="Google Shape;304;g39b7157ad26_0_26"/>
            <p:cNvSpPr/>
            <p:nvPr/>
          </p:nvSpPr>
          <p:spPr>
            <a:xfrm>
              <a:off x="2944204" y="1189775"/>
              <a:ext cx="3305700" cy="669000"/>
            </a:xfrm>
            <a:prstGeom prst="chevron">
              <a:avLst>
                <a:gd fmla="val 50000" name="adj"/>
              </a:avLst>
            </a:prstGeom>
            <a:solidFill>
              <a:srgbClr val="771E86"/>
            </a:solidFill>
            <a:ln>
              <a:noFill/>
            </a:ln>
          </p:spPr>
          <p:txBody>
            <a:bodyPr anchorCtr="0" anchor="ctr" bIns="121900" lIns="121900" spcFirstLastPara="1" rIns="121900" wrap="square" tIns="121900">
              <a:noAutofit/>
            </a:bodyPr>
            <a:lstStyle/>
            <a:p>
              <a:pPr indent="0" lvl="0" marL="0" marR="0" rtl="0" algn="ctr">
                <a:lnSpc>
                  <a:spcPct val="90000"/>
                </a:lnSpc>
                <a:spcBef>
                  <a:spcPts val="1000"/>
                </a:spcBef>
                <a:spcAft>
                  <a:spcPts val="0"/>
                </a:spcAft>
                <a:buClr>
                  <a:srgbClr val="000000"/>
                </a:buClr>
                <a:buSzPts val="2300"/>
                <a:buFont typeface="Arial"/>
                <a:buNone/>
              </a:pPr>
              <a:r>
                <a:rPr b="1" i="0" lang="en-US" sz="2300" u="none" cap="none" strike="noStrike">
                  <a:solidFill>
                    <a:schemeClr val="lt1"/>
                  </a:solidFill>
                  <a:latin typeface="Montserrat"/>
                  <a:ea typeface="Montserrat"/>
                  <a:cs typeface="Montserrat"/>
                  <a:sym typeface="Montserrat"/>
                </a:rPr>
                <a:t>Research Objectives </a:t>
              </a:r>
              <a:endParaRPr b="1" i="0" sz="1900" u="none" cap="none" strike="noStrike">
                <a:solidFill>
                  <a:srgbClr val="FFFFFF"/>
                </a:solidFill>
                <a:latin typeface="Roboto"/>
                <a:ea typeface="Roboto"/>
                <a:cs typeface="Roboto"/>
                <a:sym typeface="Roboto"/>
              </a:endParaRPr>
            </a:p>
          </p:txBody>
        </p:sp>
        <p:sp>
          <p:nvSpPr>
            <p:cNvPr id="305" name="Google Shape;305;g39b7157ad26_0_26"/>
            <p:cNvSpPr txBox="1"/>
            <p:nvPr/>
          </p:nvSpPr>
          <p:spPr>
            <a:xfrm>
              <a:off x="3239027" y="2057134"/>
              <a:ext cx="2624100" cy="2615700"/>
            </a:xfrm>
            <a:prstGeom prst="rect">
              <a:avLst/>
            </a:prstGeom>
            <a:noFill/>
            <a:ln>
              <a:noFill/>
            </a:ln>
          </p:spPr>
          <p:txBody>
            <a:bodyPr anchorCtr="0" anchor="t" bIns="121900" lIns="121900" spcFirstLastPara="1" rIns="121900" wrap="square" tIns="121900">
              <a:noAutofit/>
            </a:bodyPr>
            <a:lstStyle/>
            <a:p>
              <a:pPr indent="-330200" lvl="0" marL="457200" marR="0" rtl="0" algn="l">
                <a:lnSpc>
                  <a:spcPct val="115000"/>
                </a:lnSpc>
                <a:spcBef>
                  <a:spcPts val="0"/>
                </a:spcBef>
                <a:spcAft>
                  <a:spcPts val="0"/>
                </a:spcAft>
                <a:buClr>
                  <a:srgbClr val="000000"/>
                </a:buClr>
                <a:buSzPts val="1600"/>
                <a:buFont typeface="Montserrat"/>
                <a:buChar char="●"/>
              </a:pPr>
              <a:r>
                <a:rPr b="0" i="0" lang="en-US" sz="1600" u="none" cap="none" strike="noStrike">
                  <a:solidFill>
                    <a:srgbClr val="000000"/>
                  </a:solidFill>
                  <a:latin typeface="Montserrat"/>
                  <a:ea typeface="Montserrat"/>
                  <a:cs typeface="Montserrat"/>
                  <a:sym typeface="Montserrat"/>
                </a:rPr>
                <a:t>What is the quest? the learning outcomes? </a:t>
              </a:r>
              <a:endParaRPr b="0" i="0" sz="1600" u="none" cap="none" strike="noStrike">
                <a:solidFill>
                  <a:srgbClr val="000000"/>
                </a:solidFill>
                <a:latin typeface="Montserrat"/>
                <a:ea typeface="Montserrat"/>
                <a:cs typeface="Montserrat"/>
                <a:sym typeface="Montserrat"/>
              </a:endParaRPr>
            </a:p>
            <a:p>
              <a:pPr indent="-330200" lvl="0" marL="457200" marR="0" rtl="0" algn="l">
                <a:lnSpc>
                  <a:spcPct val="115000"/>
                </a:lnSpc>
                <a:spcBef>
                  <a:spcPts val="0"/>
                </a:spcBef>
                <a:spcAft>
                  <a:spcPts val="0"/>
                </a:spcAft>
                <a:buClr>
                  <a:srgbClr val="000000"/>
                </a:buClr>
                <a:buSzPts val="1600"/>
                <a:buFont typeface="Montserrat"/>
                <a:buChar char="●"/>
              </a:pPr>
              <a:r>
                <a:rPr b="0" i="0" lang="en-US" sz="1600" u="none" cap="none" strike="noStrike">
                  <a:solidFill>
                    <a:srgbClr val="000000"/>
                  </a:solidFill>
                  <a:latin typeface="Montserrat"/>
                  <a:ea typeface="Montserrat"/>
                  <a:cs typeface="Montserrat"/>
                  <a:sym typeface="Montserrat"/>
                </a:rPr>
                <a:t>Listing them clearly</a:t>
              </a:r>
              <a:endParaRPr b="0" i="0" sz="1600" u="none" cap="none" strike="noStrike">
                <a:solidFill>
                  <a:srgbClr val="000000"/>
                </a:solidFill>
                <a:latin typeface="Montserrat"/>
                <a:ea typeface="Montserrat"/>
                <a:cs typeface="Montserrat"/>
                <a:sym typeface="Montserrat"/>
              </a:endParaRPr>
            </a:p>
            <a:p>
              <a:pPr indent="-330200" lvl="0" marL="457200" marR="0" rtl="0" algn="l">
                <a:lnSpc>
                  <a:spcPct val="115000"/>
                </a:lnSpc>
                <a:spcBef>
                  <a:spcPts val="0"/>
                </a:spcBef>
                <a:spcAft>
                  <a:spcPts val="0"/>
                </a:spcAft>
                <a:buClr>
                  <a:srgbClr val="000000"/>
                </a:buClr>
                <a:buSzPts val="1600"/>
                <a:buFont typeface="Montserrat"/>
                <a:buChar char="●"/>
              </a:pPr>
              <a:r>
                <a:rPr b="0" i="0" lang="en-US" sz="1600" u="none" cap="none" strike="noStrike">
                  <a:solidFill>
                    <a:srgbClr val="000000"/>
                  </a:solidFill>
                  <a:latin typeface="Montserrat"/>
                  <a:ea typeface="Montserrat"/>
                  <a:cs typeface="Montserrat"/>
                  <a:sym typeface="Montserrat"/>
                </a:rPr>
                <a:t>Focus on the problem understanding </a:t>
              </a:r>
              <a:endParaRPr b="0" i="0" sz="1600" u="none" cap="none" strike="noStrike">
                <a:solidFill>
                  <a:srgbClr val="000000"/>
                </a:solidFill>
                <a:latin typeface="Montserrat"/>
                <a:ea typeface="Montserrat"/>
                <a:cs typeface="Montserrat"/>
                <a:sym typeface="Montserrat"/>
              </a:endParaRPr>
            </a:p>
            <a:p>
              <a:pPr indent="-330200" lvl="0" marL="457200" marR="0" rtl="0" algn="l">
                <a:lnSpc>
                  <a:spcPct val="115000"/>
                </a:lnSpc>
                <a:spcBef>
                  <a:spcPts val="0"/>
                </a:spcBef>
                <a:spcAft>
                  <a:spcPts val="0"/>
                </a:spcAft>
                <a:buClr>
                  <a:srgbClr val="000000"/>
                </a:buClr>
                <a:buSzPts val="1600"/>
                <a:buFont typeface="Montserrat"/>
                <a:buChar char="●"/>
              </a:pPr>
              <a:r>
                <a:rPr b="0" i="0" lang="en-US" sz="1600" u="none" cap="none" strike="noStrike">
                  <a:solidFill>
                    <a:srgbClr val="000000"/>
                  </a:solidFill>
                  <a:latin typeface="Montserrat"/>
                  <a:ea typeface="Montserrat"/>
                  <a:cs typeface="Montserrat"/>
                  <a:sym typeface="Montserrat"/>
                </a:rPr>
                <a:t>Unbiased and neutral </a:t>
              </a:r>
              <a:endParaRPr b="0" i="0" sz="1600" u="none" cap="none" strike="noStrike">
                <a:solidFill>
                  <a:srgbClr val="000000"/>
                </a:solidFill>
                <a:latin typeface="Montserrat"/>
                <a:ea typeface="Montserrat"/>
                <a:cs typeface="Montserrat"/>
                <a:sym typeface="Montserrat"/>
              </a:endParaRPr>
            </a:p>
          </p:txBody>
        </p:sp>
      </p:grpSp>
      <p:grpSp>
        <p:nvGrpSpPr>
          <p:cNvPr id="306" name="Google Shape;306;g39b7157ad26_0_26"/>
          <p:cNvGrpSpPr/>
          <p:nvPr/>
        </p:nvGrpSpPr>
        <p:grpSpPr>
          <a:xfrm>
            <a:off x="8224866" y="1851625"/>
            <a:ext cx="3208512" cy="4643963"/>
            <a:chOff x="5632317" y="1189775"/>
            <a:chExt cx="3305700" cy="3483059"/>
          </a:xfrm>
        </p:grpSpPr>
        <p:sp>
          <p:nvSpPr>
            <p:cNvPr id="307" name="Google Shape;307;g39b7157ad26_0_26"/>
            <p:cNvSpPr/>
            <p:nvPr/>
          </p:nvSpPr>
          <p:spPr>
            <a:xfrm>
              <a:off x="5632317" y="1189775"/>
              <a:ext cx="3305700" cy="669000"/>
            </a:xfrm>
            <a:prstGeom prst="chevron">
              <a:avLst>
                <a:gd fmla="val 50000" name="adj"/>
              </a:avLst>
            </a:prstGeom>
            <a:solidFill>
              <a:srgbClr val="9318A7">
                <a:alpha val="74901"/>
              </a:srgbClr>
            </a:solidFill>
            <a:ln>
              <a:noFill/>
            </a:ln>
          </p:spPr>
          <p:txBody>
            <a:bodyPr anchorCtr="0" anchor="ctr" bIns="121900" lIns="121900" spcFirstLastPara="1" rIns="121900" wrap="square" tIns="121900">
              <a:noAutofit/>
            </a:bodyPr>
            <a:lstStyle/>
            <a:p>
              <a:pPr indent="0" lvl="0" marL="0" marR="0" rtl="0" algn="ctr">
                <a:lnSpc>
                  <a:spcPct val="90000"/>
                </a:lnSpc>
                <a:spcBef>
                  <a:spcPts val="1000"/>
                </a:spcBef>
                <a:spcAft>
                  <a:spcPts val="0"/>
                </a:spcAft>
                <a:buClr>
                  <a:srgbClr val="000000"/>
                </a:buClr>
                <a:buSzPts val="2300"/>
                <a:buFont typeface="Arial"/>
                <a:buNone/>
              </a:pPr>
              <a:r>
                <a:rPr b="1" i="0" lang="en-US" sz="2300" u="none" cap="none" strike="noStrike">
                  <a:solidFill>
                    <a:schemeClr val="lt1"/>
                  </a:solidFill>
                  <a:latin typeface="Montserrat"/>
                  <a:ea typeface="Montserrat"/>
                  <a:cs typeface="Montserrat"/>
                  <a:sym typeface="Montserrat"/>
                </a:rPr>
                <a:t>Target Audience </a:t>
              </a:r>
              <a:endParaRPr b="1" i="0" sz="1900" u="none" cap="none" strike="noStrike">
                <a:solidFill>
                  <a:schemeClr val="lt1"/>
                </a:solidFill>
                <a:latin typeface="Roboto"/>
                <a:ea typeface="Roboto"/>
                <a:cs typeface="Roboto"/>
                <a:sym typeface="Roboto"/>
              </a:endParaRPr>
            </a:p>
          </p:txBody>
        </p:sp>
        <p:sp>
          <p:nvSpPr>
            <p:cNvPr id="308" name="Google Shape;308;g39b7157ad26_0_26"/>
            <p:cNvSpPr txBox="1"/>
            <p:nvPr/>
          </p:nvSpPr>
          <p:spPr>
            <a:xfrm>
              <a:off x="5863049" y="2057134"/>
              <a:ext cx="2801700" cy="2615700"/>
            </a:xfrm>
            <a:prstGeom prst="rect">
              <a:avLst/>
            </a:prstGeom>
            <a:noFill/>
            <a:ln>
              <a:noFill/>
            </a:ln>
          </p:spPr>
          <p:txBody>
            <a:bodyPr anchorCtr="0" anchor="t" bIns="121900" lIns="121900" spcFirstLastPara="1" rIns="121900" wrap="square" tIns="121900">
              <a:noAutofit/>
            </a:bodyPr>
            <a:lstStyle/>
            <a:p>
              <a:pPr indent="-330200" lvl="0" marL="457200" marR="0" rtl="0" algn="l">
                <a:lnSpc>
                  <a:spcPct val="115000"/>
                </a:lnSpc>
                <a:spcBef>
                  <a:spcPts val="0"/>
                </a:spcBef>
                <a:spcAft>
                  <a:spcPts val="0"/>
                </a:spcAft>
                <a:buClr>
                  <a:srgbClr val="000000"/>
                </a:buClr>
                <a:buSzPts val="1600"/>
                <a:buFont typeface="Montserrat Medium"/>
                <a:buChar char="●"/>
              </a:pPr>
              <a:r>
                <a:rPr b="0" i="0" lang="en-US" sz="1600" u="none" cap="none" strike="noStrike">
                  <a:solidFill>
                    <a:srgbClr val="000000"/>
                  </a:solidFill>
                  <a:latin typeface="Montserrat Medium"/>
                  <a:ea typeface="Montserrat Medium"/>
                  <a:cs typeface="Montserrat Medium"/>
                  <a:sym typeface="Montserrat Medium"/>
                </a:rPr>
                <a:t>Respondent profiles </a:t>
              </a:r>
              <a:endParaRPr b="0" i="0" sz="1600" u="none" cap="none" strike="noStrike">
                <a:solidFill>
                  <a:srgbClr val="000000"/>
                </a:solidFill>
                <a:latin typeface="Montserrat Medium"/>
                <a:ea typeface="Montserrat Medium"/>
                <a:cs typeface="Montserrat Medium"/>
                <a:sym typeface="Montserrat Medium"/>
              </a:endParaRPr>
            </a:p>
            <a:p>
              <a:pPr indent="-330200" lvl="0" marL="457200" marR="0" rtl="0" algn="l">
                <a:lnSpc>
                  <a:spcPct val="115000"/>
                </a:lnSpc>
                <a:spcBef>
                  <a:spcPts val="0"/>
                </a:spcBef>
                <a:spcAft>
                  <a:spcPts val="0"/>
                </a:spcAft>
                <a:buClr>
                  <a:srgbClr val="000000"/>
                </a:buClr>
                <a:buSzPts val="1600"/>
                <a:buFont typeface="Montserrat Medium"/>
                <a:buChar char="●"/>
              </a:pPr>
              <a:r>
                <a:rPr b="0" i="0" lang="en-US" sz="1600" u="none" cap="none" strike="noStrike">
                  <a:solidFill>
                    <a:srgbClr val="000000"/>
                  </a:solidFill>
                  <a:latin typeface="Montserrat Medium"/>
                  <a:ea typeface="Montserrat Medium"/>
                  <a:cs typeface="Montserrat Medium"/>
                  <a:sym typeface="Montserrat Medium"/>
                </a:rPr>
                <a:t>Who is my right audience? </a:t>
              </a:r>
              <a:endParaRPr b="0" i="0" sz="1600" u="none" cap="none" strike="noStrike">
                <a:solidFill>
                  <a:srgbClr val="000000"/>
                </a:solidFill>
                <a:latin typeface="Montserrat Medium"/>
                <a:ea typeface="Montserrat Medium"/>
                <a:cs typeface="Montserrat Medium"/>
                <a:sym typeface="Montserrat Medium"/>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g39b7157ad26_0_359"/>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1000"/>
              </a:spcBef>
              <a:spcAft>
                <a:spcPts val="0"/>
              </a:spcAft>
              <a:buSzPts val="1800"/>
              <a:buNone/>
            </a:pPr>
            <a:r>
              <a:rPr b="1" lang="en-US" sz="3600">
                <a:solidFill>
                  <a:srgbClr val="674EA7"/>
                </a:solidFill>
                <a:latin typeface="Montserrat"/>
                <a:ea typeface="Montserrat"/>
                <a:cs typeface="Montserrat"/>
                <a:sym typeface="Montserrat"/>
              </a:rPr>
              <a:t>Primary Research</a:t>
            </a:r>
            <a:endParaRPr b="1" sz="3600">
              <a:solidFill>
                <a:srgbClr val="674EA7"/>
              </a:solidFill>
              <a:latin typeface="Montserrat"/>
              <a:ea typeface="Montserrat"/>
              <a:cs typeface="Montserrat"/>
              <a:sym typeface="Montserrat"/>
            </a:endParaRPr>
          </a:p>
        </p:txBody>
      </p:sp>
      <p:sp>
        <p:nvSpPr>
          <p:cNvPr id="315" name="Google Shape;315;g39b7157ad26_0_359"/>
          <p:cNvSpPr txBox="1"/>
          <p:nvPr/>
        </p:nvSpPr>
        <p:spPr>
          <a:xfrm>
            <a:off x="838200" y="2576475"/>
            <a:ext cx="10245000" cy="2878200"/>
          </a:xfrm>
          <a:prstGeom prst="rect">
            <a:avLst/>
          </a:prstGeom>
          <a:noFill/>
          <a:ln cap="flat" cmpd="sng" w="9525">
            <a:solidFill>
              <a:srgbClr val="9900FF"/>
            </a:solidFill>
            <a:prstDash val="solid"/>
            <a:round/>
            <a:headEnd len="sm" w="sm" type="none"/>
            <a:tailEnd len="sm" w="sm" type="none"/>
          </a:ln>
        </p:spPr>
        <p:txBody>
          <a:bodyPr anchorCtr="0" anchor="t" bIns="91425" lIns="91425" spcFirstLastPara="1" rIns="91425" wrap="square" tIns="91425">
            <a:spAutoFit/>
          </a:bodyPr>
          <a:lstStyle/>
          <a:p>
            <a:pPr indent="-311150" lvl="0" marL="381000" marR="0" rtl="0" algn="l">
              <a:lnSpc>
                <a:spcPct val="100000"/>
              </a:lnSpc>
              <a:spcBef>
                <a:spcPts val="0"/>
              </a:spcBef>
              <a:spcAft>
                <a:spcPts val="0"/>
              </a:spcAft>
              <a:buClr>
                <a:schemeClr val="dk1"/>
              </a:buClr>
              <a:buSzPts val="2500"/>
              <a:buFont typeface="Montserrat"/>
              <a:buChar char="➔"/>
            </a:pPr>
            <a:r>
              <a:rPr b="0" i="0" lang="en-US" sz="2500" u="none" cap="none" strike="noStrike">
                <a:solidFill>
                  <a:schemeClr val="dk1"/>
                </a:solidFill>
                <a:latin typeface="Montserrat"/>
                <a:ea typeface="Montserrat"/>
                <a:cs typeface="Montserrat"/>
                <a:sym typeface="Montserrat"/>
              </a:rPr>
              <a:t>Interviews </a:t>
            </a:r>
            <a:endParaRPr b="0" i="0" sz="2500" u="none" cap="none" strike="noStrike">
              <a:solidFill>
                <a:schemeClr val="dk1"/>
              </a:solidFill>
              <a:latin typeface="Montserrat"/>
              <a:ea typeface="Montserrat"/>
              <a:cs typeface="Montserrat"/>
              <a:sym typeface="Montserrat"/>
            </a:endParaRPr>
          </a:p>
          <a:p>
            <a:pPr indent="-311150" lvl="0" marL="381000" marR="0" rtl="0" algn="l">
              <a:lnSpc>
                <a:spcPct val="100000"/>
              </a:lnSpc>
              <a:spcBef>
                <a:spcPts val="0"/>
              </a:spcBef>
              <a:spcAft>
                <a:spcPts val="0"/>
              </a:spcAft>
              <a:buClr>
                <a:schemeClr val="dk1"/>
              </a:buClr>
              <a:buSzPts val="2500"/>
              <a:buFont typeface="Montserrat"/>
              <a:buChar char="➔"/>
            </a:pPr>
            <a:r>
              <a:rPr b="0" i="0" lang="en-US" sz="2500" u="none" cap="none" strike="noStrike">
                <a:solidFill>
                  <a:schemeClr val="dk1"/>
                </a:solidFill>
                <a:latin typeface="Montserrat"/>
                <a:ea typeface="Montserrat"/>
                <a:cs typeface="Montserrat"/>
                <a:sym typeface="Montserrat"/>
              </a:rPr>
              <a:t>Focus groups</a:t>
            </a:r>
            <a:endParaRPr b="0" i="0" sz="2500" u="none" cap="none" strike="noStrike">
              <a:solidFill>
                <a:schemeClr val="dk1"/>
              </a:solidFill>
              <a:latin typeface="Montserrat"/>
              <a:ea typeface="Montserrat"/>
              <a:cs typeface="Montserrat"/>
              <a:sym typeface="Montserrat"/>
            </a:endParaRPr>
          </a:p>
          <a:p>
            <a:pPr indent="-311150" lvl="0" marL="381000" marR="0" rtl="0" algn="l">
              <a:lnSpc>
                <a:spcPct val="100000"/>
              </a:lnSpc>
              <a:spcBef>
                <a:spcPts val="0"/>
              </a:spcBef>
              <a:spcAft>
                <a:spcPts val="0"/>
              </a:spcAft>
              <a:buClr>
                <a:schemeClr val="dk1"/>
              </a:buClr>
              <a:buSzPts val="2500"/>
              <a:buFont typeface="Montserrat"/>
              <a:buChar char="➔"/>
            </a:pPr>
            <a:r>
              <a:rPr b="0" i="0" lang="en-US" sz="2500" u="none" cap="none" strike="noStrike">
                <a:solidFill>
                  <a:schemeClr val="dk1"/>
                </a:solidFill>
                <a:latin typeface="Montserrat"/>
                <a:ea typeface="Montserrat"/>
                <a:cs typeface="Montserrat"/>
                <a:sym typeface="Montserrat"/>
              </a:rPr>
              <a:t>Surveys/Questionnaires</a:t>
            </a:r>
            <a:endParaRPr b="0" i="0" sz="2500" u="none" cap="none" strike="noStrike">
              <a:solidFill>
                <a:schemeClr val="dk1"/>
              </a:solidFill>
              <a:latin typeface="Montserrat"/>
              <a:ea typeface="Montserrat"/>
              <a:cs typeface="Montserrat"/>
              <a:sym typeface="Montserrat"/>
            </a:endParaRPr>
          </a:p>
          <a:p>
            <a:pPr indent="-311150" lvl="0" marL="381000" marR="0" rtl="0" algn="l">
              <a:lnSpc>
                <a:spcPct val="100000"/>
              </a:lnSpc>
              <a:spcBef>
                <a:spcPts val="0"/>
              </a:spcBef>
              <a:spcAft>
                <a:spcPts val="0"/>
              </a:spcAft>
              <a:buClr>
                <a:schemeClr val="dk1"/>
              </a:buClr>
              <a:buSzPts val="2500"/>
              <a:buFont typeface="Montserrat"/>
              <a:buChar char="➔"/>
            </a:pPr>
            <a:r>
              <a:rPr b="0" i="0" lang="en-US" sz="2500" u="none" cap="none" strike="noStrike">
                <a:solidFill>
                  <a:schemeClr val="dk1"/>
                </a:solidFill>
                <a:latin typeface="Montserrat"/>
                <a:ea typeface="Montserrat"/>
                <a:cs typeface="Montserrat"/>
                <a:sym typeface="Montserrat"/>
              </a:rPr>
              <a:t>Laboratory experiments, or field observations</a:t>
            </a:r>
            <a:endParaRPr b="0" i="0" sz="2500" u="none" cap="none" strike="noStrike">
              <a:solidFill>
                <a:schemeClr val="dk1"/>
              </a:solidFill>
              <a:latin typeface="Montserrat"/>
              <a:ea typeface="Montserrat"/>
              <a:cs typeface="Montserrat"/>
              <a:sym typeface="Montserrat"/>
            </a:endParaRPr>
          </a:p>
          <a:p>
            <a:pPr indent="-311150" lvl="0" marL="381000" marR="0" rtl="0" algn="l">
              <a:lnSpc>
                <a:spcPct val="100000"/>
              </a:lnSpc>
              <a:spcBef>
                <a:spcPts val="0"/>
              </a:spcBef>
              <a:spcAft>
                <a:spcPts val="0"/>
              </a:spcAft>
              <a:buClr>
                <a:schemeClr val="dk1"/>
              </a:buClr>
              <a:buSzPts val="2500"/>
              <a:buFont typeface="Montserrat"/>
              <a:buChar char="➔"/>
            </a:pPr>
            <a:r>
              <a:rPr b="0" i="0" lang="en-US" sz="2500" u="none" cap="none" strike="noStrike">
                <a:solidFill>
                  <a:schemeClr val="dk1"/>
                </a:solidFill>
                <a:latin typeface="Montserrat"/>
                <a:ea typeface="Montserrat"/>
                <a:cs typeface="Montserrat"/>
                <a:sym typeface="Montserrat"/>
              </a:rPr>
              <a:t>Original works such as diaries, company reports, and correspondence, as well as documents that are the subject of analysis, such as user’s manuals and Web sites.</a:t>
            </a:r>
            <a:endParaRPr b="0" i="0" sz="2500" u="none" cap="none" strike="noStrike">
              <a:solidFill>
                <a:srgbClr val="000000"/>
              </a:solidFill>
              <a:latin typeface="Montserrat"/>
              <a:ea typeface="Montserrat"/>
              <a:cs typeface="Montserrat"/>
              <a:sym typeface="Montserrat"/>
            </a:endParaRPr>
          </a:p>
        </p:txBody>
      </p:sp>
      <p:cxnSp>
        <p:nvCxnSpPr>
          <p:cNvPr id="316" name="Google Shape;316;g39b7157ad26_0_359"/>
          <p:cNvCxnSpPr/>
          <p:nvPr/>
        </p:nvCxnSpPr>
        <p:spPr>
          <a:xfrm>
            <a:off x="1639550" y="1405325"/>
            <a:ext cx="0" cy="1030500"/>
          </a:xfrm>
          <a:prstGeom prst="straightConnector1">
            <a:avLst/>
          </a:prstGeom>
          <a:noFill/>
          <a:ln cap="flat" cmpd="sng" w="38100">
            <a:solidFill>
              <a:srgbClr val="9900FF"/>
            </a:solidFill>
            <a:prstDash val="solid"/>
            <a:round/>
            <a:headEnd len="sm" w="sm" type="none"/>
            <a:tailEnd len="med" w="med" type="triangle"/>
          </a:ln>
        </p:spPr>
      </p:cxnSp>
      <p:sp>
        <p:nvSpPr>
          <p:cNvPr id="317" name="Google Shape;317;g39b7157ad26_0_359"/>
          <p:cNvSpPr txBox="1"/>
          <p:nvPr/>
        </p:nvSpPr>
        <p:spPr>
          <a:xfrm>
            <a:off x="7698075" y="5605700"/>
            <a:ext cx="3385200" cy="1046700"/>
          </a:xfrm>
          <a:prstGeom prst="rect">
            <a:avLst/>
          </a:prstGeom>
          <a:solidFill>
            <a:srgbClr val="E5DFEC"/>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Montserrat"/>
                <a:ea typeface="Montserrat"/>
                <a:cs typeface="Montserrat"/>
                <a:sym typeface="Montserrat"/>
              </a:rPr>
              <a:t>Qualitative </a:t>
            </a:r>
            <a:endParaRPr b="1" i="0" sz="28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Montserrat"/>
                <a:ea typeface="Montserrat"/>
                <a:cs typeface="Montserrat"/>
                <a:sym typeface="Montserrat"/>
              </a:rPr>
              <a:t>Quantitative </a:t>
            </a:r>
            <a:endParaRPr b="1" i="0" sz="2800" u="none" cap="none" strike="noStrike">
              <a:solidFill>
                <a:schemeClr val="dk1"/>
              </a:solidFill>
              <a:latin typeface="Montserrat"/>
              <a:ea typeface="Montserrat"/>
              <a:cs typeface="Montserrat"/>
              <a:sym typeface="Montserrat"/>
            </a:endParaRPr>
          </a:p>
        </p:txBody>
      </p:sp>
      <p:cxnSp>
        <p:nvCxnSpPr>
          <p:cNvPr id="318" name="Google Shape;318;g39b7157ad26_0_359"/>
          <p:cNvCxnSpPr>
            <a:stCxn id="317" idx="1"/>
            <a:endCxn id="315" idx="2"/>
          </p:cNvCxnSpPr>
          <p:nvPr/>
        </p:nvCxnSpPr>
        <p:spPr>
          <a:xfrm rot="10800000">
            <a:off x="5960775" y="5454650"/>
            <a:ext cx="1737300" cy="674400"/>
          </a:xfrm>
          <a:prstGeom prst="bentConnector2">
            <a:avLst/>
          </a:prstGeom>
          <a:noFill/>
          <a:ln cap="flat" cmpd="sng" w="38100">
            <a:solidFill>
              <a:srgbClr val="674EA7"/>
            </a:solidFill>
            <a:prstDash val="solid"/>
            <a:round/>
            <a:headEnd len="med" w="med" type="triangl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g39b7157ad26_0_738"/>
          <p:cNvSpPr/>
          <p:nvPr/>
        </p:nvSpPr>
        <p:spPr>
          <a:xfrm>
            <a:off x="0" y="0"/>
            <a:ext cx="6096000" cy="6938400"/>
          </a:xfrm>
          <a:prstGeom prst="roundRect">
            <a:avLst>
              <a:gd fmla="val 0" name="adj"/>
            </a:avLst>
          </a:prstGeom>
          <a:solidFill>
            <a:srgbClr val="B4A7D6"/>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t/>
            </a:r>
            <a:endParaRPr b="1" i="0" sz="1500" u="none" cap="none" strike="noStrike">
              <a:solidFill>
                <a:srgbClr val="FFFFFF"/>
              </a:solidFill>
              <a:latin typeface="Roboto"/>
              <a:ea typeface="Roboto"/>
              <a:cs typeface="Roboto"/>
              <a:sym typeface="Roboto"/>
            </a:endParaRPr>
          </a:p>
        </p:txBody>
      </p:sp>
      <p:sp>
        <p:nvSpPr>
          <p:cNvPr id="324" name="Google Shape;324;g39b7157ad26_0_738"/>
          <p:cNvSpPr txBox="1"/>
          <p:nvPr/>
        </p:nvSpPr>
        <p:spPr>
          <a:xfrm>
            <a:off x="608100" y="369633"/>
            <a:ext cx="6216000" cy="432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3500"/>
              <a:buFont typeface="Arial"/>
              <a:buNone/>
            </a:pPr>
            <a:r>
              <a:rPr b="1" i="0" lang="en-US" sz="3500" u="none" cap="none" strike="noStrike">
                <a:solidFill>
                  <a:schemeClr val="lt1"/>
                </a:solidFill>
                <a:latin typeface="Questrial"/>
                <a:ea typeface="Questrial"/>
                <a:cs typeface="Questrial"/>
                <a:sym typeface="Questrial"/>
              </a:rPr>
              <a:t>Quantitative </a:t>
            </a:r>
            <a:endParaRPr b="1" i="0" sz="3500" u="none" cap="none" strike="noStrike">
              <a:solidFill>
                <a:schemeClr val="lt1"/>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Questrial"/>
              <a:ea typeface="Questrial"/>
              <a:cs typeface="Questrial"/>
              <a:sym typeface="Questrial"/>
            </a:endParaRPr>
          </a:p>
        </p:txBody>
      </p:sp>
      <p:sp>
        <p:nvSpPr>
          <p:cNvPr id="325" name="Google Shape;325;g39b7157ad26_0_738"/>
          <p:cNvSpPr txBox="1"/>
          <p:nvPr/>
        </p:nvSpPr>
        <p:spPr>
          <a:xfrm>
            <a:off x="6554833" y="369633"/>
            <a:ext cx="6216000" cy="432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3500"/>
              <a:buFont typeface="Arial"/>
              <a:buNone/>
            </a:pPr>
            <a:r>
              <a:rPr b="1" i="0" lang="en-US" sz="3500" u="none" cap="none" strike="noStrike">
                <a:solidFill>
                  <a:schemeClr val="dk1"/>
                </a:solidFill>
                <a:latin typeface="Questrial"/>
                <a:ea typeface="Questrial"/>
                <a:cs typeface="Questrial"/>
                <a:sym typeface="Questrial"/>
              </a:rPr>
              <a:t>Qualitative</a:t>
            </a:r>
            <a:endParaRPr b="0" i="0" sz="1600" u="none" cap="none" strike="noStrike">
              <a:solidFill>
                <a:schemeClr val="dk1"/>
              </a:solidFill>
              <a:latin typeface="Questrial"/>
              <a:ea typeface="Questrial"/>
              <a:cs typeface="Questrial"/>
              <a:sym typeface="Questrial"/>
            </a:endParaRPr>
          </a:p>
        </p:txBody>
      </p:sp>
      <p:sp>
        <p:nvSpPr>
          <p:cNvPr id="326" name="Google Shape;326;g39b7157ad26_0_738"/>
          <p:cNvSpPr txBox="1"/>
          <p:nvPr/>
        </p:nvSpPr>
        <p:spPr>
          <a:xfrm>
            <a:off x="608100" y="1970700"/>
            <a:ext cx="4569600" cy="2277900"/>
          </a:xfrm>
          <a:prstGeom prst="rect">
            <a:avLst/>
          </a:prstGeom>
          <a:noFill/>
          <a:ln>
            <a:noFill/>
          </a:ln>
        </p:spPr>
        <p:txBody>
          <a:bodyPr anchorCtr="0" anchor="t" bIns="121900" lIns="121900" spcFirstLastPara="1" rIns="121900" wrap="square" tIns="121900">
            <a:spAutoFit/>
          </a:bodyPr>
          <a:lstStyle/>
          <a:p>
            <a:pPr indent="-203200" lvl="0" marL="241300" marR="0" rtl="0" algn="l">
              <a:lnSpc>
                <a:spcPct val="100000"/>
              </a:lnSpc>
              <a:spcBef>
                <a:spcPts val="0"/>
              </a:spcBef>
              <a:spcAft>
                <a:spcPts val="0"/>
              </a:spcAft>
              <a:buClr>
                <a:schemeClr val="dk1"/>
              </a:buClr>
              <a:buSzPts val="2200"/>
              <a:buFont typeface="Questrial"/>
              <a:buChar char="●"/>
            </a:pPr>
            <a:r>
              <a:rPr b="0" i="0" lang="en-US" sz="2200" u="none" cap="none" strike="noStrike">
                <a:solidFill>
                  <a:schemeClr val="dk1"/>
                </a:solidFill>
                <a:latin typeface="Questrial"/>
                <a:ea typeface="Questrial"/>
                <a:cs typeface="Questrial"/>
                <a:sym typeface="Questrial"/>
              </a:rPr>
              <a:t>Quantifyable data that can be analyzed </a:t>
            </a:r>
            <a:endParaRPr b="0" i="0" sz="2200" u="none" cap="none" strike="noStrike">
              <a:solidFill>
                <a:schemeClr val="dk1"/>
              </a:solidFill>
              <a:latin typeface="Questrial"/>
              <a:ea typeface="Questrial"/>
              <a:cs typeface="Questrial"/>
              <a:sym typeface="Questrial"/>
            </a:endParaRPr>
          </a:p>
          <a:p>
            <a:pPr indent="-203200" lvl="0" marL="241300" marR="0" rtl="0" algn="l">
              <a:lnSpc>
                <a:spcPct val="100000"/>
              </a:lnSpc>
              <a:spcBef>
                <a:spcPts val="0"/>
              </a:spcBef>
              <a:spcAft>
                <a:spcPts val="0"/>
              </a:spcAft>
              <a:buClr>
                <a:schemeClr val="dk1"/>
              </a:buClr>
              <a:buSzPts val="2200"/>
              <a:buFont typeface="Questrial"/>
              <a:buChar char="●"/>
            </a:pPr>
            <a:r>
              <a:rPr b="0" i="0" lang="en-US" sz="2200" u="none" cap="none" strike="noStrike">
                <a:solidFill>
                  <a:schemeClr val="dk1"/>
                </a:solidFill>
                <a:latin typeface="Questrial"/>
                <a:ea typeface="Questrial"/>
                <a:cs typeface="Questrial"/>
                <a:sym typeface="Questrial"/>
              </a:rPr>
              <a:t>Quantitative research collects </a:t>
            </a:r>
            <a:r>
              <a:rPr b="0" i="0" lang="en-US" sz="2200" u="sng" cap="none" strike="noStrike">
                <a:solidFill>
                  <a:schemeClr val="dk1"/>
                </a:solidFill>
                <a:latin typeface="Questrial"/>
                <a:ea typeface="Questrial"/>
                <a:cs typeface="Questrial"/>
                <a:sym typeface="Questrial"/>
              </a:rPr>
              <a:t>data that can be represented in numbers</a:t>
            </a:r>
            <a:r>
              <a:rPr b="0" i="0" lang="en-US" sz="2200" u="none" cap="none" strike="noStrike">
                <a:solidFill>
                  <a:schemeClr val="dk1"/>
                </a:solidFill>
                <a:latin typeface="Questrial"/>
                <a:ea typeface="Questrial"/>
                <a:cs typeface="Questrial"/>
                <a:sym typeface="Questrial"/>
              </a:rPr>
              <a:t>.</a:t>
            </a:r>
            <a:endParaRPr b="0" i="0" sz="2200" u="none" cap="none" strike="noStrike">
              <a:solidFill>
                <a:schemeClr val="dk1"/>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chemeClr val="dk1"/>
              </a:solidFill>
              <a:latin typeface="Questrial"/>
              <a:ea typeface="Questrial"/>
              <a:cs typeface="Questrial"/>
              <a:sym typeface="Questrial"/>
            </a:endParaRPr>
          </a:p>
        </p:txBody>
      </p:sp>
      <p:sp>
        <p:nvSpPr>
          <p:cNvPr id="327" name="Google Shape;327;g39b7157ad26_0_738"/>
          <p:cNvSpPr txBox="1"/>
          <p:nvPr/>
        </p:nvSpPr>
        <p:spPr>
          <a:xfrm>
            <a:off x="6463867" y="1970700"/>
            <a:ext cx="4907100" cy="2277900"/>
          </a:xfrm>
          <a:prstGeom prst="rect">
            <a:avLst/>
          </a:prstGeom>
          <a:noFill/>
          <a:ln>
            <a:noFill/>
          </a:ln>
        </p:spPr>
        <p:txBody>
          <a:bodyPr anchorCtr="0" anchor="t" bIns="121900" lIns="121900" spcFirstLastPara="1" rIns="121900" wrap="square" tIns="121900">
            <a:spAutoFit/>
          </a:bodyPr>
          <a:lstStyle/>
          <a:p>
            <a:pPr indent="-203200" lvl="0" marL="241300" marR="0" rtl="0" algn="l">
              <a:lnSpc>
                <a:spcPct val="100000"/>
              </a:lnSpc>
              <a:spcBef>
                <a:spcPts val="0"/>
              </a:spcBef>
              <a:spcAft>
                <a:spcPts val="0"/>
              </a:spcAft>
              <a:buClr>
                <a:schemeClr val="dk1"/>
              </a:buClr>
              <a:buSzPts val="2200"/>
              <a:buFont typeface="Questrial"/>
              <a:buChar char="●"/>
            </a:pPr>
            <a:r>
              <a:rPr b="0" i="0" lang="en-US" sz="2200" u="none" cap="none" strike="noStrike">
                <a:solidFill>
                  <a:schemeClr val="dk1"/>
                </a:solidFill>
                <a:latin typeface="Questrial"/>
                <a:ea typeface="Questrial"/>
                <a:cs typeface="Questrial"/>
                <a:sym typeface="Questrial"/>
              </a:rPr>
              <a:t>Qualitative research </a:t>
            </a:r>
            <a:r>
              <a:rPr b="0" i="0" lang="en-US" sz="2200" u="sng" cap="none" strike="noStrike">
                <a:solidFill>
                  <a:schemeClr val="dk1"/>
                </a:solidFill>
                <a:latin typeface="Questrial"/>
                <a:ea typeface="Questrial"/>
                <a:cs typeface="Questrial"/>
                <a:sym typeface="Questrial"/>
              </a:rPr>
              <a:t>analyzes words, images, processes, or objects</a:t>
            </a:r>
            <a:endParaRPr b="0" i="0" sz="2200" u="sng" cap="none" strike="noStrike">
              <a:solidFill>
                <a:schemeClr val="dk1"/>
              </a:solidFill>
              <a:latin typeface="Questrial"/>
              <a:ea typeface="Questrial"/>
              <a:cs typeface="Questrial"/>
              <a:sym typeface="Questrial"/>
            </a:endParaRPr>
          </a:p>
          <a:p>
            <a:pPr indent="-203200" lvl="0" marL="241300" marR="0" rtl="0" algn="l">
              <a:lnSpc>
                <a:spcPct val="100000"/>
              </a:lnSpc>
              <a:spcBef>
                <a:spcPts val="0"/>
              </a:spcBef>
              <a:spcAft>
                <a:spcPts val="0"/>
              </a:spcAft>
              <a:buClr>
                <a:schemeClr val="dk1"/>
              </a:buClr>
              <a:buSzPts val="2200"/>
              <a:buFont typeface="Questrial"/>
              <a:buChar char="●"/>
            </a:pPr>
            <a:r>
              <a:rPr b="0" i="0" lang="en-US" sz="2200" u="none" cap="none" strike="noStrike">
                <a:solidFill>
                  <a:schemeClr val="dk1"/>
                </a:solidFill>
                <a:latin typeface="Questrial"/>
                <a:ea typeface="Questrial"/>
                <a:cs typeface="Questrial"/>
                <a:sym typeface="Questrial"/>
              </a:rPr>
              <a:t> Information observed through </a:t>
            </a:r>
            <a:r>
              <a:rPr b="0" i="0" lang="en-US" sz="2200" u="sng" cap="none" strike="noStrike">
                <a:solidFill>
                  <a:schemeClr val="dk1"/>
                </a:solidFill>
                <a:latin typeface="Questrial"/>
                <a:ea typeface="Questrial"/>
                <a:cs typeface="Questrial"/>
                <a:sym typeface="Questrial"/>
              </a:rPr>
              <a:t>conversations</a:t>
            </a:r>
            <a:r>
              <a:rPr b="0" i="0" lang="en-US" sz="2200" u="none" cap="none" strike="noStrike">
                <a:solidFill>
                  <a:schemeClr val="dk1"/>
                </a:solidFill>
                <a:latin typeface="Questrial"/>
                <a:ea typeface="Questrial"/>
                <a:cs typeface="Questrial"/>
                <a:sym typeface="Questrial"/>
              </a:rPr>
              <a:t>, (field) </a:t>
            </a:r>
            <a:r>
              <a:rPr b="0" i="0" lang="en-US" sz="2200" u="sng" cap="none" strike="noStrike">
                <a:solidFill>
                  <a:schemeClr val="dk1"/>
                </a:solidFill>
                <a:latin typeface="Questrial"/>
                <a:ea typeface="Questrial"/>
                <a:cs typeface="Questrial"/>
                <a:sym typeface="Questrial"/>
              </a:rPr>
              <a:t>observations</a:t>
            </a:r>
            <a:r>
              <a:rPr b="0" i="0" lang="en-US" sz="2200" u="none" cap="none" strike="noStrike">
                <a:solidFill>
                  <a:schemeClr val="dk1"/>
                </a:solidFill>
                <a:latin typeface="Questrial"/>
                <a:ea typeface="Questrial"/>
                <a:cs typeface="Questrial"/>
                <a:sym typeface="Questrial"/>
              </a:rPr>
              <a:t>, </a:t>
            </a:r>
            <a:r>
              <a:rPr b="0" i="0" lang="en-US" sz="2200" u="sng" cap="none" strike="noStrike">
                <a:solidFill>
                  <a:schemeClr val="dk1"/>
                </a:solidFill>
                <a:latin typeface="Questrial"/>
                <a:ea typeface="Questrial"/>
                <a:cs typeface="Questrial"/>
                <a:sym typeface="Questrial"/>
              </a:rPr>
              <a:t>anecdotal</a:t>
            </a:r>
            <a:r>
              <a:rPr b="0" i="0" lang="en-US" sz="2200" u="none" cap="none" strike="noStrike">
                <a:solidFill>
                  <a:schemeClr val="dk1"/>
                </a:solidFill>
                <a:latin typeface="Questrial"/>
                <a:ea typeface="Questrial"/>
                <a:cs typeface="Questrial"/>
                <a:sym typeface="Questrial"/>
              </a:rPr>
              <a:t> evidence</a:t>
            </a:r>
            <a:endParaRPr b="1" i="0" sz="2200" u="none" cap="none" strike="noStrike">
              <a:solidFill>
                <a:schemeClr val="dk1"/>
              </a:solidFill>
              <a:latin typeface="Questrial"/>
              <a:ea typeface="Questrial"/>
              <a:cs typeface="Questrial"/>
              <a:sym typeface="Quest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g39b7157ad26_0_85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b="1" lang="en-US" sz="4000">
                <a:latin typeface="Montserrat"/>
                <a:ea typeface="Montserrat"/>
                <a:cs typeface="Montserrat"/>
                <a:sym typeface="Montserrat"/>
              </a:rPr>
              <a:t>Designing a questionnaire I</a:t>
            </a:r>
            <a:endParaRPr b="1" sz="4000">
              <a:latin typeface="Montserrat"/>
              <a:ea typeface="Montserrat"/>
              <a:cs typeface="Montserrat"/>
              <a:sym typeface="Montserrat"/>
            </a:endParaRPr>
          </a:p>
        </p:txBody>
      </p:sp>
      <p:sp>
        <p:nvSpPr>
          <p:cNvPr id="334" name="Google Shape;334;g39b7157ad26_0_850"/>
          <p:cNvSpPr txBox="1"/>
          <p:nvPr>
            <p:ph idx="1" type="body"/>
          </p:nvPr>
        </p:nvSpPr>
        <p:spPr>
          <a:xfrm>
            <a:off x="838200" y="1788425"/>
            <a:ext cx="10515600" cy="2686500"/>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SzPts val="1800"/>
              <a:buFont typeface="Montserrat"/>
              <a:buAutoNum type="arabicPeriod"/>
            </a:pPr>
            <a:r>
              <a:rPr lang="en-US">
                <a:latin typeface="Montserrat"/>
                <a:ea typeface="Montserrat"/>
                <a:cs typeface="Montserrat"/>
                <a:sym typeface="Montserrat"/>
              </a:rPr>
              <a:t>Introduction</a:t>
            </a:r>
            <a:endParaRPr>
              <a:latin typeface="Montserrat"/>
              <a:ea typeface="Montserrat"/>
              <a:cs typeface="Montserrat"/>
              <a:sym typeface="Montserrat"/>
            </a:endParaRPr>
          </a:p>
          <a:p>
            <a:pPr indent="-342900" lvl="0" marL="457200" rtl="0" algn="l">
              <a:lnSpc>
                <a:spcPct val="90000"/>
              </a:lnSpc>
              <a:spcBef>
                <a:spcPts val="0"/>
              </a:spcBef>
              <a:spcAft>
                <a:spcPts val="0"/>
              </a:spcAft>
              <a:buSzPts val="1800"/>
              <a:buFont typeface="Montserrat"/>
              <a:buAutoNum type="arabicPeriod"/>
            </a:pPr>
            <a:r>
              <a:rPr lang="en-US">
                <a:latin typeface="Montserrat"/>
                <a:ea typeface="Montserrat"/>
                <a:cs typeface="Montserrat"/>
                <a:sym typeface="Montserrat"/>
              </a:rPr>
              <a:t>Filter question</a:t>
            </a:r>
            <a:endParaRPr>
              <a:latin typeface="Montserrat"/>
              <a:ea typeface="Montserrat"/>
              <a:cs typeface="Montserrat"/>
              <a:sym typeface="Montserrat"/>
            </a:endParaRPr>
          </a:p>
          <a:p>
            <a:pPr indent="-342900" lvl="0" marL="457200" rtl="0" algn="l">
              <a:lnSpc>
                <a:spcPct val="90000"/>
              </a:lnSpc>
              <a:spcBef>
                <a:spcPts val="0"/>
              </a:spcBef>
              <a:spcAft>
                <a:spcPts val="0"/>
              </a:spcAft>
              <a:buSzPts val="1800"/>
              <a:buFont typeface="Montserrat"/>
              <a:buAutoNum type="arabicPeriod"/>
            </a:pPr>
            <a:r>
              <a:rPr lang="en-US">
                <a:latin typeface="Montserrat"/>
                <a:ea typeface="Montserrat"/>
                <a:cs typeface="Montserrat"/>
                <a:sym typeface="Montserrat"/>
              </a:rPr>
              <a:t>Guidelines </a:t>
            </a:r>
            <a:endParaRPr>
              <a:latin typeface="Montserrat"/>
              <a:ea typeface="Montserrat"/>
              <a:cs typeface="Montserrat"/>
              <a:sym typeface="Montserrat"/>
            </a:endParaRPr>
          </a:p>
          <a:p>
            <a:pPr indent="-342900" lvl="0" marL="457200" rtl="0" algn="l">
              <a:lnSpc>
                <a:spcPct val="90000"/>
              </a:lnSpc>
              <a:spcBef>
                <a:spcPts val="0"/>
              </a:spcBef>
              <a:spcAft>
                <a:spcPts val="0"/>
              </a:spcAft>
              <a:buSzPts val="1800"/>
              <a:buFont typeface="Montserrat"/>
              <a:buAutoNum type="arabicPeriod"/>
            </a:pPr>
            <a:r>
              <a:rPr lang="en-US">
                <a:latin typeface="Montserrat"/>
                <a:ea typeface="Montserrat"/>
                <a:cs typeface="Montserrat"/>
                <a:sym typeface="Montserrat"/>
              </a:rPr>
              <a:t>Sequence, skips</a:t>
            </a:r>
            <a:endParaRPr>
              <a:latin typeface="Montserrat"/>
              <a:ea typeface="Montserrat"/>
              <a:cs typeface="Montserrat"/>
              <a:sym typeface="Montserrat"/>
            </a:endParaRPr>
          </a:p>
          <a:p>
            <a:pPr indent="-342900" lvl="0" marL="457200" rtl="0" algn="l">
              <a:lnSpc>
                <a:spcPct val="90000"/>
              </a:lnSpc>
              <a:spcBef>
                <a:spcPts val="0"/>
              </a:spcBef>
              <a:spcAft>
                <a:spcPts val="0"/>
              </a:spcAft>
              <a:buSzPts val="1800"/>
              <a:buFont typeface="Montserrat"/>
              <a:buAutoNum type="arabicPeriod"/>
            </a:pPr>
            <a:r>
              <a:rPr lang="en-US">
                <a:latin typeface="Montserrat"/>
                <a:ea typeface="Montserrat"/>
                <a:cs typeface="Montserrat"/>
                <a:sym typeface="Montserrat"/>
              </a:rPr>
              <a:t>Classification (</a:t>
            </a:r>
            <a:r>
              <a:rPr i="1" lang="en-US">
                <a:latin typeface="Montserrat"/>
                <a:ea typeface="Montserrat"/>
                <a:cs typeface="Montserrat"/>
                <a:sym typeface="Montserrat"/>
              </a:rPr>
              <a:t>target audience</a:t>
            </a:r>
            <a:r>
              <a:rPr lang="en-US">
                <a:latin typeface="Montserrat"/>
                <a:ea typeface="Montserrat"/>
                <a:cs typeface="Montserrat"/>
                <a:sym typeface="Montserrat"/>
              </a:rPr>
              <a:t>)</a:t>
            </a:r>
            <a:endParaRPr>
              <a:latin typeface="Montserrat"/>
              <a:ea typeface="Montserrat"/>
              <a:cs typeface="Montserrat"/>
              <a:sym typeface="Montserrat"/>
            </a:endParaRPr>
          </a:p>
          <a:p>
            <a:pPr indent="-342900" lvl="0" marL="457200" rtl="0" algn="l">
              <a:lnSpc>
                <a:spcPct val="90000"/>
              </a:lnSpc>
              <a:spcBef>
                <a:spcPts val="0"/>
              </a:spcBef>
              <a:spcAft>
                <a:spcPts val="0"/>
              </a:spcAft>
              <a:buSzPts val="1800"/>
              <a:buFont typeface="Montserrat"/>
              <a:buAutoNum type="arabicPeriod"/>
            </a:pPr>
            <a:r>
              <a:rPr lang="en-US">
                <a:latin typeface="Montserrat"/>
                <a:ea typeface="Montserrat"/>
                <a:cs typeface="Montserrat"/>
                <a:sym typeface="Montserrat"/>
              </a:rPr>
              <a:t>Close</a:t>
            </a:r>
            <a:endParaRPr>
              <a:latin typeface="Montserrat"/>
              <a:ea typeface="Montserrat"/>
              <a:cs typeface="Montserrat"/>
              <a:sym typeface="Montserrat"/>
            </a:endParaRPr>
          </a:p>
        </p:txBody>
      </p:sp>
      <p:sp>
        <p:nvSpPr>
          <p:cNvPr id="335" name="Google Shape;335;g39b7157ad26_0_850"/>
          <p:cNvSpPr txBox="1"/>
          <p:nvPr/>
        </p:nvSpPr>
        <p:spPr>
          <a:xfrm>
            <a:off x="838200" y="4780475"/>
            <a:ext cx="10106700" cy="1139100"/>
          </a:xfrm>
          <a:prstGeom prst="rect">
            <a:avLst/>
          </a:prstGeom>
          <a:noFill/>
          <a:ln>
            <a:noFill/>
          </a:ln>
        </p:spPr>
        <p:txBody>
          <a:bodyPr anchorCtr="0" anchor="t" bIns="91425" lIns="91425" spcFirstLastPara="1" rIns="91425" wrap="square" tIns="91425">
            <a:spAutoFit/>
          </a:bodyPr>
          <a:lstStyle/>
          <a:p>
            <a:pPr indent="-241300" lvl="0" marL="241300" marR="0" rtl="0" algn="l">
              <a:lnSpc>
                <a:spcPct val="100000"/>
              </a:lnSpc>
              <a:spcBef>
                <a:spcPts val="0"/>
              </a:spcBef>
              <a:spcAft>
                <a:spcPts val="0"/>
              </a:spcAft>
              <a:buClr>
                <a:schemeClr val="dk1"/>
              </a:buClr>
              <a:buSzPts val="3100"/>
              <a:buFont typeface="Questrial"/>
              <a:buChar char="●"/>
            </a:pPr>
            <a:r>
              <a:rPr b="0" i="0" lang="en-US" sz="3100" u="sng" cap="none" strike="noStrike">
                <a:solidFill>
                  <a:schemeClr val="dk1"/>
                </a:solidFill>
                <a:latin typeface="Questrial"/>
                <a:ea typeface="Questrial"/>
                <a:cs typeface="Questrial"/>
                <a:sym typeface="Questrial"/>
              </a:rPr>
              <a:t>Validity</a:t>
            </a:r>
            <a:r>
              <a:rPr b="0" i="0" lang="en-US" sz="3100" u="none" cap="none" strike="noStrike">
                <a:solidFill>
                  <a:schemeClr val="dk1"/>
                </a:solidFill>
                <a:latin typeface="Questrial"/>
                <a:ea typeface="Questrial"/>
                <a:cs typeface="Questrial"/>
                <a:sym typeface="Questrial"/>
              </a:rPr>
              <a:t>; it measures what it was designed to measure.</a:t>
            </a:r>
            <a:endParaRPr b="0" i="0" sz="3100" u="none" cap="none" strike="noStrike">
              <a:solidFill>
                <a:schemeClr val="dk1"/>
              </a:solidFill>
              <a:latin typeface="Questrial"/>
              <a:ea typeface="Questrial"/>
              <a:cs typeface="Questrial"/>
              <a:sym typeface="Questrial"/>
            </a:endParaRPr>
          </a:p>
          <a:p>
            <a:pPr indent="-241300" lvl="0" marL="241300" marR="0" rtl="0" algn="l">
              <a:lnSpc>
                <a:spcPct val="100000"/>
              </a:lnSpc>
              <a:spcBef>
                <a:spcPts val="0"/>
              </a:spcBef>
              <a:spcAft>
                <a:spcPts val="0"/>
              </a:spcAft>
              <a:buClr>
                <a:schemeClr val="dk1"/>
              </a:buClr>
              <a:buSzPts val="3100"/>
              <a:buFont typeface="Questrial"/>
              <a:buChar char="●"/>
            </a:pPr>
            <a:r>
              <a:rPr b="0" i="0" lang="en-US" sz="3100" u="sng" cap="none" strike="noStrike">
                <a:solidFill>
                  <a:schemeClr val="dk1"/>
                </a:solidFill>
                <a:latin typeface="Questrial"/>
                <a:ea typeface="Questrial"/>
                <a:cs typeface="Questrial"/>
                <a:sym typeface="Questrial"/>
              </a:rPr>
              <a:t>Reliability</a:t>
            </a:r>
            <a:r>
              <a:rPr b="0" i="0" lang="en-US" sz="3100" u="none" cap="none" strike="noStrike">
                <a:solidFill>
                  <a:schemeClr val="dk1"/>
                </a:solidFill>
                <a:latin typeface="Questrial"/>
                <a:ea typeface="Questrial"/>
                <a:cs typeface="Questrial"/>
                <a:sym typeface="Questrial"/>
              </a:rPr>
              <a:t>; it can be repeated with the same results.</a:t>
            </a:r>
            <a:endParaRPr b="0" i="0" sz="23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g39b7157ad26_0_856"/>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b="1" lang="en-US" sz="4000">
                <a:latin typeface="Montserrat"/>
                <a:ea typeface="Montserrat"/>
                <a:cs typeface="Montserrat"/>
                <a:sym typeface="Montserrat"/>
              </a:rPr>
              <a:t>Designing a questionnaire II</a:t>
            </a:r>
            <a:endParaRPr b="1" sz="4000">
              <a:latin typeface="Montserrat"/>
              <a:ea typeface="Montserrat"/>
              <a:cs typeface="Montserrat"/>
              <a:sym typeface="Montserrat"/>
            </a:endParaRPr>
          </a:p>
          <a:p>
            <a:pPr indent="0" lvl="0" marL="0" rtl="0" algn="l">
              <a:lnSpc>
                <a:spcPct val="90000"/>
              </a:lnSpc>
              <a:spcBef>
                <a:spcPts val="0"/>
              </a:spcBef>
              <a:spcAft>
                <a:spcPts val="0"/>
              </a:spcAft>
              <a:buSzPts val="1800"/>
              <a:buNone/>
            </a:pPr>
            <a:r>
              <a:rPr lang="en-US" sz="3800">
                <a:latin typeface="Montserrat"/>
                <a:ea typeface="Montserrat"/>
                <a:cs typeface="Montserrat"/>
                <a:sym typeface="Montserrat"/>
              </a:rPr>
              <a:t>Using Questionnaire and Interviews:</a:t>
            </a:r>
            <a:endParaRPr sz="3800">
              <a:latin typeface="Montserrat"/>
              <a:ea typeface="Montserrat"/>
              <a:cs typeface="Montserrat"/>
              <a:sym typeface="Montserrat"/>
            </a:endParaRPr>
          </a:p>
        </p:txBody>
      </p:sp>
      <p:sp>
        <p:nvSpPr>
          <p:cNvPr id="342" name="Google Shape;342;g39b7157ad26_0_856"/>
          <p:cNvSpPr txBox="1"/>
          <p:nvPr>
            <p:ph idx="1" type="body"/>
          </p:nvPr>
        </p:nvSpPr>
        <p:spPr>
          <a:xfrm>
            <a:off x="838200" y="1788425"/>
            <a:ext cx="10515600" cy="4572600"/>
          </a:xfrm>
          <a:prstGeom prst="rect">
            <a:avLst/>
          </a:prstGeom>
          <a:noFill/>
          <a:ln>
            <a:noFill/>
          </a:ln>
        </p:spPr>
        <p:txBody>
          <a:bodyPr anchorCtr="0" anchor="t" bIns="45700" lIns="91425" spcFirstLastPara="1" rIns="91425" wrap="square" tIns="45700">
            <a:normAutofit fontScale="77500" lnSpcReduction="20000"/>
          </a:bodyPr>
          <a:lstStyle/>
          <a:p>
            <a:pPr indent="-371378" lvl="0" marL="457200" rtl="0" algn="l">
              <a:lnSpc>
                <a:spcPct val="90000"/>
              </a:lnSpc>
              <a:spcBef>
                <a:spcPts val="700"/>
              </a:spcBef>
              <a:spcAft>
                <a:spcPts val="0"/>
              </a:spcAft>
              <a:buClr>
                <a:srgbClr val="B509D1"/>
              </a:buClr>
              <a:buSzPct val="100000"/>
              <a:buFont typeface="Montserrat"/>
              <a:buChar char="★"/>
            </a:pPr>
            <a:r>
              <a:rPr lang="en-US" sz="2900">
                <a:latin typeface="Montserrat"/>
                <a:ea typeface="Montserrat"/>
                <a:cs typeface="Montserrat"/>
                <a:sym typeface="Montserrat"/>
              </a:rPr>
              <a:t>Keeping reader’s need while preparing the questionnaire</a:t>
            </a:r>
            <a:endParaRPr sz="900">
              <a:latin typeface="Montserrat"/>
              <a:ea typeface="Montserrat"/>
              <a:cs typeface="Montserrat"/>
              <a:sym typeface="Montserrat"/>
            </a:endParaRPr>
          </a:p>
          <a:p>
            <a:pPr indent="0" lvl="0" marL="457200" rtl="0" algn="l">
              <a:lnSpc>
                <a:spcPct val="90000"/>
              </a:lnSpc>
              <a:spcBef>
                <a:spcPts val="700"/>
              </a:spcBef>
              <a:spcAft>
                <a:spcPts val="0"/>
              </a:spcAft>
              <a:buSzPct val="80087"/>
              <a:buNone/>
            </a:pPr>
            <a:r>
              <a:rPr lang="en-US" sz="2900">
                <a:solidFill>
                  <a:srgbClr val="7030A0"/>
                </a:solidFill>
                <a:latin typeface="Montserrat"/>
                <a:ea typeface="Montserrat"/>
                <a:cs typeface="Montserrat"/>
                <a:sym typeface="Montserrat"/>
              </a:rPr>
              <a:t>It benefits them personally or professionally/it is easy to fill out and return</a:t>
            </a:r>
            <a:endParaRPr sz="900">
              <a:latin typeface="Montserrat"/>
              <a:ea typeface="Montserrat"/>
              <a:cs typeface="Montserrat"/>
              <a:sym typeface="Montserrat"/>
            </a:endParaRPr>
          </a:p>
          <a:p>
            <a:pPr indent="0" lvl="0" marL="457200" rtl="0" algn="l">
              <a:lnSpc>
                <a:spcPct val="90000"/>
              </a:lnSpc>
              <a:spcBef>
                <a:spcPts val="700"/>
              </a:spcBef>
              <a:spcAft>
                <a:spcPts val="0"/>
              </a:spcAft>
              <a:buSzPct val="80087"/>
              <a:buNone/>
            </a:pPr>
            <a:r>
              <a:t/>
            </a:r>
            <a:endParaRPr sz="2900">
              <a:latin typeface="Montserrat"/>
              <a:ea typeface="Montserrat"/>
              <a:cs typeface="Montserrat"/>
              <a:sym typeface="Montserrat"/>
            </a:endParaRPr>
          </a:p>
          <a:p>
            <a:pPr indent="-371378" lvl="0" marL="457200" rtl="0" algn="l">
              <a:lnSpc>
                <a:spcPct val="90000"/>
              </a:lnSpc>
              <a:spcBef>
                <a:spcPts val="700"/>
              </a:spcBef>
              <a:spcAft>
                <a:spcPts val="0"/>
              </a:spcAft>
              <a:buClr>
                <a:srgbClr val="B509D1"/>
              </a:buClr>
              <a:buSzPct val="100000"/>
              <a:buFont typeface="Montserrat"/>
              <a:buChar char="★"/>
            </a:pPr>
            <a:r>
              <a:rPr lang="en-US" sz="2900">
                <a:latin typeface="Montserrat"/>
                <a:ea typeface="Montserrat"/>
                <a:cs typeface="Montserrat"/>
                <a:sym typeface="Montserrat"/>
              </a:rPr>
              <a:t>Write a precise purpose statement</a:t>
            </a:r>
            <a:endParaRPr sz="900">
              <a:latin typeface="Montserrat"/>
              <a:ea typeface="Montserrat"/>
              <a:cs typeface="Montserrat"/>
              <a:sym typeface="Montserrat"/>
            </a:endParaRPr>
          </a:p>
          <a:p>
            <a:pPr indent="0" lvl="0" marL="457200" rtl="0" algn="l">
              <a:lnSpc>
                <a:spcPct val="90000"/>
              </a:lnSpc>
              <a:spcBef>
                <a:spcPts val="700"/>
              </a:spcBef>
              <a:spcAft>
                <a:spcPts val="0"/>
              </a:spcAft>
              <a:buSzPct val="80087"/>
              <a:buNone/>
            </a:pPr>
            <a:r>
              <a:rPr lang="en-US" sz="2900">
                <a:solidFill>
                  <a:srgbClr val="7030A0"/>
                </a:solidFill>
                <a:latin typeface="Montserrat"/>
                <a:ea typeface="Montserrat"/>
                <a:cs typeface="Montserrat"/>
                <a:sym typeface="Montserrat"/>
              </a:rPr>
              <a:t>E.g. “The purpose of this survey is to find out ways in which…..”</a:t>
            </a:r>
            <a:endParaRPr sz="900">
              <a:latin typeface="Montserrat"/>
              <a:ea typeface="Montserrat"/>
              <a:cs typeface="Montserrat"/>
              <a:sym typeface="Montserrat"/>
            </a:endParaRPr>
          </a:p>
          <a:p>
            <a:pPr indent="0" lvl="0" marL="457200" rtl="0" algn="l">
              <a:lnSpc>
                <a:spcPct val="90000"/>
              </a:lnSpc>
              <a:spcBef>
                <a:spcPts val="700"/>
              </a:spcBef>
              <a:spcAft>
                <a:spcPts val="0"/>
              </a:spcAft>
              <a:buSzPct val="80087"/>
              <a:buNone/>
            </a:pPr>
            <a:r>
              <a:t/>
            </a:r>
            <a:endParaRPr sz="2900">
              <a:latin typeface="Montserrat"/>
              <a:ea typeface="Montserrat"/>
              <a:cs typeface="Montserrat"/>
              <a:sym typeface="Montserrat"/>
            </a:endParaRPr>
          </a:p>
          <a:p>
            <a:pPr indent="-371378" lvl="0" marL="457200" rtl="0" algn="l">
              <a:lnSpc>
                <a:spcPct val="90000"/>
              </a:lnSpc>
              <a:spcBef>
                <a:spcPts val="700"/>
              </a:spcBef>
              <a:spcAft>
                <a:spcPts val="0"/>
              </a:spcAft>
              <a:buClr>
                <a:srgbClr val="B509D1"/>
              </a:buClr>
              <a:buSzPct val="100000"/>
              <a:buFont typeface="Montserrat"/>
              <a:buChar char="★"/>
            </a:pPr>
            <a:r>
              <a:rPr lang="en-US" sz="2900">
                <a:latin typeface="Montserrat"/>
                <a:ea typeface="Montserrat"/>
                <a:cs typeface="Montserrat"/>
                <a:sym typeface="Montserrat"/>
              </a:rPr>
              <a:t>Limit the number of questions</a:t>
            </a:r>
            <a:endParaRPr sz="900">
              <a:latin typeface="Montserrat"/>
              <a:ea typeface="Montserrat"/>
              <a:cs typeface="Montserrat"/>
              <a:sym typeface="Montserrat"/>
            </a:endParaRPr>
          </a:p>
          <a:p>
            <a:pPr indent="0" lvl="0" marL="457200" rtl="0" algn="l">
              <a:lnSpc>
                <a:spcPct val="90000"/>
              </a:lnSpc>
              <a:spcBef>
                <a:spcPts val="700"/>
              </a:spcBef>
              <a:spcAft>
                <a:spcPts val="0"/>
              </a:spcAft>
              <a:buSzPct val="80087"/>
              <a:buNone/>
            </a:pPr>
            <a:r>
              <a:rPr lang="en-US" sz="2900">
                <a:solidFill>
                  <a:srgbClr val="7030A0"/>
                </a:solidFill>
                <a:latin typeface="Montserrat"/>
                <a:ea typeface="Montserrat"/>
                <a:cs typeface="Montserrat"/>
                <a:sym typeface="Montserrat"/>
              </a:rPr>
              <a:t>Every question must serve the purpose/ resist the temptation to clutter questionnaire with irrelevant questions</a:t>
            </a:r>
            <a:endParaRPr sz="900">
              <a:latin typeface="Montserrat"/>
              <a:ea typeface="Montserrat"/>
              <a:cs typeface="Montserrat"/>
              <a:sym typeface="Montserrat"/>
            </a:endParaRPr>
          </a:p>
          <a:p>
            <a:pPr indent="0" lvl="0" marL="457200" rtl="0" algn="l">
              <a:lnSpc>
                <a:spcPct val="90000"/>
              </a:lnSpc>
              <a:spcBef>
                <a:spcPts val="700"/>
              </a:spcBef>
              <a:spcAft>
                <a:spcPts val="0"/>
              </a:spcAft>
              <a:buSzPct val="80087"/>
              <a:buNone/>
            </a:pPr>
            <a:r>
              <a:t/>
            </a:r>
            <a:endParaRPr sz="2900">
              <a:latin typeface="Montserrat"/>
              <a:ea typeface="Montserrat"/>
              <a:cs typeface="Montserrat"/>
              <a:sym typeface="Montserrat"/>
            </a:endParaRPr>
          </a:p>
          <a:p>
            <a:pPr indent="-371378" lvl="0" marL="457200" rtl="0" algn="l">
              <a:lnSpc>
                <a:spcPct val="90000"/>
              </a:lnSpc>
              <a:spcBef>
                <a:spcPts val="700"/>
              </a:spcBef>
              <a:spcAft>
                <a:spcPts val="0"/>
              </a:spcAft>
              <a:buClr>
                <a:srgbClr val="B509D1"/>
              </a:buClr>
              <a:buSzPct val="100000"/>
              <a:buFont typeface="Montserrat"/>
              <a:buChar char="★"/>
            </a:pPr>
            <a:r>
              <a:rPr lang="en-US" sz="2900">
                <a:latin typeface="Montserrat"/>
                <a:ea typeface="Montserrat"/>
                <a:cs typeface="Montserrat"/>
                <a:sym typeface="Montserrat"/>
              </a:rPr>
              <a:t>Ask mostly objective questions</a:t>
            </a:r>
            <a:endParaRPr sz="900">
              <a:latin typeface="Montserrat"/>
              <a:ea typeface="Montserrat"/>
              <a:cs typeface="Montserrat"/>
              <a:sym typeface="Montserrat"/>
            </a:endParaRPr>
          </a:p>
          <a:p>
            <a:pPr indent="-371378" lvl="0" marL="457200" rtl="0" algn="l">
              <a:lnSpc>
                <a:spcPct val="90000"/>
              </a:lnSpc>
              <a:spcBef>
                <a:spcPts val="0"/>
              </a:spcBef>
              <a:spcAft>
                <a:spcPts val="0"/>
              </a:spcAft>
              <a:buClr>
                <a:srgbClr val="B509D1"/>
              </a:buClr>
              <a:buSzPct val="100000"/>
              <a:buFont typeface="Montserrat"/>
              <a:buChar char="★"/>
            </a:pPr>
            <a:r>
              <a:rPr lang="en-US" sz="2900">
                <a:solidFill>
                  <a:srgbClr val="7030A0"/>
                </a:solidFill>
                <a:latin typeface="Montserrat"/>
                <a:ea typeface="Montserrat"/>
                <a:cs typeface="Montserrat"/>
                <a:sym typeface="Montserrat"/>
              </a:rPr>
              <a:t>So that the questions are easy to answer and responses are easy to compile</a:t>
            </a:r>
            <a:endParaRPr>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6" name="Shape 346"/>
        <p:cNvGrpSpPr/>
        <p:nvPr/>
      </p:nvGrpSpPr>
      <p:grpSpPr>
        <a:xfrm>
          <a:off x="0" y="0"/>
          <a:ext cx="0" cy="0"/>
          <a:chOff x="0" y="0"/>
          <a:chExt cx="0" cy="0"/>
        </a:xfrm>
      </p:grpSpPr>
      <p:graphicFrame>
        <p:nvGraphicFramePr>
          <p:cNvPr id="347" name="Google Shape;347;g39b7157ad26_0_593"/>
          <p:cNvGraphicFramePr/>
          <p:nvPr/>
        </p:nvGraphicFramePr>
        <p:xfrm>
          <a:off x="1132367" y="128312"/>
          <a:ext cx="3000000" cy="3000000"/>
        </p:xfrm>
        <a:graphic>
          <a:graphicData uri="http://schemas.openxmlformats.org/drawingml/2006/table">
            <a:tbl>
              <a:tblPr>
                <a:noFill/>
                <a:tableStyleId>{D1A66365-47CE-490B-992D-082B1A927BC5}</a:tableStyleId>
              </a:tblPr>
              <a:tblGrid>
                <a:gridCol w="3510175"/>
                <a:gridCol w="6687625"/>
              </a:tblGrid>
              <a:tr h="398550">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Types of Questions</a:t>
                      </a:r>
                      <a:endParaRPr sz="900" u="none" cap="none" strike="noStrike"/>
                    </a:p>
                  </a:txBody>
                  <a:tcPr marT="30475" marB="30475" marR="60975" marL="6097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25400">
                      <a:solidFill>
                        <a:srgbClr val="FFFFFF"/>
                      </a:solidFill>
                      <a:prstDash val="solid"/>
                      <a:round/>
                      <a:headEnd len="sm" w="sm" type="none"/>
                      <a:tailEnd len="sm" w="sm" type="none"/>
                    </a:lnB>
                    <a:solidFill>
                      <a:srgbClr val="41AEBD"/>
                    </a:solidFill>
                  </a:tcP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Examples</a:t>
                      </a:r>
                      <a:endParaRPr sz="900" u="none" cap="none" strike="noStrike"/>
                    </a:p>
                  </a:txBody>
                  <a:tcPr marT="30475" marB="30475" marR="60975" marL="6097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25400">
                      <a:solidFill>
                        <a:srgbClr val="FFFFFF"/>
                      </a:solidFill>
                      <a:prstDash val="solid"/>
                      <a:round/>
                      <a:headEnd len="sm" w="sm" type="none"/>
                      <a:tailEnd len="sm" w="sm" type="none"/>
                    </a:lnB>
                    <a:solidFill>
                      <a:srgbClr val="41AEBD"/>
                    </a:solidFill>
                  </a:tcPr>
                </a:tc>
              </a:tr>
              <a:tr h="1423450">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latin typeface="Times New Roman"/>
                          <a:ea typeface="Times New Roman"/>
                          <a:cs typeface="Times New Roman"/>
                          <a:sym typeface="Times New Roman"/>
                        </a:rPr>
                        <a:t>Either/Or Questions</a:t>
                      </a:r>
                      <a:endParaRPr sz="900" u="none" cap="none" strike="noStrike"/>
                    </a:p>
                  </a:txBody>
                  <a:tcPr marT="30475" marB="30475" marR="60975" marL="6097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25400">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DE3E7"/>
                    </a:solidFill>
                  </a:tcP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latin typeface="Times New Roman"/>
                          <a:ea typeface="Times New Roman"/>
                          <a:cs typeface="Times New Roman"/>
                          <a:sym typeface="Times New Roman"/>
                        </a:rPr>
                        <a:t>Would you or your technical staff find it useful to receive a technical newsletter on acid rain?</a:t>
                      </a:r>
                      <a:endParaRPr sz="900" u="none" cap="none" strike="noStrike"/>
                    </a:p>
                    <a:p>
                      <a:pPr indent="-228600" lvl="0" marL="228600" marR="0" rtl="0" algn="l">
                        <a:lnSpc>
                          <a:spcPct val="100000"/>
                        </a:lnSpc>
                        <a:spcBef>
                          <a:spcPts val="0"/>
                        </a:spcBef>
                        <a:spcAft>
                          <a:spcPts val="0"/>
                        </a:spcAft>
                        <a:buClr>
                          <a:srgbClr val="000000"/>
                        </a:buClr>
                        <a:buSzPts val="2400"/>
                        <a:buFont typeface="Arial"/>
                        <a:buAutoNum type="alphaLcPeriod"/>
                      </a:pPr>
                      <a:r>
                        <a:rPr lang="en-US" sz="2400" u="none" cap="none" strike="noStrike">
                          <a:latin typeface="Times New Roman"/>
                          <a:ea typeface="Times New Roman"/>
                          <a:cs typeface="Times New Roman"/>
                          <a:sym typeface="Times New Roman"/>
                        </a:rPr>
                        <a:t>Yes</a:t>
                      </a:r>
                      <a:endParaRPr sz="900" u="none" cap="none" strike="noStrike"/>
                    </a:p>
                    <a:p>
                      <a:pPr indent="-228600" lvl="0" marL="228600" marR="0" rtl="0" algn="l">
                        <a:lnSpc>
                          <a:spcPct val="100000"/>
                        </a:lnSpc>
                        <a:spcBef>
                          <a:spcPts val="0"/>
                        </a:spcBef>
                        <a:spcAft>
                          <a:spcPts val="0"/>
                        </a:spcAft>
                        <a:buClr>
                          <a:srgbClr val="000000"/>
                        </a:buClr>
                        <a:buSzPts val="2400"/>
                        <a:buFont typeface="Arial"/>
                        <a:buAutoNum type="alphaLcPeriod"/>
                      </a:pPr>
                      <a:r>
                        <a:rPr lang="en-US" sz="2400" u="none" cap="none" strike="noStrike">
                          <a:latin typeface="Times New Roman"/>
                          <a:ea typeface="Times New Roman"/>
                          <a:cs typeface="Times New Roman"/>
                          <a:sym typeface="Times New Roman"/>
                        </a:rPr>
                        <a:t>No</a:t>
                      </a:r>
                      <a:endParaRPr sz="900" u="none" cap="none" strike="noStrike"/>
                    </a:p>
                  </a:txBody>
                  <a:tcPr marT="30475" marB="30475" marR="60975" marL="6097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25400">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DE3E7"/>
                    </a:solidFill>
                  </a:tcPr>
                </a:tc>
              </a:tr>
              <a:tr h="1765100">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latin typeface="Times New Roman"/>
                          <a:ea typeface="Times New Roman"/>
                          <a:cs typeface="Times New Roman"/>
                          <a:sym typeface="Times New Roman"/>
                        </a:rPr>
                        <a:t>Multiple Choice Questions</a:t>
                      </a:r>
                      <a:endParaRPr sz="900" u="none" cap="none" strike="noStrike"/>
                    </a:p>
                  </a:txBody>
                  <a:tcPr marT="30475" marB="30475" marR="60975" marL="6097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8F1F4"/>
                    </a:solidFill>
                  </a:tcP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latin typeface="Times New Roman"/>
                          <a:ea typeface="Times New Roman"/>
                          <a:cs typeface="Times New Roman"/>
                          <a:sym typeface="Times New Roman"/>
                        </a:rPr>
                        <a:t>If you answered “yes” to preceding question, what publication schedule would best meet your needs:</a:t>
                      </a:r>
                      <a:endParaRPr sz="900" u="none" cap="none" strike="noStrike"/>
                    </a:p>
                    <a:p>
                      <a:pPr indent="-228600" lvl="0" marL="228600" marR="0" rtl="0" algn="l">
                        <a:lnSpc>
                          <a:spcPct val="100000"/>
                        </a:lnSpc>
                        <a:spcBef>
                          <a:spcPts val="0"/>
                        </a:spcBef>
                        <a:spcAft>
                          <a:spcPts val="0"/>
                        </a:spcAft>
                        <a:buClr>
                          <a:srgbClr val="000000"/>
                        </a:buClr>
                        <a:buSzPts val="2400"/>
                        <a:buFont typeface="Arial"/>
                        <a:buAutoNum type="alphaLcPeriod"/>
                      </a:pPr>
                      <a:r>
                        <a:rPr lang="en-US" sz="2400" u="none" cap="none" strike="noStrike">
                          <a:latin typeface="Times New Roman"/>
                          <a:ea typeface="Times New Roman"/>
                          <a:cs typeface="Times New Roman"/>
                          <a:sym typeface="Times New Roman"/>
                        </a:rPr>
                        <a:t>Monthly</a:t>
                      </a:r>
                      <a:endParaRPr sz="900" u="none" cap="none" strike="noStrike"/>
                    </a:p>
                    <a:p>
                      <a:pPr indent="-228600" lvl="0" marL="228600" marR="0" rtl="0" algn="l">
                        <a:lnSpc>
                          <a:spcPct val="100000"/>
                        </a:lnSpc>
                        <a:spcBef>
                          <a:spcPts val="0"/>
                        </a:spcBef>
                        <a:spcAft>
                          <a:spcPts val="0"/>
                        </a:spcAft>
                        <a:buClr>
                          <a:srgbClr val="000000"/>
                        </a:buClr>
                        <a:buSzPts val="2400"/>
                        <a:buFont typeface="Arial"/>
                        <a:buAutoNum type="alphaLcPeriod"/>
                      </a:pPr>
                      <a:r>
                        <a:rPr lang="en-US" sz="2400" u="none" cap="none" strike="noStrike">
                          <a:latin typeface="Times New Roman"/>
                          <a:ea typeface="Times New Roman"/>
                          <a:cs typeface="Times New Roman"/>
                          <a:sym typeface="Times New Roman"/>
                        </a:rPr>
                        <a:t>Quarterly</a:t>
                      </a:r>
                      <a:endParaRPr sz="900" u="none" cap="none" strike="noStrike"/>
                    </a:p>
                    <a:p>
                      <a:pPr indent="-228600" lvl="0" marL="228600" marR="0" rtl="0" algn="l">
                        <a:lnSpc>
                          <a:spcPct val="100000"/>
                        </a:lnSpc>
                        <a:spcBef>
                          <a:spcPts val="0"/>
                        </a:spcBef>
                        <a:spcAft>
                          <a:spcPts val="0"/>
                        </a:spcAft>
                        <a:buClr>
                          <a:srgbClr val="000000"/>
                        </a:buClr>
                        <a:buSzPts val="2400"/>
                        <a:buFont typeface="Arial"/>
                        <a:buAutoNum type="alphaLcPeriod"/>
                      </a:pPr>
                      <a:r>
                        <a:rPr lang="en-US" sz="2400" u="none" cap="none" strike="noStrike">
                          <a:latin typeface="Times New Roman"/>
                          <a:ea typeface="Times New Roman"/>
                          <a:cs typeface="Times New Roman"/>
                          <a:sym typeface="Times New Roman"/>
                        </a:rPr>
                        <a:t>yearly</a:t>
                      </a:r>
                      <a:endParaRPr sz="2400" u="none" cap="none" strike="noStrike">
                        <a:latin typeface="Times New Roman"/>
                        <a:ea typeface="Times New Roman"/>
                        <a:cs typeface="Times New Roman"/>
                        <a:sym typeface="Times New Roman"/>
                      </a:endParaRPr>
                    </a:p>
                  </a:txBody>
                  <a:tcPr marT="30475" marB="30475" marR="60975" marL="6097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8F1F4"/>
                    </a:solidFill>
                  </a:tcPr>
                </a:tc>
              </a:tr>
              <a:tr h="1691350">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latin typeface="Times New Roman"/>
                          <a:ea typeface="Times New Roman"/>
                          <a:cs typeface="Times New Roman"/>
                          <a:sym typeface="Times New Roman"/>
                        </a:rPr>
                        <a:t>Grade-Scale Questions</a:t>
                      </a:r>
                      <a:endParaRPr sz="900" u="none" cap="none" strike="noStrike"/>
                    </a:p>
                    <a:p>
                      <a:pPr indent="0" lvl="0" marL="0" marR="0" rtl="0" algn="l">
                        <a:lnSpc>
                          <a:spcPct val="100000"/>
                        </a:lnSpc>
                        <a:spcBef>
                          <a:spcPts val="0"/>
                        </a:spcBef>
                        <a:spcAft>
                          <a:spcPts val="0"/>
                        </a:spcAft>
                        <a:buClr>
                          <a:srgbClr val="000000"/>
                        </a:buClr>
                        <a:buSzPts val="2400"/>
                        <a:buFont typeface="Arial"/>
                        <a:buNone/>
                      </a:pPr>
                      <a:r>
                        <a:t/>
                      </a:r>
                      <a:endParaRPr sz="2400" u="none" cap="none" strike="noStrike">
                        <a:latin typeface="Times New Roman"/>
                        <a:ea typeface="Times New Roman"/>
                        <a:cs typeface="Times New Roman"/>
                        <a:sym typeface="Times New Roman"/>
                      </a:endParaRPr>
                    </a:p>
                  </a:txBody>
                  <a:tcPr marT="30475" marB="30475" marR="60975" marL="6097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DE3E7"/>
                    </a:solidFill>
                  </a:tcPr>
                </a:tc>
                <a:tc>
                  <a:txBody>
                    <a:bodyPr/>
                    <a:lstStyle/>
                    <a:p>
                      <a:pPr indent="0" lvl="0" marL="0" marR="0" rtl="0" algn="l">
                        <a:lnSpc>
                          <a:spcPct val="100000"/>
                        </a:lnSpc>
                        <a:spcBef>
                          <a:spcPts val="0"/>
                        </a:spcBef>
                        <a:spcAft>
                          <a:spcPts val="0"/>
                        </a:spcAft>
                        <a:buClr>
                          <a:srgbClr val="000000"/>
                        </a:buClr>
                        <a:buSzPts val="2400"/>
                        <a:buFont typeface="Arial"/>
                        <a:buNone/>
                      </a:pPr>
                      <a:r>
                        <a:t/>
                      </a:r>
                      <a:endParaRPr sz="2400" u="none" cap="none" strike="noStrike">
                        <a:latin typeface="Times New Roman"/>
                        <a:ea typeface="Times New Roman"/>
                        <a:cs typeface="Times New Roman"/>
                        <a:sym typeface="Times New Roman"/>
                      </a:endParaRPr>
                    </a:p>
                  </a:txBody>
                  <a:tcPr marT="30475" marB="30475" marR="60975" marL="6097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CDE3E7"/>
                    </a:solidFill>
                  </a:tcPr>
                </a:tc>
              </a:tr>
              <a:tr h="1069625">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latin typeface="Times New Roman"/>
                          <a:ea typeface="Times New Roman"/>
                          <a:cs typeface="Times New Roman"/>
                          <a:sym typeface="Times New Roman"/>
                        </a:rPr>
                        <a:t>Short-Answer Questions</a:t>
                      </a:r>
                      <a:endParaRPr sz="900" u="none" cap="none" strike="noStrike"/>
                    </a:p>
                  </a:txBody>
                  <a:tcPr marT="30475" marB="30475" marR="60975" marL="6097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8F1F4"/>
                    </a:solidFill>
                  </a:tcP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latin typeface="Times New Roman"/>
                          <a:ea typeface="Times New Roman"/>
                          <a:cs typeface="Times New Roman"/>
                          <a:sym typeface="Times New Roman"/>
                        </a:rPr>
                        <a:t>List any environmental newsletters you already receive that you find helpful in business.</a:t>
                      </a:r>
                      <a:endParaRPr sz="900" u="none" cap="none" strike="noStrike"/>
                    </a:p>
                  </a:txBody>
                  <a:tcPr marT="30475" marB="30475" marR="60975" marL="6097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E8F1F4"/>
                    </a:solidFill>
                  </a:tcPr>
                </a:tc>
              </a:tr>
            </a:tbl>
          </a:graphicData>
        </a:graphic>
      </p:graphicFrame>
      <p:graphicFrame>
        <p:nvGraphicFramePr>
          <p:cNvPr id="348" name="Google Shape;348;g39b7157ad26_0_593"/>
          <p:cNvGraphicFramePr/>
          <p:nvPr/>
        </p:nvGraphicFramePr>
        <p:xfrm>
          <a:off x="4771751" y="4289237"/>
          <a:ext cx="3000000" cy="3000000"/>
        </p:xfrm>
        <a:graphic>
          <a:graphicData uri="http://schemas.openxmlformats.org/drawingml/2006/table">
            <a:tbl>
              <a:tblPr bandRow="1" firstRow="1">
                <a:noFill/>
                <a:tableStyleId>{6C3F6FD8-FF1D-4B87-889C-26AA7229DB02}</a:tableStyleId>
              </a:tblPr>
              <a:tblGrid>
                <a:gridCol w="1899200"/>
                <a:gridCol w="1016150"/>
                <a:gridCol w="1151475"/>
                <a:gridCol w="2321675"/>
              </a:tblGrid>
              <a:tr h="506600">
                <a:tc gridSpan="4">
                  <a:txBody>
                    <a:bodyPr/>
                    <a:lstStyle/>
                    <a:p>
                      <a:pPr indent="0" lvl="0" marL="0" marR="0" rtl="0" algn="l">
                        <a:lnSpc>
                          <a:spcPct val="100000"/>
                        </a:lnSpc>
                        <a:spcBef>
                          <a:spcPts val="0"/>
                        </a:spcBef>
                        <a:spcAft>
                          <a:spcPts val="0"/>
                        </a:spcAft>
                        <a:buClr>
                          <a:schemeClr val="dk1"/>
                        </a:buClr>
                        <a:buSzPts val="1900"/>
                        <a:buFont typeface="Arial"/>
                        <a:buNone/>
                      </a:pPr>
                      <a:r>
                        <a:rPr lang="en-US" sz="1900" u="none" cap="none" strike="noStrike">
                          <a:solidFill>
                            <a:schemeClr val="dk1"/>
                          </a:solidFill>
                          <a:latin typeface="Times New Roman"/>
                          <a:ea typeface="Times New Roman"/>
                          <a:cs typeface="Times New Roman"/>
                          <a:sym typeface="Times New Roman"/>
                        </a:rPr>
                        <a:t>I find it very easy to start conversations with strangers</a:t>
                      </a:r>
                      <a:endParaRPr sz="900" u="none" cap="none" strike="noStrike"/>
                    </a:p>
                  </a:txBody>
                  <a:tcPr marT="30475" marB="30475" marR="60975" marL="609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hMerge="1"/>
                <a:tc hMerge="1"/>
                <a:tc hMerge="1"/>
              </a:tr>
              <a:tr h="574825">
                <a:tc>
                  <a:txBody>
                    <a:bodyPr/>
                    <a:lstStyle/>
                    <a:p>
                      <a:pPr indent="0" lvl="0" marL="0" marR="0" rtl="0" algn="l">
                        <a:lnSpc>
                          <a:spcPct val="100000"/>
                        </a:lnSpc>
                        <a:spcBef>
                          <a:spcPts val="0"/>
                        </a:spcBef>
                        <a:spcAft>
                          <a:spcPts val="0"/>
                        </a:spcAft>
                        <a:buClr>
                          <a:srgbClr val="000000"/>
                        </a:buClr>
                        <a:buSzPts val="1900"/>
                        <a:buFont typeface="Arial"/>
                        <a:buNone/>
                      </a:pPr>
                      <a:r>
                        <a:rPr lang="en-US" sz="1900" u="none" cap="none" strike="noStrike">
                          <a:solidFill>
                            <a:schemeClr val="dk1"/>
                          </a:solidFill>
                        </a:rPr>
                        <a:t>Strongly Agree</a:t>
                      </a:r>
                      <a:endParaRPr sz="900" u="none" cap="none" strike="noStrike"/>
                    </a:p>
                  </a:txBody>
                  <a:tcPr marT="30475" marB="30475" marR="60975" marL="609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900"/>
                        <a:buFont typeface="Arial"/>
                        <a:buNone/>
                      </a:pPr>
                      <a:r>
                        <a:rPr lang="en-US" sz="1900" u="none" cap="none" strike="noStrike">
                          <a:solidFill>
                            <a:schemeClr val="dk1"/>
                          </a:solidFill>
                        </a:rPr>
                        <a:t>Agree</a:t>
                      </a:r>
                      <a:endParaRPr sz="900" u="none" cap="none" strike="noStrike"/>
                    </a:p>
                  </a:txBody>
                  <a:tcPr marT="30475" marB="30475" marR="60975" marL="609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900"/>
                        <a:buFont typeface="Arial"/>
                        <a:buNone/>
                      </a:pPr>
                      <a:r>
                        <a:rPr lang="en-US" sz="1900" u="none" cap="none" strike="noStrike">
                          <a:solidFill>
                            <a:schemeClr val="dk1"/>
                          </a:solidFill>
                        </a:rPr>
                        <a:t>Disagree</a:t>
                      </a:r>
                      <a:endParaRPr sz="900" u="none" cap="none" strike="noStrike"/>
                    </a:p>
                  </a:txBody>
                  <a:tcPr marT="30475" marB="30475" marR="60975" marL="609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900"/>
                        <a:buFont typeface="Arial"/>
                        <a:buNone/>
                      </a:pPr>
                      <a:r>
                        <a:rPr lang="en-US" sz="1900" u="none" cap="none" strike="noStrike">
                          <a:solidFill>
                            <a:schemeClr val="dk1"/>
                          </a:solidFill>
                        </a:rPr>
                        <a:t>Strongly Disagree</a:t>
                      </a:r>
                      <a:endParaRPr sz="1900" u="none" cap="none" strike="noStrike">
                        <a:solidFill>
                          <a:schemeClr val="dk1"/>
                        </a:solidFill>
                      </a:endParaRPr>
                    </a:p>
                  </a:txBody>
                  <a:tcPr marT="30475" marB="30475" marR="60975" marL="6097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bl>
          </a:graphicData>
        </a:graphic>
      </p:graphicFrame>
      <p:sp>
        <p:nvSpPr>
          <p:cNvPr id="349" name="Google Shape;349;g39b7157ad26_0_593"/>
          <p:cNvSpPr txBox="1"/>
          <p:nvPr>
            <p:ph idx="4294967295" type="title"/>
          </p:nvPr>
        </p:nvSpPr>
        <p:spPr>
          <a:xfrm rot="-5400000">
            <a:off x="-2700750" y="2719491"/>
            <a:ext cx="67272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4400"/>
              <a:buNone/>
            </a:pPr>
            <a:r>
              <a:rPr b="1" lang="en-US" sz="3100">
                <a:latin typeface="Montserrat"/>
                <a:ea typeface="Montserrat"/>
                <a:cs typeface="Montserrat"/>
                <a:sym typeface="Montserrat"/>
              </a:rPr>
              <a:t>Designing a questionnaire III</a:t>
            </a:r>
            <a:endParaRPr b="1" sz="3100">
              <a:latin typeface="Montserrat"/>
              <a:ea typeface="Montserrat"/>
              <a:cs typeface="Montserrat"/>
              <a:sym typeface="Montserrat"/>
            </a:endParaRPr>
          </a:p>
        </p:txBody>
      </p:sp>
    </p:spTree>
  </p:cSld>
  <p:clrMapOvr>
    <a:masterClrMapping/>
  </p:clrMapOvr>
  <p:transition>
    <p:push/>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g39b7157ad26_0_863"/>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b="1" lang="en-US" sz="4000">
                <a:latin typeface="Montserrat"/>
                <a:ea typeface="Montserrat"/>
                <a:cs typeface="Montserrat"/>
                <a:sym typeface="Montserrat"/>
              </a:rPr>
              <a:t>Designing a questionnaire IV</a:t>
            </a:r>
            <a:endParaRPr b="1" sz="4000">
              <a:latin typeface="Montserrat"/>
              <a:ea typeface="Montserrat"/>
              <a:cs typeface="Montserrat"/>
              <a:sym typeface="Montserrat"/>
            </a:endParaRPr>
          </a:p>
        </p:txBody>
      </p:sp>
      <p:sp>
        <p:nvSpPr>
          <p:cNvPr id="356" name="Google Shape;356;g39b7157ad26_0_863"/>
          <p:cNvSpPr txBox="1"/>
          <p:nvPr>
            <p:ph idx="1" type="body"/>
          </p:nvPr>
        </p:nvSpPr>
        <p:spPr>
          <a:xfrm>
            <a:off x="838200" y="1788425"/>
            <a:ext cx="10196400" cy="4375800"/>
          </a:xfrm>
          <a:prstGeom prst="rect">
            <a:avLst/>
          </a:prstGeom>
          <a:noFill/>
          <a:ln>
            <a:noFill/>
          </a:ln>
        </p:spPr>
        <p:txBody>
          <a:bodyPr anchorCtr="0" anchor="t" bIns="45700" lIns="91425" spcFirstLastPara="1" rIns="91425" wrap="square" tIns="45700">
            <a:normAutofit/>
          </a:bodyPr>
          <a:lstStyle/>
          <a:p>
            <a:pPr indent="-368300" lvl="0" marL="457200" rtl="0" algn="l">
              <a:lnSpc>
                <a:spcPct val="100000"/>
              </a:lnSpc>
              <a:spcBef>
                <a:spcPts val="400"/>
              </a:spcBef>
              <a:spcAft>
                <a:spcPts val="0"/>
              </a:spcAft>
              <a:buClr>
                <a:srgbClr val="B509D1"/>
              </a:buClr>
              <a:buSzPts val="2200"/>
              <a:buFont typeface="Montserrat Medium"/>
              <a:buChar char="★"/>
            </a:pPr>
            <a:r>
              <a:rPr lang="en-US" sz="2200">
                <a:latin typeface="Montserrat Medium"/>
                <a:ea typeface="Montserrat Medium"/>
                <a:cs typeface="Montserrat Medium"/>
                <a:sym typeface="Montserrat Medium"/>
              </a:rPr>
              <a:t>Provide clear questions that are easy to answer:</a:t>
            </a:r>
            <a:endParaRPr sz="2200">
              <a:latin typeface="Montserrat Medium"/>
              <a:ea typeface="Montserrat Medium"/>
              <a:cs typeface="Montserrat Medium"/>
              <a:sym typeface="Montserrat Medium"/>
            </a:endParaRPr>
          </a:p>
          <a:p>
            <a:pPr indent="-368300" lvl="1" marL="914400" rtl="0" algn="l">
              <a:lnSpc>
                <a:spcPct val="100000"/>
              </a:lnSpc>
              <a:spcBef>
                <a:spcPts val="0"/>
              </a:spcBef>
              <a:spcAft>
                <a:spcPts val="0"/>
              </a:spcAft>
              <a:buSzPts val="2200"/>
              <a:buFont typeface="Montserrat Medium"/>
              <a:buChar char="○"/>
            </a:pPr>
            <a:r>
              <a:rPr lang="en-US" sz="2200">
                <a:latin typeface="Montserrat Medium"/>
                <a:ea typeface="Montserrat Medium"/>
                <a:cs typeface="Montserrat Medium"/>
                <a:sym typeface="Montserrat Medium"/>
              </a:rPr>
              <a:t>Avoid four common problems:</a:t>
            </a:r>
            <a:endParaRPr sz="2200">
              <a:latin typeface="Montserrat Medium"/>
              <a:ea typeface="Montserrat Medium"/>
              <a:cs typeface="Montserrat Medium"/>
              <a:sym typeface="Montserrat Medium"/>
            </a:endParaRPr>
          </a:p>
          <a:p>
            <a:pPr indent="-368300" lvl="1" marL="914400" rtl="0" algn="l">
              <a:lnSpc>
                <a:spcPct val="100000"/>
              </a:lnSpc>
              <a:spcBef>
                <a:spcPts val="0"/>
              </a:spcBef>
              <a:spcAft>
                <a:spcPts val="0"/>
              </a:spcAft>
              <a:buSzPts val="2200"/>
              <a:buFont typeface="Montserrat Medium"/>
              <a:buChar char="○"/>
            </a:pPr>
            <a:r>
              <a:rPr lang="en-US" sz="2200">
                <a:latin typeface="Montserrat Medium"/>
                <a:ea typeface="Montserrat Medium"/>
                <a:cs typeface="Montserrat Medium"/>
                <a:sym typeface="Montserrat Medium"/>
              </a:rPr>
              <a:t>Biased in phrasing </a:t>
            </a:r>
            <a:endParaRPr sz="2200">
              <a:latin typeface="Montserrat Medium"/>
              <a:ea typeface="Montserrat Medium"/>
              <a:cs typeface="Montserrat Medium"/>
              <a:sym typeface="Montserrat Medium"/>
            </a:endParaRPr>
          </a:p>
          <a:p>
            <a:pPr indent="-368300" lvl="1" marL="914400" rtl="0" algn="l">
              <a:lnSpc>
                <a:spcPct val="100000"/>
              </a:lnSpc>
              <a:spcBef>
                <a:spcPts val="0"/>
              </a:spcBef>
              <a:spcAft>
                <a:spcPts val="0"/>
              </a:spcAft>
              <a:buSzPts val="2200"/>
              <a:buFont typeface="Montserrat Medium"/>
              <a:buChar char="○"/>
            </a:pPr>
            <a:r>
              <a:rPr lang="en-US" sz="2200">
                <a:latin typeface="Montserrat Medium"/>
                <a:ea typeface="Montserrat Medium"/>
                <a:cs typeface="Montserrat Medium"/>
                <a:sym typeface="Montserrat Medium"/>
              </a:rPr>
              <a:t>Use of undefined terms</a:t>
            </a:r>
            <a:endParaRPr sz="2200">
              <a:latin typeface="Montserrat Medium"/>
              <a:ea typeface="Montserrat Medium"/>
              <a:cs typeface="Montserrat Medium"/>
              <a:sym typeface="Montserrat Medium"/>
            </a:endParaRPr>
          </a:p>
          <a:p>
            <a:pPr indent="-368300" lvl="1" marL="914400" rtl="0" algn="l">
              <a:lnSpc>
                <a:spcPct val="100000"/>
              </a:lnSpc>
              <a:spcBef>
                <a:spcPts val="0"/>
              </a:spcBef>
              <a:spcAft>
                <a:spcPts val="0"/>
              </a:spcAft>
              <a:buSzPts val="2200"/>
              <a:buFont typeface="Montserrat Medium"/>
              <a:buChar char="○"/>
            </a:pPr>
            <a:r>
              <a:rPr lang="en-US" sz="2200">
                <a:latin typeface="Montserrat Medium"/>
                <a:ea typeface="Montserrat Medium"/>
                <a:cs typeface="Montserrat Medium"/>
                <a:sym typeface="Montserrat Medium"/>
              </a:rPr>
              <a:t>Use of more than one variable</a:t>
            </a:r>
            <a:endParaRPr sz="2200">
              <a:latin typeface="Montserrat Medium"/>
              <a:ea typeface="Montserrat Medium"/>
              <a:cs typeface="Montserrat Medium"/>
              <a:sym typeface="Montserrat Medium"/>
            </a:endParaRPr>
          </a:p>
          <a:p>
            <a:pPr indent="-368300" lvl="1" marL="914400" rtl="0" algn="l">
              <a:lnSpc>
                <a:spcPct val="100000"/>
              </a:lnSpc>
              <a:spcBef>
                <a:spcPts val="0"/>
              </a:spcBef>
              <a:spcAft>
                <a:spcPts val="0"/>
              </a:spcAft>
              <a:buSzPts val="2200"/>
              <a:buFont typeface="Montserrat Medium"/>
              <a:buChar char="○"/>
            </a:pPr>
            <a:r>
              <a:rPr lang="en-US" sz="2200">
                <a:latin typeface="Montserrat Medium"/>
                <a:ea typeface="Montserrat Medium"/>
                <a:cs typeface="Montserrat Medium"/>
                <a:sym typeface="Montserrat Medium"/>
              </a:rPr>
              <a:t>Questions that require too much homework</a:t>
            </a:r>
            <a:endParaRPr sz="2200">
              <a:latin typeface="Montserrat Medium"/>
              <a:ea typeface="Montserrat Medium"/>
              <a:cs typeface="Montserrat Medium"/>
              <a:sym typeface="Montserrat Medium"/>
            </a:endParaRPr>
          </a:p>
          <a:p>
            <a:pPr indent="0" lvl="0" marL="0" rtl="0" algn="l">
              <a:lnSpc>
                <a:spcPct val="100000"/>
              </a:lnSpc>
              <a:spcBef>
                <a:spcPts val="400"/>
              </a:spcBef>
              <a:spcAft>
                <a:spcPts val="0"/>
              </a:spcAft>
              <a:buSzPts val="1800"/>
              <a:buNone/>
            </a:pPr>
            <a:r>
              <a:t/>
            </a:r>
            <a:endParaRPr sz="2200">
              <a:latin typeface="Montserrat Medium"/>
              <a:ea typeface="Montserrat Medium"/>
              <a:cs typeface="Montserrat Medium"/>
              <a:sym typeface="Montserrat Medium"/>
            </a:endParaRPr>
          </a:p>
          <a:p>
            <a:pPr indent="-368300" lvl="0" marL="457200" rtl="0" algn="l">
              <a:lnSpc>
                <a:spcPct val="100000"/>
              </a:lnSpc>
              <a:spcBef>
                <a:spcPts val="400"/>
              </a:spcBef>
              <a:spcAft>
                <a:spcPts val="0"/>
              </a:spcAft>
              <a:buClr>
                <a:srgbClr val="B509D1"/>
              </a:buClr>
              <a:buSzPts val="2200"/>
              <a:buFont typeface="Montserrat Medium"/>
              <a:buChar char="★"/>
            </a:pPr>
            <a:r>
              <a:rPr lang="en-US" sz="2200">
                <a:latin typeface="Montserrat Medium"/>
                <a:ea typeface="Montserrat Medium"/>
                <a:cs typeface="Montserrat Medium"/>
                <a:sym typeface="Montserrat Medium"/>
              </a:rPr>
              <a:t>Include precise and concise instructions at the top of the form</a:t>
            </a:r>
            <a:endParaRPr sz="2200">
              <a:latin typeface="Montserrat Medium"/>
              <a:ea typeface="Montserrat Medium"/>
              <a:cs typeface="Montserrat Medium"/>
              <a:sym typeface="Montserrat Medium"/>
            </a:endParaRPr>
          </a:p>
          <a:p>
            <a:pPr indent="-368300" lvl="0" marL="457200" rtl="0" algn="l">
              <a:lnSpc>
                <a:spcPct val="100000"/>
              </a:lnSpc>
              <a:spcBef>
                <a:spcPts val="0"/>
              </a:spcBef>
              <a:spcAft>
                <a:spcPts val="0"/>
              </a:spcAft>
              <a:buClr>
                <a:srgbClr val="B509D1"/>
              </a:buClr>
              <a:buSzPts val="2200"/>
              <a:buFont typeface="Montserrat Medium"/>
              <a:buChar char="★"/>
            </a:pPr>
            <a:r>
              <a:rPr lang="en-US" sz="2200">
                <a:latin typeface="Montserrat Medium"/>
                <a:ea typeface="Montserrat Medium"/>
                <a:cs typeface="Montserrat Medium"/>
                <a:sym typeface="Montserrat Medium"/>
              </a:rPr>
              <a:t>Test the questionnaire on a sample audience (Pilot)</a:t>
            </a:r>
            <a:endParaRPr sz="2200">
              <a:latin typeface="Montserrat Medium"/>
              <a:ea typeface="Montserrat Medium"/>
              <a:cs typeface="Montserrat Medium"/>
              <a:sym typeface="Montserrat Medium"/>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g37efbfe7193_0_34"/>
          <p:cNvSpPr/>
          <p:nvPr/>
        </p:nvSpPr>
        <p:spPr>
          <a:xfrm>
            <a:off x="620575" y="1082386"/>
            <a:ext cx="10824000" cy="1320000"/>
          </a:xfrm>
          <a:prstGeom prst="rect">
            <a:avLst/>
          </a:prstGeom>
          <a:solidFill>
            <a:srgbClr val="DDEAF6">
              <a:alpha val="44313"/>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 name="Google Shape;363;g37efbfe7193_0_34"/>
          <p:cNvSpPr/>
          <p:nvPr/>
        </p:nvSpPr>
        <p:spPr>
          <a:xfrm>
            <a:off x="476850" y="981725"/>
            <a:ext cx="5666100" cy="5652000"/>
          </a:xfrm>
          <a:prstGeom prst="rect">
            <a:avLst/>
          </a:prstGeom>
          <a:solidFill>
            <a:srgbClr val="DDEAF6">
              <a:alpha val="18431"/>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g37efbfe7193_0_34"/>
          <p:cNvSpPr txBox="1"/>
          <p:nvPr>
            <p:ph type="title"/>
          </p:nvPr>
        </p:nvSpPr>
        <p:spPr>
          <a:xfrm>
            <a:off x="112200" y="0"/>
            <a:ext cx="10515600" cy="827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b="1" lang="en-US" sz="3400">
                <a:latin typeface="Montserrat"/>
                <a:ea typeface="Montserrat"/>
                <a:cs typeface="Montserrat"/>
                <a:sym typeface="Montserrat"/>
              </a:rPr>
              <a:t>Format</a:t>
            </a:r>
            <a:endParaRPr sz="3400">
              <a:latin typeface="Montserrat"/>
              <a:ea typeface="Montserrat"/>
              <a:cs typeface="Montserrat"/>
              <a:sym typeface="Montserrat"/>
            </a:endParaRPr>
          </a:p>
        </p:txBody>
      </p:sp>
      <p:sp>
        <p:nvSpPr>
          <p:cNvPr id="365" name="Google Shape;365;g37efbfe7193_0_34"/>
          <p:cNvSpPr txBox="1"/>
          <p:nvPr/>
        </p:nvSpPr>
        <p:spPr>
          <a:xfrm>
            <a:off x="552292" y="967778"/>
            <a:ext cx="5515200" cy="5679900"/>
          </a:xfrm>
          <a:prstGeom prst="rect">
            <a:avLst/>
          </a:prstGeom>
          <a:solidFill>
            <a:srgbClr val="E7E6E6">
              <a:alpha val="28627"/>
            </a:srgbClr>
          </a:solidFill>
          <a:ln>
            <a:noFill/>
          </a:ln>
        </p:spPr>
        <p:txBody>
          <a:bodyPr anchorCtr="0" anchor="t" bIns="91425" lIns="91425" spcFirstLastPara="1" rIns="91425" wrap="square" tIns="91425">
            <a:spAutoFit/>
          </a:bodyPr>
          <a:lstStyle/>
          <a:p>
            <a:pPr indent="-361950" lvl="0" marL="457200" marR="0" rtl="0" algn="l">
              <a:lnSpc>
                <a:spcPct val="100000"/>
              </a:lnSpc>
              <a:spcBef>
                <a:spcPts val="0"/>
              </a:spcBef>
              <a:spcAft>
                <a:spcPts val="0"/>
              </a:spcAft>
              <a:buClr>
                <a:srgbClr val="000000"/>
              </a:buClr>
              <a:buSzPts val="2100"/>
              <a:buFont typeface="Consolas"/>
              <a:buChar char="●"/>
            </a:pPr>
            <a:r>
              <a:rPr b="1" i="0" lang="en-US" sz="2100" u="none" cap="none" strike="noStrike">
                <a:solidFill>
                  <a:srgbClr val="000000"/>
                </a:solidFill>
                <a:latin typeface="Consolas"/>
                <a:ea typeface="Consolas"/>
                <a:cs typeface="Consolas"/>
                <a:sym typeface="Consolas"/>
              </a:rPr>
              <a:t>Date</a:t>
            </a:r>
            <a:endParaRPr b="1" i="0" sz="2100" u="none" cap="none" strike="noStrike">
              <a:solidFill>
                <a:srgbClr val="000000"/>
              </a:solidFill>
              <a:latin typeface="Consolas"/>
              <a:ea typeface="Consolas"/>
              <a:cs typeface="Consolas"/>
              <a:sym typeface="Consolas"/>
            </a:endParaRPr>
          </a:p>
          <a:p>
            <a:pPr indent="-361950" lvl="0" marL="457200" marR="0" rtl="0" algn="l">
              <a:lnSpc>
                <a:spcPct val="100000"/>
              </a:lnSpc>
              <a:spcBef>
                <a:spcPts val="0"/>
              </a:spcBef>
              <a:spcAft>
                <a:spcPts val="0"/>
              </a:spcAft>
              <a:buClr>
                <a:srgbClr val="000000"/>
              </a:buClr>
              <a:buSzPts val="2100"/>
              <a:buFont typeface="Consolas"/>
              <a:buChar char="●"/>
            </a:pPr>
            <a:r>
              <a:rPr b="1" i="0" lang="en-US" sz="2100" u="none" cap="none" strike="noStrike">
                <a:solidFill>
                  <a:srgbClr val="000000"/>
                </a:solidFill>
                <a:latin typeface="Consolas"/>
                <a:ea typeface="Consolas"/>
                <a:cs typeface="Consolas"/>
                <a:sym typeface="Consolas"/>
              </a:rPr>
              <a:t>Address</a:t>
            </a:r>
            <a:endParaRPr b="1" i="0" sz="2100" u="none" cap="none" strike="noStrike">
              <a:solidFill>
                <a:srgbClr val="000000"/>
              </a:solidFill>
              <a:latin typeface="Consolas"/>
              <a:ea typeface="Consolas"/>
              <a:cs typeface="Consolas"/>
              <a:sym typeface="Consolas"/>
            </a:endParaRPr>
          </a:p>
          <a:p>
            <a:pPr indent="0" lvl="0" marL="457200" marR="0" rtl="0" algn="l">
              <a:lnSpc>
                <a:spcPct val="100000"/>
              </a:lnSpc>
              <a:spcBef>
                <a:spcPts val="0"/>
              </a:spcBef>
              <a:spcAft>
                <a:spcPts val="0"/>
              </a:spcAft>
              <a:buClr>
                <a:srgbClr val="000000"/>
              </a:buClr>
              <a:buSzPts val="2100"/>
              <a:buFont typeface="Arial"/>
              <a:buNone/>
            </a:pPr>
            <a:r>
              <a:t/>
            </a:r>
            <a:endParaRPr b="1" i="0" sz="2100" u="none" cap="none" strike="noStrike">
              <a:solidFill>
                <a:srgbClr val="000000"/>
              </a:solidFill>
              <a:latin typeface="Consolas"/>
              <a:ea typeface="Consolas"/>
              <a:cs typeface="Consolas"/>
              <a:sym typeface="Consolas"/>
            </a:endParaRPr>
          </a:p>
          <a:p>
            <a:pPr indent="-361950" lvl="0" marL="457200" marR="0" rtl="0" algn="l">
              <a:lnSpc>
                <a:spcPct val="100000"/>
              </a:lnSpc>
              <a:spcBef>
                <a:spcPts val="0"/>
              </a:spcBef>
              <a:spcAft>
                <a:spcPts val="0"/>
              </a:spcAft>
              <a:buClr>
                <a:srgbClr val="000000"/>
              </a:buClr>
              <a:buSzPts val="2100"/>
              <a:buFont typeface="Consolas"/>
              <a:buChar char="●"/>
            </a:pPr>
            <a:r>
              <a:rPr b="1" i="0" lang="en-US" sz="2100" u="none" cap="none" strike="noStrike">
                <a:solidFill>
                  <a:srgbClr val="000000"/>
                </a:solidFill>
                <a:latin typeface="Consolas"/>
                <a:ea typeface="Consolas"/>
                <a:cs typeface="Consolas"/>
                <a:sym typeface="Consolas"/>
              </a:rPr>
              <a:t>Subject Line</a:t>
            </a:r>
            <a:endParaRPr b="1" i="0" sz="2100" u="none" cap="none" strike="noStrike">
              <a:solidFill>
                <a:srgbClr val="000000"/>
              </a:solidFill>
              <a:latin typeface="Consolas"/>
              <a:ea typeface="Consolas"/>
              <a:cs typeface="Consolas"/>
              <a:sym typeface="Consolas"/>
            </a:endParaRPr>
          </a:p>
          <a:p>
            <a:pPr indent="0" lvl="0" marL="457200" marR="0" rtl="0" algn="l">
              <a:lnSpc>
                <a:spcPct val="100000"/>
              </a:lnSpc>
              <a:spcBef>
                <a:spcPts val="0"/>
              </a:spcBef>
              <a:spcAft>
                <a:spcPts val="0"/>
              </a:spcAft>
              <a:buClr>
                <a:srgbClr val="000000"/>
              </a:buClr>
              <a:buSzPts val="2100"/>
              <a:buFont typeface="Arial"/>
              <a:buNone/>
            </a:pPr>
            <a:r>
              <a:t/>
            </a:r>
            <a:endParaRPr b="1" i="0" sz="2100" u="none" cap="none" strike="noStrike">
              <a:solidFill>
                <a:srgbClr val="000000"/>
              </a:solidFill>
              <a:latin typeface="Consolas"/>
              <a:ea typeface="Consolas"/>
              <a:cs typeface="Consolas"/>
              <a:sym typeface="Consolas"/>
            </a:endParaRPr>
          </a:p>
          <a:p>
            <a:pPr indent="-361950" lvl="0" marL="457200" marR="0" rtl="0" algn="l">
              <a:lnSpc>
                <a:spcPct val="100000"/>
              </a:lnSpc>
              <a:spcBef>
                <a:spcPts val="0"/>
              </a:spcBef>
              <a:spcAft>
                <a:spcPts val="0"/>
              </a:spcAft>
              <a:buClr>
                <a:srgbClr val="000000"/>
              </a:buClr>
              <a:buSzPts val="2100"/>
              <a:buFont typeface="Consolas"/>
              <a:buChar char="●"/>
            </a:pPr>
            <a:r>
              <a:rPr b="1" i="1" lang="en-US" sz="2100" u="none" cap="none" strike="noStrike">
                <a:solidFill>
                  <a:srgbClr val="000000"/>
                </a:solidFill>
                <a:latin typeface="Consolas"/>
                <a:ea typeface="Consolas"/>
                <a:cs typeface="Consolas"/>
                <a:sym typeface="Consolas"/>
              </a:rPr>
              <a:t>Salutation</a:t>
            </a:r>
            <a:endParaRPr b="1" i="1" sz="2100" u="none" cap="none" strike="noStrike">
              <a:solidFill>
                <a:srgbClr val="000000"/>
              </a:solidFill>
              <a:latin typeface="Consolas"/>
              <a:ea typeface="Consolas"/>
              <a:cs typeface="Consolas"/>
              <a:sym typeface="Consolas"/>
            </a:endParaRPr>
          </a:p>
          <a:p>
            <a:pPr indent="0" lvl="0" marL="457200" marR="0" rtl="0" algn="l">
              <a:lnSpc>
                <a:spcPct val="100000"/>
              </a:lnSpc>
              <a:spcBef>
                <a:spcPts val="0"/>
              </a:spcBef>
              <a:spcAft>
                <a:spcPts val="0"/>
              </a:spcAft>
              <a:buClr>
                <a:srgbClr val="000000"/>
              </a:buClr>
              <a:buSzPts val="2100"/>
              <a:buFont typeface="Arial"/>
              <a:buNone/>
            </a:pPr>
            <a:r>
              <a:t/>
            </a:r>
            <a:endParaRPr b="1" i="0" sz="2100" u="none" cap="none" strike="noStrike">
              <a:solidFill>
                <a:srgbClr val="000000"/>
              </a:solidFill>
              <a:latin typeface="Consolas"/>
              <a:ea typeface="Consolas"/>
              <a:cs typeface="Consolas"/>
              <a:sym typeface="Consolas"/>
            </a:endParaRPr>
          </a:p>
          <a:p>
            <a:pPr indent="-361950" lvl="0" marL="457200" marR="0" rtl="0" algn="l">
              <a:lnSpc>
                <a:spcPct val="100000"/>
              </a:lnSpc>
              <a:spcBef>
                <a:spcPts val="0"/>
              </a:spcBef>
              <a:spcAft>
                <a:spcPts val="0"/>
              </a:spcAft>
              <a:buClr>
                <a:srgbClr val="000000"/>
              </a:buClr>
              <a:buSzPts val="2100"/>
              <a:buFont typeface="Consolas"/>
              <a:buChar char="●"/>
            </a:pPr>
            <a:r>
              <a:rPr b="1" i="0" lang="en-US" sz="2100" u="none" cap="none" strike="noStrike">
                <a:solidFill>
                  <a:srgbClr val="000000"/>
                </a:solidFill>
                <a:latin typeface="Consolas"/>
                <a:ea typeface="Consolas"/>
                <a:cs typeface="Consolas"/>
                <a:sym typeface="Consolas"/>
              </a:rPr>
              <a:t>Body</a:t>
            </a:r>
            <a:endParaRPr b="1" i="0" sz="2100" u="none" cap="none" strike="noStrike">
              <a:solidFill>
                <a:srgbClr val="000000"/>
              </a:solidFill>
              <a:latin typeface="Consolas"/>
              <a:ea typeface="Consolas"/>
              <a:cs typeface="Consolas"/>
              <a:sym typeface="Consolas"/>
            </a:endParaRPr>
          </a:p>
          <a:p>
            <a:pPr indent="0" lvl="0" marL="457200" marR="0" rtl="0" algn="l">
              <a:lnSpc>
                <a:spcPct val="100000"/>
              </a:lnSpc>
              <a:spcBef>
                <a:spcPts val="0"/>
              </a:spcBef>
              <a:spcAft>
                <a:spcPts val="0"/>
              </a:spcAft>
              <a:buClr>
                <a:srgbClr val="000000"/>
              </a:buClr>
              <a:buSzPts val="2100"/>
              <a:buFont typeface="Arial"/>
              <a:buNone/>
            </a:pPr>
            <a:r>
              <a:t/>
            </a:r>
            <a:endParaRPr b="1" i="0" sz="2100" u="none" cap="none" strike="noStrike">
              <a:solidFill>
                <a:srgbClr val="000000"/>
              </a:solidFill>
              <a:latin typeface="Consolas"/>
              <a:ea typeface="Consolas"/>
              <a:cs typeface="Consolas"/>
              <a:sym typeface="Consolas"/>
            </a:endParaRPr>
          </a:p>
          <a:p>
            <a:pPr indent="0" lvl="0" marL="457200" marR="0" rtl="0" algn="l">
              <a:lnSpc>
                <a:spcPct val="100000"/>
              </a:lnSpc>
              <a:spcBef>
                <a:spcPts val="0"/>
              </a:spcBef>
              <a:spcAft>
                <a:spcPts val="0"/>
              </a:spcAft>
              <a:buClr>
                <a:srgbClr val="000000"/>
              </a:buClr>
              <a:buSzPts val="2100"/>
              <a:buFont typeface="Arial"/>
              <a:buNone/>
            </a:pPr>
            <a:r>
              <a:t/>
            </a:r>
            <a:endParaRPr b="1" i="0" sz="2100" u="none" cap="none" strike="noStrike">
              <a:solidFill>
                <a:srgbClr val="000000"/>
              </a:solidFill>
              <a:latin typeface="Consolas"/>
              <a:ea typeface="Consolas"/>
              <a:cs typeface="Consolas"/>
              <a:sym typeface="Consolas"/>
            </a:endParaRPr>
          </a:p>
          <a:p>
            <a:pPr indent="0" lvl="0" marL="457200" marR="0" rtl="0" algn="l">
              <a:lnSpc>
                <a:spcPct val="100000"/>
              </a:lnSpc>
              <a:spcBef>
                <a:spcPts val="0"/>
              </a:spcBef>
              <a:spcAft>
                <a:spcPts val="0"/>
              </a:spcAft>
              <a:buClr>
                <a:srgbClr val="000000"/>
              </a:buClr>
              <a:buSzPts val="2100"/>
              <a:buFont typeface="Arial"/>
              <a:buNone/>
            </a:pPr>
            <a:r>
              <a:t/>
            </a:r>
            <a:endParaRPr b="1" i="0" sz="2100" u="none" cap="none" strike="noStrike">
              <a:solidFill>
                <a:srgbClr val="000000"/>
              </a:solidFill>
              <a:latin typeface="Consolas"/>
              <a:ea typeface="Consolas"/>
              <a:cs typeface="Consolas"/>
              <a:sym typeface="Consolas"/>
            </a:endParaRPr>
          </a:p>
          <a:p>
            <a:pPr indent="0" lvl="0" marL="457200" marR="0" rtl="0" algn="l">
              <a:lnSpc>
                <a:spcPct val="100000"/>
              </a:lnSpc>
              <a:spcBef>
                <a:spcPts val="0"/>
              </a:spcBef>
              <a:spcAft>
                <a:spcPts val="0"/>
              </a:spcAft>
              <a:buClr>
                <a:srgbClr val="000000"/>
              </a:buClr>
              <a:buSzPts val="2100"/>
              <a:buFont typeface="Arial"/>
              <a:buNone/>
            </a:pPr>
            <a:r>
              <a:t/>
            </a:r>
            <a:endParaRPr b="1" i="0" sz="2100" u="none" cap="none" strike="noStrike">
              <a:solidFill>
                <a:srgbClr val="000000"/>
              </a:solidFill>
              <a:latin typeface="Consolas"/>
              <a:ea typeface="Consolas"/>
              <a:cs typeface="Consolas"/>
              <a:sym typeface="Consolas"/>
            </a:endParaRPr>
          </a:p>
          <a:p>
            <a:pPr indent="0" lvl="0" marL="457200" marR="0" rtl="0" algn="l">
              <a:lnSpc>
                <a:spcPct val="100000"/>
              </a:lnSpc>
              <a:spcBef>
                <a:spcPts val="0"/>
              </a:spcBef>
              <a:spcAft>
                <a:spcPts val="0"/>
              </a:spcAft>
              <a:buClr>
                <a:srgbClr val="000000"/>
              </a:buClr>
              <a:buSzPts val="2100"/>
              <a:buFont typeface="Arial"/>
              <a:buNone/>
            </a:pPr>
            <a:r>
              <a:t/>
            </a:r>
            <a:endParaRPr b="1" i="0" sz="2100" u="none" cap="none" strike="noStrike">
              <a:solidFill>
                <a:srgbClr val="000000"/>
              </a:solidFill>
              <a:latin typeface="Consolas"/>
              <a:ea typeface="Consolas"/>
              <a:cs typeface="Consolas"/>
              <a:sym typeface="Consolas"/>
            </a:endParaRPr>
          </a:p>
          <a:p>
            <a:pPr indent="0" lvl="0" marL="457200" marR="0" rtl="0" algn="l">
              <a:lnSpc>
                <a:spcPct val="100000"/>
              </a:lnSpc>
              <a:spcBef>
                <a:spcPts val="0"/>
              </a:spcBef>
              <a:spcAft>
                <a:spcPts val="0"/>
              </a:spcAft>
              <a:buClr>
                <a:srgbClr val="000000"/>
              </a:buClr>
              <a:buSzPts val="2100"/>
              <a:buFont typeface="Arial"/>
              <a:buNone/>
            </a:pPr>
            <a:r>
              <a:t/>
            </a:r>
            <a:endParaRPr b="1" i="0" sz="2100" u="none" cap="none" strike="noStrike">
              <a:solidFill>
                <a:srgbClr val="000000"/>
              </a:solidFill>
              <a:latin typeface="Consolas"/>
              <a:ea typeface="Consolas"/>
              <a:cs typeface="Consolas"/>
              <a:sym typeface="Consolas"/>
            </a:endParaRPr>
          </a:p>
          <a:p>
            <a:pPr indent="-361950" lvl="0" marL="457200" marR="0" rtl="0" algn="l">
              <a:lnSpc>
                <a:spcPct val="100000"/>
              </a:lnSpc>
              <a:spcBef>
                <a:spcPts val="0"/>
              </a:spcBef>
              <a:spcAft>
                <a:spcPts val="0"/>
              </a:spcAft>
              <a:buClr>
                <a:srgbClr val="000000"/>
              </a:buClr>
              <a:buSzPts val="2100"/>
              <a:buFont typeface="Consolas"/>
              <a:buChar char="●"/>
            </a:pPr>
            <a:r>
              <a:rPr b="1" i="1" lang="en-US" sz="2100" u="none" cap="none" strike="noStrike">
                <a:solidFill>
                  <a:srgbClr val="000000"/>
                </a:solidFill>
                <a:latin typeface="Consolas"/>
                <a:ea typeface="Consolas"/>
                <a:cs typeface="Consolas"/>
                <a:sym typeface="Consolas"/>
              </a:rPr>
              <a:t>Regards</a:t>
            </a:r>
            <a:endParaRPr b="1" i="1" sz="2100" u="none" cap="none" strike="noStrike">
              <a:solidFill>
                <a:srgbClr val="000000"/>
              </a:solidFill>
              <a:latin typeface="Consolas"/>
              <a:ea typeface="Consolas"/>
              <a:cs typeface="Consolas"/>
              <a:sym typeface="Consolas"/>
            </a:endParaRPr>
          </a:p>
          <a:p>
            <a:pPr indent="-361950" lvl="0" marL="457200" marR="0" rtl="0" algn="l">
              <a:lnSpc>
                <a:spcPct val="100000"/>
              </a:lnSpc>
              <a:spcBef>
                <a:spcPts val="0"/>
              </a:spcBef>
              <a:spcAft>
                <a:spcPts val="0"/>
              </a:spcAft>
              <a:buClr>
                <a:srgbClr val="000000"/>
              </a:buClr>
              <a:buSzPts val="2100"/>
              <a:buFont typeface="Consolas"/>
              <a:buChar char="●"/>
            </a:pPr>
            <a:r>
              <a:rPr b="1" i="0" lang="en-US" sz="2100" u="none" cap="none" strike="noStrike">
                <a:solidFill>
                  <a:srgbClr val="000000"/>
                </a:solidFill>
                <a:latin typeface="Consolas"/>
                <a:ea typeface="Consolas"/>
                <a:cs typeface="Consolas"/>
                <a:sym typeface="Consolas"/>
              </a:rPr>
              <a:t>Your name</a:t>
            </a:r>
            <a:endParaRPr b="1" i="0" sz="2100" u="none" cap="none" strike="noStrike">
              <a:solidFill>
                <a:srgbClr val="000000"/>
              </a:solidFill>
              <a:latin typeface="Consolas"/>
              <a:ea typeface="Consolas"/>
              <a:cs typeface="Consolas"/>
              <a:sym typeface="Consolas"/>
            </a:endParaRPr>
          </a:p>
          <a:p>
            <a:pPr indent="-361950" lvl="0" marL="457200" marR="0" rtl="0" algn="l">
              <a:lnSpc>
                <a:spcPct val="100000"/>
              </a:lnSpc>
              <a:spcBef>
                <a:spcPts val="0"/>
              </a:spcBef>
              <a:spcAft>
                <a:spcPts val="0"/>
              </a:spcAft>
              <a:buClr>
                <a:srgbClr val="000000"/>
              </a:buClr>
              <a:buSzPts val="2100"/>
              <a:buFont typeface="Consolas"/>
              <a:buChar char="●"/>
            </a:pPr>
            <a:r>
              <a:rPr b="1" i="0" lang="en-US" sz="2100" u="none" cap="none" strike="noStrike">
                <a:solidFill>
                  <a:srgbClr val="000000"/>
                </a:solidFill>
                <a:latin typeface="Consolas"/>
                <a:ea typeface="Consolas"/>
                <a:cs typeface="Consolas"/>
                <a:sym typeface="Consolas"/>
              </a:rPr>
              <a:t>Contact Information </a:t>
            </a:r>
            <a:endParaRPr b="1" i="0" sz="2100" u="none" cap="none" strike="noStrike">
              <a:solidFill>
                <a:srgbClr val="000000"/>
              </a:solidFill>
              <a:latin typeface="Consolas"/>
              <a:ea typeface="Consolas"/>
              <a:cs typeface="Consolas"/>
              <a:sym typeface="Consolas"/>
            </a:endParaRPr>
          </a:p>
        </p:txBody>
      </p:sp>
      <p:sp>
        <p:nvSpPr>
          <p:cNvPr id="366" name="Google Shape;366;g37efbfe7193_0_34"/>
          <p:cNvSpPr txBox="1"/>
          <p:nvPr/>
        </p:nvSpPr>
        <p:spPr>
          <a:xfrm>
            <a:off x="7068375" y="1045950"/>
            <a:ext cx="4193400" cy="1385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chemeClr val="dk1"/>
                </a:solidFill>
                <a:latin typeface="Montserrat"/>
                <a:ea typeface="Montserrat"/>
                <a:cs typeface="Montserrat"/>
                <a:sym typeface="Montserrat"/>
              </a:rPr>
              <a:t>Information presented differently in </a:t>
            </a:r>
            <a:r>
              <a:rPr b="0" i="0" lang="en-US" sz="2600" u="sng" cap="none" strike="noStrike">
                <a:solidFill>
                  <a:schemeClr val="dk1"/>
                </a:solidFill>
                <a:latin typeface="Montserrat"/>
                <a:ea typeface="Montserrat"/>
                <a:cs typeface="Montserrat"/>
                <a:sym typeface="Montserrat"/>
              </a:rPr>
              <a:t>memo</a:t>
            </a:r>
            <a:r>
              <a:rPr b="0" i="0" lang="en-US" sz="2600" u="none" cap="none" strike="noStrike">
                <a:solidFill>
                  <a:schemeClr val="dk1"/>
                </a:solidFill>
                <a:latin typeface="Montserrat"/>
                <a:ea typeface="Montserrat"/>
                <a:cs typeface="Montserrat"/>
                <a:sym typeface="Montserrat"/>
              </a:rPr>
              <a:t>, </a:t>
            </a:r>
            <a:r>
              <a:rPr b="0" i="0" lang="en-US" sz="2600" u="sng" cap="none" strike="noStrike">
                <a:solidFill>
                  <a:schemeClr val="dk1"/>
                </a:solidFill>
                <a:latin typeface="Montserrat"/>
                <a:ea typeface="Montserrat"/>
                <a:cs typeface="Montserrat"/>
                <a:sym typeface="Montserrat"/>
              </a:rPr>
              <a:t>letter</a:t>
            </a:r>
            <a:r>
              <a:rPr b="0" i="0" lang="en-US" sz="2600" u="none" cap="none" strike="noStrike">
                <a:solidFill>
                  <a:schemeClr val="dk1"/>
                </a:solidFill>
                <a:latin typeface="Montserrat"/>
                <a:ea typeface="Montserrat"/>
                <a:cs typeface="Montserrat"/>
                <a:sym typeface="Montserrat"/>
              </a:rPr>
              <a:t> and </a:t>
            </a:r>
            <a:r>
              <a:rPr b="0" i="0" lang="en-US" sz="2600" u="sng" cap="none" strike="noStrike">
                <a:solidFill>
                  <a:schemeClr val="dk1"/>
                </a:solidFill>
                <a:latin typeface="Montserrat"/>
                <a:ea typeface="Montserrat"/>
                <a:cs typeface="Montserrat"/>
                <a:sym typeface="Montserrat"/>
              </a:rPr>
              <a:t>email</a:t>
            </a:r>
            <a:r>
              <a:rPr b="0" i="0" lang="en-US" sz="2600" u="none" cap="none" strike="noStrike">
                <a:solidFill>
                  <a:schemeClr val="dk1"/>
                </a:solidFill>
                <a:latin typeface="Montserrat"/>
                <a:ea typeface="Montserrat"/>
                <a:cs typeface="Montserrat"/>
                <a:sym typeface="Montserrat"/>
              </a:rPr>
              <a:t>. </a:t>
            </a:r>
            <a:endParaRPr b="0" i="0" sz="2600" u="none" cap="none" strike="noStrike">
              <a:solidFill>
                <a:schemeClr val="dk1"/>
              </a:solidFill>
              <a:latin typeface="Montserrat"/>
              <a:ea typeface="Montserrat"/>
              <a:cs typeface="Montserrat"/>
              <a:sym typeface="Montserrat"/>
            </a:endParaRPr>
          </a:p>
        </p:txBody>
      </p:sp>
      <p:sp>
        <p:nvSpPr>
          <p:cNvPr id="367" name="Google Shape;367;g37efbfe7193_0_34"/>
          <p:cNvSpPr/>
          <p:nvPr/>
        </p:nvSpPr>
        <p:spPr>
          <a:xfrm>
            <a:off x="597400" y="2519050"/>
            <a:ext cx="10824000" cy="643800"/>
          </a:xfrm>
          <a:prstGeom prst="rect">
            <a:avLst/>
          </a:prstGeom>
          <a:solidFill>
            <a:srgbClr val="DDEAF6">
              <a:alpha val="44313"/>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 name="Google Shape;368;g37efbfe7193_0_34"/>
          <p:cNvSpPr txBox="1"/>
          <p:nvPr/>
        </p:nvSpPr>
        <p:spPr>
          <a:xfrm>
            <a:off x="7068375" y="2519059"/>
            <a:ext cx="41934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chemeClr val="dk1"/>
                </a:solidFill>
                <a:latin typeface="Montserrat"/>
                <a:ea typeface="Montserrat"/>
                <a:cs typeface="Montserrat"/>
                <a:sym typeface="Montserrat"/>
              </a:rPr>
              <a:t>Dear / Respected / Hi</a:t>
            </a:r>
            <a:endParaRPr b="0" i="0" sz="2600" u="none" cap="none" strike="noStrike">
              <a:solidFill>
                <a:schemeClr val="dk1"/>
              </a:solidFill>
              <a:latin typeface="Montserrat"/>
              <a:ea typeface="Montserrat"/>
              <a:cs typeface="Montserrat"/>
              <a:sym typeface="Montserrat"/>
            </a:endParaRPr>
          </a:p>
        </p:txBody>
      </p:sp>
      <p:sp>
        <p:nvSpPr>
          <p:cNvPr id="369" name="Google Shape;369;g37efbfe7193_0_34"/>
          <p:cNvSpPr/>
          <p:nvPr/>
        </p:nvSpPr>
        <p:spPr>
          <a:xfrm>
            <a:off x="597425" y="3279425"/>
            <a:ext cx="10824000" cy="2168700"/>
          </a:xfrm>
          <a:prstGeom prst="rect">
            <a:avLst/>
          </a:prstGeom>
          <a:solidFill>
            <a:srgbClr val="DDEAF6">
              <a:alpha val="44313"/>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g37efbfe7193_0_34"/>
          <p:cNvSpPr txBox="1"/>
          <p:nvPr/>
        </p:nvSpPr>
        <p:spPr>
          <a:xfrm>
            <a:off x="1454400" y="3740284"/>
            <a:ext cx="4193400" cy="1385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chemeClr val="dk1"/>
                </a:solidFill>
                <a:latin typeface="Montserrat"/>
                <a:ea typeface="Montserrat"/>
                <a:cs typeface="Montserrat"/>
                <a:sym typeface="Montserrat"/>
              </a:rPr>
              <a:t>A</a:t>
            </a:r>
            <a:r>
              <a:rPr b="0" i="0" lang="en-US" sz="2600" u="none" cap="none" strike="noStrike">
                <a:solidFill>
                  <a:schemeClr val="dk1"/>
                </a:solidFill>
                <a:latin typeface="Montserrat"/>
                <a:ea typeface="Montserrat"/>
                <a:cs typeface="Montserrat"/>
                <a:sym typeface="Montserrat"/>
              </a:rPr>
              <a:t>bstract/ Opening </a:t>
            </a:r>
            <a:endParaRPr b="0" i="0" sz="26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chemeClr val="dk1"/>
                </a:solidFill>
                <a:latin typeface="Montserrat"/>
                <a:ea typeface="Montserrat"/>
                <a:cs typeface="Montserrat"/>
                <a:sym typeface="Montserrat"/>
              </a:rPr>
              <a:t>B</a:t>
            </a:r>
            <a:r>
              <a:rPr b="0" i="0" lang="en-US" sz="2600" u="none" cap="none" strike="noStrike">
                <a:solidFill>
                  <a:schemeClr val="dk1"/>
                </a:solidFill>
                <a:latin typeface="Montserrat"/>
                <a:ea typeface="Montserrat"/>
                <a:cs typeface="Montserrat"/>
                <a:sym typeface="Montserrat"/>
              </a:rPr>
              <a:t>oday</a:t>
            </a:r>
            <a:endParaRPr b="0" i="0" sz="2600" u="none" cap="none" strike="noStrike">
              <a:solidFill>
                <a:schemeClr val="dk1"/>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chemeClr val="dk1"/>
                </a:solidFill>
                <a:latin typeface="Montserrat"/>
                <a:ea typeface="Montserrat"/>
                <a:cs typeface="Montserrat"/>
                <a:sym typeface="Montserrat"/>
              </a:rPr>
              <a:t>C</a:t>
            </a:r>
            <a:r>
              <a:rPr b="0" i="0" lang="en-US" sz="2600" u="none" cap="none" strike="noStrike">
                <a:solidFill>
                  <a:schemeClr val="dk1"/>
                </a:solidFill>
                <a:latin typeface="Montserrat"/>
                <a:ea typeface="Montserrat"/>
                <a:cs typeface="Montserrat"/>
                <a:sym typeface="Montserrat"/>
              </a:rPr>
              <a:t>losing</a:t>
            </a:r>
            <a:endParaRPr b="0" i="0" sz="2600" u="none" cap="none" strike="noStrike">
              <a:solidFill>
                <a:schemeClr val="dk1"/>
              </a:solidFill>
              <a:latin typeface="Montserrat"/>
              <a:ea typeface="Montserrat"/>
              <a:cs typeface="Montserrat"/>
              <a:sym typeface="Montserrat"/>
            </a:endParaRPr>
          </a:p>
        </p:txBody>
      </p:sp>
      <p:sp>
        <p:nvSpPr>
          <p:cNvPr id="371" name="Google Shape;371;g37efbfe7193_0_34"/>
          <p:cNvSpPr txBox="1"/>
          <p:nvPr/>
        </p:nvSpPr>
        <p:spPr>
          <a:xfrm>
            <a:off x="4355700" y="1849375"/>
            <a:ext cx="1647900" cy="523200"/>
          </a:xfrm>
          <a:prstGeom prst="rect">
            <a:avLst/>
          </a:prstGeom>
          <a:solidFill>
            <a:srgbClr val="C9DAF8"/>
          </a:solidFill>
          <a:ln cap="flat" cmpd="sng" w="9525">
            <a:solidFill>
              <a:srgbClr val="4A86E8"/>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1" lang="en-US" sz="2200" u="none" cap="none" strike="noStrike">
                <a:solidFill>
                  <a:schemeClr val="dk1"/>
                </a:solidFill>
                <a:latin typeface="Montserrat"/>
                <a:ea typeface="Montserrat"/>
                <a:cs typeface="Montserrat"/>
                <a:sym typeface="Montserrat"/>
              </a:rPr>
              <a:t>Objective</a:t>
            </a:r>
            <a:endParaRPr b="0" i="1" sz="2200" u="none" cap="none" strike="noStrike">
              <a:solidFill>
                <a:schemeClr val="dk1"/>
              </a:solidFill>
              <a:latin typeface="Montserrat"/>
              <a:ea typeface="Montserrat"/>
              <a:cs typeface="Montserrat"/>
              <a:sym typeface="Montserrat"/>
            </a:endParaRPr>
          </a:p>
        </p:txBody>
      </p:sp>
      <p:cxnSp>
        <p:nvCxnSpPr>
          <p:cNvPr id="372" name="Google Shape;372;g37efbfe7193_0_34"/>
          <p:cNvCxnSpPr>
            <a:endCxn id="371" idx="1"/>
          </p:cNvCxnSpPr>
          <p:nvPr/>
        </p:nvCxnSpPr>
        <p:spPr>
          <a:xfrm flipH="1" rot="10800000">
            <a:off x="2958600" y="2110975"/>
            <a:ext cx="1397100" cy="97200"/>
          </a:xfrm>
          <a:prstGeom prst="straightConnector1">
            <a:avLst/>
          </a:prstGeom>
          <a:noFill/>
          <a:ln cap="flat" cmpd="sng" w="9525">
            <a:solidFill>
              <a:srgbClr val="0000FF"/>
            </a:solidFill>
            <a:prstDash val="solid"/>
            <a:round/>
            <a:headEnd len="sm" w="sm" type="none"/>
            <a:tailEnd len="sm" w="sm" type="none"/>
          </a:ln>
        </p:spPr>
      </p:cxnSp>
      <p:sp>
        <p:nvSpPr>
          <p:cNvPr id="373" name="Google Shape;373;g37efbfe7193_0_34"/>
          <p:cNvSpPr txBox="1"/>
          <p:nvPr/>
        </p:nvSpPr>
        <p:spPr>
          <a:xfrm>
            <a:off x="4944225" y="3723835"/>
            <a:ext cx="4768500" cy="523200"/>
          </a:xfrm>
          <a:prstGeom prst="rect">
            <a:avLst/>
          </a:prstGeom>
          <a:solidFill>
            <a:srgbClr val="C9DAF8"/>
          </a:solidFill>
          <a:ln cap="flat" cmpd="sng" w="9525">
            <a:solidFill>
              <a:srgbClr val="4A86E8"/>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1" lang="en-US" sz="2200" u="none" cap="none" strike="noStrike">
                <a:solidFill>
                  <a:schemeClr val="dk1"/>
                </a:solidFill>
                <a:latin typeface="Montserrat"/>
                <a:ea typeface="Montserrat"/>
                <a:cs typeface="Montserrat"/>
                <a:sym typeface="Montserrat"/>
              </a:rPr>
              <a:t>Reason/Purpose explained</a:t>
            </a:r>
            <a:endParaRPr b="0" i="1" sz="2200" u="none" cap="none" strike="noStrike">
              <a:solidFill>
                <a:schemeClr val="dk1"/>
              </a:solidFill>
              <a:latin typeface="Montserrat"/>
              <a:ea typeface="Montserrat"/>
              <a:cs typeface="Montserrat"/>
              <a:sym typeface="Montserrat"/>
            </a:endParaRPr>
          </a:p>
        </p:txBody>
      </p:sp>
      <p:sp>
        <p:nvSpPr>
          <p:cNvPr id="374" name="Google Shape;374;g37efbfe7193_0_34"/>
          <p:cNvSpPr txBox="1"/>
          <p:nvPr/>
        </p:nvSpPr>
        <p:spPr>
          <a:xfrm>
            <a:off x="3821550" y="4272398"/>
            <a:ext cx="3096900" cy="523200"/>
          </a:xfrm>
          <a:prstGeom prst="rect">
            <a:avLst/>
          </a:prstGeom>
          <a:solidFill>
            <a:srgbClr val="C9DAF8"/>
          </a:solidFill>
          <a:ln cap="flat" cmpd="sng" w="9525">
            <a:solidFill>
              <a:srgbClr val="4A86E8"/>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1" lang="en-US" sz="2200" u="none" cap="none" strike="noStrike">
                <a:solidFill>
                  <a:schemeClr val="dk1"/>
                </a:solidFill>
                <a:latin typeface="Montserrat"/>
                <a:ea typeface="Montserrat"/>
                <a:cs typeface="Montserrat"/>
                <a:sym typeface="Montserrat"/>
              </a:rPr>
              <a:t>Reasons/Evidence</a:t>
            </a:r>
            <a:endParaRPr b="0" i="1" sz="2200" u="none" cap="none" strike="noStrike">
              <a:solidFill>
                <a:schemeClr val="dk1"/>
              </a:solidFill>
              <a:latin typeface="Montserrat"/>
              <a:ea typeface="Montserrat"/>
              <a:cs typeface="Montserrat"/>
              <a:sym typeface="Montserrat"/>
            </a:endParaRPr>
          </a:p>
        </p:txBody>
      </p:sp>
      <p:sp>
        <p:nvSpPr>
          <p:cNvPr id="375" name="Google Shape;375;g37efbfe7193_0_34"/>
          <p:cNvSpPr txBox="1"/>
          <p:nvPr/>
        </p:nvSpPr>
        <p:spPr>
          <a:xfrm>
            <a:off x="3046050" y="4795600"/>
            <a:ext cx="5815200" cy="507900"/>
          </a:xfrm>
          <a:prstGeom prst="rect">
            <a:avLst/>
          </a:prstGeom>
          <a:solidFill>
            <a:srgbClr val="C9DAF8"/>
          </a:solidFill>
          <a:ln cap="flat" cmpd="sng" w="9525">
            <a:solidFill>
              <a:srgbClr val="4A86E8"/>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0" i="1" lang="en-US" sz="2100" u="none" cap="none" strike="noStrike">
                <a:solidFill>
                  <a:schemeClr val="dk1"/>
                </a:solidFill>
                <a:latin typeface="Montserrat"/>
                <a:ea typeface="Montserrat"/>
                <a:cs typeface="Montserrat"/>
                <a:sym typeface="Montserrat"/>
              </a:rPr>
              <a:t>Call to action/Closing/Summary</a:t>
            </a:r>
            <a:endParaRPr b="0" i="1" sz="2100" u="none" cap="none" strike="noStrike">
              <a:solidFill>
                <a:schemeClr val="dk1"/>
              </a:solidFill>
              <a:latin typeface="Montserrat"/>
              <a:ea typeface="Montserrat"/>
              <a:cs typeface="Montserrat"/>
              <a:sym typeface="Montserrat"/>
            </a:endParaRPr>
          </a:p>
        </p:txBody>
      </p:sp>
      <p:sp>
        <p:nvSpPr>
          <p:cNvPr id="376" name="Google Shape;376;g37efbfe7193_0_34"/>
          <p:cNvSpPr/>
          <p:nvPr/>
        </p:nvSpPr>
        <p:spPr>
          <a:xfrm>
            <a:off x="597400" y="5541825"/>
            <a:ext cx="10824000" cy="1092000"/>
          </a:xfrm>
          <a:prstGeom prst="rect">
            <a:avLst/>
          </a:prstGeom>
          <a:solidFill>
            <a:srgbClr val="DDEAF6">
              <a:alpha val="44313"/>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g37efbfe7193_0_34"/>
          <p:cNvSpPr txBox="1"/>
          <p:nvPr/>
        </p:nvSpPr>
        <p:spPr>
          <a:xfrm>
            <a:off x="7068375" y="5616350"/>
            <a:ext cx="4193400" cy="985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chemeClr val="dk1"/>
                </a:solidFill>
                <a:latin typeface="Montserrat"/>
                <a:ea typeface="Montserrat"/>
                <a:cs typeface="Montserrat"/>
                <a:sym typeface="Montserrat"/>
              </a:rPr>
              <a:t>Courteous close and sender details</a:t>
            </a:r>
            <a:endParaRPr b="0" i="0" sz="2600" u="none" cap="none" strike="noStrike">
              <a:solidFill>
                <a:schemeClr val="dk1"/>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g37c26b4523b_0_12"/>
          <p:cNvSpPr txBox="1"/>
          <p:nvPr>
            <p:ph type="ctrTitle"/>
          </p:nvPr>
        </p:nvSpPr>
        <p:spPr>
          <a:xfrm>
            <a:off x="127200" y="1766450"/>
            <a:ext cx="11937600" cy="15414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2F5496"/>
              </a:buClr>
              <a:buSzPts val="4400"/>
              <a:buFont typeface="Times New Roman"/>
              <a:buNone/>
            </a:pPr>
            <a:r>
              <a:rPr b="1" lang="en-US" sz="4400">
                <a:solidFill>
                  <a:srgbClr val="2F5496"/>
                </a:solidFill>
                <a:latin typeface="Times New Roman"/>
                <a:ea typeface="Times New Roman"/>
                <a:cs typeface="Times New Roman"/>
                <a:sym typeface="Times New Roman"/>
              </a:rPr>
              <a:t>Technical Communication in the</a:t>
            </a:r>
            <a:br>
              <a:rPr b="1" lang="en-US" sz="4400">
                <a:solidFill>
                  <a:srgbClr val="2F5496"/>
                </a:solidFill>
                <a:latin typeface="Times New Roman"/>
                <a:ea typeface="Times New Roman"/>
                <a:cs typeface="Times New Roman"/>
                <a:sym typeface="Times New Roman"/>
              </a:rPr>
            </a:br>
            <a:r>
              <a:rPr b="1" lang="en-US" sz="4400">
                <a:solidFill>
                  <a:srgbClr val="2F5496"/>
                </a:solidFill>
                <a:latin typeface="Times New Roman"/>
                <a:ea typeface="Times New Roman"/>
                <a:cs typeface="Times New Roman"/>
                <a:sym typeface="Times New Roman"/>
              </a:rPr>
              <a:t>Workplace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g364c8792521_0_13"/>
          <p:cNvSpPr txBox="1"/>
          <p:nvPr>
            <p:ph idx="1" type="body"/>
          </p:nvPr>
        </p:nvSpPr>
        <p:spPr>
          <a:xfrm>
            <a:off x="838200" y="567950"/>
            <a:ext cx="10515600" cy="5778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b="1" lang="en-US" sz="3000">
                <a:latin typeface="Montserrat"/>
                <a:ea typeface="Montserrat"/>
                <a:cs typeface="Montserrat"/>
                <a:sym typeface="Montserrat"/>
              </a:rPr>
              <a:t>Correspondence Guideline 1: Know Your </a:t>
            </a:r>
            <a:r>
              <a:rPr b="1" lang="en-US" sz="3000" u="sng">
                <a:highlight>
                  <a:srgbClr val="FFF2CC"/>
                </a:highlight>
                <a:latin typeface="Montserrat"/>
                <a:ea typeface="Montserrat"/>
                <a:cs typeface="Montserrat"/>
                <a:sym typeface="Montserrat"/>
              </a:rPr>
              <a:t>Purpose</a:t>
            </a:r>
            <a:endParaRPr b="1" sz="3000" u="sng">
              <a:highlight>
                <a:srgbClr val="FFF2CC"/>
              </a:highlight>
              <a:latin typeface="Montserrat"/>
              <a:ea typeface="Montserrat"/>
              <a:cs typeface="Montserrat"/>
              <a:sym typeface="Montserrat"/>
            </a:endParaRPr>
          </a:p>
          <a:p>
            <a:pPr indent="-349250" lvl="0" marL="457200" rtl="0" algn="l">
              <a:lnSpc>
                <a:spcPct val="90000"/>
              </a:lnSpc>
              <a:spcBef>
                <a:spcPts val="0"/>
              </a:spcBef>
              <a:spcAft>
                <a:spcPts val="0"/>
              </a:spcAft>
              <a:buSzPts val="1900"/>
              <a:buFont typeface="Montserrat"/>
              <a:buChar char="●"/>
            </a:pPr>
            <a:r>
              <a:rPr lang="en-US" sz="1900">
                <a:latin typeface="Montserrat"/>
                <a:ea typeface="Montserrat"/>
                <a:cs typeface="Montserrat"/>
                <a:sym typeface="Montserrat"/>
              </a:rPr>
              <a:t>Before beginning → write down your purpose in one clear sentence. </a:t>
            </a:r>
            <a:endParaRPr sz="19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19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b="1" sz="3000">
              <a:latin typeface="Montserrat"/>
              <a:ea typeface="Montserrat"/>
              <a:cs typeface="Montserrat"/>
              <a:sym typeface="Montserra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3FF"/>
        </a:solidFill>
      </p:bgPr>
    </p:bg>
    <p:spTree>
      <p:nvGrpSpPr>
        <p:cNvPr id="393" name="Shape 393"/>
        <p:cNvGrpSpPr/>
        <p:nvPr/>
      </p:nvGrpSpPr>
      <p:grpSpPr>
        <a:xfrm>
          <a:off x="0" y="0"/>
          <a:ext cx="0" cy="0"/>
          <a:chOff x="0" y="0"/>
          <a:chExt cx="0" cy="0"/>
        </a:xfrm>
      </p:grpSpPr>
      <p:sp>
        <p:nvSpPr>
          <p:cNvPr id="394" name="Google Shape;394;g364c8792521_0_20"/>
          <p:cNvSpPr txBox="1"/>
          <p:nvPr>
            <p:ph idx="1" type="body"/>
          </p:nvPr>
        </p:nvSpPr>
        <p:spPr>
          <a:xfrm>
            <a:off x="838200" y="567950"/>
            <a:ext cx="10515600" cy="5778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sz="2500">
                <a:latin typeface="Montserrat"/>
                <a:ea typeface="Montserrat"/>
                <a:cs typeface="Montserrat"/>
                <a:sym typeface="Montserrat"/>
              </a:rPr>
              <a:t>What is the purpose in below correspondence:</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387350" lvl="0" marL="457200" rtl="0" algn="l">
              <a:lnSpc>
                <a:spcPct val="90000"/>
              </a:lnSpc>
              <a:spcBef>
                <a:spcPts val="0"/>
              </a:spcBef>
              <a:spcAft>
                <a:spcPts val="0"/>
              </a:spcAft>
              <a:buSzPts val="2500"/>
              <a:buFont typeface="Montserrat"/>
              <a:buChar char="●"/>
            </a:pPr>
            <a:r>
              <a:rPr lang="en-US" sz="2500">
                <a:latin typeface="Montserrat"/>
                <a:ea typeface="Montserrat"/>
                <a:cs typeface="Montserrat"/>
                <a:sym typeface="Montserrat"/>
              </a:rPr>
              <a:t>“As you requested yesterday, I am sending samples of the new candy brands you are considering placing in M-Global’s office vending machines.”</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3FF"/>
        </a:solidFill>
      </p:bgPr>
    </p:bg>
    <p:spTree>
      <p:nvGrpSpPr>
        <p:cNvPr id="399" name="Shape 399"/>
        <p:cNvGrpSpPr/>
        <p:nvPr/>
      </p:nvGrpSpPr>
      <p:grpSpPr>
        <a:xfrm>
          <a:off x="0" y="0"/>
          <a:ext cx="0" cy="0"/>
          <a:chOff x="0" y="0"/>
          <a:chExt cx="0" cy="0"/>
        </a:xfrm>
      </p:grpSpPr>
      <p:sp>
        <p:nvSpPr>
          <p:cNvPr id="400" name="Google Shape;400;g364c8792521_0_25"/>
          <p:cNvSpPr txBox="1"/>
          <p:nvPr>
            <p:ph idx="1" type="body"/>
          </p:nvPr>
        </p:nvSpPr>
        <p:spPr>
          <a:xfrm>
            <a:off x="838200" y="567950"/>
            <a:ext cx="10515600" cy="5778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sz="2500">
                <a:latin typeface="Montserrat"/>
                <a:ea typeface="Montserrat"/>
                <a:cs typeface="Montserrat"/>
                <a:sym typeface="Montserrat"/>
              </a:rPr>
              <a:t>What is the purpose in below correspondence:</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387350" lvl="0" marL="457200" rtl="0" algn="l">
              <a:lnSpc>
                <a:spcPct val="90000"/>
              </a:lnSpc>
              <a:spcBef>
                <a:spcPts val="0"/>
              </a:spcBef>
              <a:spcAft>
                <a:spcPts val="0"/>
              </a:spcAft>
              <a:buSzPts val="2500"/>
              <a:buFont typeface="Montserrat"/>
              <a:buChar char="●"/>
            </a:pPr>
            <a:r>
              <a:rPr lang="en-US" sz="2500">
                <a:latin typeface="Montserrat"/>
                <a:ea typeface="Montserrat"/>
                <a:cs typeface="Montserrat"/>
                <a:sym typeface="Montserrat"/>
              </a:rPr>
              <a:t>“As you requested yesterday, </a:t>
            </a:r>
            <a:r>
              <a:rPr lang="en-US" sz="2500">
                <a:highlight>
                  <a:srgbClr val="FFE599"/>
                </a:highlight>
                <a:latin typeface="Montserrat"/>
                <a:ea typeface="Montserrat"/>
                <a:cs typeface="Montserrat"/>
                <a:sym typeface="Montserrat"/>
              </a:rPr>
              <a:t>I am sending samples of the new candy brands</a:t>
            </a:r>
            <a:r>
              <a:rPr lang="en-US" sz="2500">
                <a:latin typeface="Montserrat"/>
                <a:ea typeface="Montserrat"/>
                <a:cs typeface="Montserrat"/>
                <a:sym typeface="Montserrat"/>
              </a:rPr>
              <a:t> you are considering placing in M-Global’s office vending machines.”</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p:txBody>
      </p:sp>
      <p:sp>
        <p:nvSpPr>
          <p:cNvPr id="401" name="Google Shape;401;g364c8792521_0_25"/>
          <p:cNvSpPr txBox="1"/>
          <p:nvPr/>
        </p:nvSpPr>
        <p:spPr>
          <a:xfrm>
            <a:off x="3734250" y="1549875"/>
            <a:ext cx="1689600" cy="677100"/>
          </a:xfrm>
          <a:prstGeom prst="rect">
            <a:avLst/>
          </a:prstGeom>
          <a:solidFill>
            <a:srgbClr val="FFE599"/>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rPr b="0" i="1" lang="en-US" sz="3200" u="none" cap="none" strike="noStrike">
                <a:solidFill>
                  <a:schemeClr val="dk1"/>
                </a:solidFill>
                <a:latin typeface="Caveat"/>
                <a:ea typeface="Caveat"/>
                <a:cs typeface="Caveat"/>
                <a:sym typeface="Caveat"/>
              </a:rPr>
              <a:t>Purpose</a:t>
            </a:r>
            <a:endParaRPr b="0" i="1" sz="3200" u="none" cap="none" strike="noStrike">
              <a:solidFill>
                <a:schemeClr val="dk1"/>
              </a:solidFill>
              <a:latin typeface="Caveat"/>
              <a:ea typeface="Caveat"/>
              <a:cs typeface="Caveat"/>
              <a:sym typeface="Caveat"/>
            </a:endParaRPr>
          </a:p>
        </p:txBody>
      </p:sp>
      <p:cxnSp>
        <p:nvCxnSpPr>
          <p:cNvPr id="402" name="Google Shape;402;g364c8792521_0_25"/>
          <p:cNvCxnSpPr>
            <a:endCxn id="401" idx="3"/>
          </p:cNvCxnSpPr>
          <p:nvPr/>
        </p:nvCxnSpPr>
        <p:spPr>
          <a:xfrm rot="10800000">
            <a:off x="5423850" y="1888425"/>
            <a:ext cx="1519500" cy="724200"/>
          </a:xfrm>
          <a:prstGeom prst="curvedConnector3">
            <a:avLst>
              <a:gd fmla="val 7486" name="adj1"/>
            </a:avLst>
          </a:prstGeom>
          <a:noFill/>
          <a:ln cap="flat" cmpd="sng" w="19050">
            <a:solidFill>
              <a:schemeClr val="dk2"/>
            </a:solidFill>
            <a:prstDash val="solid"/>
            <a:round/>
            <a:headEnd len="sm" w="sm" type="none"/>
            <a:tailEnd len="med" w="med" type="stealth"/>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CFEFF"/>
        </a:solidFill>
      </p:bgPr>
    </p:bg>
    <p:spTree>
      <p:nvGrpSpPr>
        <p:cNvPr id="407" name="Shape 407"/>
        <p:cNvGrpSpPr/>
        <p:nvPr/>
      </p:nvGrpSpPr>
      <p:grpSpPr>
        <a:xfrm>
          <a:off x="0" y="0"/>
          <a:ext cx="0" cy="0"/>
          <a:chOff x="0" y="0"/>
          <a:chExt cx="0" cy="0"/>
        </a:xfrm>
      </p:grpSpPr>
      <p:sp>
        <p:nvSpPr>
          <p:cNvPr id="408" name="Google Shape;408;g364c8792521_0_35"/>
          <p:cNvSpPr txBox="1"/>
          <p:nvPr>
            <p:ph idx="1" type="body"/>
          </p:nvPr>
        </p:nvSpPr>
        <p:spPr>
          <a:xfrm>
            <a:off x="838200" y="567950"/>
            <a:ext cx="10515600" cy="5778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sz="2500">
                <a:latin typeface="Montserrat"/>
                <a:ea typeface="Montserrat"/>
                <a:cs typeface="Montserrat"/>
                <a:sym typeface="Montserrat"/>
              </a:rPr>
              <a:t>What is the purpose in below correspondence:</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387350" lvl="0" marL="457200" rtl="0" algn="l">
              <a:lnSpc>
                <a:spcPct val="90000"/>
              </a:lnSpc>
              <a:spcBef>
                <a:spcPts val="0"/>
              </a:spcBef>
              <a:spcAft>
                <a:spcPts val="0"/>
              </a:spcAft>
              <a:buSzPts val="2500"/>
              <a:buFont typeface="Montserrat"/>
              <a:buChar char="●"/>
            </a:pPr>
            <a:r>
              <a:rPr lang="en-US" sz="2500">
                <a:latin typeface="Montserrat"/>
                <a:ea typeface="Montserrat"/>
                <a:cs typeface="Montserrat"/>
                <a:sym typeface="Montserrat"/>
              </a:rPr>
              <a:t>This letter explains M-Global’s new policy for selecting rental cars on business trips.</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CFEFF"/>
        </a:solidFill>
      </p:bgPr>
    </p:bg>
    <p:spTree>
      <p:nvGrpSpPr>
        <p:cNvPr id="413" name="Shape 413"/>
        <p:cNvGrpSpPr/>
        <p:nvPr/>
      </p:nvGrpSpPr>
      <p:grpSpPr>
        <a:xfrm>
          <a:off x="0" y="0"/>
          <a:ext cx="0" cy="0"/>
          <a:chOff x="0" y="0"/>
          <a:chExt cx="0" cy="0"/>
        </a:xfrm>
      </p:grpSpPr>
      <p:sp>
        <p:nvSpPr>
          <p:cNvPr id="414" name="Google Shape;414;g364c8792521_0_104"/>
          <p:cNvSpPr txBox="1"/>
          <p:nvPr>
            <p:ph idx="1" type="body"/>
          </p:nvPr>
        </p:nvSpPr>
        <p:spPr>
          <a:xfrm>
            <a:off x="838200" y="567950"/>
            <a:ext cx="10515600" cy="5778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sz="2500">
                <a:latin typeface="Montserrat"/>
                <a:ea typeface="Montserrat"/>
                <a:cs typeface="Montserrat"/>
                <a:sym typeface="Montserrat"/>
              </a:rPr>
              <a:t>What is the purpose in below correspondence:</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387350" lvl="0" marL="457200" rtl="0" algn="l">
              <a:lnSpc>
                <a:spcPct val="90000"/>
              </a:lnSpc>
              <a:spcBef>
                <a:spcPts val="0"/>
              </a:spcBef>
              <a:spcAft>
                <a:spcPts val="0"/>
              </a:spcAft>
              <a:buSzPts val="2500"/>
              <a:buFont typeface="Montserrat"/>
              <a:buChar char="●"/>
            </a:pPr>
            <a:r>
              <a:rPr lang="en-US" sz="2500">
                <a:latin typeface="Montserrat"/>
                <a:ea typeface="Montserrat"/>
                <a:cs typeface="Montserrat"/>
                <a:sym typeface="Montserrat"/>
              </a:rPr>
              <a:t>This letter explains </a:t>
            </a:r>
            <a:r>
              <a:rPr lang="en-US" sz="2500">
                <a:highlight>
                  <a:srgbClr val="FFE599"/>
                </a:highlight>
                <a:latin typeface="Montserrat"/>
                <a:ea typeface="Montserrat"/>
                <a:cs typeface="Montserrat"/>
                <a:sym typeface="Montserrat"/>
              </a:rPr>
              <a:t>M-Global’s new policy for selecting rental cars on business trips</a:t>
            </a:r>
            <a:r>
              <a:rPr lang="en-US" sz="2500">
                <a:latin typeface="Montserrat"/>
                <a:ea typeface="Montserrat"/>
                <a:cs typeface="Montserrat"/>
                <a:sym typeface="Montserrat"/>
              </a:rPr>
              <a:t>.</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BE9"/>
        </a:solidFill>
      </p:bgPr>
    </p:bg>
    <p:spTree>
      <p:nvGrpSpPr>
        <p:cNvPr id="419" name="Shape 419"/>
        <p:cNvGrpSpPr/>
        <p:nvPr/>
      </p:nvGrpSpPr>
      <p:grpSpPr>
        <a:xfrm>
          <a:off x="0" y="0"/>
          <a:ext cx="0" cy="0"/>
          <a:chOff x="0" y="0"/>
          <a:chExt cx="0" cy="0"/>
        </a:xfrm>
      </p:grpSpPr>
      <p:sp>
        <p:nvSpPr>
          <p:cNvPr id="420" name="Google Shape;420;g364c8792521_0_45"/>
          <p:cNvSpPr txBox="1"/>
          <p:nvPr>
            <p:ph idx="1" type="body"/>
          </p:nvPr>
        </p:nvSpPr>
        <p:spPr>
          <a:xfrm>
            <a:off x="838200" y="567950"/>
            <a:ext cx="10515600" cy="5778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sz="2500">
                <a:latin typeface="Montserrat"/>
                <a:ea typeface="Montserrat"/>
                <a:cs typeface="Montserrat"/>
                <a:sym typeface="Montserrat"/>
              </a:rPr>
              <a:t>What is the purpose in below correspondence:</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387350" lvl="0" marL="457200" rtl="0" algn="l">
              <a:lnSpc>
                <a:spcPct val="90000"/>
              </a:lnSpc>
              <a:spcBef>
                <a:spcPts val="0"/>
              </a:spcBef>
              <a:spcAft>
                <a:spcPts val="0"/>
              </a:spcAft>
              <a:buSzPts val="2500"/>
              <a:buFont typeface="Montserrat"/>
              <a:buChar char="●"/>
            </a:pPr>
            <a:r>
              <a:rPr lang="en-US" sz="2500">
                <a:latin typeface="Montserrat"/>
                <a:ea typeface="Montserrat"/>
                <a:cs typeface="Montserrat"/>
                <a:sym typeface="Montserrat"/>
              </a:rPr>
              <a:t>I have attached the most recent draft of the proposal for the PI Corp. pipeline project.</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BE9"/>
        </a:solidFill>
      </p:bgPr>
    </p:bg>
    <p:spTree>
      <p:nvGrpSpPr>
        <p:cNvPr id="425" name="Shape 425"/>
        <p:cNvGrpSpPr/>
        <p:nvPr/>
      </p:nvGrpSpPr>
      <p:grpSpPr>
        <a:xfrm>
          <a:off x="0" y="0"/>
          <a:ext cx="0" cy="0"/>
          <a:chOff x="0" y="0"/>
          <a:chExt cx="0" cy="0"/>
        </a:xfrm>
      </p:grpSpPr>
      <p:sp>
        <p:nvSpPr>
          <p:cNvPr id="426" name="Google Shape;426;g364c8792521_0_98"/>
          <p:cNvSpPr txBox="1"/>
          <p:nvPr>
            <p:ph idx="1" type="body"/>
          </p:nvPr>
        </p:nvSpPr>
        <p:spPr>
          <a:xfrm>
            <a:off x="838200" y="567950"/>
            <a:ext cx="10515600" cy="5778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sz="2500">
                <a:latin typeface="Montserrat"/>
                <a:ea typeface="Montserrat"/>
                <a:cs typeface="Montserrat"/>
                <a:sym typeface="Montserrat"/>
              </a:rPr>
              <a:t>What is the purpose in below correspondence:</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387350" lvl="0" marL="457200" rtl="0" algn="l">
              <a:lnSpc>
                <a:spcPct val="90000"/>
              </a:lnSpc>
              <a:spcBef>
                <a:spcPts val="0"/>
              </a:spcBef>
              <a:spcAft>
                <a:spcPts val="0"/>
              </a:spcAft>
              <a:buSzPts val="2500"/>
              <a:buFont typeface="Montserrat"/>
              <a:buChar char="●"/>
            </a:pPr>
            <a:r>
              <a:rPr lang="en-US" sz="2500">
                <a:latin typeface="Montserrat"/>
                <a:ea typeface="Montserrat"/>
                <a:cs typeface="Montserrat"/>
                <a:sym typeface="Montserrat"/>
              </a:rPr>
              <a:t>I have attached the most recent draft of the proposal for the PI Corp. pipeline project.</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p:txBody>
      </p:sp>
      <p:sp>
        <p:nvSpPr>
          <p:cNvPr id="427" name="Google Shape;427;g364c8792521_0_98"/>
          <p:cNvSpPr txBox="1"/>
          <p:nvPr/>
        </p:nvSpPr>
        <p:spPr>
          <a:xfrm>
            <a:off x="4898575" y="1675450"/>
            <a:ext cx="3095400" cy="646500"/>
          </a:xfrm>
          <a:prstGeom prst="rect">
            <a:avLst/>
          </a:prstGeom>
          <a:solidFill>
            <a:srgbClr val="FFE599"/>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000"/>
              <a:buFont typeface="Arial"/>
              <a:buNone/>
            </a:pPr>
            <a:r>
              <a:rPr b="0" i="0" lang="en-US" sz="3000" u="none" cap="none" strike="noStrike">
                <a:solidFill>
                  <a:schemeClr val="dk1"/>
                </a:solidFill>
                <a:latin typeface="Caveat"/>
                <a:ea typeface="Caveat"/>
                <a:cs typeface="Caveat"/>
                <a:sym typeface="Caveat"/>
              </a:rPr>
              <a:t>Purpose: Implied?</a:t>
            </a:r>
            <a:endParaRPr b="0" i="0" sz="3000" u="none" cap="none" strike="noStrike">
              <a:solidFill>
                <a:schemeClr val="dk1"/>
              </a:solidFill>
              <a:latin typeface="Caveat"/>
              <a:ea typeface="Caveat"/>
              <a:cs typeface="Caveat"/>
              <a:sym typeface="Cavea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g364c8792521_0_138"/>
          <p:cNvSpPr txBox="1"/>
          <p:nvPr>
            <p:ph idx="1" type="body"/>
          </p:nvPr>
        </p:nvSpPr>
        <p:spPr>
          <a:xfrm>
            <a:off x="838200" y="567950"/>
            <a:ext cx="10515600" cy="5778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b="1" lang="en-US" sz="3000">
                <a:latin typeface="Montserrat"/>
                <a:ea typeface="Montserrat"/>
                <a:cs typeface="Montserrat"/>
                <a:sym typeface="Montserrat"/>
              </a:rPr>
              <a:t>Correspondence Guideline 1: Know Your </a:t>
            </a:r>
            <a:r>
              <a:rPr b="1" lang="en-US" sz="3000" u="sng">
                <a:highlight>
                  <a:srgbClr val="FFF2CC"/>
                </a:highlight>
                <a:latin typeface="Montserrat"/>
                <a:ea typeface="Montserrat"/>
                <a:cs typeface="Montserrat"/>
                <a:sym typeface="Montserrat"/>
              </a:rPr>
              <a:t>Purpose</a:t>
            </a:r>
            <a:endParaRPr b="1" sz="3000" u="sng">
              <a:highlight>
                <a:srgbClr val="FFF2CC"/>
              </a:highlight>
              <a:latin typeface="Montserrat"/>
              <a:ea typeface="Montserrat"/>
              <a:cs typeface="Montserrat"/>
              <a:sym typeface="Montserrat"/>
            </a:endParaRPr>
          </a:p>
          <a:p>
            <a:pPr indent="-349250" lvl="0" marL="457200" rtl="0" algn="l">
              <a:lnSpc>
                <a:spcPct val="90000"/>
              </a:lnSpc>
              <a:spcBef>
                <a:spcPts val="0"/>
              </a:spcBef>
              <a:spcAft>
                <a:spcPts val="0"/>
              </a:spcAft>
              <a:buSzPts val="1900"/>
              <a:buFont typeface="Montserrat"/>
              <a:buChar char="●"/>
            </a:pPr>
            <a:r>
              <a:rPr lang="en-US" sz="1900">
                <a:latin typeface="Montserrat"/>
                <a:ea typeface="Montserrat"/>
                <a:cs typeface="Montserrat"/>
                <a:sym typeface="Montserrat"/>
              </a:rPr>
              <a:t>Before beginning → write down your purpose in one clear sentence. </a:t>
            </a:r>
            <a:endParaRPr sz="19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1900">
              <a:latin typeface="Montserrat"/>
              <a:ea typeface="Montserrat"/>
              <a:cs typeface="Montserrat"/>
              <a:sym typeface="Montserrat"/>
            </a:endParaRPr>
          </a:p>
          <a:p>
            <a:pPr indent="0" lvl="0" marL="0" rtl="0" algn="l">
              <a:lnSpc>
                <a:spcPct val="90000"/>
              </a:lnSpc>
              <a:spcBef>
                <a:spcPts val="0"/>
              </a:spcBef>
              <a:spcAft>
                <a:spcPts val="0"/>
              </a:spcAft>
              <a:buSzPts val="1800"/>
              <a:buNone/>
            </a:pPr>
            <a:r>
              <a:rPr b="1" lang="en-US" sz="3000">
                <a:latin typeface="Montserrat"/>
                <a:ea typeface="Montserrat"/>
                <a:cs typeface="Montserrat"/>
                <a:sym typeface="Montserrat"/>
              </a:rPr>
              <a:t>Correspondence Guideline 2: Know Your </a:t>
            </a:r>
            <a:r>
              <a:rPr b="1" lang="en-US" sz="3000" u="sng">
                <a:highlight>
                  <a:srgbClr val="D0E0E3"/>
                </a:highlight>
                <a:latin typeface="Montserrat"/>
                <a:ea typeface="Montserrat"/>
                <a:cs typeface="Montserrat"/>
                <a:sym typeface="Montserrat"/>
              </a:rPr>
              <a:t>Reader</a:t>
            </a:r>
            <a:endParaRPr b="1" sz="3000" u="sng">
              <a:highlight>
                <a:srgbClr val="D0E0E3"/>
              </a:highlight>
              <a:latin typeface="Montserrat"/>
              <a:ea typeface="Montserrat"/>
              <a:cs typeface="Montserrat"/>
              <a:sym typeface="Montserrat"/>
            </a:endParaRPr>
          </a:p>
          <a:p>
            <a:pPr indent="-349250" lvl="0" marL="457200" rtl="0" algn="l">
              <a:lnSpc>
                <a:spcPct val="90000"/>
              </a:lnSpc>
              <a:spcBef>
                <a:spcPts val="0"/>
              </a:spcBef>
              <a:spcAft>
                <a:spcPts val="0"/>
              </a:spcAft>
              <a:buSzPts val="1900"/>
              <a:buFont typeface="Montserrat"/>
              <a:buChar char="●"/>
            </a:pPr>
            <a:r>
              <a:rPr lang="en-US" sz="1900" u="sng">
                <a:latin typeface="Montserrat"/>
                <a:ea typeface="Montserrat"/>
                <a:cs typeface="Montserrat"/>
                <a:sym typeface="Montserrat"/>
              </a:rPr>
              <a:t>Who</a:t>
            </a:r>
            <a:r>
              <a:rPr lang="en-US" sz="1900">
                <a:latin typeface="Montserrat"/>
                <a:ea typeface="Montserrat"/>
                <a:cs typeface="Montserrat"/>
                <a:sym typeface="Montserrat"/>
              </a:rPr>
              <a:t> are you trying to inform or influence? Affects the </a:t>
            </a:r>
            <a:r>
              <a:rPr lang="en-US" sz="1900" u="sng">
                <a:latin typeface="Montserrat"/>
                <a:ea typeface="Montserrat"/>
                <a:cs typeface="Montserrat"/>
                <a:sym typeface="Montserrat"/>
              </a:rPr>
              <a:t>vocabulary</a:t>
            </a:r>
            <a:r>
              <a:rPr lang="en-US" sz="1900">
                <a:latin typeface="Montserrat"/>
                <a:ea typeface="Montserrat"/>
                <a:cs typeface="Montserrat"/>
                <a:sym typeface="Montserrat"/>
              </a:rPr>
              <a:t> you choose, the </a:t>
            </a:r>
            <a:r>
              <a:rPr lang="en-US" sz="1900" u="sng">
                <a:latin typeface="Montserrat"/>
                <a:ea typeface="Montserrat"/>
                <a:cs typeface="Montserrat"/>
                <a:sym typeface="Montserrat"/>
              </a:rPr>
              <a:t>arguments</a:t>
            </a:r>
            <a:r>
              <a:rPr lang="en-US" sz="1900">
                <a:latin typeface="Montserrat"/>
                <a:ea typeface="Montserrat"/>
                <a:cs typeface="Montserrat"/>
                <a:sym typeface="Montserrat"/>
              </a:rPr>
              <a:t> you make, and the </a:t>
            </a:r>
            <a:r>
              <a:rPr lang="en-US" sz="1900" u="sng">
                <a:latin typeface="Montserrat"/>
                <a:ea typeface="Montserrat"/>
                <a:cs typeface="Montserrat"/>
                <a:sym typeface="Montserrat"/>
              </a:rPr>
              <a:t>tone</a:t>
            </a:r>
            <a:r>
              <a:rPr lang="en-US" sz="1900">
                <a:latin typeface="Montserrat"/>
                <a:ea typeface="Montserrat"/>
                <a:cs typeface="Montserrat"/>
                <a:sym typeface="Montserrat"/>
              </a:rPr>
              <a:t> you adopt.</a:t>
            </a:r>
            <a:endParaRPr sz="19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19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b="1" sz="3000">
              <a:latin typeface="Montserrat"/>
              <a:ea typeface="Montserrat"/>
              <a:cs typeface="Montserrat"/>
              <a:sym typeface="Montserra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3FF"/>
        </a:solidFill>
      </p:bgPr>
    </p:bg>
    <p:spTree>
      <p:nvGrpSpPr>
        <p:cNvPr id="438" name="Shape 438"/>
        <p:cNvGrpSpPr/>
        <p:nvPr/>
      </p:nvGrpSpPr>
      <p:grpSpPr>
        <a:xfrm>
          <a:off x="0" y="0"/>
          <a:ext cx="0" cy="0"/>
          <a:chOff x="0" y="0"/>
          <a:chExt cx="0" cy="0"/>
        </a:xfrm>
      </p:grpSpPr>
      <p:sp>
        <p:nvSpPr>
          <p:cNvPr id="439" name="Google Shape;439;g364c8792521_0_143"/>
          <p:cNvSpPr txBox="1"/>
          <p:nvPr>
            <p:ph idx="1" type="body"/>
          </p:nvPr>
        </p:nvSpPr>
        <p:spPr>
          <a:xfrm>
            <a:off x="838200" y="567950"/>
            <a:ext cx="10515600" cy="5778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sz="2500">
                <a:solidFill>
                  <a:srgbClr val="B7B7B7"/>
                </a:solidFill>
                <a:latin typeface="Montserrat"/>
                <a:ea typeface="Montserrat"/>
                <a:cs typeface="Montserrat"/>
                <a:sym typeface="Montserrat"/>
              </a:rPr>
              <a:t>What is the purpose in below correspondence:</a:t>
            </a:r>
            <a:endParaRPr sz="2500">
              <a:solidFill>
                <a:srgbClr val="B7B7B7"/>
              </a:solidFill>
              <a:latin typeface="Montserrat"/>
              <a:ea typeface="Montserrat"/>
              <a:cs typeface="Montserrat"/>
              <a:sym typeface="Montserrat"/>
            </a:endParaRPr>
          </a:p>
          <a:p>
            <a:pPr indent="0" lvl="0" marL="0" rtl="0" algn="l">
              <a:lnSpc>
                <a:spcPct val="90000"/>
              </a:lnSpc>
              <a:spcBef>
                <a:spcPts val="0"/>
              </a:spcBef>
              <a:spcAft>
                <a:spcPts val="0"/>
              </a:spcAft>
              <a:buSzPts val="1800"/>
              <a:buNone/>
            </a:pPr>
            <a:r>
              <a:rPr lang="en-US" sz="2500" u="sng">
                <a:latin typeface="Montserrat"/>
                <a:ea typeface="Montserrat"/>
                <a:cs typeface="Montserrat"/>
                <a:sym typeface="Montserrat"/>
              </a:rPr>
              <a:t>Who</a:t>
            </a:r>
            <a:r>
              <a:rPr lang="en-US" sz="2500">
                <a:latin typeface="Montserrat"/>
                <a:ea typeface="Montserrat"/>
                <a:cs typeface="Montserrat"/>
                <a:sym typeface="Montserrat"/>
              </a:rPr>
              <a:t> are you trying to inform or influence?</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387350" lvl="0" marL="457200" rtl="0" algn="l">
              <a:lnSpc>
                <a:spcPct val="90000"/>
              </a:lnSpc>
              <a:spcBef>
                <a:spcPts val="0"/>
              </a:spcBef>
              <a:spcAft>
                <a:spcPts val="0"/>
              </a:spcAft>
              <a:buSzPts val="2500"/>
              <a:buFont typeface="Montserrat"/>
              <a:buChar char="●"/>
            </a:pPr>
            <a:r>
              <a:rPr lang="en-US" sz="2500">
                <a:latin typeface="Montserrat"/>
                <a:ea typeface="Montserrat"/>
                <a:cs typeface="Montserrat"/>
                <a:sym typeface="Montserrat"/>
              </a:rPr>
              <a:t>“As you requested yesterday, I am sending samples of the new candy brands you are considering placing in M-Global’s office vending machines.”</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p:txBody>
      </p:sp>
      <p:sp>
        <p:nvSpPr>
          <p:cNvPr id="440" name="Google Shape;440;g364c8792521_0_143"/>
          <p:cNvSpPr txBox="1"/>
          <p:nvPr/>
        </p:nvSpPr>
        <p:spPr>
          <a:xfrm>
            <a:off x="6531425" y="4131850"/>
            <a:ext cx="2172300" cy="1662300"/>
          </a:xfrm>
          <a:prstGeom prst="rect">
            <a:avLst/>
          </a:prstGeom>
          <a:solidFill>
            <a:srgbClr val="CFE2F3"/>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veat"/>
                <a:ea typeface="Caveat"/>
                <a:cs typeface="Caveat"/>
                <a:sym typeface="Caveat"/>
              </a:rPr>
              <a:t>Tone? </a:t>
            </a:r>
            <a:endParaRPr b="0" i="0" sz="3200" u="none" cap="none" strike="noStrike">
              <a:solidFill>
                <a:schemeClr val="dk1"/>
              </a:solidFill>
              <a:latin typeface="Caveat"/>
              <a:ea typeface="Caveat"/>
              <a:cs typeface="Caveat"/>
              <a:sym typeface="Caveat"/>
            </a:endParaRPr>
          </a:p>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veat"/>
                <a:ea typeface="Caveat"/>
                <a:cs typeface="Caveat"/>
                <a:sym typeface="Caveat"/>
              </a:rPr>
              <a:t>Wording? </a:t>
            </a:r>
            <a:endParaRPr b="0" i="0" sz="3200" u="none" cap="none" strike="noStrike">
              <a:solidFill>
                <a:schemeClr val="dk1"/>
              </a:solidFill>
              <a:latin typeface="Caveat"/>
              <a:ea typeface="Caveat"/>
              <a:cs typeface="Caveat"/>
              <a:sym typeface="Caveat"/>
            </a:endParaRPr>
          </a:p>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veat"/>
                <a:ea typeface="Caveat"/>
                <a:cs typeface="Caveat"/>
                <a:sym typeface="Caveat"/>
              </a:rPr>
              <a:t>Audience? </a:t>
            </a:r>
            <a:endParaRPr b="0" i="0" sz="3200" u="none" cap="none" strike="noStrike">
              <a:solidFill>
                <a:schemeClr val="dk1"/>
              </a:solidFill>
              <a:latin typeface="Caveat"/>
              <a:ea typeface="Caveat"/>
              <a:cs typeface="Caveat"/>
              <a:sym typeface="Caveat"/>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3FF"/>
        </a:solidFill>
      </p:bgPr>
    </p:bg>
    <p:spTree>
      <p:nvGrpSpPr>
        <p:cNvPr id="445" name="Shape 445"/>
        <p:cNvGrpSpPr/>
        <p:nvPr/>
      </p:nvGrpSpPr>
      <p:grpSpPr>
        <a:xfrm>
          <a:off x="0" y="0"/>
          <a:ext cx="0" cy="0"/>
          <a:chOff x="0" y="0"/>
          <a:chExt cx="0" cy="0"/>
        </a:xfrm>
      </p:grpSpPr>
      <p:sp>
        <p:nvSpPr>
          <p:cNvPr id="446" name="Google Shape;446;g364c8792521_0_149"/>
          <p:cNvSpPr txBox="1"/>
          <p:nvPr>
            <p:ph idx="1" type="body"/>
          </p:nvPr>
        </p:nvSpPr>
        <p:spPr>
          <a:xfrm>
            <a:off x="838200" y="567950"/>
            <a:ext cx="10515600" cy="5778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sz="2500">
                <a:solidFill>
                  <a:srgbClr val="B7B7B7"/>
                </a:solidFill>
                <a:latin typeface="Montserrat"/>
                <a:ea typeface="Montserrat"/>
                <a:cs typeface="Montserrat"/>
                <a:sym typeface="Montserrat"/>
              </a:rPr>
              <a:t>What is the purpose in below correspondence:</a:t>
            </a:r>
            <a:endParaRPr sz="2500">
              <a:solidFill>
                <a:srgbClr val="B7B7B7"/>
              </a:solidFill>
              <a:latin typeface="Montserrat"/>
              <a:ea typeface="Montserrat"/>
              <a:cs typeface="Montserrat"/>
              <a:sym typeface="Montserrat"/>
            </a:endParaRPr>
          </a:p>
          <a:p>
            <a:pPr indent="0" lvl="0" marL="0" rtl="0" algn="l">
              <a:lnSpc>
                <a:spcPct val="90000"/>
              </a:lnSpc>
              <a:spcBef>
                <a:spcPts val="0"/>
              </a:spcBef>
              <a:spcAft>
                <a:spcPts val="0"/>
              </a:spcAft>
              <a:buSzPts val="1800"/>
              <a:buNone/>
            </a:pPr>
            <a:r>
              <a:rPr lang="en-US" sz="2500" u="sng">
                <a:latin typeface="Montserrat"/>
                <a:ea typeface="Montserrat"/>
                <a:cs typeface="Montserrat"/>
                <a:sym typeface="Montserrat"/>
              </a:rPr>
              <a:t>Who</a:t>
            </a:r>
            <a:r>
              <a:rPr lang="en-US" sz="2500">
                <a:latin typeface="Montserrat"/>
                <a:ea typeface="Montserrat"/>
                <a:cs typeface="Montserrat"/>
                <a:sym typeface="Montserrat"/>
              </a:rPr>
              <a:t> are you trying to inform or influence?</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387350" lvl="0" marL="457200" rtl="0" algn="l">
              <a:lnSpc>
                <a:spcPct val="90000"/>
              </a:lnSpc>
              <a:spcBef>
                <a:spcPts val="0"/>
              </a:spcBef>
              <a:spcAft>
                <a:spcPts val="0"/>
              </a:spcAft>
              <a:buSzPts val="2500"/>
              <a:buFont typeface="Montserrat"/>
              <a:buChar char="●"/>
            </a:pPr>
            <a:r>
              <a:rPr lang="en-US" sz="2500">
                <a:latin typeface="Montserrat"/>
                <a:ea typeface="Montserrat"/>
                <a:cs typeface="Montserrat"/>
                <a:sym typeface="Montserrat"/>
              </a:rPr>
              <a:t>“As you requested yesterday, I am sending samples of the new candy brands you are considering placing in M-Global’s office vending machines.”</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p:txBody>
      </p:sp>
      <p:sp>
        <p:nvSpPr>
          <p:cNvPr id="447" name="Google Shape;447;g364c8792521_0_149"/>
          <p:cNvSpPr txBox="1"/>
          <p:nvPr/>
        </p:nvSpPr>
        <p:spPr>
          <a:xfrm>
            <a:off x="6531425" y="4131850"/>
            <a:ext cx="5660700" cy="1662300"/>
          </a:xfrm>
          <a:prstGeom prst="rect">
            <a:avLst/>
          </a:prstGeom>
          <a:solidFill>
            <a:srgbClr val="CFE2F3"/>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veat"/>
                <a:ea typeface="Caveat"/>
                <a:cs typeface="Caveat"/>
                <a:sym typeface="Caveat"/>
              </a:rPr>
              <a:t>Tone?  Respectful, Formal</a:t>
            </a:r>
            <a:endParaRPr b="0" i="0" sz="3200" u="none" cap="none" strike="noStrike">
              <a:solidFill>
                <a:schemeClr val="dk1"/>
              </a:solidFill>
              <a:latin typeface="Caveat"/>
              <a:ea typeface="Caveat"/>
              <a:cs typeface="Caveat"/>
              <a:sym typeface="Caveat"/>
            </a:endParaRPr>
          </a:p>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veat"/>
                <a:ea typeface="Caveat"/>
                <a:cs typeface="Caveat"/>
                <a:sym typeface="Caveat"/>
              </a:rPr>
              <a:t>Wording? Formal, Proper</a:t>
            </a:r>
            <a:endParaRPr b="0" i="0" sz="3200" u="none" cap="none" strike="noStrike">
              <a:solidFill>
                <a:schemeClr val="dk1"/>
              </a:solidFill>
              <a:latin typeface="Caveat"/>
              <a:ea typeface="Caveat"/>
              <a:cs typeface="Caveat"/>
              <a:sym typeface="Caveat"/>
            </a:endParaRPr>
          </a:p>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veat"/>
                <a:ea typeface="Caveat"/>
                <a:cs typeface="Caveat"/>
                <a:sym typeface="Caveat"/>
              </a:rPr>
              <a:t>Audience? Senior</a:t>
            </a:r>
            <a:endParaRPr b="0" i="0" sz="3200" u="none" cap="none" strike="noStrike">
              <a:solidFill>
                <a:schemeClr val="dk1"/>
              </a:solidFill>
              <a:latin typeface="Caveat"/>
              <a:ea typeface="Caveat"/>
              <a:cs typeface="Caveat"/>
              <a:sym typeface="Caveat"/>
            </a:endParaRPr>
          </a:p>
        </p:txBody>
      </p:sp>
      <p:sp>
        <p:nvSpPr>
          <p:cNvPr id="448" name="Google Shape;448;g364c8792521_0_149"/>
          <p:cNvSpPr txBox="1"/>
          <p:nvPr/>
        </p:nvSpPr>
        <p:spPr>
          <a:xfrm>
            <a:off x="1987825" y="1803250"/>
            <a:ext cx="3464400" cy="615600"/>
          </a:xfrm>
          <a:prstGeom prst="rect">
            <a:avLst/>
          </a:prstGeom>
          <a:solidFill>
            <a:srgbClr val="CFE2F3"/>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veat Medium"/>
                <a:ea typeface="Caveat Medium"/>
                <a:cs typeface="Caveat Medium"/>
                <a:sym typeface="Caveat Medium"/>
              </a:rPr>
              <a:t>Professor / Manager</a:t>
            </a:r>
            <a:endParaRPr b="0" i="0" sz="2800" u="none" cap="none" strike="noStrike">
              <a:solidFill>
                <a:schemeClr val="dk1"/>
              </a:solidFill>
              <a:latin typeface="Caveat Medium"/>
              <a:ea typeface="Caveat Medium"/>
              <a:cs typeface="Caveat Medium"/>
              <a:sym typeface="Caveat Medium"/>
            </a:endParaRPr>
          </a:p>
        </p:txBody>
      </p:sp>
      <p:cxnSp>
        <p:nvCxnSpPr>
          <p:cNvPr id="449" name="Google Shape;449;g364c8792521_0_149"/>
          <p:cNvCxnSpPr>
            <a:endCxn id="448" idx="1"/>
          </p:cNvCxnSpPr>
          <p:nvPr/>
        </p:nvCxnSpPr>
        <p:spPr>
          <a:xfrm flipH="1" rot="-5400000">
            <a:off x="1237525" y="1360750"/>
            <a:ext cx="819000" cy="681600"/>
          </a:xfrm>
          <a:prstGeom prst="curvedConnector2">
            <a:avLst/>
          </a:prstGeom>
          <a:noFill/>
          <a:ln cap="flat" cmpd="sng" w="9525">
            <a:solidFill>
              <a:schemeClr val="dk2"/>
            </a:solidFill>
            <a:prstDash val="solid"/>
            <a:round/>
            <a:headEnd len="sm" w="sm" type="none"/>
            <a:tailEnd len="med" w="med" type="triangle"/>
          </a:ln>
        </p:spPr>
      </p:cxn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CFEFF"/>
        </a:solidFill>
      </p:bgPr>
    </p:bg>
    <p:spTree>
      <p:nvGrpSpPr>
        <p:cNvPr id="454" name="Shape 454"/>
        <p:cNvGrpSpPr/>
        <p:nvPr/>
      </p:nvGrpSpPr>
      <p:grpSpPr>
        <a:xfrm>
          <a:off x="0" y="0"/>
          <a:ext cx="0" cy="0"/>
          <a:chOff x="0" y="0"/>
          <a:chExt cx="0" cy="0"/>
        </a:xfrm>
      </p:grpSpPr>
      <p:sp>
        <p:nvSpPr>
          <p:cNvPr id="455" name="Google Shape;455;g364c8792521_0_157"/>
          <p:cNvSpPr txBox="1"/>
          <p:nvPr>
            <p:ph idx="1" type="body"/>
          </p:nvPr>
        </p:nvSpPr>
        <p:spPr>
          <a:xfrm>
            <a:off x="838200" y="567950"/>
            <a:ext cx="10515600" cy="5778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sz="2500">
                <a:solidFill>
                  <a:srgbClr val="999999"/>
                </a:solidFill>
                <a:latin typeface="Montserrat"/>
                <a:ea typeface="Montserrat"/>
                <a:cs typeface="Montserrat"/>
                <a:sym typeface="Montserrat"/>
              </a:rPr>
              <a:t>What is the purpose in below correspondence:</a:t>
            </a:r>
            <a:endParaRPr sz="2500">
              <a:solidFill>
                <a:srgbClr val="999999"/>
              </a:solidFill>
              <a:latin typeface="Montserrat"/>
              <a:ea typeface="Montserrat"/>
              <a:cs typeface="Montserrat"/>
              <a:sym typeface="Montserrat"/>
            </a:endParaRPr>
          </a:p>
          <a:p>
            <a:pPr indent="0" lvl="0" marL="0" rtl="0" algn="l">
              <a:lnSpc>
                <a:spcPct val="90000"/>
              </a:lnSpc>
              <a:spcBef>
                <a:spcPts val="0"/>
              </a:spcBef>
              <a:spcAft>
                <a:spcPts val="0"/>
              </a:spcAft>
              <a:buSzPts val="1800"/>
              <a:buNone/>
            </a:pPr>
            <a:r>
              <a:rPr lang="en-US" sz="2500" u="sng">
                <a:latin typeface="Montserrat"/>
                <a:ea typeface="Montserrat"/>
                <a:cs typeface="Montserrat"/>
                <a:sym typeface="Montserrat"/>
              </a:rPr>
              <a:t>Who</a:t>
            </a:r>
            <a:r>
              <a:rPr lang="en-US" sz="2500">
                <a:latin typeface="Montserrat"/>
                <a:ea typeface="Montserrat"/>
                <a:cs typeface="Montserrat"/>
                <a:sym typeface="Montserrat"/>
              </a:rPr>
              <a:t> are you trying to inform or influence?</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387350" lvl="0" marL="457200" rtl="0" algn="l">
              <a:lnSpc>
                <a:spcPct val="90000"/>
              </a:lnSpc>
              <a:spcBef>
                <a:spcPts val="0"/>
              </a:spcBef>
              <a:spcAft>
                <a:spcPts val="0"/>
              </a:spcAft>
              <a:buSzPts val="2500"/>
              <a:buFont typeface="Montserrat"/>
              <a:buChar char="●"/>
            </a:pPr>
            <a:r>
              <a:rPr lang="en-US" sz="2500">
                <a:latin typeface="Montserrat"/>
                <a:ea typeface="Montserrat"/>
                <a:cs typeface="Montserrat"/>
                <a:sym typeface="Montserrat"/>
              </a:rPr>
              <a:t>This letter explains M-Global’s new policy for selecting rental cars on business trips.</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p:txBody>
      </p:sp>
      <p:sp>
        <p:nvSpPr>
          <p:cNvPr id="456" name="Google Shape;456;g364c8792521_0_157"/>
          <p:cNvSpPr txBox="1"/>
          <p:nvPr/>
        </p:nvSpPr>
        <p:spPr>
          <a:xfrm>
            <a:off x="6531425" y="4131850"/>
            <a:ext cx="2172300" cy="1662300"/>
          </a:xfrm>
          <a:prstGeom prst="rect">
            <a:avLst/>
          </a:prstGeom>
          <a:solidFill>
            <a:srgbClr val="CFE2F3"/>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veat"/>
                <a:ea typeface="Caveat"/>
                <a:cs typeface="Caveat"/>
                <a:sym typeface="Caveat"/>
              </a:rPr>
              <a:t>Tone? </a:t>
            </a:r>
            <a:endParaRPr b="0" i="0" sz="3200" u="none" cap="none" strike="noStrike">
              <a:solidFill>
                <a:schemeClr val="dk1"/>
              </a:solidFill>
              <a:latin typeface="Caveat"/>
              <a:ea typeface="Caveat"/>
              <a:cs typeface="Caveat"/>
              <a:sym typeface="Caveat"/>
            </a:endParaRPr>
          </a:p>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veat"/>
                <a:ea typeface="Caveat"/>
                <a:cs typeface="Caveat"/>
                <a:sym typeface="Caveat"/>
              </a:rPr>
              <a:t>Wording? </a:t>
            </a:r>
            <a:endParaRPr b="0" i="0" sz="3200" u="none" cap="none" strike="noStrike">
              <a:solidFill>
                <a:schemeClr val="dk1"/>
              </a:solidFill>
              <a:latin typeface="Caveat"/>
              <a:ea typeface="Caveat"/>
              <a:cs typeface="Caveat"/>
              <a:sym typeface="Caveat"/>
            </a:endParaRPr>
          </a:p>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veat"/>
                <a:ea typeface="Caveat"/>
                <a:cs typeface="Caveat"/>
                <a:sym typeface="Caveat"/>
              </a:rPr>
              <a:t>Audience? </a:t>
            </a:r>
            <a:endParaRPr b="0" i="0" sz="3200" u="none" cap="none" strike="noStrike">
              <a:solidFill>
                <a:schemeClr val="dk1"/>
              </a:solidFill>
              <a:latin typeface="Caveat"/>
              <a:ea typeface="Caveat"/>
              <a:cs typeface="Caveat"/>
              <a:sym typeface="Cavea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CFEFF"/>
        </a:solidFill>
      </p:bgPr>
    </p:bg>
    <p:spTree>
      <p:nvGrpSpPr>
        <p:cNvPr id="461" name="Shape 461"/>
        <p:cNvGrpSpPr/>
        <p:nvPr/>
      </p:nvGrpSpPr>
      <p:grpSpPr>
        <a:xfrm>
          <a:off x="0" y="0"/>
          <a:ext cx="0" cy="0"/>
          <a:chOff x="0" y="0"/>
          <a:chExt cx="0" cy="0"/>
        </a:xfrm>
      </p:grpSpPr>
      <p:sp>
        <p:nvSpPr>
          <p:cNvPr id="462" name="Google Shape;462;g364c8792521_0_163"/>
          <p:cNvSpPr txBox="1"/>
          <p:nvPr>
            <p:ph idx="1" type="body"/>
          </p:nvPr>
        </p:nvSpPr>
        <p:spPr>
          <a:xfrm>
            <a:off x="838200" y="567950"/>
            <a:ext cx="10515600" cy="5778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sz="2500">
                <a:solidFill>
                  <a:srgbClr val="999999"/>
                </a:solidFill>
                <a:latin typeface="Montserrat"/>
                <a:ea typeface="Montserrat"/>
                <a:cs typeface="Montserrat"/>
                <a:sym typeface="Montserrat"/>
              </a:rPr>
              <a:t>What is the purpose in below correspondence:</a:t>
            </a:r>
            <a:endParaRPr sz="2500">
              <a:solidFill>
                <a:srgbClr val="999999"/>
              </a:solidFill>
              <a:latin typeface="Montserrat"/>
              <a:ea typeface="Montserrat"/>
              <a:cs typeface="Montserrat"/>
              <a:sym typeface="Montserrat"/>
            </a:endParaRPr>
          </a:p>
          <a:p>
            <a:pPr indent="0" lvl="0" marL="0" rtl="0" algn="l">
              <a:lnSpc>
                <a:spcPct val="90000"/>
              </a:lnSpc>
              <a:spcBef>
                <a:spcPts val="0"/>
              </a:spcBef>
              <a:spcAft>
                <a:spcPts val="0"/>
              </a:spcAft>
              <a:buSzPts val="1800"/>
              <a:buNone/>
            </a:pPr>
            <a:r>
              <a:rPr lang="en-US" sz="2500" u="sng">
                <a:latin typeface="Montserrat"/>
                <a:ea typeface="Montserrat"/>
                <a:cs typeface="Montserrat"/>
                <a:sym typeface="Montserrat"/>
              </a:rPr>
              <a:t>Who</a:t>
            </a:r>
            <a:r>
              <a:rPr lang="en-US" sz="2500">
                <a:latin typeface="Montserrat"/>
                <a:ea typeface="Montserrat"/>
                <a:cs typeface="Montserrat"/>
                <a:sym typeface="Montserrat"/>
              </a:rPr>
              <a:t> are you trying to inform or influence?</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387350" lvl="0" marL="457200" rtl="0" algn="l">
              <a:lnSpc>
                <a:spcPct val="90000"/>
              </a:lnSpc>
              <a:spcBef>
                <a:spcPts val="0"/>
              </a:spcBef>
              <a:spcAft>
                <a:spcPts val="0"/>
              </a:spcAft>
              <a:buSzPts val="2500"/>
              <a:buFont typeface="Montserrat"/>
              <a:buChar char="●"/>
            </a:pPr>
            <a:r>
              <a:rPr lang="en-US" sz="2500">
                <a:latin typeface="Montserrat"/>
                <a:ea typeface="Montserrat"/>
                <a:cs typeface="Montserrat"/>
                <a:sym typeface="Montserrat"/>
              </a:rPr>
              <a:t>This letter explains M-Global’s new policy for selecting rental cars on business trips.</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p:txBody>
      </p:sp>
      <p:sp>
        <p:nvSpPr>
          <p:cNvPr id="463" name="Google Shape;463;g364c8792521_0_163"/>
          <p:cNvSpPr txBox="1"/>
          <p:nvPr/>
        </p:nvSpPr>
        <p:spPr>
          <a:xfrm>
            <a:off x="6531425" y="4131850"/>
            <a:ext cx="5111700" cy="1662300"/>
          </a:xfrm>
          <a:prstGeom prst="rect">
            <a:avLst/>
          </a:prstGeom>
          <a:solidFill>
            <a:srgbClr val="CFE2F3"/>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veat"/>
                <a:ea typeface="Caveat"/>
                <a:cs typeface="Caveat"/>
                <a:sym typeface="Caveat"/>
              </a:rPr>
              <a:t>Tone? Informative, Professional</a:t>
            </a:r>
            <a:endParaRPr b="0" i="0" sz="3200" u="none" cap="none" strike="noStrike">
              <a:solidFill>
                <a:schemeClr val="dk1"/>
              </a:solidFill>
              <a:latin typeface="Caveat"/>
              <a:ea typeface="Caveat"/>
              <a:cs typeface="Caveat"/>
              <a:sym typeface="Caveat"/>
            </a:endParaRPr>
          </a:p>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veat"/>
                <a:ea typeface="Caveat"/>
                <a:cs typeface="Caveat"/>
                <a:sym typeface="Caveat"/>
              </a:rPr>
              <a:t>Wording? Proper, Formal</a:t>
            </a:r>
            <a:endParaRPr b="0" i="0" sz="3200" u="none" cap="none" strike="noStrike">
              <a:solidFill>
                <a:schemeClr val="dk1"/>
              </a:solidFill>
              <a:latin typeface="Caveat"/>
              <a:ea typeface="Caveat"/>
              <a:cs typeface="Caveat"/>
              <a:sym typeface="Caveat"/>
            </a:endParaRPr>
          </a:p>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veat"/>
                <a:ea typeface="Caveat"/>
                <a:cs typeface="Caveat"/>
                <a:sym typeface="Caveat"/>
              </a:rPr>
              <a:t>Audience? Known, Group </a:t>
            </a:r>
            <a:endParaRPr b="0" i="0" sz="3200" u="none" cap="none" strike="noStrike">
              <a:solidFill>
                <a:schemeClr val="dk1"/>
              </a:solidFill>
              <a:latin typeface="Caveat"/>
              <a:ea typeface="Caveat"/>
              <a:cs typeface="Caveat"/>
              <a:sym typeface="Caveat"/>
            </a:endParaRPr>
          </a:p>
        </p:txBody>
      </p:sp>
      <p:sp>
        <p:nvSpPr>
          <p:cNvPr id="464" name="Google Shape;464;g364c8792521_0_163"/>
          <p:cNvSpPr txBox="1"/>
          <p:nvPr/>
        </p:nvSpPr>
        <p:spPr>
          <a:xfrm>
            <a:off x="1987825" y="1954850"/>
            <a:ext cx="3464400" cy="615600"/>
          </a:xfrm>
          <a:prstGeom prst="rect">
            <a:avLst/>
          </a:prstGeom>
          <a:solidFill>
            <a:srgbClr val="CFE2F3"/>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veat Medium"/>
                <a:ea typeface="Caveat Medium"/>
                <a:cs typeface="Caveat Medium"/>
                <a:sym typeface="Caveat Medium"/>
              </a:rPr>
              <a:t>Internal company staff</a:t>
            </a:r>
            <a:endParaRPr b="0" i="0" sz="2800" u="none" cap="none" strike="noStrike">
              <a:solidFill>
                <a:schemeClr val="dk1"/>
              </a:solidFill>
              <a:latin typeface="Caveat Medium"/>
              <a:ea typeface="Caveat Medium"/>
              <a:cs typeface="Caveat Medium"/>
              <a:sym typeface="Caveat Medium"/>
            </a:endParaRPr>
          </a:p>
        </p:txBody>
      </p:sp>
      <p:cxnSp>
        <p:nvCxnSpPr>
          <p:cNvPr id="465" name="Google Shape;465;g364c8792521_0_163"/>
          <p:cNvCxnSpPr>
            <a:endCxn id="464" idx="1"/>
          </p:cNvCxnSpPr>
          <p:nvPr/>
        </p:nvCxnSpPr>
        <p:spPr>
          <a:xfrm flipH="1" rot="-5400000">
            <a:off x="1152325" y="1427150"/>
            <a:ext cx="989400" cy="681600"/>
          </a:xfrm>
          <a:prstGeom prst="curvedConnector2">
            <a:avLst/>
          </a:prstGeom>
          <a:noFill/>
          <a:ln cap="flat" cmpd="sng" w="9525">
            <a:solidFill>
              <a:schemeClr val="dk2"/>
            </a:solidFill>
            <a:prstDash val="solid"/>
            <a:round/>
            <a:headEnd len="sm" w="sm" type="none"/>
            <a:tailEnd len="med" w="med" type="triangle"/>
          </a:ln>
        </p:spPr>
      </p:cxn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BE9"/>
        </a:solidFill>
      </p:bgPr>
    </p:bg>
    <p:spTree>
      <p:nvGrpSpPr>
        <p:cNvPr id="470" name="Shape 470"/>
        <p:cNvGrpSpPr/>
        <p:nvPr/>
      </p:nvGrpSpPr>
      <p:grpSpPr>
        <a:xfrm>
          <a:off x="0" y="0"/>
          <a:ext cx="0" cy="0"/>
          <a:chOff x="0" y="0"/>
          <a:chExt cx="0" cy="0"/>
        </a:xfrm>
      </p:grpSpPr>
      <p:sp>
        <p:nvSpPr>
          <p:cNvPr id="471" name="Google Shape;471;g364c8792521_0_171"/>
          <p:cNvSpPr txBox="1"/>
          <p:nvPr>
            <p:ph idx="1" type="body"/>
          </p:nvPr>
        </p:nvSpPr>
        <p:spPr>
          <a:xfrm>
            <a:off x="838200" y="567950"/>
            <a:ext cx="10515600" cy="5778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sz="2500">
                <a:solidFill>
                  <a:srgbClr val="999999"/>
                </a:solidFill>
                <a:latin typeface="Montserrat"/>
                <a:ea typeface="Montserrat"/>
                <a:cs typeface="Montserrat"/>
                <a:sym typeface="Montserrat"/>
              </a:rPr>
              <a:t>What is the purpose in below correspondence:</a:t>
            </a:r>
            <a:endParaRPr sz="2500">
              <a:solidFill>
                <a:srgbClr val="999999"/>
              </a:solidFill>
              <a:latin typeface="Montserrat"/>
              <a:ea typeface="Montserrat"/>
              <a:cs typeface="Montserrat"/>
              <a:sym typeface="Montserrat"/>
            </a:endParaRPr>
          </a:p>
          <a:p>
            <a:pPr indent="0" lvl="0" marL="0" rtl="0" algn="l">
              <a:lnSpc>
                <a:spcPct val="90000"/>
              </a:lnSpc>
              <a:spcBef>
                <a:spcPts val="0"/>
              </a:spcBef>
              <a:spcAft>
                <a:spcPts val="0"/>
              </a:spcAft>
              <a:buSzPts val="1800"/>
              <a:buNone/>
            </a:pPr>
            <a:r>
              <a:rPr lang="en-US" sz="2500">
                <a:latin typeface="Montserrat"/>
                <a:ea typeface="Montserrat"/>
                <a:cs typeface="Montserrat"/>
                <a:sym typeface="Montserrat"/>
              </a:rPr>
              <a:t>Who are you trying to inform or influence?</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387350" lvl="0" marL="457200" rtl="0" algn="l">
              <a:lnSpc>
                <a:spcPct val="90000"/>
              </a:lnSpc>
              <a:spcBef>
                <a:spcPts val="0"/>
              </a:spcBef>
              <a:spcAft>
                <a:spcPts val="0"/>
              </a:spcAft>
              <a:buSzPts val="2500"/>
              <a:buFont typeface="Montserrat"/>
              <a:buChar char="●"/>
            </a:pPr>
            <a:r>
              <a:rPr lang="en-US" sz="2500">
                <a:latin typeface="Montserrat"/>
                <a:ea typeface="Montserrat"/>
                <a:cs typeface="Montserrat"/>
                <a:sym typeface="Montserrat"/>
              </a:rPr>
              <a:t>I have attached the most recent draft of the proposal for the PI Corp. pipeline project.</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p:txBody>
      </p:sp>
      <p:sp>
        <p:nvSpPr>
          <p:cNvPr id="472" name="Google Shape;472;g364c8792521_0_171"/>
          <p:cNvSpPr txBox="1"/>
          <p:nvPr/>
        </p:nvSpPr>
        <p:spPr>
          <a:xfrm>
            <a:off x="6531425" y="4131850"/>
            <a:ext cx="2172300" cy="1662300"/>
          </a:xfrm>
          <a:prstGeom prst="rect">
            <a:avLst/>
          </a:prstGeom>
          <a:solidFill>
            <a:srgbClr val="CFE2F3"/>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veat"/>
                <a:ea typeface="Caveat"/>
                <a:cs typeface="Caveat"/>
                <a:sym typeface="Caveat"/>
              </a:rPr>
              <a:t>Tone? </a:t>
            </a:r>
            <a:endParaRPr b="0" i="0" sz="3200" u="none" cap="none" strike="noStrike">
              <a:solidFill>
                <a:schemeClr val="dk1"/>
              </a:solidFill>
              <a:latin typeface="Caveat"/>
              <a:ea typeface="Caveat"/>
              <a:cs typeface="Caveat"/>
              <a:sym typeface="Caveat"/>
            </a:endParaRPr>
          </a:p>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veat"/>
                <a:ea typeface="Caveat"/>
                <a:cs typeface="Caveat"/>
                <a:sym typeface="Caveat"/>
              </a:rPr>
              <a:t>Wording? </a:t>
            </a:r>
            <a:endParaRPr b="0" i="0" sz="3200" u="none" cap="none" strike="noStrike">
              <a:solidFill>
                <a:schemeClr val="dk1"/>
              </a:solidFill>
              <a:latin typeface="Caveat"/>
              <a:ea typeface="Caveat"/>
              <a:cs typeface="Caveat"/>
              <a:sym typeface="Caveat"/>
            </a:endParaRPr>
          </a:p>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veat"/>
                <a:ea typeface="Caveat"/>
                <a:cs typeface="Caveat"/>
                <a:sym typeface="Caveat"/>
              </a:rPr>
              <a:t>Audience? </a:t>
            </a:r>
            <a:endParaRPr b="0" i="0" sz="3200" u="none" cap="none" strike="noStrike">
              <a:solidFill>
                <a:schemeClr val="dk1"/>
              </a:solidFill>
              <a:latin typeface="Caveat"/>
              <a:ea typeface="Caveat"/>
              <a:cs typeface="Caveat"/>
              <a:sym typeface="Caveat"/>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BE9"/>
        </a:solidFill>
      </p:bgPr>
    </p:bg>
    <p:spTree>
      <p:nvGrpSpPr>
        <p:cNvPr id="477" name="Shape 477"/>
        <p:cNvGrpSpPr/>
        <p:nvPr/>
      </p:nvGrpSpPr>
      <p:grpSpPr>
        <a:xfrm>
          <a:off x="0" y="0"/>
          <a:ext cx="0" cy="0"/>
          <a:chOff x="0" y="0"/>
          <a:chExt cx="0" cy="0"/>
        </a:xfrm>
      </p:grpSpPr>
      <p:sp>
        <p:nvSpPr>
          <p:cNvPr id="478" name="Google Shape;478;g364c8792521_0_177"/>
          <p:cNvSpPr txBox="1"/>
          <p:nvPr>
            <p:ph idx="1" type="body"/>
          </p:nvPr>
        </p:nvSpPr>
        <p:spPr>
          <a:xfrm>
            <a:off x="838200" y="567950"/>
            <a:ext cx="10515600" cy="5778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lang="en-US" sz="2500">
                <a:solidFill>
                  <a:srgbClr val="999999"/>
                </a:solidFill>
                <a:latin typeface="Montserrat"/>
                <a:ea typeface="Montserrat"/>
                <a:cs typeface="Montserrat"/>
                <a:sym typeface="Montserrat"/>
              </a:rPr>
              <a:t>What is the purpose in below correspondence:</a:t>
            </a:r>
            <a:endParaRPr sz="2500">
              <a:solidFill>
                <a:srgbClr val="999999"/>
              </a:solidFill>
              <a:latin typeface="Montserrat"/>
              <a:ea typeface="Montserrat"/>
              <a:cs typeface="Montserrat"/>
              <a:sym typeface="Montserrat"/>
            </a:endParaRPr>
          </a:p>
          <a:p>
            <a:pPr indent="0" lvl="0" marL="0" rtl="0" algn="l">
              <a:lnSpc>
                <a:spcPct val="90000"/>
              </a:lnSpc>
              <a:spcBef>
                <a:spcPts val="0"/>
              </a:spcBef>
              <a:spcAft>
                <a:spcPts val="0"/>
              </a:spcAft>
              <a:buSzPts val="1800"/>
              <a:buNone/>
            </a:pPr>
            <a:r>
              <a:rPr lang="en-US" sz="2500">
                <a:latin typeface="Montserrat"/>
                <a:ea typeface="Montserrat"/>
                <a:cs typeface="Montserrat"/>
                <a:sym typeface="Montserrat"/>
              </a:rPr>
              <a:t>Who are you trying to inform or influence?</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387350" lvl="0" marL="457200" rtl="0" algn="l">
              <a:lnSpc>
                <a:spcPct val="90000"/>
              </a:lnSpc>
              <a:spcBef>
                <a:spcPts val="0"/>
              </a:spcBef>
              <a:spcAft>
                <a:spcPts val="0"/>
              </a:spcAft>
              <a:buSzPts val="2500"/>
              <a:buFont typeface="Montserrat"/>
              <a:buChar char="●"/>
            </a:pPr>
            <a:r>
              <a:rPr lang="en-US" sz="2500">
                <a:latin typeface="Montserrat"/>
                <a:ea typeface="Montserrat"/>
                <a:cs typeface="Montserrat"/>
                <a:sym typeface="Montserrat"/>
              </a:rPr>
              <a:t>I have attached the most recent draft of the proposal for the PI Corp. pipeline project.</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2500">
              <a:latin typeface="Montserrat"/>
              <a:ea typeface="Montserrat"/>
              <a:cs typeface="Montserrat"/>
              <a:sym typeface="Montserrat"/>
            </a:endParaRPr>
          </a:p>
        </p:txBody>
      </p:sp>
      <p:sp>
        <p:nvSpPr>
          <p:cNvPr id="479" name="Google Shape;479;g364c8792521_0_177"/>
          <p:cNvSpPr txBox="1"/>
          <p:nvPr/>
        </p:nvSpPr>
        <p:spPr>
          <a:xfrm>
            <a:off x="6531425" y="4131850"/>
            <a:ext cx="4671300" cy="1662300"/>
          </a:xfrm>
          <a:prstGeom prst="rect">
            <a:avLst/>
          </a:prstGeom>
          <a:solidFill>
            <a:srgbClr val="CFE2F3"/>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veat"/>
                <a:ea typeface="Caveat"/>
                <a:cs typeface="Caveat"/>
                <a:sym typeface="Caveat"/>
              </a:rPr>
              <a:t>Tone? Conversational</a:t>
            </a:r>
            <a:endParaRPr b="0" i="0" sz="3200" u="none" cap="none" strike="noStrike">
              <a:solidFill>
                <a:schemeClr val="dk1"/>
              </a:solidFill>
              <a:latin typeface="Caveat"/>
              <a:ea typeface="Caveat"/>
              <a:cs typeface="Caveat"/>
              <a:sym typeface="Caveat"/>
            </a:endParaRPr>
          </a:p>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veat"/>
                <a:ea typeface="Caveat"/>
                <a:cs typeface="Caveat"/>
                <a:sym typeface="Caveat"/>
              </a:rPr>
              <a:t>Wording? Less formal </a:t>
            </a:r>
            <a:endParaRPr b="0" i="0" sz="3200" u="none" cap="none" strike="noStrike">
              <a:solidFill>
                <a:schemeClr val="dk1"/>
              </a:solidFill>
              <a:latin typeface="Caveat"/>
              <a:ea typeface="Caveat"/>
              <a:cs typeface="Caveat"/>
              <a:sym typeface="Caveat"/>
            </a:endParaRPr>
          </a:p>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chemeClr val="dk1"/>
                </a:solidFill>
                <a:latin typeface="Caveat"/>
                <a:ea typeface="Caveat"/>
                <a:cs typeface="Caveat"/>
                <a:sym typeface="Caveat"/>
              </a:rPr>
              <a:t>Audience? Known, Individual</a:t>
            </a:r>
            <a:endParaRPr b="0" i="0" sz="3200" u="none" cap="none" strike="noStrike">
              <a:solidFill>
                <a:schemeClr val="dk1"/>
              </a:solidFill>
              <a:latin typeface="Caveat"/>
              <a:ea typeface="Caveat"/>
              <a:cs typeface="Caveat"/>
              <a:sym typeface="Caveat"/>
            </a:endParaRPr>
          </a:p>
        </p:txBody>
      </p:sp>
      <p:sp>
        <p:nvSpPr>
          <p:cNvPr id="480" name="Google Shape;480;g364c8792521_0_177"/>
          <p:cNvSpPr txBox="1"/>
          <p:nvPr/>
        </p:nvSpPr>
        <p:spPr>
          <a:xfrm>
            <a:off x="1987825" y="1954850"/>
            <a:ext cx="3464400" cy="615600"/>
          </a:xfrm>
          <a:prstGeom prst="rect">
            <a:avLst/>
          </a:prstGeom>
          <a:solidFill>
            <a:srgbClr val="CFE2F3"/>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veat Medium"/>
                <a:ea typeface="Caveat Medium"/>
                <a:cs typeface="Caveat Medium"/>
                <a:sym typeface="Caveat Medium"/>
              </a:rPr>
              <a:t>Email b/w colleagues</a:t>
            </a:r>
            <a:endParaRPr b="0" i="0" sz="2800" u="none" cap="none" strike="noStrike">
              <a:solidFill>
                <a:schemeClr val="dk1"/>
              </a:solidFill>
              <a:latin typeface="Caveat Medium"/>
              <a:ea typeface="Caveat Medium"/>
              <a:cs typeface="Caveat Medium"/>
              <a:sym typeface="Caveat Medium"/>
            </a:endParaRPr>
          </a:p>
        </p:txBody>
      </p:sp>
      <p:cxnSp>
        <p:nvCxnSpPr>
          <p:cNvPr id="481" name="Google Shape;481;g364c8792521_0_177"/>
          <p:cNvCxnSpPr>
            <a:endCxn id="480" idx="1"/>
          </p:cNvCxnSpPr>
          <p:nvPr/>
        </p:nvCxnSpPr>
        <p:spPr>
          <a:xfrm flipH="1" rot="-5400000">
            <a:off x="1152325" y="1427150"/>
            <a:ext cx="989400" cy="681600"/>
          </a:xfrm>
          <a:prstGeom prst="curvedConnector2">
            <a:avLst/>
          </a:prstGeom>
          <a:noFill/>
          <a:ln cap="flat" cmpd="sng" w="9525">
            <a:solidFill>
              <a:schemeClr val="dk2"/>
            </a:solidFill>
            <a:prstDash val="solid"/>
            <a:round/>
            <a:headEnd len="sm" w="sm" type="none"/>
            <a:tailEnd len="med" w="med" type="triangle"/>
          </a:ln>
        </p:spPr>
      </p:cxn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g364c8792521_0_128"/>
          <p:cNvSpPr txBox="1"/>
          <p:nvPr>
            <p:ph idx="1" type="body"/>
          </p:nvPr>
        </p:nvSpPr>
        <p:spPr>
          <a:xfrm>
            <a:off x="838200" y="567950"/>
            <a:ext cx="10515600" cy="5778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b="1" lang="en-US" sz="3000">
                <a:latin typeface="Montserrat"/>
                <a:ea typeface="Montserrat"/>
                <a:cs typeface="Montserrat"/>
                <a:sym typeface="Montserrat"/>
              </a:rPr>
              <a:t>Correspondence Guideline 1: Know Your </a:t>
            </a:r>
            <a:r>
              <a:rPr b="1" lang="en-US" sz="3000" u="sng">
                <a:highlight>
                  <a:srgbClr val="FFF2CC"/>
                </a:highlight>
                <a:latin typeface="Montserrat"/>
                <a:ea typeface="Montserrat"/>
                <a:cs typeface="Montserrat"/>
                <a:sym typeface="Montserrat"/>
              </a:rPr>
              <a:t>Purpose</a:t>
            </a:r>
            <a:endParaRPr b="1" sz="3000" u="sng">
              <a:highlight>
                <a:srgbClr val="FFF2CC"/>
              </a:highlight>
              <a:latin typeface="Montserrat"/>
              <a:ea typeface="Montserrat"/>
              <a:cs typeface="Montserrat"/>
              <a:sym typeface="Montserrat"/>
            </a:endParaRPr>
          </a:p>
          <a:p>
            <a:pPr indent="-349250" lvl="0" marL="457200" rtl="0" algn="l">
              <a:lnSpc>
                <a:spcPct val="90000"/>
              </a:lnSpc>
              <a:spcBef>
                <a:spcPts val="0"/>
              </a:spcBef>
              <a:spcAft>
                <a:spcPts val="0"/>
              </a:spcAft>
              <a:buSzPts val="1900"/>
              <a:buFont typeface="Montserrat"/>
              <a:buChar char="●"/>
            </a:pPr>
            <a:r>
              <a:rPr lang="en-US" sz="1900">
                <a:latin typeface="Montserrat"/>
                <a:ea typeface="Montserrat"/>
                <a:cs typeface="Montserrat"/>
                <a:sym typeface="Montserrat"/>
              </a:rPr>
              <a:t>Before beginning → write down your purpose in one clear sentence. </a:t>
            </a:r>
            <a:endParaRPr sz="19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1900">
              <a:latin typeface="Montserrat"/>
              <a:ea typeface="Montserrat"/>
              <a:cs typeface="Montserrat"/>
              <a:sym typeface="Montserrat"/>
            </a:endParaRPr>
          </a:p>
          <a:p>
            <a:pPr indent="0" lvl="0" marL="0" rtl="0" algn="l">
              <a:lnSpc>
                <a:spcPct val="90000"/>
              </a:lnSpc>
              <a:spcBef>
                <a:spcPts val="0"/>
              </a:spcBef>
              <a:spcAft>
                <a:spcPts val="0"/>
              </a:spcAft>
              <a:buSzPts val="1800"/>
              <a:buNone/>
            </a:pPr>
            <a:r>
              <a:rPr b="1" lang="en-US" sz="3000">
                <a:latin typeface="Montserrat"/>
                <a:ea typeface="Montserrat"/>
                <a:cs typeface="Montserrat"/>
                <a:sym typeface="Montserrat"/>
              </a:rPr>
              <a:t>Correspondence Guideline 2: Know Your </a:t>
            </a:r>
            <a:r>
              <a:rPr b="1" lang="en-US" sz="3000" u="sng">
                <a:highlight>
                  <a:srgbClr val="D0E0E3"/>
                </a:highlight>
                <a:latin typeface="Montserrat"/>
                <a:ea typeface="Montserrat"/>
                <a:cs typeface="Montserrat"/>
                <a:sym typeface="Montserrat"/>
              </a:rPr>
              <a:t>Reader</a:t>
            </a:r>
            <a:endParaRPr b="1" sz="3000" u="sng">
              <a:highlight>
                <a:srgbClr val="D0E0E3"/>
              </a:highlight>
              <a:latin typeface="Montserrat"/>
              <a:ea typeface="Montserrat"/>
              <a:cs typeface="Montserrat"/>
              <a:sym typeface="Montserrat"/>
            </a:endParaRPr>
          </a:p>
          <a:p>
            <a:pPr indent="-349250" lvl="0" marL="457200" rtl="0" algn="l">
              <a:lnSpc>
                <a:spcPct val="90000"/>
              </a:lnSpc>
              <a:spcBef>
                <a:spcPts val="0"/>
              </a:spcBef>
              <a:spcAft>
                <a:spcPts val="0"/>
              </a:spcAft>
              <a:buSzPts val="1900"/>
              <a:buFont typeface="Montserrat"/>
              <a:buChar char="●"/>
            </a:pPr>
            <a:r>
              <a:rPr lang="en-US" sz="1900" u="sng">
                <a:latin typeface="Montserrat"/>
                <a:ea typeface="Montserrat"/>
                <a:cs typeface="Montserrat"/>
                <a:sym typeface="Montserrat"/>
              </a:rPr>
              <a:t>Who</a:t>
            </a:r>
            <a:r>
              <a:rPr lang="en-US" sz="1900">
                <a:latin typeface="Montserrat"/>
                <a:ea typeface="Montserrat"/>
                <a:cs typeface="Montserrat"/>
                <a:sym typeface="Montserrat"/>
              </a:rPr>
              <a:t> are you trying to inform or influence? Affects the </a:t>
            </a:r>
            <a:r>
              <a:rPr lang="en-US" sz="1900" u="sng">
                <a:latin typeface="Montserrat"/>
                <a:ea typeface="Montserrat"/>
                <a:cs typeface="Montserrat"/>
                <a:sym typeface="Montserrat"/>
              </a:rPr>
              <a:t>vocabulary</a:t>
            </a:r>
            <a:r>
              <a:rPr lang="en-US" sz="1900">
                <a:latin typeface="Montserrat"/>
                <a:ea typeface="Montserrat"/>
                <a:cs typeface="Montserrat"/>
                <a:sym typeface="Montserrat"/>
              </a:rPr>
              <a:t> you choose, the </a:t>
            </a:r>
            <a:r>
              <a:rPr lang="en-US" sz="1900" u="sng">
                <a:latin typeface="Montserrat"/>
                <a:ea typeface="Montserrat"/>
                <a:cs typeface="Montserrat"/>
                <a:sym typeface="Montserrat"/>
              </a:rPr>
              <a:t>arguments</a:t>
            </a:r>
            <a:r>
              <a:rPr lang="en-US" sz="1900">
                <a:latin typeface="Montserrat"/>
                <a:ea typeface="Montserrat"/>
                <a:cs typeface="Montserrat"/>
                <a:sym typeface="Montserrat"/>
              </a:rPr>
              <a:t> you make, and the </a:t>
            </a:r>
            <a:r>
              <a:rPr lang="en-US" sz="1900" u="sng">
                <a:latin typeface="Montserrat"/>
                <a:ea typeface="Montserrat"/>
                <a:cs typeface="Montserrat"/>
                <a:sym typeface="Montserrat"/>
              </a:rPr>
              <a:t>tone</a:t>
            </a:r>
            <a:r>
              <a:rPr lang="en-US" sz="1900">
                <a:latin typeface="Montserrat"/>
                <a:ea typeface="Montserrat"/>
                <a:cs typeface="Montserrat"/>
                <a:sym typeface="Montserrat"/>
              </a:rPr>
              <a:t> you adopt.</a:t>
            </a:r>
            <a:endParaRPr sz="19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1900">
              <a:latin typeface="Montserrat"/>
              <a:ea typeface="Montserrat"/>
              <a:cs typeface="Montserrat"/>
              <a:sym typeface="Montserrat"/>
            </a:endParaRPr>
          </a:p>
          <a:p>
            <a:pPr indent="0" lvl="0" marL="0" rtl="0" algn="l">
              <a:lnSpc>
                <a:spcPct val="90000"/>
              </a:lnSpc>
              <a:spcBef>
                <a:spcPts val="0"/>
              </a:spcBef>
              <a:spcAft>
                <a:spcPts val="0"/>
              </a:spcAft>
              <a:buSzPts val="1800"/>
              <a:buNone/>
            </a:pPr>
            <a:r>
              <a:rPr b="1" lang="en-US" sz="3000">
                <a:latin typeface="Montserrat"/>
                <a:ea typeface="Montserrat"/>
                <a:cs typeface="Montserrat"/>
                <a:sym typeface="Montserrat"/>
              </a:rPr>
              <a:t>Correspondence Guideline 3: Follow Correct </a:t>
            </a:r>
            <a:r>
              <a:rPr b="1" lang="en-US" sz="3000" u="sng">
                <a:latin typeface="Montserrat"/>
                <a:ea typeface="Montserrat"/>
                <a:cs typeface="Montserrat"/>
                <a:sym typeface="Montserrat"/>
              </a:rPr>
              <a:t>Format</a:t>
            </a:r>
            <a:endParaRPr b="1" sz="3000" u="sng">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1900">
              <a:latin typeface="Montserrat"/>
              <a:ea typeface="Montserrat"/>
              <a:cs typeface="Montserrat"/>
              <a:sym typeface="Montserrat"/>
            </a:endParaRPr>
          </a:p>
          <a:p>
            <a:pPr indent="0" lvl="0" marL="0" marR="0" rtl="0" algn="l">
              <a:lnSpc>
                <a:spcPct val="90000"/>
              </a:lnSpc>
              <a:spcBef>
                <a:spcPts val="0"/>
              </a:spcBef>
              <a:spcAft>
                <a:spcPts val="0"/>
              </a:spcAft>
              <a:buSzPts val="1800"/>
              <a:buNone/>
            </a:pPr>
            <a:r>
              <a:rPr b="1" lang="en-US" sz="3000">
                <a:latin typeface="Montserrat"/>
                <a:ea typeface="Montserrat"/>
                <a:cs typeface="Montserrat"/>
                <a:sym typeface="Montserrat"/>
              </a:rPr>
              <a:t>Correspondence Guideline 4: Follow the </a:t>
            </a:r>
            <a:r>
              <a:rPr b="1" lang="en-US" sz="3000" u="sng">
                <a:latin typeface="Montserrat"/>
                <a:ea typeface="Montserrat"/>
                <a:cs typeface="Montserrat"/>
                <a:sym typeface="Montserrat"/>
              </a:rPr>
              <a:t>ABC </a:t>
            </a:r>
            <a:r>
              <a:rPr b="1" lang="en-US" sz="3000">
                <a:latin typeface="Montserrat"/>
                <a:ea typeface="Montserrat"/>
                <a:cs typeface="Montserrat"/>
                <a:sym typeface="Montserrat"/>
              </a:rPr>
              <a:t>Format for All Correspondence</a:t>
            </a:r>
            <a:endParaRPr sz="1900">
              <a:latin typeface="Montserrat"/>
              <a:ea typeface="Montserrat"/>
              <a:cs typeface="Montserrat"/>
              <a:sym typeface="Montserrat"/>
            </a:endParaRPr>
          </a:p>
          <a:p>
            <a:pPr indent="-349250" lvl="0" marL="457200" rtl="0" algn="l">
              <a:lnSpc>
                <a:spcPct val="90000"/>
              </a:lnSpc>
              <a:spcBef>
                <a:spcPts val="0"/>
              </a:spcBef>
              <a:spcAft>
                <a:spcPts val="0"/>
              </a:spcAft>
              <a:buSzPts val="1900"/>
              <a:buFont typeface="Montserrat"/>
              <a:buChar char="●"/>
            </a:pPr>
            <a:r>
              <a:rPr lang="en-US" sz="1900">
                <a:latin typeface="Montserrat"/>
                <a:ea typeface="Montserrat"/>
                <a:cs typeface="Montserrat"/>
                <a:sym typeface="Montserrat"/>
              </a:rPr>
              <a:t>Organizing correspondence: Abstract (Objective) → Body (Content) → Conclusion (Summary)</a:t>
            </a:r>
            <a:endParaRPr sz="19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1900">
              <a:latin typeface="Montserrat"/>
              <a:ea typeface="Montserrat"/>
              <a:cs typeface="Montserrat"/>
              <a:sym typeface="Montserrat"/>
            </a:endParaRPr>
          </a:p>
          <a:p>
            <a:pPr indent="0" lvl="0" marL="0" rtl="0" algn="l">
              <a:lnSpc>
                <a:spcPct val="90000"/>
              </a:lnSpc>
              <a:spcBef>
                <a:spcPts val="0"/>
              </a:spcBef>
              <a:spcAft>
                <a:spcPts val="0"/>
              </a:spcAft>
              <a:buSzPts val="1800"/>
              <a:buNone/>
            </a:pPr>
            <a:r>
              <a:rPr b="1" lang="en-US" sz="3000">
                <a:latin typeface="Montserrat"/>
                <a:ea typeface="Montserrat"/>
                <a:cs typeface="Montserrat"/>
                <a:sym typeface="Montserrat"/>
              </a:rPr>
              <a:t>Correspondence Guideline 5: Use the 3Cs Strategy</a:t>
            </a:r>
            <a:endParaRPr b="1" sz="3000">
              <a:latin typeface="Montserrat"/>
              <a:ea typeface="Montserrat"/>
              <a:cs typeface="Montserrat"/>
              <a:sym typeface="Montserrat"/>
            </a:endParaRPr>
          </a:p>
          <a:p>
            <a:pPr indent="-349250" lvl="0" marL="457200" rtl="0" algn="l">
              <a:lnSpc>
                <a:spcPct val="90000"/>
              </a:lnSpc>
              <a:spcBef>
                <a:spcPts val="0"/>
              </a:spcBef>
              <a:spcAft>
                <a:spcPts val="0"/>
              </a:spcAft>
              <a:buSzPts val="1900"/>
              <a:buFont typeface="Montserrat"/>
              <a:buChar char="●"/>
            </a:pPr>
            <a:r>
              <a:rPr lang="en-US" sz="1900">
                <a:latin typeface="Montserrat"/>
                <a:ea typeface="Montserrat"/>
                <a:cs typeface="Montserrat"/>
                <a:sym typeface="Montserrat"/>
              </a:rPr>
              <a:t>Capture (Ask/Reason/Hook) → Convince (support/action) → Contact (Way-forward)</a:t>
            </a:r>
            <a:endParaRPr b="1" sz="3000">
              <a:latin typeface="Montserrat"/>
              <a:ea typeface="Montserrat"/>
              <a:cs typeface="Montserrat"/>
              <a:sym typeface="Montserrat"/>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g364c8792521_0_133"/>
          <p:cNvSpPr txBox="1"/>
          <p:nvPr>
            <p:ph idx="1" type="body"/>
          </p:nvPr>
        </p:nvSpPr>
        <p:spPr>
          <a:xfrm>
            <a:off x="838200" y="567950"/>
            <a:ext cx="10515600" cy="5778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00"/>
              <a:buNone/>
            </a:pPr>
            <a:r>
              <a:rPr b="1" lang="en-US" sz="3000">
                <a:latin typeface="Montserrat"/>
                <a:ea typeface="Montserrat"/>
                <a:cs typeface="Montserrat"/>
                <a:sym typeface="Montserrat"/>
              </a:rPr>
              <a:t>Correspondence Guideline 6: Stress the “You” Attitude</a:t>
            </a:r>
            <a:endParaRPr b="1" sz="3000" u="sng">
              <a:latin typeface="Montserrat"/>
              <a:ea typeface="Montserrat"/>
              <a:cs typeface="Montserrat"/>
              <a:sym typeface="Montserrat"/>
            </a:endParaRPr>
          </a:p>
          <a:p>
            <a:pPr indent="-349250" lvl="0" marL="457200" rtl="0" algn="l">
              <a:lnSpc>
                <a:spcPct val="90000"/>
              </a:lnSpc>
              <a:spcBef>
                <a:spcPts val="0"/>
              </a:spcBef>
              <a:spcAft>
                <a:spcPts val="0"/>
              </a:spcAft>
              <a:buSzPts val="1900"/>
              <a:buFont typeface="Montserrat"/>
              <a:buChar char="●"/>
            </a:pPr>
            <a:r>
              <a:rPr lang="en-US" sz="1900">
                <a:latin typeface="Montserrat"/>
                <a:ea typeface="Montserrat"/>
                <a:cs typeface="Montserrat"/>
                <a:sym typeface="Montserrat"/>
              </a:rPr>
              <a:t>From your reader’s perspective: What will interest my reader?” and “What does my reader want to accomplish?”</a:t>
            </a:r>
            <a:endParaRPr sz="19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1900">
              <a:latin typeface="Montserrat"/>
              <a:ea typeface="Montserrat"/>
              <a:cs typeface="Montserrat"/>
              <a:sym typeface="Montserrat"/>
            </a:endParaRPr>
          </a:p>
          <a:p>
            <a:pPr indent="0" lvl="0" marL="0" rtl="0" algn="l">
              <a:lnSpc>
                <a:spcPct val="90000"/>
              </a:lnSpc>
              <a:spcBef>
                <a:spcPts val="0"/>
              </a:spcBef>
              <a:spcAft>
                <a:spcPts val="0"/>
              </a:spcAft>
              <a:buSzPts val="1800"/>
              <a:buNone/>
            </a:pPr>
            <a:r>
              <a:rPr b="1" lang="en-US" sz="3000">
                <a:latin typeface="Montserrat"/>
                <a:ea typeface="Montserrat"/>
                <a:cs typeface="Montserrat"/>
                <a:sym typeface="Montserrat"/>
              </a:rPr>
              <a:t>Correspondence Guideline 7: Use Attachments for Details</a:t>
            </a:r>
            <a:endParaRPr b="1" sz="3000" u="sng">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1900">
              <a:latin typeface="Montserrat"/>
              <a:ea typeface="Montserrat"/>
              <a:cs typeface="Montserrat"/>
              <a:sym typeface="Montserrat"/>
            </a:endParaRPr>
          </a:p>
          <a:p>
            <a:pPr indent="0" lvl="0" marL="0" rtl="0" algn="l">
              <a:lnSpc>
                <a:spcPct val="90000"/>
              </a:lnSpc>
              <a:spcBef>
                <a:spcPts val="0"/>
              </a:spcBef>
              <a:spcAft>
                <a:spcPts val="0"/>
              </a:spcAft>
              <a:buSzPts val="1800"/>
              <a:buNone/>
            </a:pPr>
            <a:r>
              <a:rPr b="1" lang="en-US" sz="3000">
                <a:latin typeface="Montserrat"/>
                <a:ea typeface="Montserrat"/>
                <a:cs typeface="Montserrat"/>
                <a:sym typeface="Montserrat"/>
              </a:rPr>
              <a:t>Correspondence Guideline 8: Be </a:t>
            </a:r>
            <a:r>
              <a:rPr b="1" lang="en-US" sz="3000" strike="sngStrike">
                <a:latin typeface="Montserrat"/>
                <a:ea typeface="Montserrat"/>
                <a:cs typeface="Montserrat"/>
                <a:sym typeface="Montserrat"/>
              </a:rPr>
              <a:t>Diplomatic </a:t>
            </a:r>
            <a:r>
              <a:rPr b="1" lang="en-US" sz="3000">
                <a:latin typeface="Montserrat"/>
                <a:ea typeface="Montserrat"/>
                <a:cs typeface="Montserrat"/>
                <a:sym typeface="Montserrat"/>
              </a:rPr>
              <a:t>Authentic &amp; Respectful</a:t>
            </a:r>
            <a:endParaRPr b="1" sz="3000" u="sng">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1900">
              <a:latin typeface="Montserrat"/>
              <a:ea typeface="Montserrat"/>
              <a:cs typeface="Montserrat"/>
              <a:sym typeface="Montserrat"/>
            </a:endParaRPr>
          </a:p>
          <a:p>
            <a:pPr indent="0" lvl="0" marL="0" marR="0" rtl="0" algn="l">
              <a:lnSpc>
                <a:spcPct val="90000"/>
              </a:lnSpc>
              <a:spcBef>
                <a:spcPts val="0"/>
              </a:spcBef>
              <a:spcAft>
                <a:spcPts val="0"/>
              </a:spcAft>
              <a:buSzPts val="1800"/>
              <a:buNone/>
            </a:pPr>
            <a:r>
              <a:rPr b="1" lang="en-US" sz="3000">
                <a:latin typeface="Montserrat"/>
                <a:ea typeface="Montserrat"/>
                <a:cs typeface="Montserrat"/>
                <a:sym typeface="Montserrat"/>
              </a:rPr>
              <a:t>Correspondence Guideline 9: Edit Carefully</a:t>
            </a:r>
            <a:endParaRPr sz="1900">
              <a:latin typeface="Montserrat"/>
              <a:ea typeface="Montserrat"/>
              <a:cs typeface="Montserrat"/>
              <a:sym typeface="Montserrat"/>
            </a:endParaRPr>
          </a:p>
          <a:p>
            <a:pPr indent="-349250" lvl="0" marL="457200" rtl="0" algn="l">
              <a:lnSpc>
                <a:spcPct val="90000"/>
              </a:lnSpc>
              <a:spcBef>
                <a:spcPts val="0"/>
              </a:spcBef>
              <a:spcAft>
                <a:spcPts val="0"/>
              </a:spcAft>
              <a:buSzPts val="1900"/>
              <a:buFont typeface="Montserrat"/>
              <a:buChar char="●"/>
            </a:pPr>
            <a:r>
              <a:rPr lang="en-US" sz="1900">
                <a:latin typeface="Montserrat"/>
                <a:ea typeface="Montserrat"/>
                <a:cs typeface="Montserrat"/>
                <a:sym typeface="Montserrat"/>
              </a:rPr>
              <a:t>Review: Does it convey the message? Spell check, grammar, sentence structure etc. </a:t>
            </a:r>
            <a:endParaRPr sz="1900">
              <a:latin typeface="Montserrat"/>
              <a:ea typeface="Montserrat"/>
              <a:cs typeface="Montserrat"/>
              <a:sym typeface="Montserrat"/>
            </a:endParaRPr>
          </a:p>
          <a:p>
            <a:pPr indent="0" lvl="0" marL="0" rtl="0" algn="l">
              <a:lnSpc>
                <a:spcPct val="90000"/>
              </a:lnSpc>
              <a:spcBef>
                <a:spcPts val="0"/>
              </a:spcBef>
              <a:spcAft>
                <a:spcPts val="0"/>
              </a:spcAft>
              <a:buSzPts val="1800"/>
              <a:buNone/>
            </a:pPr>
            <a:r>
              <a:t/>
            </a:r>
            <a:endParaRPr sz="1900">
              <a:latin typeface="Montserrat"/>
              <a:ea typeface="Montserrat"/>
              <a:cs typeface="Montserrat"/>
              <a:sym typeface="Montserrat"/>
            </a:endParaRPr>
          </a:p>
          <a:p>
            <a:pPr indent="0" lvl="0" marL="0" rtl="0" algn="l">
              <a:lnSpc>
                <a:spcPct val="90000"/>
              </a:lnSpc>
              <a:spcBef>
                <a:spcPts val="0"/>
              </a:spcBef>
              <a:spcAft>
                <a:spcPts val="0"/>
              </a:spcAft>
              <a:buSzPts val="1800"/>
              <a:buNone/>
            </a:pPr>
            <a:r>
              <a:rPr b="1" lang="en-US" sz="3000">
                <a:latin typeface="Montserrat"/>
                <a:ea typeface="Montserrat"/>
                <a:cs typeface="Montserrat"/>
                <a:sym typeface="Montserrat"/>
              </a:rPr>
              <a:t>Correspondence Guideline 10: Respond Quickly</a:t>
            </a:r>
            <a:endParaRPr b="1" sz="3000">
              <a:latin typeface="Montserrat"/>
              <a:ea typeface="Montserrat"/>
              <a:cs typeface="Montserrat"/>
              <a:sym typeface="Montserrat"/>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g364c8792521_0_185"/>
          <p:cNvSpPr txBox="1"/>
          <p:nvPr>
            <p:ph type="title"/>
          </p:nvPr>
        </p:nvSpPr>
        <p:spPr>
          <a:xfrm>
            <a:off x="0" y="0"/>
            <a:ext cx="12192000" cy="937200"/>
          </a:xfrm>
          <a:prstGeom prst="rect">
            <a:avLst/>
          </a:prstGeom>
          <a:solidFill>
            <a:srgbClr val="3D85C6"/>
          </a:solid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sz="3000">
                <a:solidFill>
                  <a:schemeClr val="lt1"/>
                </a:solidFill>
                <a:latin typeface="Montserrat"/>
                <a:ea typeface="Montserrat"/>
                <a:cs typeface="Montserrat"/>
                <a:sym typeface="Montserrat"/>
              </a:rPr>
              <a:t>Types of Messages</a:t>
            </a:r>
            <a:endParaRPr sz="3000">
              <a:solidFill>
                <a:schemeClr val="lt1"/>
              </a:solidFill>
              <a:latin typeface="Montserrat"/>
              <a:ea typeface="Montserrat"/>
              <a:cs typeface="Montserrat"/>
              <a:sym typeface="Montserrat"/>
            </a:endParaRPr>
          </a:p>
        </p:txBody>
      </p:sp>
      <p:sp>
        <p:nvSpPr>
          <p:cNvPr id="500" name="Google Shape;500;g364c8792521_0_185"/>
          <p:cNvSpPr txBox="1"/>
          <p:nvPr>
            <p:ph idx="1" type="body"/>
          </p:nvPr>
        </p:nvSpPr>
        <p:spPr>
          <a:xfrm>
            <a:off x="0" y="937200"/>
            <a:ext cx="4064100" cy="5920800"/>
          </a:xfrm>
          <a:prstGeom prst="rect">
            <a:avLst/>
          </a:prstGeom>
          <a:solidFill>
            <a:srgbClr val="F8F3FF"/>
          </a:solid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rPr lang="en-US">
                <a:latin typeface="Montserrat"/>
                <a:ea typeface="Montserrat"/>
                <a:cs typeface="Montserrat"/>
                <a:sym typeface="Montserrat"/>
              </a:rPr>
              <a:t>Neutral, Routine, Positive, Good will messages </a:t>
            </a:r>
            <a:endParaRPr>
              <a:latin typeface="Montserrat"/>
              <a:ea typeface="Montserrat"/>
              <a:cs typeface="Montserrat"/>
              <a:sym typeface="Montserrat"/>
            </a:endParaRPr>
          </a:p>
        </p:txBody>
      </p:sp>
      <p:sp>
        <p:nvSpPr>
          <p:cNvPr id="501" name="Google Shape;501;g364c8792521_0_185"/>
          <p:cNvSpPr txBox="1"/>
          <p:nvPr>
            <p:ph idx="1" type="body"/>
          </p:nvPr>
        </p:nvSpPr>
        <p:spPr>
          <a:xfrm>
            <a:off x="4064000" y="937200"/>
            <a:ext cx="4064100" cy="5920800"/>
          </a:xfrm>
          <a:prstGeom prst="rect">
            <a:avLst/>
          </a:prstGeom>
          <a:solidFill>
            <a:srgbClr val="E1EFFC"/>
          </a:solid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rPr lang="en-US">
                <a:latin typeface="Montserrat"/>
                <a:ea typeface="Montserrat"/>
                <a:cs typeface="Montserrat"/>
                <a:sym typeface="Montserrat"/>
              </a:rPr>
              <a:t>Bad news, Negative messages</a:t>
            </a:r>
            <a:endParaRPr>
              <a:latin typeface="Montserrat"/>
              <a:ea typeface="Montserrat"/>
              <a:cs typeface="Montserrat"/>
              <a:sym typeface="Montserrat"/>
            </a:endParaRPr>
          </a:p>
        </p:txBody>
      </p:sp>
      <p:sp>
        <p:nvSpPr>
          <p:cNvPr id="502" name="Google Shape;502;g364c8792521_0_185"/>
          <p:cNvSpPr txBox="1"/>
          <p:nvPr>
            <p:ph idx="1" type="body"/>
          </p:nvPr>
        </p:nvSpPr>
        <p:spPr>
          <a:xfrm>
            <a:off x="8128000" y="937200"/>
            <a:ext cx="4064100" cy="5920800"/>
          </a:xfrm>
          <a:prstGeom prst="rect">
            <a:avLst/>
          </a:prstGeom>
          <a:solidFill>
            <a:srgbClr val="E5EBE3"/>
          </a:solid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rPr lang="en-US">
                <a:latin typeface="Montserrat"/>
                <a:ea typeface="Montserrat"/>
                <a:cs typeface="Montserrat"/>
                <a:sym typeface="Montserrat"/>
              </a:rPr>
              <a:t>Persuasive messages </a:t>
            </a:r>
            <a:endParaRPr>
              <a:latin typeface="Montserrat"/>
              <a:ea typeface="Montserrat"/>
              <a:cs typeface="Montserrat"/>
              <a:sym typeface="Montserrat"/>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g364c8792521_0_194"/>
          <p:cNvSpPr txBox="1"/>
          <p:nvPr>
            <p:ph type="title"/>
          </p:nvPr>
        </p:nvSpPr>
        <p:spPr>
          <a:xfrm>
            <a:off x="0" y="0"/>
            <a:ext cx="12192000" cy="937200"/>
          </a:xfrm>
          <a:prstGeom prst="rect">
            <a:avLst/>
          </a:prstGeom>
          <a:solidFill>
            <a:srgbClr val="3D85C6"/>
          </a:solid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sz="3000">
                <a:solidFill>
                  <a:schemeClr val="lt1"/>
                </a:solidFill>
                <a:latin typeface="Montserrat"/>
                <a:ea typeface="Montserrat"/>
                <a:cs typeface="Montserrat"/>
                <a:sym typeface="Montserrat"/>
              </a:rPr>
              <a:t>Types of Messages</a:t>
            </a:r>
            <a:endParaRPr sz="3000">
              <a:solidFill>
                <a:schemeClr val="lt1"/>
              </a:solidFill>
              <a:latin typeface="Montserrat"/>
              <a:ea typeface="Montserrat"/>
              <a:cs typeface="Montserrat"/>
              <a:sym typeface="Montserrat"/>
            </a:endParaRPr>
          </a:p>
        </p:txBody>
      </p:sp>
      <p:sp>
        <p:nvSpPr>
          <p:cNvPr id="509" name="Google Shape;509;g364c8792521_0_194"/>
          <p:cNvSpPr txBox="1"/>
          <p:nvPr>
            <p:ph idx="1" type="body"/>
          </p:nvPr>
        </p:nvSpPr>
        <p:spPr>
          <a:xfrm>
            <a:off x="0" y="937200"/>
            <a:ext cx="4064100" cy="5920800"/>
          </a:xfrm>
          <a:prstGeom prst="rect">
            <a:avLst/>
          </a:prstGeom>
          <a:solidFill>
            <a:srgbClr val="F8F3FF"/>
          </a:solid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rPr lang="en-US">
                <a:latin typeface="Montserrat"/>
                <a:ea typeface="Montserrat"/>
                <a:cs typeface="Montserrat"/>
                <a:sym typeface="Montserrat"/>
              </a:rPr>
              <a:t>Neutral, Routine, Positive, Good will messages </a:t>
            </a:r>
            <a:endParaRPr>
              <a:latin typeface="Montserrat"/>
              <a:ea typeface="Montserrat"/>
              <a:cs typeface="Montserrat"/>
              <a:sym typeface="Montserrat"/>
            </a:endParaRPr>
          </a:p>
        </p:txBody>
      </p:sp>
      <p:sp>
        <p:nvSpPr>
          <p:cNvPr id="510" name="Google Shape;510;g364c8792521_0_194"/>
          <p:cNvSpPr txBox="1"/>
          <p:nvPr/>
        </p:nvSpPr>
        <p:spPr>
          <a:xfrm>
            <a:off x="979700" y="2285992"/>
            <a:ext cx="10947300" cy="3952800"/>
          </a:xfrm>
          <a:prstGeom prst="rect">
            <a:avLst/>
          </a:prstGeom>
          <a:solidFill>
            <a:srgbClr val="674EA7"/>
          </a:solid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400"/>
              <a:buFont typeface="Arial"/>
              <a:buNone/>
            </a:pPr>
            <a:r>
              <a:rPr b="0" i="0" lang="en-US" sz="2400" u="none" cap="none" strike="noStrike">
                <a:solidFill>
                  <a:schemeClr val="lt1"/>
                </a:solidFill>
                <a:latin typeface="Montserrat"/>
                <a:ea typeface="Montserrat"/>
                <a:cs typeface="Montserrat"/>
                <a:sym typeface="Montserrat"/>
              </a:rPr>
              <a:t>■ Letter replying to a question about products or services</a:t>
            </a:r>
            <a:endParaRPr b="0" i="0" sz="2400" u="none" cap="none" strike="noStrike">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2400"/>
              <a:buFont typeface="Arial"/>
              <a:buNone/>
            </a:pPr>
            <a:r>
              <a:rPr b="0" i="0" lang="en-US" sz="2400" u="none" cap="none" strike="noStrike">
                <a:solidFill>
                  <a:schemeClr val="lt1"/>
                </a:solidFill>
                <a:latin typeface="Montserrat"/>
                <a:ea typeface="Montserrat"/>
                <a:cs typeface="Montserrat"/>
                <a:sym typeface="Montserrat"/>
              </a:rPr>
              <a:t>■ Letter responding favorably to a complaint or an adjustment</a:t>
            </a:r>
            <a:endParaRPr b="0" i="0" sz="2400" u="none" cap="none" strike="noStrike">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2400"/>
              <a:buFont typeface="Arial"/>
              <a:buNone/>
            </a:pPr>
            <a:r>
              <a:rPr b="0" i="0" lang="en-US" sz="2400" u="none" cap="none" strike="noStrike">
                <a:solidFill>
                  <a:schemeClr val="lt1"/>
                </a:solidFill>
                <a:latin typeface="Montserrat"/>
                <a:ea typeface="Montserrat"/>
                <a:cs typeface="Montserrat"/>
                <a:sym typeface="Montserrat"/>
              </a:rPr>
              <a:t>■ Letter hiring an employee</a:t>
            </a:r>
            <a:endParaRPr b="0" i="0" sz="2400" u="none" cap="none" strike="noStrike">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2400"/>
              <a:buFont typeface="Arial"/>
              <a:buNone/>
            </a:pPr>
            <a:r>
              <a:rPr b="0" i="0" lang="en-US" sz="2400" u="none" cap="none" strike="noStrike">
                <a:solidFill>
                  <a:schemeClr val="lt1"/>
                </a:solidFill>
                <a:latin typeface="Montserrat"/>
                <a:ea typeface="Montserrat"/>
                <a:cs typeface="Montserrat"/>
                <a:sym typeface="Montserrat"/>
              </a:rPr>
              <a:t>■ Announcing high bonuses for the year</a:t>
            </a:r>
            <a:endParaRPr b="0" i="0" sz="2400" u="none" cap="none" strike="noStrike">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2400"/>
              <a:buFont typeface="Arial"/>
              <a:buNone/>
            </a:pPr>
            <a:r>
              <a:rPr b="0" i="0" lang="en-US" sz="2400" u="none" cap="none" strike="noStrike">
                <a:solidFill>
                  <a:schemeClr val="lt1"/>
                </a:solidFill>
                <a:latin typeface="Montserrat"/>
                <a:ea typeface="Montserrat"/>
                <a:cs typeface="Montserrat"/>
                <a:sym typeface="Montserrat"/>
              </a:rPr>
              <a:t>■ Commending an employee for performance on a project</a:t>
            </a:r>
            <a:endParaRPr b="0" i="0" sz="2400" u="none" cap="none" strike="noStrike">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2400"/>
              <a:buFont typeface="Arial"/>
              <a:buNone/>
            </a:pPr>
            <a:r>
              <a:rPr b="0" i="0" lang="en-US" sz="2400" u="none" cap="none" strike="noStrike">
                <a:solidFill>
                  <a:schemeClr val="lt1"/>
                </a:solidFill>
                <a:latin typeface="Montserrat"/>
                <a:ea typeface="Montserrat"/>
                <a:cs typeface="Montserrat"/>
                <a:sym typeface="Montserrat"/>
              </a:rPr>
              <a:t>■ Requesting information about a product or service</a:t>
            </a:r>
            <a:endParaRPr b="0" i="0" sz="2400" u="none" cap="none" strike="noStrike">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2400"/>
              <a:buFont typeface="Arial"/>
              <a:buNone/>
            </a:pPr>
            <a:r>
              <a:rPr b="0" i="0" lang="en-US" sz="2400" u="none" cap="none" strike="noStrike">
                <a:solidFill>
                  <a:schemeClr val="lt1"/>
                </a:solidFill>
                <a:latin typeface="Montserrat"/>
                <a:ea typeface="Montserrat"/>
                <a:cs typeface="Montserrat"/>
                <a:sym typeface="Montserrat"/>
              </a:rPr>
              <a:t>■ Inviting the reader to an event</a:t>
            </a:r>
            <a:endParaRPr b="0" i="0" sz="2400" u="none" cap="none" strike="noStrike">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2400"/>
              <a:buFont typeface="Arial"/>
              <a:buNone/>
            </a:pPr>
            <a:r>
              <a:rPr b="0" i="0" lang="en-US" sz="2400" u="none" cap="none" strike="noStrike">
                <a:solidFill>
                  <a:schemeClr val="lt1"/>
                </a:solidFill>
                <a:latin typeface="Montserrat"/>
                <a:ea typeface="Montserrat"/>
                <a:cs typeface="Montserrat"/>
                <a:sym typeface="Montserrat"/>
              </a:rPr>
              <a:t>■ Summarizing the results of a meeting with a client</a:t>
            </a:r>
            <a:endParaRPr b="0" i="0" sz="2400" u="none" cap="none" strike="noStrike">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2400"/>
              <a:buFont typeface="Arial"/>
              <a:buNone/>
            </a:pPr>
            <a:r>
              <a:rPr b="0" i="0" lang="en-US" sz="2400" u="none" cap="none" strike="noStrike">
                <a:solidFill>
                  <a:schemeClr val="lt1"/>
                </a:solidFill>
                <a:latin typeface="Montserrat"/>
                <a:ea typeface="Montserrat"/>
                <a:cs typeface="Montserrat"/>
                <a:sym typeface="Montserrat"/>
              </a:rPr>
              <a:t>■ Explaining a new laboratory procedure</a:t>
            </a:r>
            <a:endParaRPr b="0" i="0" sz="24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g364c8792521_0_205"/>
          <p:cNvSpPr txBox="1"/>
          <p:nvPr>
            <p:ph type="title"/>
          </p:nvPr>
        </p:nvSpPr>
        <p:spPr>
          <a:xfrm>
            <a:off x="0" y="0"/>
            <a:ext cx="12192000" cy="937200"/>
          </a:xfrm>
          <a:prstGeom prst="rect">
            <a:avLst/>
          </a:prstGeom>
          <a:solidFill>
            <a:srgbClr val="3D85C6"/>
          </a:solid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sz="3000">
                <a:solidFill>
                  <a:schemeClr val="lt1"/>
                </a:solidFill>
                <a:latin typeface="Montserrat"/>
                <a:ea typeface="Montserrat"/>
                <a:cs typeface="Montserrat"/>
                <a:sym typeface="Montserrat"/>
              </a:rPr>
              <a:t>Types of Messages</a:t>
            </a:r>
            <a:endParaRPr sz="3000">
              <a:solidFill>
                <a:schemeClr val="lt1"/>
              </a:solidFill>
              <a:latin typeface="Montserrat"/>
              <a:ea typeface="Montserrat"/>
              <a:cs typeface="Montserrat"/>
              <a:sym typeface="Montserrat"/>
            </a:endParaRPr>
          </a:p>
        </p:txBody>
      </p:sp>
      <p:sp>
        <p:nvSpPr>
          <p:cNvPr id="517" name="Google Shape;517;g364c8792521_0_205"/>
          <p:cNvSpPr txBox="1"/>
          <p:nvPr>
            <p:ph idx="1" type="body"/>
          </p:nvPr>
        </p:nvSpPr>
        <p:spPr>
          <a:xfrm>
            <a:off x="4064000" y="937200"/>
            <a:ext cx="4064100" cy="5920800"/>
          </a:xfrm>
          <a:prstGeom prst="rect">
            <a:avLst/>
          </a:prstGeom>
          <a:solidFill>
            <a:srgbClr val="E1EFFC"/>
          </a:solid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rPr lang="en-US">
                <a:latin typeface="Montserrat"/>
                <a:ea typeface="Montserrat"/>
                <a:cs typeface="Montserrat"/>
                <a:sym typeface="Montserrat"/>
              </a:rPr>
              <a:t>Bad news, Negative messages</a:t>
            </a:r>
            <a:endParaRPr>
              <a:latin typeface="Montserrat"/>
              <a:ea typeface="Montserrat"/>
              <a:cs typeface="Montserrat"/>
              <a:sym typeface="Montserrat"/>
            </a:endParaRPr>
          </a:p>
        </p:txBody>
      </p:sp>
      <p:sp>
        <p:nvSpPr>
          <p:cNvPr id="518" name="Google Shape;518;g364c8792521_0_205"/>
          <p:cNvSpPr txBox="1"/>
          <p:nvPr/>
        </p:nvSpPr>
        <p:spPr>
          <a:xfrm>
            <a:off x="979700" y="2285992"/>
            <a:ext cx="10947300" cy="2678100"/>
          </a:xfrm>
          <a:prstGeom prst="rect">
            <a:avLst/>
          </a:prstGeom>
          <a:solidFill>
            <a:srgbClr val="1C4587"/>
          </a:solid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400"/>
              <a:buFont typeface="Arial"/>
              <a:buNone/>
            </a:pPr>
            <a:r>
              <a:rPr b="0" i="0" lang="en-US" sz="2400" u="none" cap="none" strike="noStrike">
                <a:solidFill>
                  <a:schemeClr val="lt1"/>
                </a:solidFill>
                <a:latin typeface="Montserrat"/>
                <a:ea typeface="Montserrat"/>
                <a:cs typeface="Montserrat"/>
                <a:sym typeface="Montserrat"/>
              </a:rPr>
              <a:t>■ Explaining delays in projects or delivery of services</a:t>
            </a:r>
            <a:endParaRPr b="0" i="0" sz="2400" u="none" cap="none" strike="noStrike">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2400"/>
              <a:buFont typeface="Arial"/>
              <a:buNone/>
            </a:pPr>
            <a:r>
              <a:rPr b="0" i="0" lang="en-US" sz="2400" u="none" cap="none" strike="noStrike">
                <a:solidFill>
                  <a:schemeClr val="lt1"/>
                </a:solidFill>
                <a:latin typeface="Montserrat"/>
                <a:ea typeface="Montserrat"/>
                <a:cs typeface="Montserrat"/>
                <a:sym typeface="Montserrat"/>
              </a:rPr>
              <a:t>■ Letter refusing to make adjustments based on complaints</a:t>
            </a:r>
            <a:endParaRPr b="0" i="0" sz="2400" u="none" cap="none" strike="noStrike">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2400"/>
              <a:buFont typeface="Arial"/>
              <a:buNone/>
            </a:pPr>
            <a:r>
              <a:rPr b="0" i="0" lang="en-US" sz="2400" u="none" cap="none" strike="noStrike">
                <a:solidFill>
                  <a:schemeClr val="lt1"/>
                </a:solidFill>
                <a:latin typeface="Montserrat"/>
                <a:ea typeface="Montserrat"/>
                <a:cs typeface="Montserrat"/>
                <a:sym typeface="Montserrat"/>
              </a:rPr>
              <a:t>■ Letter giving bad news about employment or performance</a:t>
            </a:r>
            <a:endParaRPr b="0" i="0" sz="2400" u="none" cap="none" strike="noStrike">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2400"/>
              <a:buFont typeface="Arial"/>
              <a:buNone/>
            </a:pPr>
            <a:r>
              <a:rPr b="0" i="0" lang="en-US" sz="2400" u="none" cap="none" strike="noStrike">
                <a:solidFill>
                  <a:schemeClr val="lt1"/>
                </a:solidFill>
                <a:latin typeface="Montserrat"/>
                <a:ea typeface="Montserrat"/>
                <a:cs typeface="Montserrat"/>
                <a:sym typeface="Montserrat"/>
              </a:rPr>
              <a:t>■ Reporting decreased quarterly revenues for the year</a:t>
            </a:r>
            <a:endParaRPr b="0" i="0" sz="2400" u="none" cap="none" strike="noStrike">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2400"/>
              <a:buFont typeface="Arial"/>
              <a:buNone/>
            </a:pPr>
            <a:r>
              <a:rPr b="0" i="0" lang="en-US" sz="2400" u="none" cap="none" strike="noStrike">
                <a:solidFill>
                  <a:schemeClr val="lt1"/>
                </a:solidFill>
                <a:latin typeface="Montserrat"/>
                <a:ea typeface="Montserrat"/>
                <a:cs typeface="Montserrat"/>
                <a:sym typeface="Montserrat"/>
              </a:rPr>
              <a:t>■ Requesting closer attention to filling out timesheets</a:t>
            </a:r>
            <a:endParaRPr b="0" i="0" sz="2400" u="none" cap="none" strike="noStrike">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2400"/>
              <a:buFont typeface="Arial"/>
              <a:buNone/>
            </a:pPr>
            <a:r>
              <a:rPr b="0" i="0" lang="en-US" sz="2400" u="none" cap="none" strike="noStrike">
                <a:solidFill>
                  <a:schemeClr val="lt1"/>
                </a:solidFill>
                <a:latin typeface="Montserrat"/>
                <a:ea typeface="Montserrat"/>
                <a:cs typeface="Montserrat"/>
                <a:sym typeface="Montserrat"/>
              </a:rPr>
              <a:t>■ Email asking for volunteers to work on a holiday</a:t>
            </a:r>
            <a:endParaRPr b="0" i="0" sz="24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g364c8792521_0_214"/>
          <p:cNvSpPr txBox="1"/>
          <p:nvPr>
            <p:ph type="title"/>
          </p:nvPr>
        </p:nvSpPr>
        <p:spPr>
          <a:xfrm>
            <a:off x="0" y="0"/>
            <a:ext cx="12192000" cy="937200"/>
          </a:xfrm>
          <a:prstGeom prst="rect">
            <a:avLst/>
          </a:prstGeom>
          <a:solidFill>
            <a:srgbClr val="3D85C6"/>
          </a:solid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1800"/>
              <a:buNone/>
            </a:pPr>
            <a:r>
              <a:rPr lang="en-US" sz="3000">
                <a:solidFill>
                  <a:schemeClr val="lt1"/>
                </a:solidFill>
                <a:latin typeface="Montserrat"/>
                <a:ea typeface="Montserrat"/>
                <a:cs typeface="Montserrat"/>
                <a:sym typeface="Montserrat"/>
              </a:rPr>
              <a:t>Types of Messages</a:t>
            </a:r>
            <a:endParaRPr sz="3000">
              <a:solidFill>
                <a:schemeClr val="lt1"/>
              </a:solidFill>
              <a:latin typeface="Montserrat"/>
              <a:ea typeface="Montserrat"/>
              <a:cs typeface="Montserrat"/>
              <a:sym typeface="Montserrat"/>
            </a:endParaRPr>
          </a:p>
        </p:txBody>
      </p:sp>
      <p:sp>
        <p:nvSpPr>
          <p:cNvPr id="525" name="Google Shape;525;g364c8792521_0_214"/>
          <p:cNvSpPr txBox="1"/>
          <p:nvPr>
            <p:ph idx="1" type="body"/>
          </p:nvPr>
        </p:nvSpPr>
        <p:spPr>
          <a:xfrm>
            <a:off x="8128000" y="937200"/>
            <a:ext cx="4064100" cy="5920800"/>
          </a:xfrm>
          <a:prstGeom prst="rect">
            <a:avLst/>
          </a:prstGeom>
          <a:solidFill>
            <a:srgbClr val="E5EBE3"/>
          </a:solid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rPr lang="en-US">
                <a:latin typeface="Montserrat"/>
                <a:ea typeface="Montserrat"/>
                <a:cs typeface="Montserrat"/>
                <a:sym typeface="Montserrat"/>
              </a:rPr>
              <a:t>Persuasive messages </a:t>
            </a:r>
            <a:endParaRPr>
              <a:latin typeface="Montserrat"/>
              <a:ea typeface="Montserrat"/>
              <a:cs typeface="Montserrat"/>
              <a:sym typeface="Montserrat"/>
            </a:endParaRPr>
          </a:p>
        </p:txBody>
      </p:sp>
      <p:sp>
        <p:nvSpPr>
          <p:cNvPr id="526" name="Google Shape;526;g364c8792521_0_214"/>
          <p:cNvSpPr txBox="1"/>
          <p:nvPr/>
        </p:nvSpPr>
        <p:spPr>
          <a:xfrm>
            <a:off x="979700" y="2285992"/>
            <a:ext cx="10947300" cy="2678100"/>
          </a:xfrm>
          <a:prstGeom prst="rect">
            <a:avLst/>
          </a:prstGeom>
          <a:solidFill>
            <a:srgbClr val="134F5C"/>
          </a:solid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400"/>
              <a:buFont typeface="Arial"/>
              <a:buNone/>
            </a:pPr>
            <a:r>
              <a:rPr b="0" i="0" lang="en-US" sz="2400" u="none" cap="none" strike="noStrike">
                <a:solidFill>
                  <a:schemeClr val="lt1"/>
                </a:solidFill>
                <a:latin typeface="Montserrat"/>
                <a:ea typeface="Montserrat"/>
                <a:cs typeface="Montserrat"/>
                <a:sym typeface="Montserrat"/>
              </a:rPr>
              <a:t>■ Starting a business relationship</a:t>
            </a:r>
            <a:endParaRPr b="0" i="0" sz="2400" u="none" cap="none" strike="noStrike">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2400"/>
              <a:buFont typeface="Arial"/>
              <a:buNone/>
            </a:pPr>
            <a:r>
              <a:rPr b="0" i="0" lang="en-US" sz="2400" u="none" cap="none" strike="noStrike">
                <a:solidFill>
                  <a:schemeClr val="lt1"/>
                </a:solidFill>
                <a:latin typeface="Montserrat"/>
                <a:ea typeface="Montserrat"/>
                <a:cs typeface="Montserrat"/>
                <a:sym typeface="Montserrat"/>
              </a:rPr>
              <a:t>■ Registering complaints about products or services</a:t>
            </a:r>
            <a:endParaRPr b="0" i="0" sz="2400" u="none" cap="none" strike="noStrike">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2400"/>
              <a:buFont typeface="Arial"/>
              <a:buNone/>
            </a:pPr>
            <a:r>
              <a:rPr b="0" i="0" lang="en-US" sz="2400" u="none" cap="none" strike="noStrike">
                <a:solidFill>
                  <a:schemeClr val="lt1"/>
                </a:solidFill>
                <a:latin typeface="Montserrat"/>
                <a:ea typeface="Montserrat"/>
                <a:cs typeface="Montserrat"/>
                <a:sym typeface="Montserrat"/>
              </a:rPr>
              <a:t>■ Letter seeking repeat business (Sales)</a:t>
            </a:r>
            <a:endParaRPr b="0" i="0" sz="2400" u="none" cap="none" strike="noStrike">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2400"/>
              <a:buFont typeface="Arial"/>
              <a:buNone/>
            </a:pPr>
            <a:r>
              <a:rPr b="0" i="0" lang="en-US" sz="2400" u="none" cap="none" strike="noStrike">
                <a:solidFill>
                  <a:schemeClr val="lt1"/>
                </a:solidFill>
                <a:latin typeface="Montserrat"/>
                <a:ea typeface="Montserrat"/>
                <a:cs typeface="Montserrat"/>
                <a:sym typeface="Montserrat"/>
              </a:rPr>
              <a:t>■ Requesting funding for a training seminar</a:t>
            </a:r>
            <a:endParaRPr b="0" i="0" sz="2400" u="none" cap="none" strike="noStrike">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2400"/>
              <a:buFont typeface="Arial"/>
              <a:buNone/>
            </a:pPr>
            <a:r>
              <a:rPr b="0" i="0" lang="en-US" sz="2400" u="none" cap="none" strike="noStrike">
                <a:solidFill>
                  <a:schemeClr val="lt1"/>
                </a:solidFill>
                <a:latin typeface="Montserrat"/>
                <a:ea typeface="Montserrat"/>
                <a:cs typeface="Montserrat"/>
                <a:sym typeface="Montserrat"/>
              </a:rPr>
              <a:t>■ Explaining policy changes that may be perceived negatively</a:t>
            </a:r>
            <a:endParaRPr b="0" i="0" sz="2400" u="none" cap="none" strike="noStrike">
              <a:solidFill>
                <a:schemeClr val="lt1"/>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2400"/>
              <a:buFont typeface="Arial"/>
              <a:buNone/>
            </a:pPr>
            <a:r>
              <a:rPr b="0" i="0" lang="en-US" sz="2400" u="none" cap="none" strike="noStrike">
                <a:solidFill>
                  <a:schemeClr val="lt1"/>
                </a:solidFill>
                <a:latin typeface="Montserrat"/>
                <a:ea typeface="Montserrat"/>
                <a:cs typeface="Montserrat"/>
                <a:sym typeface="Montserrat"/>
              </a:rPr>
              <a:t>■ Encouraging employees to follow required procedures</a:t>
            </a:r>
            <a:endParaRPr b="0" i="0" sz="2400" u="none" cap="none" strike="noStrike">
              <a:solidFill>
                <a:schemeClr val="lt1"/>
              </a:solidFill>
              <a:latin typeface="Montserrat"/>
              <a:ea typeface="Montserrat"/>
              <a:cs typeface="Montserrat"/>
              <a:sym typeface="Montserrat"/>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pic>
        <p:nvPicPr>
          <p:cNvPr id="531" name="Google Shape;531;g37758a7e781_0_11"/>
          <p:cNvPicPr preferRelativeResize="0"/>
          <p:nvPr/>
        </p:nvPicPr>
        <p:blipFill rotWithShape="1">
          <a:blip r:embed="rId3">
            <a:alphaModFix/>
          </a:blip>
          <a:srcRect b="8143" l="0" r="0" t="3616"/>
          <a:stretch/>
        </p:blipFill>
        <p:spPr>
          <a:xfrm>
            <a:off x="7662600" y="0"/>
            <a:ext cx="4517241" cy="6858001"/>
          </a:xfrm>
          <a:prstGeom prst="rect">
            <a:avLst/>
          </a:prstGeom>
          <a:noFill/>
          <a:ln cap="flat" cmpd="sng" w="12700">
            <a:solidFill>
              <a:schemeClr val="dk2"/>
            </a:solidFill>
            <a:prstDash val="solid"/>
            <a:round/>
            <a:headEnd len="sm" w="sm" type="none"/>
            <a:tailEnd len="sm" w="sm" type="none"/>
          </a:ln>
        </p:spPr>
      </p:pic>
      <p:sp>
        <p:nvSpPr>
          <p:cNvPr id="532" name="Google Shape;532;g37758a7e781_0_11"/>
          <p:cNvSpPr txBox="1"/>
          <p:nvPr/>
        </p:nvSpPr>
        <p:spPr>
          <a:xfrm>
            <a:off x="373533" y="418367"/>
            <a:ext cx="6753600" cy="30324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000000"/>
                </a:solidFill>
                <a:latin typeface="Questrial"/>
                <a:ea typeface="Questrial"/>
                <a:cs typeface="Questrial"/>
                <a:sym typeface="Questrial"/>
              </a:rPr>
              <a:t>Organizational culture</a:t>
            </a:r>
            <a:r>
              <a:rPr b="0" i="0" lang="en-US" sz="1900" u="none" cap="none" strike="noStrike">
                <a:solidFill>
                  <a:srgbClr val="000000"/>
                </a:solidFill>
                <a:latin typeface="Questrial"/>
                <a:ea typeface="Questrial"/>
                <a:cs typeface="Questrial"/>
                <a:sym typeface="Questrial"/>
              </a:rPr>
              <a:t> </a:t>
            </a:r>
            <a:endParaRPr b="0" i="0" sz="1900" u="none" cap="none" strike="noStrike">
              <a:solidFill>
                <a:srgbClr val="000000"/>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rgbClr val="000000"/>
                </a:solidFill>
                <a:latin typeface="Questrial"/>
                <a:ea typeface="Questrial"/>
                <a:cs typeface="Questrial"/>
                <a:sym typeface="Questrial"/>
              </a:rPr>
              <a:t>refers to a </a:t>
            </a:r>
            <a:endParaRPr b="0" i="0" sz="1900" u="none" cap="none" strike="noStrike">
              <a:solidFill>
                <a:srgbClr val="000000"/>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2300"/>
              <a:buFont typeface="Arial"/>
              <a:buNone/>
            </a:pPr>
            <a:r>
              <a:rPr b="1" i="0" lang="en-US" sz="2300" u="none" cap="none" strike="noStrike">
                <a:solidFill>
                  <a:srgbClr val="000000"/>
                </a:solidFill>
                <a:latin typeface="Questrial"/>
                <a:ea typeface="Questrial"/>
                <a:cs typeface="Questrial"/>
                <a:sym typeface="Questrial"/>
              </a:rPr>
              <a:t>system of shared meaning</a:t>
            </a:r>
            <a:r>
              <a:rPr b="1" i="0" lang="en-US" sz="2000" u="none" cap="none" strike="noStrike">
                <a:solidFill>
                  <a:srgbClr val="000000"/>
                </a:solidFill>
                <a:latin typeface="Questrial"/>
                <a:ea typeface="Questrial"/>
                <a:cs typeface="Questrial"/>
                <a:sym typeface="Questrial"/>
              </a:rPr>
              <a:t> </a:t>
            </a:r>
            <a:endParaRPr b="1" i="0" sz="2000" u="none" cap="none" strike="noStrike">
              <a:solidFill>
                <a:srgbClr val="000000"/>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rgbClr val="000000"/>
                </a:solidFill>
                <a:latin typeface="Questrial"/>
                <a:ea typeface="Questrial"/>
                <a:cs typeface="Questrial"/>
                <a:sym typeface="Questrial"/>
              </a:rPr>
              <a:t>that includes </a:t>
            </a:r>
            <a:endParaRPr b="0" i="0" sz="1900" u="none" cap="none" strike="noStrike">
              <a:solidFill>
                <a:srgbClr val="000000"/>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2700"/>
              <a:buFont typeface="Arial"/>
              <a:buNone/>
            </a:pPr>
            <a:r>
              <a:rPr b="1" i="0" lang="en-US" sz="2700" u="none" cap="none" strike="noStrike">
                <a:solidFill>
                  <a:srgbClr val="000000"/>
                </a:solidFill>
                <a:latin typeface="Questrial"/>
                <a:ea typeface="Questrial"/>
                <a:cs typeface="Questrial"/>
                <a:sym typeface="Questrial"/>
              </a:rPr>
              <a:t>values, beliefs</a:t>
            </a:r>
            <a:r>
              <a:rPr b="0" i="0" lang="en-US" sz="1900" u="none" cap="none" strike="noStrike">
                <a:solidFill>
                  <a:srgbClr val="000000"/>
                </a:solidFill>
                <a:latin typeface="Questrial"/>
                <a:ea typeface="Questrial"/>
                <a:cs typeface="Questrial"/>
                <a:sym typeface="Questrial"/>
              </a:rPr>
              <a:t>, and </a:t>
            </a:r>
            <a:r>
              <a:rPr b="1" i="0" lang="en-US" sz="2700" u="none" cap="none" strike="noStrike">
                <a:solidFill>
                  <a:srgbClr val="000000"/>
                </a:solidFill>
                <a:latin typeface="Questrial"/>
                <a:ea typeface="Questrial"/>
                <a:cs typeface="Questrial"/>
                <a:sym typeface="Questrial"/>
              </a:rPr>
              <a:t>assumptions that characterize the organization</a:t>
            </a:r>
            <a:endParaRPr b="1" i="0" sz="2700" u="none" cap="none" strike="noStrike">
              <a:solidFill>
                <a:srgbClr val="000000"/>
              </a:solidFill>
              <a:latin typeface="Questrial"/>
              <a:ea typeface="Questrial"/>
              <a:cs typeface="Questrial"/>
              <a:sym typeface="Questrial"/>
            </a:endParaRPr>
          </a:p>
        </p:txBody>
      </p:sp>
      <p:sp>
        <p:nvSpPr>
          <p:cNvPr id="533" name="Google Shape;533;g37758a7e781_0_11"/>
          <p:cNvSpPr txBox="1"/>
          <p:nvPr/>
        </p:nvSpPr>
        <p:spPr>
          <a:xfrm>
            <a:off x="466167" y="3854833"/>
            <a:ext cx="6884700" cy="27861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3100"/>
              <a:buFont typeface="Arial"/>
              <a:buNone/>
            </a:pPr>
            <a:r>
              <a:rPr b="1" i="0" lang="en-US" sz="3100" u="none" cap="none" strike="noStrike">
                <a:solidFill>
                  <a:srgbClr val="9900FF"/>
                </a:solidFill>
                <a:latin typeface="Questrial"/>
                <a:ea typeface="Questrial"/>
                <a:cs typeface="Questrial"/>
                <a:sym typeface="Questrial"/>
              </a:rPr>
              <a:t>Values of companies </a:t>
            </a:r>
            <a:r>
              <a:rPr b="0" i="0" lang="en-US" sz="3100" u="none" cap="none" strike="noStrike">
                <a:solidFill>
                  <a:srgbClr val="9900FF"/>
                </a:solidFill>
                <a:latin typeface="Questrial"/>
                <a:ea typeface="Questrial"/>
                <a:cs typeface="Questrial"/>
                <a:sym typeface="Questrial"/>
              </a:rPr>
              <a:t>- examples? </a:t>
            </a:r>
            <a:r>
              <a:rPr b="0" i="0" lang="en-US" sz="3100" u="none" cap="none" strike="noStrike">
                <a:solidFill>
                  <a:srgbClr val="8E7CC3"/>
                </a:solidFill>
                <a:latin typeface="Questrial"/>
                <a:ea typeface="Questrial"/>
                <a:cs typeface="Questrial"/>
                <a:sym typeface="Questrial"/>
              </a:rPr>
              <a:t>Nike, Coke, FAANG, SpaceX</a:t>
            </a:r>
            <a:endParaRPr b="0" i="0" sz="3100" u="none" cap="none" strike="noStrike">
              <a:solidFill>
                <a:srgbClr val="8E7CC3"/>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3100"/>
              <a:buFont typeface="Arial"/>
              <a:buNone/>
            </a:pPr>
            <a:r>
              <a:t/>
            </a:r>
            <a:endParaRPr b="0" i="0" sz="3100" u="none" cap="none" strike="noStrike">
              <a:solidFill>
                <a:srgbClr val="9900FF"/>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674EA7"/>
                </a:solidFill>
                <a:latin typeface="Questrial"/>
                <a:ea typeface="Questrial"/>
                <a:cs typeface="Questrial"/>
                <a:sym typeface="Questrial"/>
              </a:rPr>
              <a:t>Assignment: Look up the values of the company you dream to work for or take inspiration from for your company.</a:t>
            </a:r>
            <a:endParaRPr b="0" i="0" sz="2400" u="none" cap="none" strike="noStrike">
              <a:solidFill>
                <a:srgbClr val="674EA7"/>
              </a:solidFill>
              <a:latin typeface="Questrial"/>
              <a:ea typeface="Questrial"/>
              <a:cs typeface="Questrial"/>
              <a:sym typeface="Quest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g37758a7e781_0_1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b="1" lang="en-US" sz="3300">
                <a:latin typeface="Montserrat"/>
                <a:ea typeface="Montserrat"/>
                <a:cs typeface="Montserrat"/>
                <a:sym typeface="Montserrat"/>
              </a:rPr>
              <a:t>Understanding Cultures</a:t>
            </a:r>
            <a:endParaRPr b="1" sz="3300">
              <a:latin typeface="Montserrat"/>
              <a:ea typeface="Montserrat"/>
              <a:cs typeface="Montserrat"/>
              <a:sym typeface="Montserrat"/>
            </a:endParaRPr>
          </a:p>
        </p:txBody>
      </p:sp>
      <p:sp>
        <p:nvSpPr>
          <p:cNvPr id="539" name="Google Shape;539;g37758a7e781_0_17"/>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381000" lvl="0" marL="457200" rtl="0" algn="l">
              <a:lnSpc>
                <a:spcPct val="90000"/>
              </a:lnSpc>
              <a:spcBef>
                <a:spcPts val="0"/>
              </a:spcBef>
              <a:spcAft>
                <a:spcPts val="0"/>
              </a:spcAft>
              <a:buSzPts val="2400"/>
              <a:buFont typeface="Montserrat"/>
              <a:buChar char="•"/>
            </a:pPr>
            <a:r>
              <a:rPr lang="en-US" sz="2400">
                <a:latin typeface="Montserrat"/>
                <a:ea typeface="Montserrat"/>
                <a:cs typeface="Montserrat"/>
                <a:sym typeface="Montserrat"/>
              </a:rPr>
              <a:t>All cultures have both common features and distinctive differences that must be studied. People in different cultures have different ways of thinking, different ways of acting and different expectations in communication.</a:t>
            </a:r>
            <a:endParaRPr sz="2400">
              <a:latin typeface="Montserrat"/>
              <a:ea typeface="Montserrat"/>
              <a:cs typeface="Montserrat"/>
              <a:sym typeface="Montserrat"/>
            </a:endParaRPr>
          </a:p>
          <a:p>
            <a:pPr indent="0" lvl="0" marL="457200" rtl="0" algn="l">
              <a:lnSpc>
                <a:spcPct val="90000"/>
              </a:lnSpc>
              <a:spcBef>
                <a:spcPts val="0"/>
              </a:spcBef>
              <a:spcAft>
                <a:spcPts val="0"/>
              </a:spcAft>
              <a:buSzPts val="1800"/>
              <a:buNone/>
            </a:pPr>
            <a:r>
              <a:t/>
            </a:r>
            <a:endParaRPr sz="2400">
              <a:latin typeface="Montserrat"/>
              <a:ea typeface="Montserrat"/>
              <a:cs typeface="Montserrat"/>
              <a:sym typeface="Montserrat"/>
            </a:endParaRPr>
          </a:p>
          <a:p>
            <a:pPr indent="-381000" lvl="0" marL="457200" rtl="0" algn="l">
              <a:lnSpc>
                <a:spcPct val="90000"/>
              </a:lnSpc>
              <a:spcBef>
                <a:spcPts val="1000"/>
              </a:spcBef>
              <a:spcAft>
                <a:spcPts val="0"/>
              </a:spcAft>
              <a:buSzPts val="2400"/>
              <a:buFont typeface="Montserrat"/>
              <a:buChar char="•"/>
            </a:pPr>
            <a:r>
              <a:rPr lang="en-US" sz="2400">
                <a:latin typeface="Montserrat"/>
                <a:ea typeface="Montserrat"/>
                <a:cs typeface="Montserrat"/>
                <a:sym typeface="Montserrat"/>
              </a:rPr>
              <a:t>One of the ways to study cultural differences is through the concepts of </a:t>
            </a:r>
            <a:r>
              <a:rPr lang="en-US" sz="2400" u="sng">
                <a:latin typeface="Montserrat"/>
                <a:ea typeface="Montserrat"/>
                <a:cs typeface="Montserrat"/>
                <a:sym typeface="Montserrat"/>
              </a:rPr>
              <a:t>high-context cultures</a:t>
            </a:r>
            <a:r>
              <a:rPr lang="en-US" sz="2400">
                <a:latin typeface="Montserrat"/>
                <a:ea typeface="Montserrat"/>
                <a:cs typeface="Montserrat"/>
                <a:sym typeface="Montserrat"/>
              </a:rPr>
              <a:t> and </a:t>
            </a:r>
            <a:r>
              <a:rPr lang="en-US" sz="2400" u="sng">
                <a:latin typeface="Montserrat"/>
                <a:ea typeface="Montserrat"/>
                <a:cs typeface="Montserrat"/>
                <a:sym typeface="Montserrat"/>
              </a:rPr>
              <a:t>low-context cultures</a:t>
            </a:r>
            <a:r>
              <a:rPr lang="en-US" sz="2400">
                <a:latin typeface="Montserrat"/>
                <a:ea typeface="Montserrat"/>
                <a:cs typeface="Montserrat"/>
                <a:sym typeface="Montserrat"/>
              </a:rPr>
              <a:t>. </a:t>
            </a:r>
            <a:endParaRPr sz="2400">
              <a:latin typeface="Montserrat"/>
              <a:ea typeface="Montserrat"/>
              <a:cs typeface="Montserrat"/>
              <a:sym typeface="Montserrat"/>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g37758a7e781_0_22"/>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b="1" lang="en-US" sz="3600">
                <a:latin typeface="Montserrat"/>
                <a:ea typeface="Montserrat"/>
                <a:cs typeface="Montserrat"/>
                <a:sym typeface="Montserrat"/>
              </a:rPr>
              <a:t>High-Context Cultures</a:t>
            </a:r>
            <a:endParaRPr b="1" sz="3600">
              <a:latin typeface="Montserrat"/>
              <a:ea typeface="Montserrat"/>
              <a:cs typeface="Montserrat"/>
              <a:sym typeface="Montserrat"/>
            </a:endParaRPr>
          </a:p>
        </p:txBody>
      </p:sp>
      <p:sp>
        <p:nvSpPr>
          <p:cNvPr id="545" name="Google Shape;545;g37758a7e781_0_22"/>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381000" lvl="0" marL="457200" rtl="0" algn="l">
              <a:lnSpc>
                <a:spcPct val="70000"/>
              </a:lnSpc>
              <a:spcBef>
                <a:spcPts val="0"/>
              </a:spcBef>
              <a:spcAft>
                <a:spcPts val="0"/>
              </a:spcAft>
              <a:buSzPts val="2400"/>
              <a:buFont typeface="Montserrat"/>
              <a:buChar char="●"/>
            </a:pPr>
            <a:r>
              <a:rPr lang="en-US" sz="2400">
                <a:latin typeface="Montserrat"/>
                <a:ea typeface="Montserrat"/>
                <a:cs typeface="Montserrat"/>
                <a:sym typeface="Montserrat"/>
              </a:rPr>
              <a:t>High-context cultures are </a:t>
            </a:r>
            <a:r>
              <a:rPr lang="en-US" sz="2400" u="sng">
                <a:latin typeface="Montserrat"/>
                <a:ea typeface="Montserrat"/>
                <a:cs typeface="Montserrat"/>
                <a:sym typeface="Montserrat"/>
              </a:rPr>
              <a:t>fairly homogeneous</a:t>
            </a:r>
            <a:r>
              <a:rPr lang="en-US" sz="2400">
                <a:latin typeface="Montserrat"/>
                <a:ea typeface="Montserrat"/>
                <a:cs typeface="Montserrat"/>
                <a:sym typeface="Montserrat"/>
              </a:rPr>
              <a:t>, with the </a:t>
            </a:r>
            <a:r>
              <a:rPr lang="en-US" sz="2400" u="sng">
                <a:latin typeface="Montserrat"/>
                <a:ea typeface="Montserrat"/>
                <a:cs typeface="Montserrat"/>
                <a:sym typeface="Montserrat"/>
              </a:rPr>
              <a:t>culture providing a high degree of context for communication</a:t>
            </a:r>
            <a:r>
              <a:rPr lang="en-US" sz="2400">
                <a:latin typeface="Montserrat"/>
                <a:ea typeface="Montserrat"/>
                <a:cs typeface="Montserrat"/>
                <a:sym typeface="Montserrat"/>
              </a:rPr>
              <a:t>. Thus, </a:t>
            </a:r>
            <a:r>
              <a:rPr b="1" lang="en-US" sz="2400">
                <a:latin typeface="Montserrat"/>
                <a:ea typeface="Montserrat"/>
                <a:cs typeface="Montserrat"/>
                <a:sym typeface="Montserrat"/>
              </a:rPr>
              <a:t>communications may be less explicit</a:t>
            </a:r>
            <a:r>
              <a:rPr lang="en-US" sz="2400">
                <a:latin typeface="Montserrat"/>
                <a:ea typeface="Montserrat"/>
                <a:cs typeface="Montserrat"/>
                <a:sym typeface="Montserrat"/>
              </a:rPr>
              <a:t> because members of the culture share characteristics such as religion, ethnic background, and education. Japan is an example of high-context culture.</a:t>
            </a:r>
            <a:endParaRPr sz="2400">
              <a:latin typeface="Montserrat"/>
              <a:ea typeface="Montserrat"/>
              <a:cs typeface="Montserrat"/>
              <a:sym typeface="Montserrat"/>
            </a:endParaRPr>
          </a:p>
          <a:p>
            <a:pPr indent="0" lvl="0" marL="457200" rtl="0" algn="l">
              <a:lnSpc>
                <a:spcPct val="70000"/>
              </a:lnSpc>
              <a:spcBef>
                <a:spcPts val="0"/>
              </a:spcBef>
              <a:spcAft>
                <a:spcPts val="0"/>
              </a:spcAft>
              <a:buSzPts val="1800"/>
              <a:buNone/>
            </a:pPr>
            <a:r>
              <a:t/>
            </a:r>
            <a:endParaRPr sz="2400">
              <a:latin typeface="Montserrat"/>
              <a:ea typeface="Montserrat"/>
              <a:cs typeface="Montserrat"/>
              <a:sym typeface="Montserrat"/>
            </a:endParaRPr>
          </a:p>
          <a:p>
            <a:pPr indent="-381000" lvl="0" marL="457200" rtl="0" algn="l">
              <a:lnSpc>
                <a:spcPct val="70000"/>
              </a:lnSpc>
              <a:spcBef>
                <a:spcPts val="0"/>
              </a:spcBef>
              <a:spcAft>
                <a:spcPts val="0"/>
              </a:spcAft>
              <a:buSzPts val="2400"/>
              <a:buFont typeface="Montserrat"/>
              <a:buChar char="●"/>
            </a:pPr>
            <a:r>
              <a:rPr lang="en-US" sz="2660">
                <a:latin typeface="Montserrat"/>
                <a:ea typeface="Montserrat"/>
                <a:cs typeface="Montserrat"/>
                <a:sym typeface="Montserrat"/>
              </a:rPr>
              <a:t>Important characteristics of high-context cultures include:</a:t>
            </a:r>
            <a:endParaRPr sz="2660">
              <a:latin typeface="Montserrat"/>
              <a:ea typeface="Montserrat"/>
              <a:cs typeface="Montserrat"/>
              <a:sym typeface="Montserrat"/>
            </a:endParaRPr>
          </a:p>
          <a:p>
            <a:pPr indent="0" lvl="0" marL="457200" rtl="0" algn="l">
              <a:lnSpc>
                <a:spcPct val="70000"/>
              </a:lnSpc>
              <a:spcBef>
                <a:spcPts val="0"/>
              </a:spcBef>
              <a:spcAft>
                <a:spcPts val="0"/>
              </a:spcAft>
              <a:buSzPts val="1800"/>
              <a:buNone/>
            </a:pPr>
            <a:r>
              <a:t/>
            </a:r>
            <a:endParaRPr sz="2660">
              <a:latin typeface="Montserrat"/>
              <a:ea typeface="Montserrat"/>
              <a:cs typeface="Montserrat"/>
              <a:sym typeface="Montserrat"/>
            </a:endParaRPr>
          </a:p>
          <a:p>
            <a:pPr indent="-381000" lvl="1" marL="914400" rtl="0" algn="l">
              <a:lnSpc>
                <a:spcPct val="70000"/>
              </a:lnSpc>
              <a:spcBef>
                <a:spcPts val="0"/>
              </a:spcBef>
              <a:spcAft>
                <a:spcPts val="0"/>
              </a:spcAft>
              <a:buSzPts val="2400"/>
              <a:buFont typeface="Montserrat"/>
              <a:buAutoNum type="alphaLcPeriod"/>
            </a:pPr>
            <a:r>
              <a:rPr lang="en-US">
                <a:latin typeface="Montserrat"/>
                <a:ea typeface="Montserrat"/>
                <a:cs typeface="Montserrat"/>
                <a:sym typeface="Montserrat"/>
              </a:rPr>
              <a:t>Community based; difference between </a:t>
            </a:r>
            <a:r>
              <a:rPr lang="en-US" u="sng">
                <a:latin typeface="Montserrat"/>
                <a:ea typeface="Montserrat"/>
                <a:cs typeface="Montserrat"/>
                <a:sym typeface="Montserrat"/>
              </a:rPr>
              <a:t>insiders</a:t>
            </a:r>
            <a:r>
              <a:rPr lang="en-US">
                <a:latin typeface="Montserrat"/>
                <a:ea typeface="Montserrat"/>
                <a:cs typeface="Montserrat"/>
                <a:sym typeface="Montserrat"/>
              </a:rPr>
              <a:t> and </a:t>
            </a:r>
            <a:r>
              <a:rPr lang="en-US" u="sng">
                <a:latin typeface="Montserrat"/>
                <a:ea typeface="Montserrat"/>
                <a:cs typeface="Montserrat"/>
                <a:sym typeface="Montserrat"/>
              </a:rPr>
              <a:t>outsiders</a:t>
            </a:r>
            <a:r>
              <a:rPr lang="en-US">
                <a:latin typeface="Montserrat"/>
                <a:ea typeface="Montserrat"/>
                <a:cs typeface="Montserrat"/>
                <a:sym typeface="Montserrat"/>
              </a:rPr>
              <a:t> </a:t>
            </a:r>
            <a:endParaRPr>
              <a:latin typeface="Montserrat"/>
              <a:ea typeface="Montserrat"/>
              <a:cs typeface="Montserrat"/>
              <a:sym typeface="Montserrat"/>
            </a:endParaRPr>
          </a:p>
          <a:p>
            <a:pPr indent="-381000" lvl="1" marL="914400" rtl="0" algn="l">
              <a:lnSpc>
                <a:spcPct val="70000"/>
              </a:lnSpc>
              <a:spcBef>
                <a:spcPts val="0"/>
              </a:spcBef>
              <a:spcAft>
                <a:spcPts val="0"/>
              </a:spcAft>
              <a:buSzPts val="2400"/>
              <a:buFont typeface="Montserrat"/>
              <a:buAutoNum type="alphaLcPeriod"/>
            </a:pPr>
            <a:r>
              <a:rPr lang="en-US">
                <a:latin typeface="Montserrat"/>
                <a:ea typeface="Montserrat"/>
                <a:cs typeface="Montserrat"/>
                <a:sym typeface="Montserrat"/>
              </a:rPr>
              <a:t>A </a:t>
            </a:r>
            <a:r>
              <a:rPr lang="en-US" u="sng">
                <a:latin typeface="Montserrat"/>
                <a:ea typeface="Montserrat"/>
                <a:cs typeface="Montserrat"/>
                <a:sym typeface="Montserrat"/>
              </a:rPr>
              <a:t>focus on maintaining relationships</a:t>
            </a:r>
            <a:r>
              <a:rPr lang="en-US">
                <a:latin typeface="Montserrat"/>
                <a:ea typeface="Montserrat"/>
                <a:cs typeface="Montserrat"/>
                <a:sym typeface="Montserrat"/>
              </a:rPr>
              <a:t>, on </a:t>
            </a:r>
            <a:r>
              <a:rPr lang="en-US" u="sng">
                <a:latin typeface="Montserrat"/>
                <a:ea typeface="Montserrat"/>
                <a:cs typeface="Montserrat"/>
                <a:sym typeface="Montserrat"/>
              </a:rPr>
              <a:t>saving face</a:t>
            </a:r>
            <a:r>
              <a:rPr lang="en-US">
                <a:latin typeface="Montserrat"/>
                <a:ea typeface="Montserrat"/>
                <a:cs typeface="Montserrat"/>
                <a:sym typeface="Montserrat"/>
              </a:rPr>
              <a:t>, and on </a:t>
            </a:r>
            <a:r>
              <a:rPr lang="en-US" u="sng">
                <a:latin typeface="Montserrat"/>
                <a:ea typeface="Montserrat"/>
                <a:cs typeface="Montserrat"/>
                <a:sym typeface="Montserrat"/>
              </a:rPr>
              <a:t>helping others save face</a:t>
            </a:r>
            <a:r>
              <a:rPr lang="en-US">
                <a:latin typeface="Montserrat"/>
                <a:ea typeface="Montserrat"/>
                <a:cs typeface="Montserrat"/>
                <a:sym typeface="Montserrat"/>
              </a:rPr>
              <a:t> </a:t>
            </a:r>
            <a:endParaRPr>
              <a:latin typeface="Montserrat"/>
              <a:ea typeface="Montserrat"/>
              <a:cs typeface="Montserrat"/>
              <a:sym typeface="Montserrat"/>
            </a:endParaRPr>
          </a:p>
          <a:p>
            <a:pPr indent="-381000" lvl="1" marL="914400" rtl="0" algn="l">
              <a:lnSpc>
                <a:spcPct val="70000"/>
              </a:lnSpc>
              <a:spcBef>
                <a:spcPts val="0"/>
              </a:spcBef>
              <a:spcAft>
                <a:spcPts val="0"/>
              </a:spcAft>
              <a:buSzPts val="2400"/>
              <a:buFont typeface="Montserrat"/>
              <a:buAutoNum type="alphaLcPeriod"/>
            </a:pPr>
            <a:r>
              <a:rPr lang="en-US">
                <a:latin typeface="Montserrat"/>
                <a:ea typeface="Montserrat"/>
                <a:cs typeface="Montserrat"/>
                <a:sym typeface="Montserrat"/>
              </a:rPr>
              <a:t>A </a:t>
            </a:r>
            <a:r>
              <a:rPr lang="en-US" u="sng">
                <a:latin typeface="Montserrat"/>
                <a:ea typeface="Montserrat"/>
                <a:cs typeface="Montserrat"/>
                <a:sym typeface="Montserrat"/>
              </a:rPr>
              <a:t>dependence on internalized cultural norms</a:t>
            </a:r>
            <a:r>
              <a:rPr lang="en-US">
                <a:latin typeface="Montserrat"/>
                <a:ea typeface="Montserrat"/>
                <a:cs typeface="Montserrat"/>
                <a:sym typeface="Montserrat"/>
              </a:rPr>
              <a:t> to govern behavior.</a:t>
            </a:r>
            <a:endParaRPr>
              <a:latin typeface="Montserrat"/>
              <a:ea typeface="Montserrat"/>
              <a:cs typeface="Montserrat"/>
              <a:sym typeface="Montserrat"/>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g37758a7e781_0_2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b="1" lang="en-US" sz="3800">
                <a:latin typeface="Montserrat"/>
                <a:ea typeface="Montserrat"/>
                <a:cs typeface="Montserrat"/>
                <a:sym typeface="Montserrat"/>
              </a:rPr>
              <a:t>Low-Context Cultures</a:t>
            </a:r>
            <a:endParaRPr b="1" sz="3800">
              <a:latin typeface="Montserrat"/>
              <a:ea typeface="Montserrat"/>
              <a:cs typeface="Montserrat"/>
              <a:sym typeface="Montserrat"/>
            </a:endParaRPr>
          </a:p>
        </p:txBody>
      </p:sp>
      <p:sp>
        <p:nvSpPr>
          <p:cNvPr id="551" name="Google Shape;551;g37758a7e781_0_27"/>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Autofit/>
          </a:bodyPr>
          <a:lstStyle/>
          <a:p>
            <a:pPr indent="-374650" lvl="0" marL="457200" rtl="0" algn="l">
              <a:lnSpc>
                <a:spcPct val="90000"/>
              </a:lnSpc>
              <a:spcBef>
                <a:spcPts val="1000"/>
              </a:spcBef>
              <a:spcAft>
                <a:spcPts val="0"/>
              </a:spcAft>
              <a:buSzPts val="2300"/>
              <a:buFont typeface="Montserrat"/>
              <a:buChar char="●"/>
            </a:pPr>
            <a:r>
              <a:rPr lang="en-US" sz="2300">
                <a:latin typeface="Montserrat"/>
                <a:ea typeface="Montserrat"/>
                <a:cs typeface="Montserrat"/>
                <a:sym typeface="Montserrat"/>
              </a:rPr>
              <a:t>Low-context cultures consist of </a:t>
            </a:r>
            <a:r>
              <a:rPr lang="en-US" sz="2300" u="sng">
                <a:latin typeface="Montserrat"/>
                <a:ea typeface="Montserrat"/>
                <a:cs typeface="Montserrat"/>
                <a:sym typeface="Montserrat"/>
              </a:rPr>
              <a:t>diverse religions</a:t>
            </a:r>
            <a:r>
              <a:rPr lang="en-US" sz="2300">
                <a:latin typeface="Montserrat"/>
                <a:ea typeface="Montserrat"/>
                <a:cs typeface="Montserrat"/>
                <a:sym typeface="Montserrat"/>
              </a:rPr>
              <a:t>, </a:t>
            </a:r>
            <a:r>
              <a:rPr lang="en-US" sz="2300" u="sng">
                <a:latin typeface="Montserrat"/>
                <a:ea typeface="Montserrat"/>
                <a:cs typeface="Montserrat"/>
                <a:sym typeface="Montserrat"/>
              </a:rPr>
              <a:t>ethnic backgrounds</a:t>
            </a:r>
            <a:r>
              <a:rPr lang="en-US" sz="2300">
                <a:latin typeface="Montserrat"/>
                <a:ea typeface="Montserrat"/>
                <a:cs typeface="Montserrat"/>
                <a:sym typeface="Montserrat"/>
              </a:rPr>
              <a:t>, and </a:t>
            </a:r>
            <a:r>
              <a:rPr lang="en-US" sz="2300" u="sng">
                <a:latin typeface="Montserrat"/>
                <a:ea typeface="Montserrat"/>
                <a:cs typeface="Montserrat"/>
                <a:sym typeface="Montserrat"/>
              </a:rPr>
              <a:t>educational levels</a:t>
            </a:r>
            <a:r>
              <a:rPr lang="en-US" sz="2300">
                <a:latin typeface="Montserrat"/>
                <a:ea typeface="Montserrat"/>
                <a:cs typeface="Montserrat"/>
                <a:sym typeface="Montserrat"/>
              </a:rPr>
              <a:t>; as a result, </a:t>
            </a:r>
            <a:r>
              <a:rPr b="1" lang="en-US" sz="2300">
                <a:latin typeface="Montserrat"/>
                <a:ea typeface="Montserrat"/>
                <a:cs typeface="Montserrat"/>
                <a:sym typeface="Montserrat"/>
              </a:rPr>
              <a:t>communication must be explicit</a:t>
            </a:r>
            <a:r>
              <a:rPr lang="en-US" sz="2300">
                <a:latin typeface="Montserrat"/>
                <a:ea typeface="Montserrat"/>
                <a:cs typeface="Montserrat"/>
                <a:sym typeface="Montserrat"/>
              </a:rPr>
              <a:t>, because members of a group cannot assume that they share knowledge or attitudes. The culture provides a low degree of context for communication. The United States is an example of a low-context culture. </a:t>
            </a:r>
            <a:endParaRPr sz="2300">
              <a:latin typeface="Montserrat"/>
              <a:ea typeface="Montserrat"/>
              <a:cs typeface="Montserrat"/>
              <a:sym typeface="Montserrat"/>
            </a:endParaRPr>
          </a:p>
          <a:p>
            <a:pPr indent="0" lvl="0" marL="457200" rtl="0" algn="l">
              <a:lnSpc>
                <a:spcPct val="90000"/>
              </a:lnSpc>
              <a:spcBef>
                <a:spcPts val="1000"/>
              </a:spcBef>
              <a:spcAft>
                <a:spcPts val="0"/>
              </a:spcAft>
              <a:buSzPts val="1800"/>
              <a:buNone/>
            </a:pPr>
            <a:r>
              <a:t/>
            </a:r>
            <a:endParaRPr sz="2300">
              <a:latin typeface="Montserrat"/>
              <a:ea typeface="Montserrat"/>
              <a:cs typeface="Montserrat"/>
              <a:sym typeface="Montserrat"/>
            </a:endParaRPr>
          </a:p>
          <a:p>
            <a:pPr indent="-381000" lvl="0" marL="457200" rtl="0" algn="l">
              <a:lnSpc>
                <a:spcPct val="90000"/>
              </a:lnSpc>
              <a:spcBef>
                <a:spcPts val="1000"/>
              </a:spcBef>
              <a:spcAft>
                <a:spcPts val="0"/>
              </a:spcAft>
              <a:buSzPts val="2400"/>
              <a:buFont typeface="Montserrat"/>
              <a:buChar char="●"/>
            </a:pPr>
            <a:r>
              <a:rPr lang="en-US" sz="2400">
                <a:latin typeface="Montserrat"/>
                <a:ea typeface="Montserrat"/>
                <a:cs typeface="Montserrat"/>
                <a:sym typeface="Montserrat"/>
              </a:rPr>
              <a:t>Important characteristics that affect communication in low-context cultures include </a:t>
            </a:r>
            <a:endParaRPr sz="2400">
              <a:latin typeface="Montserrat"/>
              <a:ea typeface="Montserrat"/>
              <a:cs typeface="Montserrat"/>
              <a:sym typeface="Montserrat"/>
            </a:endParaRPr>
          </a:p>
          <a:p>
            <a:pPr indent="-381000" lvl="1" marL="914400" rtl="0" algn="l">
              <a:lnSpc>
                <a:spcPct val="90000"/>
              </a:lnSpc>
              <a:spcBef>
                <a:spcPts val="0"/>
              </a:spcBef>
              <a:spcAft>
                <a:spcPts val="0"/>
              </a:spcAft>
              <a:buSzPts val="2400"/>
              <a:buFont typeface="Montserrat"/>
              <a:buChar char="○"/>
            </a:pPr>
            <a:r>
              <a:rPr lang="en-US" sz="2000">
                <a:latin typeface="Montserrat"/>
                <a:ea typeface="Montserrat"/>
                <a:cs typeface="Montserrat"/>
                <a:sym typeface="Montserrat"/>
              </a:rPr>
              <a:t>More individualistic, easier to enter</a:t>
            </a:r>
            <a:endParaRPr sz="2000">
              <a:latin typeface="Montserrat"/>
              <a:ea typeface="Montserrat"/>
              <a:cs typeface="Montserrat"/>
              <a:sym typeface="Montserrat"/>
            </a:endParaRPr>
          </a:p>
          <a:p>
            <a:pPr indent="-381000" lvl="1" marL="914400" rtl="0" algn="l">
              <a:lnSpc>
                <a:spcPct val="90000"/>
              </a:lnSpc>
              <a:spcBef>
                <a:spcPts val="0"/>
              </a:spcBef>
              <a:spcAft>
                <a:spcPts val="0"/>
              </a:spcAft>
              <a:buSzPts val="2400"/>
              <a:buFont typeface="Montserrat"/>
              <a:buChar char="○"/>
            </a:pPr>
            <a:r>
              <a:rPr lang="en-US" sz="2000">
                <a:latin typeface="Montserrat"/>
                <a:ea typeface="Montserrat"/>
                <a:cs typeface="Montserrat"/>
                <a:sym typeface="Montserrat"/>
              </a:rPr>
              <a:t>A </a:t>
            </a:r>
            <a:r>
              <a:rPr lang="en-US" sz="2000" u="sng">
                <a:latin typeface="Montserrat"/>
                <a:ea typeface="Montserrat"/>
                <a:cs typeface="Montserrat"/>
                <a:sym typeface="Montserrat"/>
              </a:rPr>
              <a:t>focus on actions and solving problems</a:t>
            </a:r>
            <a:r>
              <a:rPr lang="en-US" sz="2000">
                <a:latin typeface="Montserrat"/>
                <a:ea typeface="Montserrat"/>
                <a:cs typeface="Montserrat"/>
                <a:sym typeface="Montserrat"/>
              </a:rPr>
              <a:t>, with a willingness to disagree openly </a:t>
            </a:r>
            <a:endParaRPr sz="2000">
              <a:latin typeface="Montserrat"/>
              <a:ea typeface="Montserrat"/>
              <a:cs typeface="Montserrat"/>
              <a:sym typeface="Montserrat"/>
            </a:endParaRPr>
          </a:p>
          <a:p>
            <a:pPr indent="-381000" lvl="1" marL="914400" rtl="0" algn="l">
              <a:lnSpc>
                <a:spcPct val="90000"/>
              </a:lnSpc>
              <a:spcBef>
                <a:spcPts val="0"/>
              </a:spcBef>
              <a:spcAft>
                <a:spcPts val="0"/>
              </a:spcAft>
              <a:buSzPts val="2400"/>
              <a:buFont typeface="Montserrat"/>
              <a:buChar char="○"/>
            </a:pPr>
            <a:r>
              <a:rPr lang="en-US" sz="2000">
                <a:latin typeface="Montserrat"/>
                <a:ea typeface="Montserrat"/>
                <a:cs typeface="Montserrat"/>
                <a:sym typeface="Montserrat"/>
              </a:rPr>
              <a:t>A dependence on </a:t>
            </a:r>
            <a:r>
              <a:rPr lang="en-US" sz="2000" u="sng">
                <a:latin typeface="Montserrat"/>
                <a:ea typeface="Montserrat"/>
                <a:cs typeface="Montserrat"/>
                <a:sym typeface="Montserrat"/>
              </a:rPr>
              <a:t>formally established rules to govern behavior</a:t>
            </a:r>
            <a:r>
              <a:rPr lang="en-US" sz="2000">
                <a:latin typeface="Montserrat"/>
                <a:ea typeface="Montserrat"/>
                <a:cs typeface="Montserrat"/>
                <a:sym typeface="Montserrat"/>
              </a:rPr>
              <a:t> </a:t>
            </a:r>
            <a:endParaRPr sz="2000">
              <a:latin typeface="Montserrat"/>
              <a:ea typeface="Montserrat"/>
              <a:cs typeface="Montserrat"/>
              <a:sym typeface="Montserrat"/>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pic>
        <p:nvPicPr>
          <p:cNvPr descr="What are the norms in low-context culture? - Quora" id="556" name="Google Shape;556;g37758a7e781_0_32"/>
          <p:cNvPicPr preferRelativeResize="0"/>
          <p:nvPr/>
        </p:nvPicPr>
        <p:blipFill rotWithShape="1">
          <a:blip r:embed="rId3">
            <a:alphaModFix/>
          </a:blip>
          <a:srcRect b="61306" l="0" r="0" t="0"/>
          <a:stretch/>
        </p:blipFill>
        <p:spPr>
          <a:xfrm>
            <a:off x="-45700" y="359227"/>
            <a:ext cx="12262275" cy="23251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pic>
        <p:nvPicPr>
          <p:cNvPr descr="What are the norms in low-context culture? - Quora" id="561" name="Google Shape;561;g37758a7e781_0_36"/>
          <p:cNvPicPr preferRelativeResize="0"/>
          <p:nvPr/>
        </p:nvPicPr>
        <p:blipFill rotWithShape="1">
          <a:blip r:embed="rId3">
            <a:alphaModFix/>
          </a:blip>
          <a:srcRect b="0" l="0" r="0" t="0"/>
          <a:stretch/>
        </p:blipFill>
        <p:spPr>
          <a:xfrm>
            <a:off x="-45690" y="359229"/>
            <a:ext cx="12262255" cy="6008913"/>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g37758a7e781_0_40"/>
          <p:cNvSpPr txBox="1"/>
          <p:nvPr>
            <p:ph idx="1" type="body"/>
          </p:nvPr>
        </p:nvSpPr>
        <p:spPr>
          <a:xfrm>
            <a:off x="495300" y="1603850"/>
            <a:ext cx="5155200" cy="3326100"/>
          </a:xfrm>
          <a:prstGeom prst="rect">
            <a:avLst/>
          </a:prstGeom>
          <a:noFill/>
          <a:ln>
            <a:noFill/>
          </a:ln>
        </p:spPr>
        <p:txBody>
          <a:bodyPr anchorCtr="0" anchor="t" bIns="45700" lIns="91425" spcFirstLastPara="1" rIns="91425" wrap="square" tIns="45700">
            <a:noAutofit/>
          </a:bodyPr>
          <a:lstStyle/>
          <a:p>
            <a:pPr indent="0" lvl="0" marL="0" rtl="0" algn="r">
              <a:lnSpc>
                <a:spcPct val="90000"/>
              </a:lnSpc>
              <a:spcBef>
                <a:spcPts val="0"/>
              </a:spcBef>
              <a:spcAft>
                <a:spcPts val="0"/>
              </a:spcAft>
              <a:buClr>
                <a:schemeClr val="dk1"/>
              </a:buClr>
              <a:buSzPts val="3200"/>
              <a:buNone/>
            </a:pPr>
            <a:r>
              <a:rPr lang="en-US" sz="2300">
                <a:latin typeface="Montserrat"/>
                <a:ea typeface="Montserrat"/>
                <a:cs typeface="Montserrat"/>
                <a:sym typeface="Montserrat"/>
              </a:rPr>
              <a:t>The concept of </a:t>
            </a:r>
            <a:r>
              <a:rPr lang="en-US" sz="2300">
                <a:solidFill>
                  <a:srgbClr val="002060"/>
                </a:solidFill>
                <a:latin typeface="Montserrat"/>
                <a:ea typeface="Montserrat"/>
                <a:cs typeface="Montserrat"/>
                <a:sym typeface="Montserrat"/>
              </a:rPr>
              <a:t>low-context</a:t>
            </a:r>
            <a:r>
              <a:rPr lang="en-US" sz="2300">
                <a:latin typeface="Montserrat"/>
                <a:ea typeface="Montserrat"/>
                <a:cs typeface="Montserrat"/>
                <a:sym typeface="Montserrat"/>
              </a:rPr>
              <a:t> and </a:t>
            </a:r>
            <a:r>
              <a:rPr lang="en-US" sz="2300">
                <a:solidFill>
                  <a:srgbClr val="002060"/>
                </a:solidFill>
                <a:latin typeface="Montserrat"/>
                <a:ea typeface="Montserrat"/>
                <a:cs typeface="Montserrat"/>
                <a:sym typeface="Montserrat"/>
              </a:rPr>
              <a:t>high-context</a:t>
            </a:r>
            <a:r>
              <a:rPr lang="en-US" sz="2300">
                <a:latin typeface="Montserrat"/>
                <a:ea typeface="Montserrat"/>
                <a:cs typeface="Montserrat"/>
                <a:sym typeface="Montserrat"/>
              </a:rPr>
              <a:t> cultures offers a general way of thinking about how to relate to clients and colleagues in other cultures and countries, but if you find yourself working in a global, intercultural setting, you should understand the specific cultural practices of those you are working with.</a:t>
            </a:r>
            <a:endParaRPr sz="2300">
              <a:latin typeface="Montserrat"/>
              <a:ea typeface="Montserrat"/>
              <a:cs typeface="Montserrat"/>
              <a:sym typeface="Montserrat"/>
            </a:endParaRPr>
          </a:p>
        </p:txBody>
      </p:sp>
      <p:pic>
        <p:nvPicPr>
          <p:cNvPr id="568" name="Google Shape;568;g37758a7e781_0_40"/>
          <p:cNvPicPr preferRelativeResize="0"/>
          <p:nvPr/>
        </p:nvPicPr>
        <p:blipFill rotWithShape="1">
          <a:blip r:embed="rId3">
            <a:alphaModFix/>
          </a:blip>
          <a:srcRect b="0" l="0" r="0" t="0"/>
          <a:stretch/>
        </p:blipFill>
        <p:spPr>
          <a:xfrm>
            <a:off x="6105715" y="1971485"/>
            <a:ext cx="5643998" cy="2743237"/>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g37758a7e781_0_46"/>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b="1" lang="en-US" sz="3000">
                <a:latin typeface="Montserrat"/>
                <a:ea typeface="Montserrat"/>
                <a:cs typeface="Montserrat"/>
                <a:sym typeface="Montserrat"/>
              </a:rPr>
              <a:t>Guidelines for Communicating Internationally</a:t>
            </a:r>
            <a:endParaRPr b="1" sz="3000">
              <a:latin typeface="Montserrat"/>
              <a:ea typeface="Montserrat"/>
              <a:cs typeface="Montserrat"/>
              <a:sym typeface="Montserrat"/>
            </a:endParaRPr>
          </a:p>
        </p:txBody>
      </p:sp>
      <p:sp>
        <p:nvSpPr>
          <p:cNvPr id="575" name="Google Shape;575;g37758a7e781_0_46"/>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495300" lvl="0" marL="514350" rtl="0" algn="l">
              <a:lnSpc>
                <a:spcPct val="80000"/>
              </a:lnSpc>
              <a:spcBef>
                <a:spcPts val="0"/>
              </a:spcBef>
              <a:spcAft>
                <a:spcPts val="0"/>
              </a:spcAft>
              <a:buClr>
                <a:schemeClr val="dk1"/>
              </a:buClr>
              <a:buSzPts val="2900"/>
              <a:buFont typeface="Montserrat"/>
              <a:buAutoNum type="arabicPeriod"/>
            </a:pPr>
            <a:r>
              <a:rPr lang="en-US" sz="2900">
                <a:latin typeface="Montserrat"/>
                <a:ea typeface="Montserrat"/>
                <a:cs typeface="Montserrat"/>
                <a:sym typeface="Montserrat"/>
              </a:rPr>
              <a:t>Simplify grammar and style rules</a:t>
            </a:r>
            <a:endParaRPr sz="2900">
              <a:latin typeface="Montserrat"/>
              <a:ea typeface="Montserrat"/>
              <a:cs typeface="Montserrat"/>
              <a:sym typeface="Montserrat"/>
            </a:endParaRPr>
          </a:p>
          <a:p>
            <a:pPr indent="-495300" lvl="0" marL="514350" rtl="0" algn="l">
              <a:lnSpc>
                <a:spcPct val="80000"/>
              </a:lnSpc>
              <a:spcBef>
                <a:spcPts val="1000"/>
              </a:spcBef>
              <a:spcAft>
                <a:spcPts val="0"/>
              </a:spcAft>
              <a:buClr>
                <a:schemeClr val="dk1"/>
              </a:buClr>
              <a:buSzPts val="2900"/>
              <a:buFont typeface="Montserrat"/>
              <a:buAutoNum type="arabicPeriod"/>
            </a:pPr>
            <a:r>
              <a:rPr lang="en-US" sz="2900">
                <a:latin typeface="Montserrat"/>
                <a:ea typeface="Montserrat"/>
                <a:cs typeface="Montserrat"/>
                <a:sym typeface="Montserrat"/>
              </a:rPr>
              <a:t>Use simple verb tenses and verb constructions. </a:t>
            </a:r>
            <a:endParaRPr sz="2900">
              <a:latin typeface="Montserrat"/>
              <a:ea typeface="Montserrat"/>
              <a:cs typeface="Montserrat"/>
              <a:sym typeface="Montserrat"/>
            </a:endParaRPr>
          </a:p>
          <a:p>
            <a:pPr indent="-495300" lvl="0" marL="514350" rtl="0" algn="l">
              <a:lnSpc>
                <a:spcPct val="80000"/>
              </a:lnSpc>
              <a:spcBef>
                <a:spcPts val="1000"/>
              </a:spcBef>
              <a:spcAft>
                <a:spcPts val="0"/>
              </a:spcAft>
              <a:buClr>
                <a:schemeClr val="dk1"/>
              </a:buClr>
              <a:buSzPts val="2900"/>
              <a:buFont typeface="Montserrat"/>
              <a:buAutoNum type="arabicPeriod"/>
            </a:pPr>
            <a:r>
              <a:rPr lang="en-US" sz="2900">
                <a:latin typeface="Montserrat"/>
                <a:ea typeface="Montserrat"/>
                <a:cs typeface="Montserrat"/>
                <a:sym typeface="Montserrat"/>
              </a:rPr>
              <a:t>Limit vocabulary to words with clear meanings. </a:t>
            </a:r>
            <a:endParaRPr sz="2900">
              <a:latin typeface="Montserrat"/>
              <a:ea typeface="Montserrat"/>
              <a:cs typeface="Montserrat"/>
              <a:sym typeface="Montserrat"/>
            </a:endParaRPr>
          </a:p>
          <a:p>
            <a:pPr indent="-495300" lvl="0" marL="514350" rtl="0" algn="l">
              <a:lnSpc>
                <a:spcPct val="80000"/>
              </a:lnSpc>
              <a:spcBef>
                <a:spcPts val="1000"/>
              </a:spcBef>
              <a:spcAft>
                <a:spcPts val="0"/>
              </a:spcAft>
              <a:buClr>
                <a:schemeClr val="dk1"/>
              </a:buClr>
              <a:buSzPts val="2900"/>
              <a:buFont typeface="Montserrat"/>
              <a:buAutoNum type="arabicPeriod"/>
            </a:pPr>
            <a:r>
              <a:rPr lang="en-US" sz="2900">
                <a:latin typeface="Montserrat"/>
                <a:ea typeface="Montserrat"/>
                <a:cs typeface="Montserrat"/>
                <a:sym typeface="Montserrat"/>
              </a:rPr>
              <a:t>Use language and terminology consistently; per meaning.</a:t>
            </a:r>
            <a:endParaRPr sz="2900">
              <a:latin typeface="Montserrat"/>
              <a:ea typeface="Montserrat"/>
              <a:cs typeface="Montserrat"/>
              <a:sym typeface="Montserrat"/>
            </a:endParaRPr>
          </a:p>
          <a:p>
            <a:pPr indent="-495300" lvl="0" marL="514350" rtl="0" algn="l">
              <a:lnSpc>
                <a:spcPct val="80000"/>
              </a:lnSpc>
              <a:spcBef>
                <a:spcPts val="1000"/>
              </a:spcBef>
              <a:spcAft>
                <a:spcPts val="0"/>
              </a:spcAft>
              <a:buClr>
                <a:schemeClr val="dk1"/>
              </a:buClr>
              <a:buSzPts val="2900"/>
              <a:buFont typeface="Montserrat"/>
              <a:buAutoNum type="arabicPeriod"/>
            </a:pPr>
            <a:r>
              <a:rPr lang="en-US" sz="2900">
                <a:latin typeface="Montserrat"/>
                <a:ea typeface="Montserrat"/>
                <a:cs typeface="Montserrat"/>
                <a:sym typeface="Montserrat"/>
              </a:rPr>
              <a:t>Define technical terms. </a:t>
            </a:r>
            <a:endParaRPr sz="2900">
              <a:latin typeface="Montserrat"/>
              <a:ea typeface="Montserrat"/>
              <a:cs typeface="Montserrat"/>
              <a:sym typeface="Montserrat"/>
            </a:endParaRPr>
          </a:p>
          <a:p>
            <a:pPr indent="-495300" lvl="0" marL="514350" rtl="0" algn="l">
              <a:lnSpc>
                <a:spcPct val="80000"/>
              </a:lnSpc>
              <a:spcBef>
                <a:spcPts val="1000"/>
              </a:spcBef>
              <a:spcAft>
                <a:spcPts val="0"/>
              </a:spcAft>
              <a:buClr>
                <a:schemeClr val="dk1"/>
              </a:buClr>
              <a:buSzPts val="2900"/>
              <a:buFont typeface="Montserrat"/>
              <a:buAutoNum type="arabicPeriod"/>
            </a:pPr>
            <a:r>
              <a:rPr lang="en-US" sz="2900">
                <a:latin typeface="Montserrat"/>
                <a:ea typeface="Montserrat"/>
                <a:cs typeface="Montserrat"/>
                <a:sym typeface="Montserrat"/>
              </a:rPr>
              <a:t>Avoid slang terms and idioms. </a:t>
            </a:r>
            <a:endParaRPr sz="2900">
              <a:latin typeface="Montserrat"/>
              <a:ea typeface="Montserrat"/>
              <a:cs typeface="Montserrat"/>
              <a:sym typeface="Montserrat"/>
            </a:endParaRPr>
          </a:p>
          <a:p>
            <a:pPr indent="-495300" lvl="0" marL="514350" rtl="0" algn="l">
              <a:lnSpc>
                <a:spcPct val="80000"/>
              </a:lnSpc>
              <a:spcBef>
                <a:spcPts val="1000"/>
              </a:spcBef>
              <a:spcAft>
                <a:spcPts val="0"/>
              </a:spcAft>
              <a:buClr>
                <a:schemeClr val="dk1"/>
              </a:buClr>
              <a:buSzPts val="2900"/>
              <a:buFont typeface="Montserrat"/>
              <a:buAutoNum type="arabicPeriod"/>
            </a:pPr>
            <a:r>
              <a:rPr lang="en-US" sz="2900">
                <a:latin typeface="Montserrat"/>
                <a:ea typeface="Montserrat"/>
                <a:cs typeface="Montserrat"/>
                <a:sym typeface="Montserrat"/>
              </a:rPr>
              <a:t>Include visuals. Graphics are</a:t>
            </a:r>
            <a:endParaRPr sz="2900">
              <a:latin typeface="Montserrat"/>
              <a:ea typeface="Montserrat"/>
              <a:cs typeface="Montserrat"/>
              <a:sym typeface="Montserrat"/>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80" name="Shape 580"/>
        <p:cNvGrpSpPr/>
        <p:nvPr/>
      </p:nvGrpSpPr>
      <p:grpSpPr>
        <a:xfrm>
          <a:off x="0" y="0"/>
          <a:ext cx="0" cy="0"/>
          <a:chOff x="0" y="0"/>
          <a:chExt cx="0" cy="0"/>
        </a:xfrm>
      </p:grpSpPr>
      <p:sp>
        <p:nvSpPr>
          <p:cNvPr id="581" name="Google Shape;581;g37758a7e781_0_52"/>
          <p:cNvSpPr txBox="1"/>
          <p:nvPr>
            <p:ph type="title"/>
          </p:nvPr>
        </p:nvSpPr>
        <p:spPr>
          <a:xfrm>
            <a:off x="218941" y="175847"/>
            <a:ext cx="11629500" cy="13257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Times New Roman"/>
              <a:buNone/>
            </a:pPr>
            <a:r>
              <a:rPr lang="en-US"/>
              <a:t> </a:t>
            </a:r>
            <a:br>
              <a:rPr lang="en-US"/>
            </a:br>
            <a:br>
              <a:rPr lang="en-US"/>
            </a:br>
            <a:r>
              <a:rPr b="1" lang="en-US" sz="4000">
                <a:solidFill>
                  <a:srgbClr val="002060"/>
                </a:solidFill>
              </a:rPr>
              <a:t>Case Study: Intercultural Communication in a Global Business Environment</a:t>
            </a:r>
            <a:br>
              <a:rPr lang="en-US" sz="4000"/>
            </a:br>
            <a:r>
              <a:rPr lang="en-US"/>
              <a:t> </a:t>
            </a:r>
            <a:br>
              <a:rPr lang="en-US"/>
            </a:br>
            <a:endParaRPr/>
          </a:p>
        </p:txBody>
      </p:sp>
      <p:sp>
        <p:nvSpPr>
          <p:cNvPr id="582" name="Google Shape;582;g37758a7e781_0_52"/>
          <p:cNvSpPr txBox="1"/>
          <p:nvPr>
            <p:ph idx="1" type="body"/>
          </p:nvPr>
        </p:nvSpPr>
        <p:spPr>
          <a:xfrm>
            <a:off x="218940" y="1501410"/>
            <a:ext cx="11973000" cy="5356500"/>
          </a:xfrm>
          <a:prstGeom prst="rect">
            <a:avLst/>
          </a:prstGeom>
          <a:solidFill>
            <a:srgbClr val="DDEAF6"/>
          </a:solidFill>
          <a:ln>
            <a:noFill/>
          </a:ln>
        </p:spPr>
        <p:txBody>
          <a:bodyPr anchorCtr="0" anchor="t" bIns="45700" lIns="91425" spcFirstLastPara="1" rIns="91425" wrap="square" tIns="45700">
            <a:normAutofit fontScale="92500" lnSpcReduction="10000"/>
          </a:bodyPr>
          <a:lstStyle/>
          <a:p>
            <a:pPr indent="0" lvl="0" marL="0" rtl="0" algn="l">
              <a:lnSpc>
                <a:spcPct val="90000"/>
              </a:lnSpc>
              <a:spcBef>
                <a:spcPts val="0"/>
              </a:spcBef>
              <a:spcAft>
                <a:spcPts val="0"/>
              </a:spcAft>
              <a:buClr>
                <a:schemeClr val="dk1"/>
              </a:buClr>
              <a:buSzPct val="100000"/>
              <a:buNone/>
            </a:pPr>
            <a:r>
              <a:rPr lang="en-US">
                <a:latin typeface="Times New Roman"/>
                <a:ea typeface="Times New Roman"/>
                <a:cs typeface="Times New Roman"/>
                <a:sym typeface="Times New Roman"/>
              </a:rPr>
              <a:t>GlobalTech Solutions (GTS) is a multinational technology company headquartered in the United States, with offices in Europe, Asia, and South America. The company specializes in software development, IT consulting, and digital transformation services. GTS recently acquired a smaller tech firm, TechInnovate, based in Pakistan, to expand its market presence in Asia. As part of the acquisition, GTS plans to integrate TechInnovate’s employees into its global operations. This integration involves a series of virtual meetings, cross-cultural training sessions, and collaborative projects between teams in the U.S. and Pakistan.</a:t>
            </a:r>
            <a:endParaRPr/>
          </a:p>
          <a:p>
            <a:pPr indent="0" lvl="0" marL="0" rtl="0" algn="l">
              <a:lnSpc>
                <a:spcPct val="90000"/>
              </a:lnSpc>
              <a:spcBef>
                <a:spcPts val="1000"/>
              </a:spcBef>
              <a:spcAft>
                <a:spcPts val="0"/>
              </a:spcAft>
              <a:buClr>
                <a:schemeClr val="dk1"/>
              </a:buClr>
              <a:buSzPct val="100000"/>
              <a:buNone/>
            </a:pPr>
            <a:r>
              <a:rPr lang="en-US">
                <a:latin typeface="Times New Roman"/>
                <a:ea typeface="Times New Roman"/>
                <a:cs typeface="Times New Roman"/>
                <a:sym typeface="Times New Roman"/>
              </a:rPr>
              <a:t>In the first virtual meeting between the U.S. and Pakistani teams, several communication issues arise. The American team notices that their Pakistani counterparts are unusually quiet during discussions. They rarely voice their opinions or disagree with any points made. Meanwhile, the Pakistani team feels that the American team is overly direct and somewhat aggressive in their approach, which makes them uncomfortable.</a:t>
            </a:r>
            <a:endParaRPr/>
          </a:p>
          <a:p>
            <a:pPr indent="-50800" lvl="0" marL="228600" rtl="0" algn="l">
              <a:lnSpc>
                <a:spcPct val="90000"/>
              </a:lnSpc>
              <a:spcBef>
                <a:spcPts val="1000"/>
              </a:spcBef>
              <a:spcAft>
                <a:spcPts val="0"/>
              </a:spcAft>
              <a:buClr>
                <a:schemeClr val="dk1"/>
              </a:buClr>
              <a:buSzPct val="100000"/>
              <a:buNone/>
            </a:pPr>
            <a:r>
              <a:t/>
            </a:r>
            <a:endParaRPr/>
          </a:p>
          <a:p>
            <a:pPr indent="-50800"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86" name="Shape 586"/>
        <p:cNvGrpSpPr/>
        <p:nvPr/>
      </p:nvGrpSpPr>
      <p:grpSpPr>
        <a:xfrm>
          <a:off x="0" y="0"/>
          <a:ext cx="0" cy="0"/>
          <a:chOff x="0" y="0"/>
          <a:chExt cx="0" cy="0"/>
        </a:xfrm>
      </p:grpSpPr>
      <p:sp>
        <p:nvSpPr>
          <p:cNvPr id="587" name="Google Shape;587;g37758a7e781_0_58"/>
          <p:cNvSpPr txBox="1"/>
          <p:nvPr>
            <p:ph idx="1" type="body"/>
          </p:nvPr>
        </p:nvSpPr>
        <p:spPr>
          <a:xfrm>
            <a:off x="636814" y="653143"/>
            <a:ext cx="10716900" cy="5523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None/>
            </a:pPr>
            <a:r>
              <a:rPr lang="en-US" sz="3200">
                <a:latin typeface="Times New Roman"/>
                <a:ea typeface="Times New Roman"/>
                <a:cs typeface="Times New Roman"/>
                <a:sym typeface="Times New Roman"/>
              </a:rPr>
              <a:t>Key Players: </a:t>
            </a:r>
            <a:endParaRPr/>
          </a:p>
          <a:p>
            <a:pPr indent="-228600" lvl="0" marL="228600" rtl="0" algn="l">
              <a:lnSpc>
                <a:spcPct val="90000"/>
              </a:lnSpc>
              <a:spcBef>
                <a:spcPts val="1000"/>
              </a:spcBef>
              <a:spcAft>
                <a:spcPts val="0"/>
              </a:spcAft>
              <a:buClr>
                <a:schemeClr val="dk1"/>
              </a:buClr>
              <a:buSzPts val="3200"/>
              <a:buChar char="•"/>
            </a:pPr>
            <a:r>
              <a:rPr lang="en-US" sz="3200">
                <a:latin typeface="Times New Roman"/>
                <a:ea typeface="Times New Roman"/>
                <a:cs typeface="Times New Roman"/>
                <a:sym typeface="Times New Roman"/>
              </a:rPr>
              <a:t>John Davis: Project Manager from the U.S. team, known for his direct communication style.</a:t>
            </a:r>
            <a:endParaRPr/>
          </a:p>
          <a:p>
            <a:pPr indent="-228600" lvl="0" marL="228600" rtl="0" algn="l">
              <a:lnSpc>
                <a:spcPct val="90000"/>
              </a:lnSpc>
              <a:spcBef>
                <a:spcPts val="1000"/>
              </a:spcBef>
              <a:spcAft>
                <a:spcPts val="0"/>
              </a:spcAft>
              <a:buClr>
                <a:schemeClr val="dk1"/>
              </a:buClr>
              <a:buSzPts val="3200"/>
              <a:buChar char="•"/>
            </a:pPr>
            <a:r>
              <a:rPr lang="en-US" sz="3200">
                <a:latin typeface="Times New Roman"/>
                <a:ea typeface="Times New Roman"/>
                <a:cs typeface="Times New Roman"/>
                <a:sym typeface="Times New Roman"/>
              </a:rPr>
              <a:t>Saba Ali: Senior Developer from the Pakistani team, values harmony and prefers a consensus-driven approach.</a:t>
            </a:r>
            <a:endParaRPr/>
          </a:p>
          <a:p>
            <a:pPr indent="-228600" lvl="0" marL="228600" rtl="0" algn="l">
              <a:lnSpc>
                <a:spcPct val="90000"/>
              </a:lnSpc>
              <a:spcBef>
                <a:spcPts val="1000"/>
              </a:spcBef>
              <a:spcAft>
                <a:spcPts val="0"/>
              </a:spcAft>
              <a:buClr>
                <a:schemeClr val="dk1"/>
              </a:buClr>
              <a:buSzPts val="3200"/>
              <a:buChar char="•"/>
            </a:pPr>
            <a:r>
              <a:rPr lang="en-US" sz="3200">
                <a:latin typeface="Times New Roman"/>
                <a:ea typeface="Times New Roman"/>
                <a:cs typeface="Times New Roman"/>
                <a:sym typeface="Times New Roman"/>
              </a:rPr>
              <a:t>Sarah Lee: HR Manager at GTS, responsible for overseeing the integration process.</a:t>
            </a:r>
            <a:endParaRPr/>
          </a:p>
          <a:p>
            <a:pPr indent="-228600" lvl="0" marL="228600" rtl="0" algn="l">
              <a:lnSpc>
                <a:spcPct val="90000"/>
              </a:lnSpc>
              <a:spcBef>
                <a:spcPts val="1000"/>
              </a:spcBef>
              <a:spcAft>
                <a:spcPts val="0"/>
              </a:spcAft>
              <a:buClr>
                <a:schemeClr val="dk1"/>
              </a:buClr>
              <a:buSzPts val="3200"/>
              <a:buChar char="•"/>
            </a:pPr>
            <a:r>
              <a:rPr lang="en-US" sz="3200">
                <a:latin typeface="Times New Roman"/>
                <a:ea typeface="Times New Roman"/>
                <a:cs typeface="Times New Roman"/>
                <a:sym typeface="Times New Roman"/>
              </a:rPr>
              <a:t>Aslam Khan : HR Manager at TechInnovate, tasked with supporting the transition.</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91" name="Shape 591"/>
        <p:cNvGrpSpPr/>
        <p:nvPr/>
      </p:nvGrpSpPr>
      <p:grpSpPr>
        <a:xfrm>
          <a:off x="0" y="0"/>
          <a:ext cx="0" cy="0"/>
          <a:chOff x="0" y="0"/>
          <a:chExt cx="0" cy="0"/>
        </a:xfrm>
      </p:grpSpPr>
      <p:sp>
        <p:nvSpPr>
          <p:cNvPr id="592" name="Google Shape;592;g37758a7e781_0_62"/>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lang="en-US"/>
              <a:t>Questions: </a:t>
            </a:r>
            <a:endParaRPr/>
          </a:p>
        </p:txBody>
      </p:sp>
      <p:sp>
        <p:nvSpPr>
          <p:cNvPr id="593" name="Google Shape;593;g37758a7e781_0_62"/>
          <p:cNvSpPr txBox="1"/>
          <p:nvPr>
            <p:ph idx="1" type="body"/>
          </p:nvPr>
        </p:nvSpPr>
        <p:spPr>
          <a:xfrm>
            <a:off x="685800" y="1690688"/>
            <a:ext cx="11021700" cy="50205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None/>
            </a:pPr>
            <a:r>
              <a:rPr b="1" lang="en-US" sz="3200">
                <a:latin typeface="Times New Roman"/>
                <a:ea typeface="Times New Roman"/>
                <a:cs typeface="Times New Roman"/>
                <a:sym typeface="Times New Roman"/>
              </a:rPr>
              <a:t>Question 1: </a:t>
            </a:r>
            <a:r>
              <a:rPr lang="en-US" sz="3200">
                <a:latin typeface="Times New Roman"/>
                <a:ea typeface="Times New Roman"/>
                <a:cs typeface="Times New Roman"/>
                <a:sym typeface="Times New Roman"/>
              </a:rPr>
              <a:t>What are the key cultural differences in communication styles between the U.S. and Pakistani teams?</a:t>
            </a:r>
            <a:endParaRPr/>
          </a:p>
          <a:p>
            <a:pPr indent="0" lvl="0" marL="0" rtl="0" algn="l">
              <a:lnSpc>
                <a:spcPct val="90000"/>
              </a:lnSpc>
              <a:spcBef>
                <a:spcPts val="1000"/>
              </a:spcBef>
              <a:spcAft>
                <a:spcPts val="0"/>
              </a:spcAft>
              <a:buClr>
                <a:schemeClr val="dk1"/>
              </a:buClr>
              <a:buSzPts val="3200"/>
              <a:buNone/>
            </a:pPr>
            <a:r>
              <a:rPr b="1" lang="en-US" sz="3200">
                <a:latin typeface="Times New Roman"/>
                <a:ea typeface="Times New Roman"/>
                <a:cs typeface="Times New Roman"/>
                <a:sym typeface="Times New Roman"/>
              </a:rPr>
              <a:t>Question 2: </a:t>
            </a:r>
            <a:r>
              <a:rPr lang="en-US" sz="3200">
                <a:latin typeface="Times New Roman"/>
                <a:ea typeface="Times New Roman"/>
                <a:cs typeface="Times New Roman"/>
                <a:sym typeface="Times New Roman"/>
              </a:rPr>
              <a:t>How can GTS facilitate better communication between the teams?</a:t>
            </a:r>
            <a:endParaRPr/>
          </a:p>
          <a:p>
            <a:pPr indent="0" lvl="0" marL="0" rtl="0" algn="l">
              <a:lnSpc>
                <a:spcPct val="90000"/>
              </a:lnSpc>
              <a:spcBef>
                <a:spcPts val="1000"/>
              </a:spcBef>
              <a:spcAft>
                <a:spcPts val="0"/>
              </a:spcAft>
              <a:buClr>
                <a:schemeClr val="dk1"/>
              </a:buClr>
              <a:buSzPts val="3200"/>
              <a:buNone/>
            </a:pPr>
            <a:r>
              <a:rPr b="1" lang="en-US" sz="3200">
                <a:latin typeface="Times New Roman"/>
                <a:ea typeface="Times New Roman"/>
                <a:cs typeface="Times New Roman"/>
                <a:sym typeface="Times New Roman"/>
              </a:rPr>
              <a:t>Question 3:</a:t>
            </a:r>
            <a:r>
              <a:rPr lang="en-US" sz="3200">
                <a:latin typeface="Times New Roman"/>
                <a:ea typeface="Times New Roman"/>
                <a:cs typeface="Times New Roman"/>
                <a:sym typeface="Times New Roman"/>
              </a:rPr>
              <a:t>What strategies can John and Saba use to improve their collaboration?</a:t>
            </a:r>
            <a:endParaRPr/>
          </a:p>
          <a:p>
            <a:pPr indent="0" lvl="0" marL="0" rtl="0" algn="l">
              <a:lnSpc>
                <a:spcPct val="90000"/>
              </a:lnSpc>
              <a:spcBef>
                <a:spcPts val="1000"/>
              </a:spcBef>
              <a:spcAft>
                <a:spcPts val="0"/>
              </a:spcAft>
              <a:buClr>
                <a:schemeClr val="dk1"/>
              </a:buClr>
              <a:buSzPts val="3200"/>
              <a:buNone/>
            </a:pPr>
            <a:r>
              <a:rPr b="1" lang="en-US" sz="3200">
                <a:latin typeface="Times New Roman"/>
                <a:ea typeface="Times New Roman"/>
                <a:cs typeface="Times New Roman"/>
                <a:sym typeface="Times New Roman"/>
              </a:rPr>
              <a:t>Question 4: </a:t>
            </a:r>
            <a:r>
              <a:rPr lang="en-US" sz="3200">
                <a:latin typeface="Times New Roman"/>
                <a:ea typeface="Times New Roman"/>
                <a:cs typeface="Times New Roman"/>
                <a:sym typeface="Times New Roman"/>
              </a:rPr>
              <a:t>How can the HR managers, Sarah and Aslam, support a smoother integration process?</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98" name="Shape 598"/>
        <p:cNvGrpSpPr/>
        <p:nvPr/>
      </p:nvGrpSpPr>
      <p:grpSpPr>
        <a:xfrm>
          <a:off x="0" y="0"/>
          <a:ext cx="0" cy="0"/>
          <a:chOff x="0" y="0"/>
          <a:chExt cx="0" cy="0"/>
        </a:xfrm>
      </p:grpSpPr>
      <p:sp>
        <p:nvSpPr>
          <p:cNvPr id="599" name="Google Shape;599;g37758a7e781_0_6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lang="en-US"/>
              <a:t>Cultural Differences: P. 10</a:t>
            </a:r>
            <a:endParaRPr/>
          </a:p>
        </p:txBody>
      </p:sp>
      <p:graphicFrame>
        <p:nvGraphicFramePr>
          <p:cNvPr id="600" name="Google Shape;600;g37758a7e781_0_67"/>
          <p:cNvGraphicFramePr/>
          <p:nvPr/>
        </p:nvGraphicFramePr>
        <p:xfrm>
          <a:off x="485886" y="1690688"/>
          <a:ext cx="3000000" cy="3000000"/>
        </p:xfrm>
        <a:graphic>
          <a:graphicData uri="http://schemas.openxmlformats.org/drawingml/2006/table">
            <a:tbl>
              <a:tblPr bandRow="1" firstRow="1">
                <a:noFill/>
                <a:tableStyleId>{44E78BAF-AA13-4F3E-8B7A-7DB5F72B6314}</a:tableStyleId>
              </a:tblPr>
              <a:tblGrid>
                <a:gridCol w="4825425"/>
                <a:gridCol w="6530175"/>
              </a:tblGrid>
              <a:tr h="370850">
                <a:tc>
                  <a:txBody>
                    <a:bodyPr/>
                    <a:lstStyle/>
                    <a:p>
                      <a:pPr indent="0" lvl="0" marL="0" marR="0" rtl="0" algn="l">
                        <a:lnSpc>
                          <a:spcPct val="100000"/>
                        </a:lnSpc>
                        <a:spcBef>
                          <a:spcPts val="0"/>
                        </a:spcBef>
                        <a:spcAft>
                          <a:spcPts val="0"/>
                        </a:spcAft>
                        <a:buClr>
                          <a:srgbClr val="000000"/>
                        </a:buClr>
                        <a:buSzPts val="2000"/>
                        <a:buFont typeface="Arial"/>
                        <a:buNone/>
                      </a:pPr>
                      <a:r>
                        <a:rPr b="1" lang="en-US" sz="2000" u="none" cap="none" strike="noStrike"/>
                        <a:t>Big picture vs. details</a:t>
                      </a:r>
                      <a:endParaRPr b="1" sz="20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t>High-context vs. Low-context</a:t>
                      </a:r>
                      <a:endParaRPr sz="20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2000"/>
                        <a:buFont typeface="Arial"/>
                        <a:buNone/>
                      </a:pPr>
                      <a:r>
                        <a:rPr b="1" lang="en-US" sz="2000" u="none" cap="none" strike="noStrike"/>
                        <a:t>Order vs. chaos</a:t>
                      </a:r>
                      <a:endParaRPr b="1" sz="20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t>Monochronic vs. Polychronic </a:t>
                      </a:r>
                      <a:endParaRPr sz="20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2000"/>
                        <a:buFont typeface="Arial"/>
                        <a:buNone/>
                      </a:pPr>
                      <a:r>
                        <a:rPr b="1" lang="en-US" sz="2000" u="none" cap="none" strike="noStrike"/>
                        <a:t>Formal vs. informal</a:t>
                      </a:r>
                      <a:endParaRPr b="1" sz="20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t>Top-down communication vs. back and forth and up and down</a:t>
                      </a:r>
                      <a:endParaRPr sz="20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2000"/>
                        <a:buFont typeface="Arial"/>
                        <a:buNone/>
                      </a:pPr>
                      <a:r>
                        <a:rPr b="1" lang="en-US" sz="2000" u="none" cap="none" strike="noStrike"/>
                        <a:t>Motivations and rewards</a:t>
                      </a:r>
                      <a:endParaRPr b="1" sz="20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t>Personal achievement vs. financial rewards</a:t>
                      </a:r>
                      <a:endParaRPr sz="2000" u="none" cap="none" strike="noStrike"/>
                    </a:p>
                  </a:txBody>
                  <a:tcPr marT="45725" marB="45725" marR="91450" marL="91450"/>
                </a:tc>
              </a:tr>
              <a:tr h="583000">
                <a:tc>
                  <a:txBody>
                    <a:bodyPr/>
                    <a:lstStyle/>
                    <a:p>
                      <a:pPr indent="0" lvl="0" marL="0" marR="0" rtl="0" algn="l">
                        <a:lnSpc>
                          <a:spcPct val="100000"/>
                        </a:lnSpc>
                        <a:spcBef>
                          <a:spcPts val="0"/>
                        </a:spcBef>
                        <a:spcAft>
                          <a:spcPts val="0"/>
                        </a:spcAft>
                        <a:buClr>
                          <a:srgbClr val="000000"/>
                        </a:buClr>
                        <a:buSzPts val="2000"/>
                        <a:buFont typeface="Arial"/>
                        <a:buNone/>
                      </a:pPr>
                      <a:r>
                        <a:rPr b="1" lang="en-US" sz="2000" u="none" cap="none" strike="noStrike"/>
                        <a:t>Quality vs. quantity of decisions</a:t>
                      </a:r>
                      <a:endParaRPr b="1" sz="20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2000"/>
                        <a:buFont typeface="Arial"/>
                        <a:buNone/>
                      </a:pPr>
                      <a:r>
                        <a:rPr lang="en-US" sz="2000" u="none" cap="none" strike="noStrike"/>
                        <a:t>methodical process</a:t>
                      </a:r>
                      <a:endParaRPr sz="14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2000"/>
                        <a:buFont typeface="Arial"/>
                        <a:buNone/>
                      </a:pPr>
                      <a:r>
                        <a:rPr b="1" lang="en-US" sz="2000" u="none" cap="none" strike="noStrike"/>
                        <a:t>Giving and receiving feedback</a:t>
                      </a:r>
                      <a:endParaRPr b="1" sz="20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t>Negative vs. positive feedback</a:t>
                      </a:r>
                      <a:endParaRPr sz="20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2000"/>
                        <a:buFont typeface="Arial"/>
                        <a:buNone/>
                      </a:pPr>
                      <a:r>
                        <a:rPr b="1" lang="en-US" sz="2000" u="none" cap="none" strike="noStrike"/>
                        <a:t>Expressing opinions</a:t>
                      </a:r>
                      <a:endParaRPr b="1" sz="20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t>Openly disagree</a:t>
                      </a:r>
                      <a:endParaRPr sz="20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2000"/>
                        <a:buFont typeface="Arial"/>
                        <a:buNone/>
                      </a:pPr>
                      <a:r>
                        <a:rPr b="1" lang="en-US" sz="2000" u="none" cap="none" strike="noStrike"/>
                        <a:t>Role of managers</a:t>
                      </a:r>
                      <a:endParaRPr b="1" sz="20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t>Egalitarianism vs. hierarchy</a:t>
                      </a:r>
                      <a:endParaRPr sz="20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2000"/>
                        <a:buFont typeface="Arial"/>
                        <a:buNone/>
                      </a:pPr>
                      <a:r>
                        <a:rPr b="1" lang="en-US" sz="2000" u="none" cap="none" strike="noStrike"/>
                        <a:t>Willingness to sacrifice personal time</a:t>
                      </a:r>
                      <a:endParaRPr b="1" sz="20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2000"/>
                        <a:buFont typeface="Arial"/>
                        <a:buNone/>
                      </a:pPr>
                      <a:r>
                        <a:rPr lang="en-US" sz="2000" u="none" cap="none" strike="noStrike"/>
                        <a:t>forgo personal time if needed.</a:t>
                      </a:r>
                      <a:endParaRPr sz="2000" u="none" cap="none" strike="noStrike"/>
                    </a:p>
                  </a:txBody>
                  <a:tcPr marT="45725" marB="45725" marR="91450" marL="91450"/>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04" name="Shape 604"/>
        <p:cNvGrpSpPr/>
        <p:nvPr/>
      </p:nvGrpSpPr>
      <p:grpSpPr>
        <a:xfrm>
          <a:off x="0" y="0"/>
          <a:ext cx="0" cy="0"/>
          <a:chOff x="0" y="0"/>
          <a:chExt cx="0" cy="0"/>
        </a:xfrm>
      </p:grpSpPr>
      <p:sp>
        <p:nvSpPr>
          <p:cNvPr id="605" name="Google Shape;605;g37758a7e781_0_73"/>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b="1" lang="en-US"/>
              <a:t>Task</a:t>
            </a:r>
            <a:r>
              <a:rPr lang="en-US"/>
              <a:t>: </a:t>
            </a:r>
            <a:endParaRPr/>
          </a:p>
        </p:txBody>
      </p:sp>
      <p:sp>
        <p:nvSpPr>
          <p:cNvPr id="606" name="Google Shape;606;g37758a7e781_0_73"/>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Based on these variations in culture (P:10), select any two countries and compare these elements</a:t>
            </a:r>
            <a:endParaRPr/>
          </a:p>
          <a:p>
            <a:pPr indent="-228600" lvl="0" marL="228600" rtl="0" algn="l">
              <a:lnSpc>
                <a:spcPct val="90000"/>
              </a:lnSpc>
              <a:spcBef>
                <a:spcPts val="1000"/>
              </a:spcBef>
              <a:spcAft>
                <a:spcPts val="0"/>
              </a:spcAft>
              <a:buClr>
                <a:schemeClr val="dk1"/>
              </a:buClr>
              <a:buSzPts val="2800"/>
              <a:buChar char="•"/>
            </a:pPr>
            <a:r>
              <a:rPr lang="en-US"/>
              <a:t>Talk about at least 5 differences or similarities</a:t>
            </a:r>
            <a:endParaRPr/>
          </a:p>
          <a:p>
            <a:pPr indent="-228600" lvl="0" marL="228600" rtl="0" algn="l">
              <a:lnSpc>
                <a:spcPct val="90000"/>
              </a:lnSpc>
              <a:spcBef>
                <a:spcPts val="1000"/>
              </a:spcBef>
              <a:spcAft>
                <a:spcPts val="0"/>
              </a:spcAft>
              <a:buClr>
                <a:schemeClr val="dk1"/>
              </a:buClr>
              <a:buSzPts val="2800"/>
              <a:buChar char="•"/>
            </a:pPr>
            <a:r>
              <a:rPr lang="en-US"/>
              <a:t>Examples could be in form of images, videos or case studies</a:t>
            </a:r>
            <a:endParaRPr/>
          </a:p>
          <a:p>
            <a:pPr indent="-228600" lvl="0" marL="228600" rtl="0" algn="l">
              <a:lnSpc>
                <a:spcPct val="90000"/>
              </a:lnSpc>
              <a:spcBef>
                <a:spcPts val="1000"/>
              </a:spcBef>
              <a:spcAft>
                <a:spcPts val="0"/>
              </a:spcAft>
              <a:buClr>
                <a:schemeClr val="dk1"/>
              </a:buClr>
              <a:buSzPts val="2800"/>
              <a:buChar char="•"/>
            </a:pPr>
            <a:r>
              <a:rPr lang="en-US"/>
              <a:t>Submit a write up (350 words)</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2E9"/>
        </a:solidFill>
      </p:bgPr>
    </p:bg>
    <p:spTree>
      <p:nvGrpSpPr>
        <p:cNvPr id="610" name="Shape 610"/>
        <p:cNvGrpSpPr/>
        <p:nvPr/>
      </p:nvGrpSpPr>
      <p:grpSpPr>
        <a:xfrm>
          <a:off x="0" y="0"/>
          <a:ext cx="0" cy="0"/>
          <a:chOff x="0" y="0"/>
          <a:chExt cx="0" cy="0"/>
        </a:xfrm>
      </p:grpSpPr>
      <p:sp>
        <p:nvSpPr>
          <p:cNvPr id="611" name="Google Shape;611;g37758a7e781_0_78"/>
          <p:cNvSpPr txBox="1"/>
          <p:nvPr>
            <p:ph idx="1" type="body"/>
          </p:nvPr>
        </p:nvSpPr>
        <p:spPr>
          <a:xfrm>
            <a:off x="1657350" y="1392800"/>
            <a:ext cx="88773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None/>
            </a:pPr>
            <a:r>
              <a:t/>
            </a:r>
            <a:endParaRPr sz="3800">
              <a:latin typeface="Montserrat"/>
              <a:ea typeface="Montserrat"/>
              <a:cs typeface="Montserrat"/>
              <a:sym typeface="Montserrat"/>
            </a:endParaRPr>
          </a:p>
          <a:p>
            <a:pPr indent="0" lvl="0" marL="0" rtl="0" algn="l">
              <a:lnSpc>
                <a:spcPct val="90000"/>
              </a:lnSpc>
              <a:spcBef>
                <a:spcPts val="0"/>
              </a:spcBef>
              <a:spcAft>
                <a:spcPts val="0"/>
              </a:spcAft>
              <a:buClr>
                <a:schemeClr val="dk1"/>
              </a:buClr>
              <a:buSzPts val="3600"/>
              <a:buNone/>
            </a:pPr>
            <a:r>
              <a:t/>
            </a:r>
            <a:endParaRPr sz="3800">
              <a:latin typeface="Montserrat"/>
              <a:ea typeface="Montserrat"/>
              <a:cs typeface="Montserrat"/>
              <a:sym typeface="Montserrat"/>
            </a:endParaRPr>
          </a:p>
          <a:p>
            <a:pPr indent="0" lvl="0" marL="0" rtl="0" algn="ctr">
              <a:lnSpc>
                <a:spcPct val="90000"/>
              </a:lnSpc>
              <a:spcBef>
                <a:spcPts val="0"/>
              </a:spcBef>
              <a:spcAft>
                <a:spcPts val="0"/>
              </a:spcAft>
              <a:buClr>
                <a:schemeClr val="dk1"/>
              </a:buClr>
              <a:buSzPts val="3600"/>
              <a:buNone/>
            </a:pPr>
            <a:r>
              <a:rPr lang="en-US" sz="4000">
                <a:latin typeface="Montserrat"/>
                <a:ea typeface="Montserrat"/>
                <a:cs typeface="Montserrat"/>
                <a:sym typeface="Montserrat"/>
              </a:rPr>
              <a:t>“Ethics is the</a:t>
            </a:r>
            <a:r>
              <a:rPr b="1" lang="en-US" sz="4000">
                <a:latin typeface="Montserrat"/>
                <a:ea typeface="Montserrat"/>
                <a:cs typeface="Montserrat"/>
                <a:sym typeface="Montserrat"/>
              </a:rPr>
              <a:t> </a:t>
            </a:r>
            <a:r>
              <a:rPr lang="en-US" sz="4000">
                <a:latin typeface="Montserrat"/>
                <a:ea typeface="Montserrat"/>
                <a:cs typeface="Montserrat"/>
                <a:sym typeface="Montserrat"/>
              </a:rPr>
              <a:t>discipline concerned</a:t>
            </a:r>
            <a:r>
              <a:rPr b="1" lang="en-US" sz="4000">
                <a:latin typeface="Montserrat"/>
                <a:ea typeface="Montserrat"/>
                <a:cs typeface="Montserrat"/>
                <a:sym typeface="Montserrat"/>
              </a:rPr>
              <a:t> </a:t>
            </a:r>
            <a:r>
              <a:rPr lang="en-US" sz="4000">
                <a:latin typeface="Montserrat"/>
                <a:ea typeface="Montserrat"/>
                <a:cs typeface="Montserrat"/>
                <a:sym typeface="Montserrat"/>
              </a:rPr>
              <a:t>with what is </a:t>
            </a:r>
            <a:r>
              <a:rPr b="1" lang="en-US" sz="4000">
                <a:latin typeface="Montserrat"/>
                <a:ea typeface="Montserrat"/>
                <a:cs typeface="Montserrat"/>
                <a:sym typeface="Montserrat"/>
              </a:rPr>
              <a:t>morally good and bad, </a:t>
            </a:r>
            <a:r>
              <a:rPr i="1" lang="en-US" sz="4000">
                <a:latin typeface="Montserrat"/>
                <a:ea typeface="Montserrat"/>
                <a:cs typeface="Montserrat"/>
                <a:sym typeface="Montserrat"/>
              </a:rPr>
              <a:t>right and wrong</a:t>
            </a:r>
            <a:r>
              <a:rPr b="1" lang="en-US" sz="4000">
                <a:latin typeface="Montserrat"/>
                <a:ea typeface="Montserrat"/>
                <a:cs typeface="Montserrat"/>
                <a:sym typeface="Montserrat"/>
              </a:rPr>
              <a:t>.</a:t>
            </a:r>
            <a:r>
              <a:rPr lang="en-US" sz="4000">
                <a:latin typeface="Montserrat"/>
                <a:ea typeface="Montserrat"/>
                <a:cs typeface="Montserrat"/>
                <a:sym typeface="Montserrat"/>
              </a:rPr>
              <a:t>”</a:t>
            </a:r>
            <a:endParaRPr sz="4000">
              <a:latin typeface="Montserrat"/>
              <a:ea typeface="Montserrat"/>
              <a:cs typeface="Montserrat"/>
              <a:sym typeface="Montserrat"/>
            </a:endParaRPr>
          </a:p>
        </p:txBody>
      </p:sp>
      <p:sp>
        <p:nvSpPr>
          <p:cNvPr id="612" name="Google Shape;612;g37758a7e781_0_78"/>
          <p:cNvSpPr txBox="1"/>
          <p:nvPr/>
        </p:nvSpPr>
        <p:spPr>
          <a:xfrm>
            <a:off x="5559000" y="6176975"/>
            <a:ext cx="6633000" cy="6003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rgbClr val="000000"/>
              </a:buClr>
              <a:buSzPts val="3000"/>
              <a:buFont typeface="Arial"/>
              <a:buNone/>
            </a:pPr>
            <a:r>
              <a:rPr b="0" i="1" lang="en-US" sz="3000" u="none" cap="none" strike="noStrike">
                <a:solidFill>
                  <a:schemeClr val="dk1"/>
                </a:solidFill>
                <a:latin typeface="Montserrat"/>
                <a:ea typeface="Montserrat"/>
                <a:cs typeface="Montserrat"/>
                <a:sym typeface="Montserrat"/>
              </a:rPr>
              <a:t>Encyclopedia Britannica</a:t>
            </a:r>
            <a:endParaRPr b="0" i="1" sz="800" u="none" cap="none" strike="noStrike">
              <a:solidFill>
                <a:srgbClr val="000000"/>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g37758a7e781_0_83"/>
          <p:cNvSpPr txBox="1"/>
          <p:nvPr>
            <p:ph idx="1" type="body"/>
          </p:nvPr>
        </p:nvSpPr>
        <p:spPr>
          <a:xfrm>
            <a:off x="391886" y="489856"/>
            <a:ext cx="11609700" cy="63681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None/>
            </a:pPr>
            <a:r>
              <a:t/>
            </a:r>
            <a:endParaRPr>
              <a:latin typeface="Montserrat"/>
              <a:ea typeface="Montserrat"/>
              <a:cs typeface="Montserrat"/>
              <a:sym typeface="Montserrat"/>
            </a:endParaRPr>
          </a:p>
          <a:p>
            <a:pPr indent="0" lvl="0" marL="0" rtl="0" algn="l">
              <a:lnSpc>
                <a:spcPct val="90000"/>
              </a:lnSpc>
              <a:spcBef>
                <a:spcPts val="0"/>
              </a:spcBef>
              <a:spcAft>
                <a:spcPts val="0"/>
              </a:spcAft>
              <a:buClr>
                <a:schemeClr val="dk1"/>
              </a:buClr>
              <a:buSzPts val="3200"/>
              <a:buNone/>
            </a:pPr>
            <a:r>
              <a:t/>
            </a:r>
            <a:endParaRPr>
              <a:latin typeface="Montserrat"/>
              <a:ea typeface="Montserrat"/>
              <a:cs typeface="Montserrat"/>
              <a:sym typeface="Montserrat"/>
            </a:endParaRPr>
          </a:p>
          <a:p>
            <a:pPr indent="0" lvl="0" marL="0" rtl="0" algn="l">
              <a:lnSpc>
                <a:spcPct val="90000"/>
              </a:lnSpc>
              <a:spcBef>
                <a:spcPts val="0"/>
              </a:spcBef>
              <a:spcAft>
                <a:spcPts val="0"/>
              </a:spcAft>
              <a:buClr>
                <a:schemeClr val="dk1"/>
              </a:buClr>
              <a:buSzPts val="3200"/>
              <a:buNone/>
            </a:pPr>
            <a:r>
              <a:rPr b="1" lang="en-US">
                <a:latin typeface="Montserrat"/>
                <a:ea typeface="Montserrat"/>
                <a:cs typeface="Montserrat"/>
                <a:sym typeface="Montserrat"/>
              </a:rPr>
              <a:t>Ethical behavior</a:t>
            </a:r>
            <a:r>
              <a:rPr lang="en-US">
                <a:latin typeface="Montserrat"/>
                <a:ea typeface="Montserrat"/>
                <a:cs typeface="Montserrat"/>
                <a:sym typeface="Montserrat"/>
              </a:rPr>
              <a:t> enables employees to act with equity, fairness, impartiality and respect for the rights of others.</a:t>
            </a:r>
            <a:endParaRPr sz="2400">
              <a:latin typeface="Montserrat"/>
              <a:ea typeface="Montserrat"/>
              <a:cs typeface="Montserrat"/>
              <a:sym typeface="Montserrat"/>
            </a:endParaRPr>
          </a:p>
          <a:p>
            <a:pPr indent="0" lvl="0" marL="0" rtl="0" algn="l">
              <a:lnSpc>
                <a:spcPct val="90000"/>
              </a:lnSpc>
              <a:spcBef>
                <a:spcPts val="1000"/>
              </a:spcBef>
              <a:spcAft>
                <a:spcPts val="0"/>
              </a:spcAft>
              <a:buClr>
                <a:schemeClr val="dk1"/>
              </a:buClr>
              <a:buSzPts val="3200"/>
              <a:buNone/>
            </a:pPr>
            <a:r>
              <a:t/>
            </a:r>
            <a:endParaRPr>
              <a:latin typeface="Montserrat"/>
              <a:ea typeface="Montserrat"/>
              <a:cs typeface="Montserrat"/>
              <a:sym typeface="Montserrat"/>
            </a:endParaRPr>
          </a:p>
          <a:p>
            <a:pPr indent="0" lvl="0" marL="0" rtl="0" algn="l">
              <a:lnSpc>
                <a:spcPct val="90000"/>
              </a:lnSpc>
              <a:spcBef>
                <a:spcPts val="1000"/>
              </a:spcBef>
              <a:spcAft>
                <a:spcPts val="0"/>
              </a:spcAft>
              <a:buClr>
                <a:schemeClr val="dk1"/>
              </a:buClr>
              <a:buSzPts val="3200"/>
              <a:buNone/>
            </a:pPr>
            <a:r>
              <a:rPr lang="en-US">
                <a:latin typeface="Montserrat"/>
                <a:ea typeface="Montserrat"/>
                <a:cs typeface="Montserrat"/>
                <a:sym typeface="Montserrat"/>
              </a:rPr>
              <a:t>Ethical business communicators make choices that enable them to: </a:t>
            </a:r>
            <a:endParaRPr sz="2400">
              <a:latin typeface="Montserrat"/>
              <a:ea typeface="Montserrat"/>
              <a:cs typeface="Montserrat"/>
              <a:sym typeface="Montserrat"/>
            </a:endParaRPr>
          </a:p>
          <a:p>
            <a:pPr indent="-406400" lvl="0" marL="457200" rtl="0" algn="l">
              <a:lnSpc>
                <a:spcPct val="90000"/>
              </a:lnSpc>
              <a:spcBef>
                <a:spcPts val="500"/>
              </a:spcBef>
              <a:spcAft>
                <a:spcPts val="0"/>
              </a:spcAft>
              <a:buSzPts val="2800"/>
              <a:buFont typeface="Montserrat"/>
              <a:buChar char="●"/>
            </a:pPr>
            <a:r>
              <a:rPr lang="en-US">
                <a:latin typeface="Montserrat"/>
                <a:ea typeface="Montserrat"/>
                <a:cs typeface="Montserrat"/>
                <a:sym typeface="Montserrat"/>
              </a:rPr>
              <a:t>F</a:t>
            </a:r>
            <a:r>
              <a:rPr lang="en-US" sz="2800">
                <a:latin typeface="Montserrat"/>
                <a:ea typeface="Montserrat"/>
                <a:cs typeface="Montserrat"/>
                <a:sym typeface="Montserrat"/>
              </a:rPr>
              <a:t>ollow the organization's policies, procedures, guidelines and code of ethics </a:t>
            </a:r>
            <a:endParaRPr sz="2000">
              <a:latin typeface="Montserrat"/>
              <a:ea typeface="Montserrat"/>
              <a:cs typeface="Montserrat"/>
              <a:sym typeface="Montserrat"/>
            </a:endParaRPr>
          </a:p>
          <a:p>
            <a:pPr indent="-406400" lvl="0" marL="457200" rtl="0" algn="l">
              <a:lnSpc>
                <a:spcPct val="90000"/>
              </a:lnSpc>
              <a:spcBef>
                <a:spcPts val="0"/>
              </a:spcBef>
              <a:spcAft>
                <a:spcPts val="0"/>
              </a:spcAft>
              <a:buSzPts val="2800"/>
              <a:buFont typeface="Montserrat"/>
              <a:buChar char="●"/>
            </a:pPr>
            <a:r>
              <a:rPr lang="en-US" sz="2800">
                <a:latin typeface="Montserrat"/>
                <a:ea typeface="Montserrat"/>
                <a:cs typeface="Montserrat"/>
                <a:sym typeface="Montserrat"/>
              </a:rPr>
              <a:t>Communicate factual information objectively</a:t>
            </a:r>
            <a:endParaRPr sz="2000">
              <a:latin typeface="Montserrat"/>
              <a:ea typeface="Montserrat"/>
              <a:cs typeface="Montserrat"/>
              <a:sym typeface="Montserrat"/>
            </a:endParaRPr>
          </a:p>
          <a:p>
            <a:pPr indent="-406400" lvl="0" marL="457200" rtl="0" algn="l">
              <a:lnSpc>
                <a:spcPct val="90000"/>
              </a:lnSpc>
              <a:spcBef>
                <a:spcPts val="0"/>
              </a:spcBef>
              <a:spcAft>
                <a:spcPts val="0"/>
              </a:spcAft>
              <a:buSzPts val="2800"/>
              <a:buFont typeface="Montserrat"/>
              <a:buChar char="●"/>
            </a:pPr>
            <a:r>
              <a:rPr lang="en-US">
                <a:latin typeface="Montserrat"/>
                <a:ea typeface="Montserrat"/>
                <a:cs typeface="Montserrat"/>
                <a:sym typeface="Montserrat"/>
              </a:rPr>
              <a:t>A</a:t>
            </a:r>
            <a:r>
              <a:rPr lang="en-US" sz="2800">
                <a:latin typeface="Montserrat"/>
                <a:ea typeface="Montserrat"/>
                <a:cs typeface="Montserrat"/>
                <a:sym typeface="Montserrat"/>
              </a:rPr>
              <a:t>void using distortions of fact and misleading information </a:t>
            </a:r>
            <a:endParaRPr sz="2000">
              <a:latin typeface="Montserrat"/>
              <a:ea typeface="Montserrat"/>
              <a:cs typeface="Montserrat"/>
              <a:sym typeface="Montserrat"/>
            </a:endParaRPr>
          </a:p>
          <a:p>
            <a:pPr indent="-406400" lvl="0" marL="457200" rtl="0" algn="l">
              <a:lnSpc>
                <a:spcPct val="90000"/>
              </a:lnSpc>
              <a:spcBef>
                <a:spcPts val="0"/>
              </a:spcBef>
              <a:spcAft>
                <a:spcPts val="0"/>
              </a:spcAft>
              <a:buSzPts val="2800"/>
              <a:buFont typeface="Montserrat"/>
              <a:buChar char="●"/>
            </a:pPr>
            <a:r>
              <a:rPr lang="en-US">
                <a:latin typeface="Montserrat"/>
                <a:ea typeface="Montserrat"/>
                <a:cs typeface="Montserrat"/>
                <a:sym typeface="Montserrat"/>
              </a:rPr>
              <a:t>R</a:t>
            </a:r>
            <a:r>
              <a:rPr lang="en-US" sz="2800">
                <a:latin typeface="Montserrat"/>
                <a:ea typeface="Montserrat"/>
                <a:cs typeface="Montserrat"/>
                <a:sym typeface="Montserrat"/>
              </a:rPr>
              <a:t>espect the dignity of each person, irrespective of ethnic background, religion or gender</a:t>
            </a:r>
            <a:endParaRPr sz="2000">
              <a:latin typeface="Montserrat"/>
              <a:ea typeface="Montserrat"/>
              <a:cs typeface="Montserrat"/>
              <a:sym typeface="Montserrat"/>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74EA7"/>
        </a:solidFill>
      </p:bgPr>
    </p:bg>
    <p:spTree>
      <p:nvGrpSpPr>
        <p:cNvPr id="622" name="Shape 622"/>
        <p:cNvGrpSpPr/>
        <p:nvPr/>
      </p:nvGrpSpPr>
      <p:grpSpPr>
        <a:xfrm>
          <a:off x="0" y="0"/>
          <a:ext cx="0" cy="0"/>
          <a:chOff x="0" y="0"/>
          <a:chExt cx="0" cy="0"/>
        </a:xfrm>
      </p:grpSpPr>
      <p:sp>
        <p:nvSpPr>
          <p:cNvPr id="623" name="Google Shape;623;g37758a7e781_0_87"/>
          <p:cNvSpPr txBox="1"/>
          <p:nvPr>
            <p:ph idx="1" type="body"/>
          </p:nvPr>
        </p:nvSpPr>
        <p:spPr>
          <a:xfrm>
            <a:off x="749709" y="594135"/>
            <a:ext cx="10783500" cy="2731500"/>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lnSpc>
                <a:spcPct val="150000"/>
              </a:lnSpc>
              <a:spcBef>
                <a:spcPts val="0"/>
              </a:spcBef>
              <a:spcAft>
                <a:spcPts val="0"/>
              </a:spcAft>
              <a:buClr>
                <a:schemeClr val="dk1"/>
              </a:buClr>
              <a:buSzPct val="100000"/>
              <a:buNone/>
            </a:pPr>
            <a:r>
              <a:rPr lang="en-US" sz="3100">
                <a:solidFill>
                  <a:srgbClr val="FFFFFF"/>
                </a:solidFill>
                <a:latin typeface="Montserrat"/>
                <a:ea typeface="Montserrat"/>
                <a:cs typeface="Montserrat"/>
                <a:sym typeface="Montserrat"/>
              </a:rPr>
              <a:t>“Our product is just what you need”</a:t>
            </a:r>
            <a:endParaRPr>
              <a:solidFill>
                <a:srgbClr val="FFFFFF"/>
              </a:solidFill>
              <a:latin typeface="Montserrat"/>
              <a:ea typeface="Montserrat"/>
              <a:cs typeface="Montserrat"/>
              <a:sym typeface="Montserrat"/>
            </a:endParaRPr>
          </a:p>
          <a:p>
            <a:pPr indent="0" lvl="0" marL="0" rtl="0" algn="l">
              <a:lnSpc>
                <a:spcPct val="150000"/>
              </a:lnSpc>
              <a:spcBef>
                <a:spcPts val="1000"/>
              </a:spcBef>
              <a:spcAft>
                <a:spcPts val="0"/>
              </a:spcAft>
              <a:buClr>
                <a:schemeClr val="dk1"/>
              </a:buClr>
              <a:buSzPct val="100000"/>
              <a:buNone/>
            </a:pPr>
            <a:r>
              <a:rPr lang="en-US" sz="3100">
                <a:solidFill>
                  <a:srgbClr val="FFFFFF"/>
                </a:solidFill>
                <a:latin typeface="Montserrat"/>
                <a:ea typeface="Montserrat"/>
                <a:cs typeface="Montserrat"/>
                <a:sym typeface="Montserrat"/>
              </a:rPr>
              <a:t>“Our artificial sweetener is composed of proteins that occur naturally in the human body [amino acids].”</a:t>
            </a:r>
            <a:endParaRPr>
              <a:solidFill>
                <a:srgbClr val="FFFFFF"/>
              </a:solidFill>
              <a:latin typeface="Montserrat"/>
              <a:ea typeface="Montserrat"/>
              <a:cs typeface="Montserrat"/>
              <a:sym typeface="Montserrat"/>
            </a:endParaRPr>
          </a:p>
          <a:p>
            <a:pPr indent="0" lvl="0" marL="0" rtl="0" algn="l">
              <a:lnSpc>
                <a:spcPct val="150000"/>
              </a:lnSpc>
              <a:spcBef>
                <a:spcPts val="1000"/>
              </a:spcBef>
              <a:spcAft>
                <a:spcPts val="0"/>
              </a:spcAft>
              <a:buClr>
                <a:schemeClr val="dk1"/>
              </a:buClr>
              <a:buSzPct val="100000"/>
              <a:buNone/>
            </a:pPr>
            <a:r>
              <a:rPr lang="en-US" sz="3100">
                <a:solidFill>
                  <a:srgbClr val="FFFFFF"/>
                </a:solidFill>
                <a:latin typeface="Montserrat"/>
                <a:ea typeface="Montserrat"/>
                <a:cs typeface="Montserrat"/>
                <a:sym typeface="Montserrat"/>
              </a:rPr>
              <a:t>“Our Krunchy Cookies contain no cholesterol”</a:t>
            </a:r>
            <a:endParaRPr>
              <a:solidFill>
                <a:srgbClr val="FFFFFF"/>
              </a:solidFill>
              <a:latin typeface="Montserrat"/>
              <a:ea typeface="Montserrat"/>
              <a:cs typeface="Montserrat"/>
              <a:sym typeface="Montserrat"/>
            </a:endParaRPr>
          </a:p>
          <a:p>
            <a:pPr indent="0" lvl="0" marL="0" rtl="0" algn="l">
              <a:lnSpc>
                <a:spcPct val="90000"/>
              </a:lnSpc>
              <a:spcBef>
                <a:spcPts val="1000"/>
              </a:spcBef>
              <a:spcAft>
                <a:spcPts val="0"/>
              </a:spcAft>
              <a:buClr>
                <a:schemeClr val="dk1"/>
              </a:buClr>
              <a:buSzPct val="100000"/>
              <a:buNone/>
            </a:pPr>
            <a:r>
              <a:t/>
            </a:r>
            <a:endParaRPr>
              <a:solidFill>
                <a:srgbClr val="FFFFFF"/>
              </a:solidFill>
              <a:latin typeface="Montserrat"/>
              <a:ea typeface="Montserrat"/>
              <a:cs typeface="Montserrat"/>
              <a:sym typeface="Montserrat"/>
            </a:endParaRPr>
          </a:p>
        </p:txBody>
      </p:sp>
      <p:sp>
        <p:nvSpPr>
          <p:cNvPr id="624" name="Google Shape;624;g37758a7e781_0_87"/>
          <p:cNvSpPr txBox="1"/>
          <p:nvPr/>
        </p:nvSpPr>
        <p:spPr>
          <a:xfrm>
            <a:off x="749709" y="2978937"/>
            <a:ext cx="111081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FFFFFF"/>
                </a:solidFill>
                <a:latin typeface="Montserrat"/>
                <a:ea typeface="Montserrat"/>
                <a:cs typeface="Montserrat"/>
                <a:sym typeface="Montserrat"/>
              </a:rPr>
              <a:t>Such claims are technically accurate but misleading.</a:t>
            </a:r>
            <a:endParaRPr b="1" i="0" sz="1400" u="none" cap="none" strike="noStrike">
              <a:solidFill>
                <a:srgbClr val="FFFFFF"/>
              </a:solidFill>
              <a:latin typeface="Montserrat"/>
              <a:ea typeface="Montserrat"/>
              <a:cs typeface="Montserrat"/>
              <a:sym typeface="Montserrat"/>
            </a:endParaRPr>
          </a:p>
        </p:txBody>
      </p:sp>
      <p:sp>
        <p:nvSpPr>
          <p:cNvPr id="625" name="Google Shape;625;g37758a7e781_0_87"/>
          <p:cNvSpPr txBox="1"/>
          <p:nvPr/>
        </p:nvSpPr>
        <p:spPr>
          <a:xfrm>
            <a:off x="664649" y="3593030"/>
            <a:ext cx="10953600" cy="1108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Amino acids in certain sweeteners can alter body chemistry and cause headaches, seizures and possible brain tumors</a:t>
            </a:r>
            <a:endParaRPr b="0" i="0" sz="1400" u="none" cap="none" strike="noStrike">
              <a:solidFill>
                <a:srgbClr val="FFFFFF"/>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Montserrat"/>
              <a:ea typeface="Montserrat"/>
              <a:cs typeface="Montserrat"/>
              <a:sym typeface="Montserrat"/>
            </a:endParaRPr>
          </a:p>
        </p:txBody>
      </p:sp>
      <p:sp>
        <p:nvSpPr>
          <p:cNvPr id="626" name="Google Shape;626;g37758a7e781_0_87"/>
          <p:cNvSpPr txBox="1"/>
          <p:nvPr/>
        </p:nvSpPr>
        <p:spPr>
          <a:xfrm>
            <a:off x="652734" y="4518314"/>
            <a:ext cx="105180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Processed food snacks often contain saturated fat and trans fats, from which liver produces cholesterol</a:t>
            </a:r>
            <a:endParaRPr b="0" i="0" sz="1400" u="none" cap="none" strike="noStrike">
              <a:solidFill>
                <a:srgbClr val="FFFFFF"/>
              </a:solidFill>
              <a:latin typeface="Montserrat"/>
              <a:ea typeface="Montserrat"/>
              <a:cs typeface="Montserrat"/>
              <a:sym typeface="Montserrat"/>
            </a:endParaRPr>
          </a:p>
        </p:txBody>
      </p:sp>
      <p:sp>
        <p:nvSpPr>
          <p:cNvPr id="627" name="Google Shape;627;g37758a7e781_0_87"/>
          <p:cNvSpPr txBox="1"/>
          <p:nvPr/>
        </p:nvSpPr>
        <p:spPr>
          <a:xfrm>
            <a:off x="749700" y="5522500"/>
            <a:ext cx="105180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FFFFFF"/>
                </a:solidFill>
                <a:latin typeface="Montserrat"/>
                <a:ea typeface="Montserrat"/>
                <a:cs typeface="Montserrat"/>
                <a:sym typeface="Montserrat"/>
              </a:rPr>
              <a:t>In addition to being informative and persuasive, communicators must be ethical</a:t>
            </a:r>
            <a:r>
              <a:rPr b="1" i="0" lang="en-US" sz="1800" u="none" cap="none" strike="noStrike">
                <a:solidFill>
                  <a:srgbClr val="FFFFFF"/>
                </a:solidFill>
                <a:latin typeface="Montserrat"/>
                <a:ea typeface="Montserrat"/>
                <a:cs typeface="Montserrat"/>
                <a:sym typeface="Montserrat"/>
              </a:rPr>
              <a:t>.</a:t>
            </a:r>
            <a:endParaRPr b="1" i="0" sz="1400" u="none" cap="none" strike="noStrike">
              <a:solidFill>
                <a:srgbClr val="FFFFFF"/>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27"/>
                                        </p:tgtEl>
                                        <p:attrNameLst>
                                          <p:attrName>style.visibility</p:attrName>
                                        </p:attrNameLst>
                                      </p:cBhvr>
                                      <p:to>
                                        <p:strVal val="visible"/>
                                      </p:to>
                                    </p:set>
                                    <p:anim calcmode="lin" valueType="num">
                                      <p:cBhvr additive="base">
                                        <p:cTn dur="500"/>
                                        <p:tgtEl>
                                          <p:spTgt spid="627"/>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g37758a7e781_0_96"/>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4400"/>
              <a:buFont typeface="Times New Roman"/>
              <a:buNone/>
            </a:pPr>
            <a:r>
              <a:rPr b="1" lang="en-US" sz="3600">
                <a:solidFill>
                  <a:srgbClr val="000000"/>
                </a:solidFill>
                <a:latin typeface="Montserrat"/>
                <a:ea typeface="Montserrat"/>
                <a:cs typeface="Montserrat"/>
                <a:sym typeface="Montserrat"/>
              </a:rPr>
              <a:t>Ethics Guidelines</a:t>
            </a:r>
            <a:endParaRPr b="1" sz="3600">
              <a:latin typeface="Montserrat"/>
              <a:ea typeface="Montserrat"/>
              <a:cs typeface="Montserrat"/>
              <a:sym typeface="Montserrat"/>
            </a:endParaRPr>
          </a:p>
        </p:txBody>
      </p:sp>
      <p:sp>
        <p:nvSpPr>
          <p:cNvPr id="633" name="Google Shape;633;g37758a7e781_0_96"/>
          <p:cNvSpPr txBox="1"/>
          <p:nvPr>
            <p:ph idx="1" type="body"/>
          </p:nvPr>
        </p:nvSpPr>
        <p:spPr>
          <a:xfrm>
            <a:off x="533400" y="1455025"/>
            <a:ext cx="10515600" cy="2521200"/>
          </a:xfrm>
          <a:prstGeom prst="rect">
            <a:avLst/>
          </a:prstGeom>
          <a:noFill/>
          <a:ln>
            <a:noFill/>
          </a:ln>
        </p:spPr>
        <p:txBody>
          <a:bodyPr anchorCtr="0" anchor="t" bIns="45700" lIns="91425" spcFirstLastPara="1" rIns="91425" wrap="square" tIns="45700">
            <a:normAutofit/>
          </a:bodyPr>
          <a:lstStyle/>
          <a:p>
            <a:pPr indent="-400050" lvl="0" marL="457200" rtl="0" algn="l">
              <a:lnSpc>
                <a:spcPct val="90000"/>
              </a:lnSpc>
              <a:spcBef>
                <a:spcPts val="0"/>
              </a:spcBef>
              <a:spcAft>
                <a:spcPts val="0"/>
              </a:spcAft>
              <a:buSzPts val="2700"/>
              <a:buFont typeface="Montserrat"/>
              <a:buChar char="•"/>
            </a:pPr>
            <a:r>
              <a:rPr i="0" lang="en-US" sz="2700" u="none" strike="noStrike">
                <a:solidFill>
                  <a:srgbClr val="000000"/>
                </a:solidFill>
                <a:latin typeface="Montserrat"/>
                <a:ea typeface="Montserrat"/>
                <a:cs typeface="Montserrat"/>
                <a:sym typeface="Montserrat"/>
              </a:rPr>
              <a:t>Be honest</a:t>
            </a:r>
            <a:endParaRPr sz="1500">
              <a:latin typeface="Montserrat"/>
              <a:ea typeface="Montserrat"/>
              <a:cs typeface="Montserrat"/>
              <a:sym typeface="Montserrat"/>
            </a:endParaRPr>
          </a:p>
          <a:p>
            <a:pPr indent="-400050" lvl="0" marL="457200" rtl="0" algn="l">
              <a:lnSpc>
                <a:spcPct val="90000"/>
              </a:lnSpc>
              <a:spcBef>
                <a:spcPts val="0"/>
              </a:spcBef>
              <a:spcAft>
                <a:spcPts val="0"/>
              </a:spcAft>
              <a:buSzPts val="2700"/>
              <a:buFont typeface="Montserrat"/>
              <a:buChar char="•"/>
            </a:pPr>
            <a:r>
              <a:rPr i="0" lang="en-US" sz="2700" u="none" strike="noStrike">
                <a:solidFill>
                  <a:srgbClr val="000000"/>
                </a:solidFill>
                <a:latin typeface="Montserrat"/>
                <a:ea typeface="Montserrat"/>
                <a:cs typeface="Montserrat"/>
                <a:sym typeface="Montserrat"/>
              </a:rPr>
              <a:t>Do no harm</a:t>
            </a:r>
            <a:endParaRPr sz="1500">
              <a:latin typeface="Montserrat"/>
              <a:ea typeface="Montserrat"/>
              <a:cs typeface="Montserrat"/>
              <a:sym typeface="Montserrat"/>
            </a:endParaRPr>
          </a:p>
          <a:p>
            <a:pPr indent="-400050" lvl="0" marL="457200" rtl="0" algn="l">
              <a:lnSpc>
                <a:spcPct val="90000"/>
              </a:lnSpc>
              <a:spcBef>
                <a:spcPts val="0"/>
              </a:spcBef>
              <a:spcAft>
                <a:spcPts val="0"/>
              </a:spcAft>
              <a:buSzPts val="2700"/>
              <a:buFont typeface="Montserrat"/>
              <a:buChar char="•"/>
            </a:pPr>
            <a:r>
              <a:rPr i="0" lang="en-US" sz="2700" u="none" strike="noStrike">
                <a:solidFill>
                  <a:srgbClr val="000000"/>
                </a:solidFill>
                <a:latin typeface="Montserrat"/>
                <a:ea typeface="Montserrat"/>
                <a:cs typeface="Montserrat"/>
                <a:sym typeface="Montserrat"/>
              </a:rPr>
              <a:t>Be fair</a:t>
            </a:r>
            <a:endParaRPr sz="1500">
              <a:latin typeface="Montserrat"/>
              <a:ea typeface="Montserrat"/>
              <a:cs typeface="Montserrat"/>
              <a:sym typeface="Montserrat"/>
            </a:endParaRPr>
          </a:p>
          <a:p>
            <a:pPr indent="-400050" lvl="0" marL="457200" rtl="0" algn="l">
              <a:lnSpc>
                <a:spcPct val="90000"/>
              </a:lnSpc>
              <a:spcBef>
                <a:spcPts val="0"/>
              </a:spcBef>
              <a:spcAft>
                <a:spcPts val="0"/>
              </a:spcAft>
              <a:buSzPts val="2700"/>
              <a:buFont typeface="Montserrat"/>
              <a:buChar char="•"/>
            </a:pPr>
            <a:r>
              <a:rPr i="0" lang="en-US" sz="2700" u="none" strike="noStrike">
                <a:solidFill>
                  <a:srgbClr val="000000"/>
                </a:solidFill>
                <a:latin typeface="Montserrat"/>
                <a:ea typeface="Montserrat"/>
                <a:cs typeface="Montserrat"/>
                <a:sym typeface="Montserrat"/>
              </a:rPr>
              <a:t>Honor intellectual property rights</a:t>
            </a:r>
            <a:endParaRPr sz="1500">
              <a:latin typeface="Montserrat"/>
              <a:ea typeface="Montserrat"/>
              <a:cs typeface="Montserrat"/>
              <a:sym typeface="Montserrat"/>
            </a:endParaRPr>
          </a:p>
          <a:p>
            <a:pPr indent="-400050" lvl="0" marL="457200" rtl="0" algn="l">
              <a:lnSpc>
                <a:spcPct val="90000"/>
              </a:lnSpc>
              <a:spcBef>
                <a:spcPts val="0"/>
              </a:spcBef>
              <a:spcAft>
                <a:spcPts val="0"/>
              </a:spcAft>
              <a:buSzPts val="2700"/>
              <a:buFont typeface="Montserrat"/>
              <a:buChar char="•"/>
            </a:pPr>
            <a:r>
              <a:rPr i="0" lang="en-US" sz="2700" u="none" strike="noStrike">
                <a:solidFill>
                  <a:srgbClr val="000000"/>
                </a:solidFill>
                <a:latin typeface="Montserrat"/>
                <a:ea typeface="Montserrat"/>
                <a:cs typeface="Montserrat"/>
                <a:sym typeface="Montserrat"/>
              </a:rPr>
              <a:t>Respect confidentiality</a:t>
            </a:r>
            <a:endParaRPr sz="1500">
              <a:latin typeface="Montserrat"/>
              <a:ea typeface="Montserrat"/>
              <a:cs typeface="Montserrat"/>
              <a:sym typeface="Montserrat"/>
            </a:endParaRPr>
          </a:p>
          <a:p>
            <a:pPr indent="-400050" lvl="0" marL="457200" rtl="0" algn="l">
              <a:lnSpc>
                <a:spcPct val="90000"/>
              </a:lnSpc>
              <a:spcBef>
                <a:spcPts val="0"/>
              </a:spcBef>
              <a:spcAft>
                <a:spcPts val="0"/>
              </a:spcAft>
              <a:buSzPts val="2700"/>
              <a:buFont typeface="Montserrat"/>
              <a:buChar char="•"/>
            </a:pPr>
            <a:r>
              <a:rPr i="0" lang="en-US" sz="2700" u="none" strike="noStrike">
                <a:solidFill>
                  <a:srgbClr val="000000"/>
                </a:solidFill>
                <a:latin typeface="Montserrat"/>
                <a:ea typeface="Montserrat"/>
                <a:cs typeface="Montserrat"/>
                <a:sym typeface="Montserrat"/>
              </a:rPr>
              <a:t>Be professional</a:t>
            </a:r>
            <a:endParaRPr sz="2700">
              <a:latin typeface="Montserrat"/>
              <a:ea typeface="Montserrat"/>
              <a:cs typeface="Montserrat"/>
              <a:sym typeface="Montserrat"/>
            </a:endParaRPr>
          </a:p>
        </p:txBody>
      </p:sp>
      <p:sp>
        <p:nvSpPr>
          <p:cNvPr id="634" name="Google Shape;634;g37758a7e781_0_96"/>
          <p:cNvSpPr txBox="1"/>
          <p:nvPr>
            <p:ph idx="1" type="body"/>
          </p:nvPr>
        </p:nvSpPr>
        <p:spPr>
          <a:xfrm>
            <a:off x="0" y="4187825"/>
            <a:ext cx="12192000" cy="2694300"/>
          </a:xfrm>
          <a:prstGeom prst="rect">
            <a:avLst/>
          </a:prstGeom>
          <a:solidFill>
            <a:srgbClr val="F3F3F3"/>
          </a:solidFill>
          <a:ln>
            <a:noFill/>
          </a:ln>
        </p:spPr>
        <p:txBody>
          <a:bodyPr anchorCtr="0" anchor="t" bIns="45700" lIns="91425" spcFirstLastPara="1" rIns="91425" wrap="square" tIns="45700">
            <a:normAutofit/>
          </a:bodyPr>
          <a:lstStyle/>
          <a:p>
            <a:pPr indent="-463550" lvl="0" marL="514350" rtl="0" algn="l">
              <a:lnSpc>
                <a:spcPct val="90000"/>
              </a:lnSpc>
              <a:spcBef>
                <a:spcPts val="0"/>
              </a:spcBef>
              <a:spcAft>
                <a:spcPts val="0"/>
              </a:spcAft>
              <a:buClr>
                <a:schemeClr val="dk1"/>
              </a:buClr>
              <a:buSzPts val="2400"/>
              <a:buFont typeface="Montserrat"/>
              <a:buAutoNum type="arabicPeriod"/>
            </a:pPr>
            <a:r>
              <a:rPr lang="en-US" sz="2400">
                <a:latin typeface="Montserrat"/>
                <a:ea typeface="Montserrat"/>
                <a:cs typeface="Montserrat"/>
                <a:sym typeface="Montserrat"/>
              </a:rPr>
              <a:t>Acknowledge sources for information other than Common Knowledge</a:t>
            </a:r>
            <a:endParaRPr sz="2400">
              <a:latin typeface="Montserrat"/>
              <a:ea typeface="Montserrat"/>
              <a:cs typeface="Montserrat"/>
              <a:sym typeface="Montserrat"/>
            </a:endParaRPr>
          </a:p>
          <a:p>
            <a:pPr indent="-463550" lvl="0" marL="514350" rtl="0" algn="l">
              <a:lnSpc>
                <a:spcPct val="90000"/>
              </a:lnSpc>
              <a:spcBef>
                <a:spcPts val="1000"/>
              </a:spcBef>
              <a:spcAft>
                <a:spcPts val="0"/>
              </a:spcAft>
              <a:buClr>
                <a:schemeClr val="dk1"/>
              </a:buClr>
              <a:buSzPts val="2400"/>
              <a:buFont typeface="Montserrat"/>
              <a:buAutoNum type="arabicPeriod"/>
            </a:pPr>
            <a:r>
              <a:rPr lang="en-US" sz="2400">
                <a:latin typeface="Montserrat"/>
                <a:ea typeface="Montserrat"/>
                <a:cs typeface="Montserrat"/>
                <a:sym typeface="Montserrat"/>
              </a:rPr>
              <a:t>Seek written permission before borrowing extensive text</a:t>
            </a:r>
            <a:endParaRPr sz="2400">
              <a:latin typeface="Montserrat"/>
              <a:ea typeface="Montserrat"/>
              <a:cs typeface="Montserrat"/>
              <a:sym typeface="Montserrat"/>
            </a:endParaRPr>
          </a:p>
          <a:p>
            <a:pPr indent="-463550" lvl="0" marL="514350" rtl="0" algn="l">
              <a:lnSpc>
                <a:spcPct val="90000"/>
              </a:lnSpc>
              <a:spcBef>
                <a:spcPts val="1000"/>
              </a:spcBef>
              <a:spcAft>
                <a:spcPts val="0"/>
              </a:spcAft>
              <a:buClr>
                <a:schemeClr val="dk1"/>
              </a:buClr>
              <a:buSzPts val="2400"/>
              <a:buFont typeface="Montserrat"/>
              <a:buAutoNum type="arabicPeriod"/>
            </a:pPr>
            <a:r>
              <a:rPr lang="en-US" sz="2400">
                <a:latin typeface="Montserrat"/>
                <a:ea typeface="Montserrat"/>
                <a:cs typeface="Montserrat"/>
                <a:sym typeface="Montserrat"/>
              </a:rPr>
              <a:t>Seek written permission before borrowing graphics</a:t>
            </a:r>
            <a:endParaRPr sz="2400">
              <a:latin typeface="Montserrat"/>
              <a:ea typeface="Montserrat"/>
              <a:cs typeface="Montserrat"/>
              <a:sym typeface="Montserrat"/>
            </a:endParaRPr>
          </a:p>
          <a:p>
            <a:pPr indent="-463550" lvl="0" marL="514350" rtl="0" algn="l">
              <a:lnSpc>
                <a:spcPct val="90000"/>
              </a:lnSpc>
              <a:spcBef>
                <a:spcPts val="1000"/>
              </a:spcBef>
              <a:spcAft>
                <a:spcPts val="0"/>
              </a:spcAft>
              <a:buClr>
                <a:schemeClr val="dk1"/>
              </a:buClr>
              <a:buSzPts val="2400"/>
              <a:buFont typeface="Montserrat"/>
              <a:buAutoNum type="arabicPeriod"/>
            </a:pPr>
            <a:r>
              <a:rPr lang="en-US" sz="2400">
                <a:latin typeface="Montserrat"/>
                <a:ea typeface="Montserrat"/>
                <a:cs typeface="Montserrat"/>
                <a:sym typeface="Montserrat"/>
              </a:rPr>
              <a:t>Seek Legal advice when you cannot resolve complex questions</a:t>
            </a:r>
            <a:endParaRPr sz="2400">
              <a:latin typeface="Montserrat"/>
              <a:ea typeface="Montserrat"/>
              <a:cs typeface="Montserrat"/>
              <a:sym typeface="Montserrat"/>
            </a:endParaRPr>
          </a:p>
          <a:p>
            <a:pPr indent="-50800" lvl="0" marL="228600" rtl="0" algn="l">
              <a:lnSpc>
                <a:spcPct val="90000"/>
              </a:lnSpc>
              <a:spcBef>
                <a:spcPts val="1000"/>
              </a:spcBef>
              <a:spcAft>
                <a:spcPts val="0"/>
              </a:spcAft>
              <a:buClr>
                <a:schemeClr val="dk1"/>
              </a:buClr>
              <a:buSzPts val="2800"/>
              <a:buNone/>
            </a:pPr>
            <a:r>
              <a:t/>
            </a:r>
            <a:endParaRPr sz="2400">
              <a:latin typeface="Montserrat"/>
              <a:ea typeface="Montserrat"/>
              <a:cs typeface="Montserrat"/>
              <a:sym typeface="Montserrat"/>
            </a:endParaRPr>
          </a:p>
        </p:txBody>
      </p:sp>
      <p:sp>
        <p:nvSpPr>
          <p:cNvPr id="635" name="Google Shape;635;g37758a7e781_0_96"/>
          <p:cNvSpPr txBox="1"/>
          <p:nvPr>
            <p:ph type="title"/>
          </p:nvPr>
        </p:nvSpPr>
        <p:spPr>
          <a:xfrm>
            <a:off x="7654625" y="2862125"/>
            <a:ext cx="4537500" cy="1325700"/>
          </a:xfrm>
          <a:prstGeom prst="rect">
            <a:avLst/>
          </a:prstGeom>
          <a:solidFill>
            <a:srgbClr val="F3F3F3"/>
          </a:solid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b="1" lang="en-US" sz="3700">
                <a:latin typeface="Montserrat"/>
                <a:ea typeface="Montserrat"/>
                <a:cs typeface="Montserrat"/>
                <a:sym typeface="Montserrat"/>
              </a:rPr>
              <a:t>Tips</a:t>
            </a:r>
            <a:endParaRPr b="1" sz="3700">
              <a:latin typeface="Montserrat"/>
              <a:ea typeface="Montserrat"/>
              <a:cs typeface="Montserrat"/>
              <a:sym typeface="Montserrat"/>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graphicFrame>
        <p:nvGraphicFramePr>
          <p:cNvPr id="641" name="Google Shape;641;g37758a7e781_0_103"/>
          <p:cNvGraphicFramePr/>
          <p:nvPr/>
        </p:nvGraphicFramePr>
        <p:xfrm>
          <a:off x="1" y="-12879"/>
          <a:ext cx="3000000" cy="3000000"/>
        </p:xfrm>
        <a:graphic>
          <a:graphicData uri="http://schemas.openxmlformats.org/drawingml/2006/table">
            <a:tbl>
              <a:tblPr bandRow="1" firstRow="1">
                <a:noFill/>
                <a:tableStyleId>{5A6C3664-D54D-4FC0-AA2B-948925293A3E}</a:tableStyleId>
              </a:tblPr>
              <a:tblGrid>
                <a:gridCol w="2051525"/>
                <a:gridCol w="4191525"/>
                <a:gridCol w="5948950"/>
              </a:tblGrid>
              <a:tr h="349475">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t>Ethical Issues</a:t>
                      </a:r>
                      <a:endParaRPr b="1" sz="16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Meaning</a:t>
                      </a:r>
                      <a:endParaRPr b="1" i="1" sz="16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t>Examples</a:t>
                      </a:r>
                      <a:endParaRPr b="1" i="1" sz="1600" u="none" cap="none" strike="noStrike"/>
                    </a:p>
                  </a:txBody>
                  <a:tcPr marT="45725" marB="45725" marR="91450" marL="91450"/>
                </a:tc>
              </a:tr>
              <a:tr h="611575">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t>Suppression of Information</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Burying to data to hide inconvenient truths</a:t>
                      </a:r>
                      <a:endParaRPr b="1" sz="16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A company fails to reveal product-testing results that indicate potential danger to consumers</a:t>
                      </a:r>
                      <a:endParaRPr b="1" sz="1600" u="none" cap="none" strike="noStrike"/>
                    </a:p>
                  </a:txBody>
                  <a:tcPr marT="45725" marB="45725" marR="91450" marL="91450"/>
                </a:tc>
              </a:tr>
              <a:tr h="611575">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t>Falsification or fabrication</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Changing or inventing data to support a desired outcome</a:t>
                      </a:r>
                      <a:endParaRPr b="1" sz="16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A company boasts of a fictitious enterprise to lure investors into supporting a new venture</a:t>
                      </a:r>
                      <a:endParaRPr b="1" sz="1600" u="none" cap="none" strike="noStrike"/>
                    </a:p>
                  </a:txBody>
                  <a:tcPr marT="45725" marB="45725" marR="91450" marL="91450"/>
                </a:tc>
              </a:tr>
              <a:tr h="1135775">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t>Overstatement or understatement</a:t>
                      </a:r>
                      <a:endParaRPr b="1"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Exaggerating the positive aspects of a situation of downplaying negative aspects to create the desired impression</a:t>
                      </a:r>
                      <a:endParaRPr b="1" sz="16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A public-opinion survey describes 55 percent of the respondents as a “substantial majority” and 45 percent as “a small percentage”</a:t>
                      </a:r>
                      <a:endParaRPr b="1" sz="1600" u="none" cap="none" strike="noStrike"/>
                    </a:p>
                  </a:txBody>
                  <a:tcPr marT="45725" marB="45725" marR="91450" marL="91450"/>
                </a:tc>
              </a:tr>
              <a:tr h="1135775">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t>Selective misquoting</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Deleting words from quoted material to distort meaning</a:t>
                      </a:r>
                      <a:endParaRPr b="1" sz="16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A supervisor changes a report’s conclusion that “this proposal will seem feasible only to workers unfamiliar with the situation” to “this proposal will seem feasible.. to workers”</a:t>
                      </a:r>
                      <a:endParaRPr b="1" sz="1600" u="none" cap="none" strike="noStrike"/>
                    </a:p>
                  </a:txBody>
                  <a:tcPr marT="45725" marB="45725" marR="91450" marL="91450"/>
                </a:tc>
              </a:tr>
              <a:tr h="667850">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t>Subjective Wording</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Using terms deliberately chosen for their ambiguity</a:t>
                      </a:r>
                      <a:endParaRPr b="1" sz="16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A company advertises “customary service charges”, knowing that “customary” is open to broad interpretation.</a:t>
                      </a:r>
                      <a:endParaRPr b="1" sz="1600" u="none" cap="none" strike="noStrike"/>
                    </a:p>
                  </a:txBody>
                  <a:tcPr marT="45725" marB="45725" marR="91450" marL="91450"/>
                </a:tc>
              </a:tr>
              <a:tr h="873675">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t>Conflict of interest</a:t>
                      </a:r>
                      <a:endParaRPr b="1"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Exploiting behind-the-scenes connections to influence decision-making</a:t>
                      </a:r>
                      <a:endParaRPr b="1" sz="16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600"/>
                        <a:buFont typeface="Arial"/>
                        <a:buNone/>
                      </a:pPr>
                      <a:r>
                        <a:rPr lang="en-US" sz="1600" u="none" cap="none" strike="noStrike"/>
                        <a:t>A board member of a community agency encourages the agency to hire her company for paid services rather than soliciting bids</a:t>
                      </a:r>
                      <a:endParaRPr b="1" sz="1600" u="none" cap="none" strike="noStrike"/>
                    </a:p>
                  </a:txBody>
                  <a:tcPr marT="45725" marB="45725" marR="91450" marL="91450"/>
                </a:tc>
              </a:tr>
              <a:tr h="873675">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t>Withholding information</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Refusing to share relevant data with coworkers</a:t>
                      </a:r>
                      <a:endParaRPr b="1" sz="16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600"/>
                        <a:buFont typeface="Arial"/>
                        <a:buNone/>
                      </a:pPr>
                      <a:r>
                        <a:rPr lang="en-US" sz="1600" u="none" cap="none" strike="noStrike"/>
                        <a:t>A computer-savvy employee provides misleading answers about new software to make recently hired coworker appear incompetent</a:t>
                      </a:r>
                      <a:endParaRPr b="1" sz="1600" u="none" cap="none" strike="noStrike"/>
                    </a:p>
                  </a:txBody>
                  <a:tcPr marT="45725" marB="45725" marR="91450" marL="91450"/>
                </a:tc>
              </a:tr>
              <a:tr h="611575">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t>Plagiarism</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Taking credit for someone else’s ideas, findings</a:t>
                      </a:r>
                      <a:endParaRPr b="1" sz="16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600"/>
                        <a:buFont typeface="Arial"/>
                        <a:buNone/>
                      </a:pPr>
                      <a:r>
                        <a:rPr lang="en-US" sz="1600" u="none" cap="none" strike="noStrike"/>
                        <a:t>An employee assigned to prepare a report written by someone at another company, downloaded from internet</a:t>
                      </a:r>
                      <a:endParaRPr b="1" sz="1600" u="none" cap="none" strike="noStrike"/>
                    </a:p>
                  </a:txBody>
                  <a:tcPr marT="45725" marB="45725" marR="91450" marL="91450"/>
                </a:tc>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sp>
        <p:nvSpPr>
          <p:cNvPr id="646" name="Google Shape;646;g3756d5883a8_0_252"/>
          <p:cNvSpPr txBox="1"/>
          <p:nvPr>
            <p:ph type="title"/>
          </p:nvPr>
        </p:nvSpPr>
        <p:spPr>
          <a:xfrm>
            <a:off x="554133" y="791156"/>
            <a:ext cx="15147600" cy="10179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139682"/>
              <a:buNone/>
            </a:pPr>
            <a:r>
              <a:rPr b="1" lang="en-US" sz="3500">
                <a:solidFill>
                  <a:srgbClr val="0B5394"/>
                </a:solidFill>
                <a:latin typeface="Questrial"/>
                <a:ea typeface="Questrial"/>
                <a:cs typeface="Questrial"/>
                <a:sym typeface="Questrial"/>
              </a:rPr>
              <a:t>Salam &amp; Bienvenue* TBW Fall 2025 Class! </a:t>
            </a:r>
            <a:endParaRPr b="1">
              <a:solidFill>
                <a:srgbClr val="0B5394"/>
              </a:solidFill>
            </a:endParaRPr>
          </a:p>
          <a:p>
            <a:pPr indent="0" lvl="0" marL="0" rtl="0" algn="l">
              <a:lnSpc>
                <a:spcPct val="90000"/>
              </a:lnSpc>
              <a:spcBef>
                <a:spcPts val="0"/>
              </a:spcBef>
              <a:spcAft>
                <a:spcPts val="0"/>
              </a:spcAft>
              <a:buSzPct val="111111"/>
              <a:buNone/>
            </a:pPr>
            <a:r>
              <a:t/>
            </a:r>
            <a:endParaRPr/>
          </a:p>
        </p:txBody>
      </p:sp>
      <p:sp>
        <p:nvSpPr>
          <p:cNvPr id="647" name="Google Shape;647;g3756d5883a8_0_252"/>
          <p:cNvSpPr txBox="1"/>
          <p:nvPr>
            <p:ph idx="1" type="body"/>
          </p:nvPr>
        </p:nvSpPr>
        <p:spPr>
          <a:xfrm>
            <a:off x="554133" y="2048844"/>
            <a:ext cx="15147600" cy="60735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2800"/>
              <a:buNone/>
            </a:pPr>
            <a:r>
              <a:rPr lang="en-US">
                <a:latin typeface="Montserrat"/>
                <a:ea typeface="Montserrat"/>
                <a:cs typeface="Montserrat"/>
                <a:sym typeface="Montserrat"/>
              </a:rPr>
              <a:t>About you</a:t>
            </a:r>
            <a:endParaRPr>
              <a:latin typeface="Montserrat"/>
              <a:ea typeface="Montserrat"/>
              <a:cs typeface="Montserrat"/>
              <a:sym typeface="Montserrat"/>
            </a:endParaRPr>
          </a:p>
          <a:p>
            <a:pPr indent="0" lvl="0" marL="0" rtl="0" algn="l">
              <a:lnSpc>
                <a:spcPct val="90000"/>
              </a:lnSpc>
              <a:spcBef>
                <a:spcPts val="1000"/>
              </a:spcBef>
              <a:spcAft>
                <a:spcPts val="0"/>
              </a:spcAft>
              <a:buSzPts val="2800"/>
              <a:buNone/>
            </a:pPr>
            <a:r>
              <a:rPr lang="en-US">
                <a:latin typeface="Montserrat"/>
                <a:ea typeface="Montserrat"/>
                <a:cs typeface="Montserrat"/>
                <a:sym typeface="Montserrat"/>
              </a:rPr>
              <a:t>About me </a:t>
            </a:r>
            <a:endParaRPr>
              <a:latin typeface="Montserrat"/>
              <a:ea typeface="Montserrat"/>
              <a:cs typeface="Montserrat"/>
              <a:sym typeface="Montserrat"/>
            </a:endParaRPr>
          </a:p>
          <a:p>
            <a:pPr indent="0" lvl="0" marL="0" rtl="0" algn="l">
              <a:lnSpc>
                <a:spcPct val="90000"/>
              </a:lnSpc>
              <a:spcBef>
                <a:spcPts val="1000"/>
              </a:spcBef>
              <a:spcAft>
                <a:spcPts val="0"/>
              </a:spcAft>
              <a:buSzPts val="2800"/>
              <a:buNone/>
            </a:pPr>
            <a:r>
              <a:rPr lang="en-US">
                <a:latin typeface="Montserrat"/>
                <a:ea typeface="Montserrat"/>
                <a:cs typeface="Montserrat"/>
                <a:sym typeface="Montserrat"/>
              </a:rPr>
              <a:t>About the course</a:t>
            </a:r>
            <a:endParaRPr>
              <a:latin typeface="Montserrat"/>
              <a:ea typeface="Montserrat"/>
              <a:cs typeface="Montserrat"/>
              <a:sym typeface="Montserrat"/>
            </a:endParaRPr>
          </a:p>
          <a:p>
            <a:pPr indent="0" lvl="0" marL="0" rtl="0" algn="l">
              <a:lnSpc>
                <a:spcPct val="90000"/>
              </a:lnSpc>
              <a:spcBef>
                <a:spcPts val="1000"/>
              </a:spcBef>
              <a:spcAft>
                <a:spcPts val="0"/>
              </a:spcAft>
              <a:buSzPts val="2800"/>
              <a:buNone/>
            </a:pPr>
            <a:r>
              <a:rPr lang="en-US">
                <a:latin typeface="Montserrat"/>
                <a:ea typeface="Montserrat"/>
                <a:cs typeface="Montserrat"/>
                <a:sym typeface="Montserrat"/>
              </a:rPr>
              <a:t>Class rules</a:t>
            </a:r>
            <a:endParaRPr>
              <a:latin typeface="Montserrat"/>
              <a:ea typeface="Montserrat"/>
              <a:cs typeface="Montserrat"/>
              <a:sym typeface="Montserrat"/>
            </a:endParaRPr>
          </a:p>
          <a:p>
            <a:pPr indent="0" lvl="0" marL="0" rtl="0" algn="l">
              <a:lnSpc>
                <a:spcPct val="90000"/>
              </a:lnSpc>
              <a:spcBef>
                <a:spcPts val="1000"/>
              </a:spcBef>
              <a:spcAft>
                <a:spcPts val="0"/>
              </a:spcAft>
              <a:buSzPts val="2800"/>
              <a:buNone/>
            </a:pPr>
            <a:r>
              <a:t/>
            </a:r>
            <a:endParaRPr>
              <a:latin typeface="Montserrat"/>
              <a:ea typeface="Montserrat"/>
              <a:cs typeface="Montserrat"/>
              <a:sym typeface="Montserrat"/>
            </a:endParaRPr>
          </a:p>
          <a:p>
            <a:pPr indent="0" lvl="0" marL="0" rtl="0" algn="l">
              <a:lnSpc>
                <a:spcPct val="90000"/>
              </a:lnSpc>
              <a:spcBef>
                <a:spcPts val="1000"/>
              </a:spcBef>
              <a:spcAft>
                <a:spcPts val="0"/>
              </a:spcAft>
              <a:buSzPts val="2800"/>
              <a:buNone/>
            </a:pPr>
            <a:r>
              <a:rPr lang="en-US">
                <a:latin typeface="Montserrat"/>
                <a:ea typeface="Montserrat"/>
                <a:cs typeface="Montserrat"/>
                <a:sym typeface="Montserrat"/>
              </a:rPr>
              <a:t>How should we best the make use of our time together? </a:t>
            </a:r>
            <a:endParaRPr>
              <a:latin typeface="Montserrat"/>
              <a:ea typeface="Montserrat"/>
              <a:cs typeface="Montserrat"/>
              <a:sym typeface="Montserrat"/>
            </a:endParaRPr>
          </a:p>
        </p:txBody>
      </p:sp>
      <p:sp>
        <p:nvSpPr>
          <p:cNvPr id="648" name="Google Shape;648;g3756d5883a8_0_252"/>
          <p:cNvSpPr txBox="1"/>
          <p:nvPr/>
        </p:nvSpPr>
        <p:spPr>
          <a:xfrm>
            <a:off x="3664533" y="6273633"/>
            <a:ext cx="8178300" cy="507900"/>
          </a:xfrm>
          <a:prstGeom prst="rect">
            <a:avLst/>
          </a:prstGeom>
          <a:noFill/>
          <a:ln>
            <a:noFill/>
          </a:ln>
        </p:spPr>
        <p:txBody>
          <a:bodyPr anchorCtr="0" anchor="t" bIns="121900" lIns="121900" spcFirstLastPara="1" rIns="121900" wrap="square" tIns="121900">
            <a:spAutoFit/>
          </a:bodyPr>
          <a:lstStyle/>
          <a:p>
            <a:pPr indent="0" lvl="0" marL="0" marR="0" rtl="0" algn="r">
              <a:lnSpc>
                <a:spcPct val="100000"/>
              </a:lnSpc>
              <a:spcBef>
                <a:spcPts val="0"/>
              </a:spcBef>
              <a:spcAft>
                <a:spcPts val="0"/>
              </a:spcAft>
              <a:buClr>
                <a:srgbClr val="000000"/>
              </a:buClr>
              <a:buSzPts val="1700"/>
              <a:buFont typeface="Arial"/>
              <a:buNone/>
            </a:pPr>
            <a:r>
              <a:rPr b="0" i="0" lang="en-US" sz="1700" u="none" cap="none" strike="noStrike">
                <a:solidFill>
                  <a:schemeClr val="dk2"/>
                </a:solidFill>
                <a:latin typeface="Calibri"/>
                <a:ea typeface="Calibri"/>
                <a:cs typeface="Calibri"/>
                <a:sym typeface="Calibri"/>
              </a:rPr>
              <a:t>*Welcome in French</a:t>
            </a:r>
            <a:endParaRPr b="0" i="0" sz="1700" u="none" cap="none" strike="noStrike">
              <a:solidFill>
                <a:schemeClr val="dk2"/>
              </a:solidFill>
              <a:latin typeface="Calibri"/>
              <a:ea typeface="Calibri"/>
              <a:cs typeface="Calibri"/>
              <a:sym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652" name="Shape 652"/>
        <p:cNvGrpSpPr/>
        <p:nvPr/>
      </p:nvGrpSpPr>
      <p:grpSpPr>
        <a:xfrm>
          <a:off x="0" y="0"/>
          <a:ext cx="0" cy="0"/>
          <a:chOff x="0" y="0"/>
          <a:chExt cx="0" cy="0"/>
        </a:xfrm>
      </p:grpSpPr>
      <p:sp>
        <p:nvSpPr>
          <p:cNvPr id="653" name="Google Shape;653;g3756d5883a8_0_258"/>
          <p:cNvSpPr txBox="1"/>
          <p:nvPr>
            <p:ph type="title"/>
          </p:nvPr>
        </p:nvSpPr>
        <p:spPr>
          <a:xfrm>
            <a:off x="415600" y="390167"/>
            <a:ext cx="11360700" cy="7635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500"/>
              <a:buFont typeface="Arial"/>
              <a:buNone/>
            </a:pPr>
            <a:r>
              <a:rPr b="1" lang="en-US" sz="3500">
                <a:solidFill>
                  <a:srgbClr val="0B5394"/>
                </a:solidFill>
                <a:latin typeface="Questrial"/>
                <a:ea typeface="Questrial"/>
                <a:cs typeface="Questrial"/>
                <a:sym typeface="Questrial"/>
              </a:rPr>
              <a:t>Some rules to control the fun</a:t>
            </a:r>
            <a:endParaRPr b="1">
              <a:solidFill>
                <a:srgbClr val="0B5394"/>
              </a:solidFill>
            </a:endParaRPr>
          </a:p>
        </p:txBody>
      </p:sp>
      <p:sp>
        <p:nvSpPr>
          <p:cNvPr id="654" name="Google Shape;654;g3756d5883a8_0_258"/>
          <p:cNvSpPr txBox="1"/>
          <p:nvPr>
            <p:ph idx="1" type="body"/>
          </p:nvPr>
        </p:nvSpPr>
        <p:spPr>
          <a:xfrm>
            <a:off x="415600" y="1231833"/>
            <a:ext cx="11360700" cy="5321100"/>
          </a:xfrm>
          <a:prstGeom prst="rect">
            <a:avLst/>
          </a:prstGeom>
          <a:noFill/>
          <a:ln>
            <a:noFill/>
          </a:ln>
        </p:spPr>
        <p:txBody>
          <a:bodyPr anchorCtr="0" anchor="t" bIns="45700" lIns="91425" spcFirstLastPara="1" rIns="91425" wrap="square" tIns="45700">
            <a:normAutofit/>
          </a:bodyPr>
          <a:lstStyle/>
          <a:p>
            <a:pPr indent="-482600" lvl="0" marL="609600" rtl="0" algn="l">
              <a:lnSpc>
                <a:spcPct val="90000"/>
              </a:lnSpc>
              <a:spcBef>
                <a:spcPts val="1000"/>
              </a:spcBef>
              <a:spcAft>
                <a:spcPts val="0"/>
              </a:spcAft>
              <a:buClr>
                <a:srgbClr val="000000"/>
              </a:buClr>
              <a:buSzPts val="2800"/>
              <a:buChar char="•"/>
            </a:pPr>
            <a:r>
              <a:rPr lang="en-US">
                <a:solidFill>
                  <a:srgbClr val="000000"/>
                </a:solidFill>
              </a:rPr>
              <a:t>Lets respect everyone’s time </a:t>
            </a:r>
            <a:endParaRPr>
              <a:solidFill>
                <a:srgbClr val="000000"/>
              </a:solidFill>
            </a:endParaRPr>
          </a:p>
          <a:p>
            <a:pPr indent="-457200" lvl="1" marL="1219200" rtl="0" algn="l">
              <a:lnSpc>
                <a:spcPct val="90000"/>
              </a:lnSpc>
              <a:spcBef>
                <a:spcPts val="500"/>
              </a:spcBef>
              <a:spcAft>
                <a:spcPts val="0"/>
              </a:spcAft>
              <a:buClr>
                <a:srgbClr val="000000"/>
              </a:buClr>
              <a:buSzPts val="2400"/>
              <a:buChar char="•"/>
            </a:pPr>
            <a:r>
              <a:rPr lang="en-US">
                <a:solidFill>
                  <a:srgbClr val="000000"/>
                </a:solidFill>
              </a:rPr>
              <a:t>Attendance - university’s 80% presence class rule (your responsibility) </a:t>
            </a:r>
            <a:endParaRPr>
              <a:solidFill>
                <a:srgbClr val="000000"/>
              </a:solidFill>
            </a:endParaRPr>
          </a:p>
          <a:p>
            <a:pPr indent="-457200" lvl="1" marL="1219200" rtl="0" algn="l">
              <a:lnSpc>
                <a:spcPct val="90000"/>
              </a:lnSpc>
              <a:spcBef>
                <a:spcPts val="500"/>
              </a:spcBef>
              <a:spcAft>
                <a:spcPts val="0"/>
              </a:spcAft>
              <a:buClr>
                <a:srgbClr val="000000"/>
              </a:buClr>
              <a:buSzPts val="2400"/>
              <a:buChar char="•"/>
            </a:pPr>
            <a:r>
              <a:rPr lang="en-US">
                <a:solidFill>
                  <a:srgbClr val="000000"/>
                </a:solidFill>
              </a:rPr>
              <a:t>Weightage and performance </a:t>
            </a:r>
            <a:endParaRPr>
              <a:solidFill>
                <a:srgbClr val="000000"/>
              </a:solidFill>
            </a:endParaRPr>
          </a:p>
          <a:p>
            <a:pPr indent="-457200" lvl="1" marL="1219200" rtl="0" algn="l">
              <a:lnSpc>
                <a:spcPct val="90000"/>
              </a:lnSpc>
              <a:spcBef>
                <a:spcPts val="500"/>
              </a:spcBef>
              <a:spcAft>
                <a:spcPts val="0"/>
              </a:spcAft>
              <a:buClr>
                <a:srgbClr val="000000"/>
              </a:buClr>
              <a:buSzPts val="2400"/>
              <a:buChar char="•"/>
            </a:pPr>
            <a:r>
              <a:rPr lang="en-US">
                <a:solidFill>
                  <a:srgbClr val="000000"/>
                </a:solidFill>
              </a:rPr>
              <a:t>Class participation </a:t>
            </a:r>
            <a:endParaRPr>
              <a:solidFill>
                <a:srgbClr val="000000"/>
              </a:solidFill>
            </a:endParaRPr>
          </a:p>
          <a:p>
            <a:pPr indent="-482600" lvl="0" marL="609600" rtl="0" algn="l">
              <a:lnSpc>
                <a:spcPct val="90000"/>
              </a:lnSpc>
              <a:spcBef>
                <a:spcPts val="1000"/>
              </a:spcBef>
              <a:spcAft>
                <a:spcPts val="0"/>
              </a:spcAft>
              <a:buClr>
                <a:srgbClr val="000000"/>
              </a:buClr>
              <a:buSzPts val="2800"/>
              <a:buChar char="•"/>
            </a:pPr>
            <a:r>
              <a:rPr lang="en-US">
                <a:solidFill>
                  <a:srgbClr val="000000"/>
                </a:solidFill>
              </a:rPr>
              <a:t>‘GPA: a measure of intelligence? </a:t>
            </a:r>
            <a:r>
              <a:rPr i="1" lang="en-US">
                <a:solidFill>
                  <a:srgbClr val="000000"/>
                </a:solidFill>
              </a:rPr>
              <a:t>Who would you hire someone reliable or hit-or-miss?</a:t>
            </a:r>
            <a:endParaRPr>
              <a:solidFill>
                <a:srgbClr val="000000"/>
              </a:solidFill>
            </a:endParaRPr>
          </a:p>
          <a:p>
            <a:pPr indent="-482600" lvl="0" marL="609600" rtl="0" algn="l">
              <a:lnSpc>
                <a:spcPct val="90000"/>
              </a:lnSpc>
              <a:spcBef>
                <a:spcPts val="1000"/>
              </a:spcBef>
              <a:spcAft>
                <a:spcPts val="0"/>
              </a:spcAft>
              <a:buClr>
                <a:srgbClr val="000000"/>
              </a:buClr>
              <a:buSzPts val="2800"/>
              <a:buChar char="•"/>
            </a:pPr>
            <a:r>
              <a:rPr lang="en-US">
                <a:solidFill>
                  <a:srgbClr val="000000"/>
                </a:solidFill>
              </a:rPr>
              <a:t>No cross talking please - allow everyone to speak</a:t>
            </a:r>
            <a:endParaRPr>
              <a:solidFill>
                <a:srgbClr val="000000"/>
              </a:solidFill>
            </a:endParaRPr>
          </a:p>
          <a:p>
            <a:pPr indent="-457200" lvl="1" marL="1219200" rtl="0" algn="l">
              <a:lnSpc>
                <a:spcPct val="90000"/>
              </a:lnSpc>
              <a:spcBef>
                <a:spcPts val="500"/>
              </a:spcBef>
              <a:spcAft>
                <a:spcPts val="0"/>
              </a:spcAft>
              <a:buClr>
                <a:srgbClr val="000000"/>
              </a:buClr>
              <a:buSzPts val="2400"/>
              <a:buChar char="•"/>
            </a:pPr>
            <a:r>
              <a:rPr lang="en-US">
                <a:solidFill>
                  <a:srgbClr val="000000"/>
                </a:solidFill>
              </a:rPr>
              <a:t>Say your name before you speak (</a:t>
            </a:r>
            <a:r>
              <a:rPr i="1" lang="en-US">
                <a:solidFill>
                  <a:srgbClr val="000000"/>
                </a:solidFill>
              </a:rPr>
              <a:t>until needed)</a:t>
            </a:r>
            <a:endParaRPr i="1">
              <a:solidFill>
                <a:srgbClr val="000000"/>
              </a:solidFill>
            </a:endParaRPr>
          </a:p>
          <a:p>
            <a:pPr indent="-457200" lvl="1" marL="1219200" rtl="0" algn="l">
              <a:lnSpc>
                <a:spcPct val="90000"/>
              </a:lnSpc>
              <a:spcBef>
                <a:spcPts val="500"/>
              </a:spcBef>
              <a:spcAft>
                <a:spcPts val="0"/>
              </a:spcAft>
              <a:buClr>
                <a:srgbClr val="000000"/>
              </a:buClr>
              <a:buSzPts val="2400"/>
              <a:buChar char="•"/>
            </a:pPr>
            <a:r>
              <a:rPr i="1" lang="en-US">
                <a:solidFill>
                  <a:srgbClr val="000000"/>
                </a:solidFill>
              </a:rPr>
              <a:t>Clean up. Respect the education you are paying for.</a:t>
            </a:r>
            <a:endParaRPr i="1">
              <a:solidFill>
                <a:srgbClr val="000000"/>
              </a:solidFill>
            </a:endParaRPr>
          </a:p>
          <a:p>
            <a:pPr indent="-482600" lvl="0" marL="609600" rtl="0" algn="l">
              <a:lnSpc>
                <a:spcPct val="90000"/>
              </a:lnSpc>
              <a:spcBef>
                <a:spcPts val="1000"/>
              </a:spcBef>
              <a:spcAft>
                <a:spcPts val="0"/>
              </a:spcAft>
              <a:buClr>
                <a:srgbClr val="000000"/>
              </a:buClr>
              <a:buSzPts val="2800"/>
              <a:buChar char="•"/>
            </a:pPr>
            <a:r>
              <a:rPr i="1" lang="en-US">
                <a:solidFill>
                  <a:srgbClr val="000000"/>
                </a:solidFill>
              </a:rPr>
              <a:t>Slides - may be? I will think about it. Read the book. </a:t>
            </a:r>
            <a:endParaRPr i="1">
              <a:solidFill>
                <a:srgbClr val="000000"/>
              </a:solidFill>
            </a:endParaRPr>
          </a:p>
          <a:p>
            <a:pPr indent="-482600" lvl="0" marL="609600" rtl="0" algn="l">
              <a:lnSpc>
                <a:spcPct val="90000"/>
              </a:lnSpc>
              <a:spcBef>
                <a:spcPts val="1000"/>
              </a:spcBef>
              <a:spcAft>
                <a:spcPts val="0"/>
              </a:spcAft>
              <a:buClr>
                <a:srgbClr val="000000"/>
              </a:buClr>
              <a:buSzPts val="2800"/>
              <a:buChar char="•"/>
            </a:pPr>
            <a:r>
              <a:rPr b="1" i="1" lang="en-US">
                <a:solidFill>
                  <a:srgbClr val="000000"/>
                </a:solidFill>
              </a:rPr>
              <a:t>Class rep </a:t>
            </a:r>
            <a:endParaRPr b="1" i="1">
              <a:solidFill>
                <a:srgbClr val="000000"/>
              </a:solidFill>
            </a:endParaRPr>
          </a:p>
          <a:p>
            <a:pPr indent="-457200" lvl="1" marL="1219200" rtl="0" algn="l">
              <a:lnSpc>
                <a:spcPct val="90000"/>
              </a:lnSpc>
              <a:spcBef>
                <a:spcPts val="500"/>
              </a:spcBef>
              <a:spcAft>
                <a:spcPts val="0"/>
              </a:spcAft>
              <a:buClr>
                <a:srgbClr val="9900FF"/>
              </a:buClr>
              <a:buSzPts val="2400"/>
              <a:buChar char="•"/>
            </a:pPr>
            <a:r>
              <a:rPr b="1" i="1" lang="en-US">
                <a:solidFill>
                  <a:srgbClr val="9900FF"/>
                </a:solidFill>
              </a:rPr>
              <a:t>Email addresses – google group </a:t>
            </a:r>
            <a:endParaRPr i="1">
              <a:solidFill>
                <a:srgbClr val="000000"/>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g3756d5883a8_0_193"/>
          <p:cNvSpPr/>
          <p:nvPr/>
        </p:nvSpPr>
        <p:spPr>
          <a:xfrm>
            <a:off x="0" y="0"/>
            <a:ext cx="6096000" cy="6938400"/>
          </a:xfrm>
          <a:prstGeom prst="roundRect">
            <a:avLst>
              <a:gd fmla="val 0" name="adj"/>
            </a:avLst>
          </a:prstGeom>
          <a:solidFill>
            <a:srgbClr val="9FC5E8"/>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500"/>
              <a:buFont typeface="Arial"/>
              <a:buNone/>
            </a:pPr>
            <a:r>
              <a:t/>
            </a:r>
            <a:endParaRPr b="1" i="0" sz="1500" u="none" cap="none" strike="noStrike">
              <a:solidFill>
                <a:srgbClr val="FFFFFF"/>
              </a:solidFill>
              <a:latin typeface="Roboto"/>
              <a:ea typeface="Roboto"/>
              <a:cs typeface="Roboto"/>
              <a:sym typeface="Roboto"/>
            </a:endParaRPr>
          </a:p>
        </p:txBody>
      </p:sp>
      <p:sp>
        <p:nvSpPr>
          <p:cNvPr id="660" name="Google Shape;660;g3756d5883a8_0_193"/>
          <p:cNvSpPr txBox="1"/>
          <p:nvPr/>
        </p:nvSpPr>
        <p:spPr>
          <a:xfrm>
            <a:off x="0" y="0"/>
            <a:ext cx="12192000" cy="1191300"/>
          </a:xfrm>
          <a:prstGeom prst="rect">
            <a:avLst/>
          </a:prstGeom>
          <a:solidFill>
            <a:srgbClr val="073763"/>
          </a:solidFill>
          <a:ln>
            <a:noFill/>
          </a:ln>
        </p:spPr>
        <p:txBody>
          <a:bodyPr anchorCtr="0" anchor="ctr" bIns="121900" lIns="121900" spcFirstLastPara="1" rIns="121900" wrap="square" tIns="121900">
            <a:noAutofit/>
          </a:bodyPr>
          <a:lstStyle/>
          <a:p>
            <a:pPr indent="0" lvl="0" marL="0" marR="0" rtl="0" algn="ctr">
              <a:lnSpc>
                <a:spcPct val="100000"/>
              </a:lnSpc>
              <a:spcBef>
                <a:spcPts val="0"/>
              </a:spcBef>
              <a:spcAft>
                <a:spcPts val="0"/>
              </a:spcAft>
              <a:buClr>
                <a:srgbClr val="000000"/>
              </a:buClr>
              <a:buSzPts val="3500"/>
              <a:buFont typeface="Arial"/>
              <a:buNone/>
            </a:pPr>
            <a:r>
              <a:rPr b="1" i="0" lang="en-US" sz="3500" u="none" cap="none" strike="noStrike">
                <a:solidFill>
                  <a:schemeClr val="lt1"/>
                </a:solidFill>
                <a:latin typeface="Questrial"/>
                <a:ea typeface="Questrial"/>
                <a:cs typeface="Questrial"/>
                <a:sym typeface="Questrial"/>
              </a:rPr>
              <a:t>Your introduction</a:t>
            </a:r>
            <a:endParaRPr b="0" i="0" sz="1600" u="none" cap="none" strike="noStrike">
              <a:solidFill>
                <a:schemeClr val="lt1"/>
              </a:solidFill>
              <a:latin typeface="Questrial"/>
              <a:ea typeface="Questrial"/>
              <a:cs typeface="Questrial"/>
              <a:sym typeface="Questrial"/>
            </a:endParaRPr>
          </a:p>
        </p:txBody>
      </p:sp>
      <p:sp>
        <p:nvSpPr>
          <p:cNvPr id="661" name="Google Shape;661;g3756d5883a8_0_193"/>
          <p:cNvSpPr txBox="1"/>
          <p:nvPr/>
        </p:nvSpPr>
        <p:spPr>
          <a:xfrm>
            <a:off x="522300" y="1897000"/>
            <a:ext cx="6216000" cy="432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3500"/>
              <a:buFont typeface="Arial"/>
              <a:buNone/>
            </a:pPr>
            <a:r>
              <a:rPr b="1" i="0" lang="en-US" sz="3500" u="none" cap="none" strike="noStrike">
                <a:solidFill>
                  <a:schemeClr val="dk1"/>
                </a:solidFill>
                <a:latin typeface="Questrial"/>
                <a:ea typeface="Questrial"/>
                <a:cs typeface="Questrial"/>
                <a:sym typeface="Questrial"/>
              </a:rPr>
              <a:t>What do I know about </a:t>
            </a:r>
            <a:endParaRPr b="1" i="0" sz="3500" u="none" cap="none" strike="noStrike">
              <a:solidFill>
                <a:schemeClr val="dk1"/>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3500"/>
              <a:buFont typeface="Arial"/>
              <a:buNone/>
            </a:pPr>
            <a:r>
              <a:rPr b="1" i="0" lang="en-US" sz="3500" u="none" cap="none" strike="noStrike">
                <a:solidFill>
                  <a:schemeClr val="dk1"/>
                </a:solidFill>
                <a:latin typeface="Questrial"/>
                <a:ea typeface="Questrial"/>
                <a:cs typeface="Questrial"/>
                <a:sym typeface="Questrial"/>
              </a:rPr>
              <a:t>you? </a:t>
            </a:r>
            <a:r>
              <a:rPr b="1" i="1" lang="en-US" sz="3500" u="none" cap="none" strike="noStrike">
                <a:solidFill>
                  <a:schemeClr val="dk1"/>
                </a:solidFill>
                <a:latin typeface="Questrial"/>
                <a:ea typeface="Questrial"/>
                <a:cs typeface="Questrial"/>
                <a:sym typeface="Questrial"/>
              </a:rPr>
              <a:t>Or have heard </a:t>
            </a:r>
            <a:endParaRPr b="1" i="1" sz="3500" u="none" cap="none" strike="noStrike">
              <a:solidFill>
                <a:schemeClr val="dk1"/>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3500"/>
              <a:buFont typeface="Arial"/>
              <a:buNone/>
            </a:pPr>
            <a:r>
              <a:rPr b="1" i="1" lang="en-US" sz="3500" u="none" cap="none" strike="noStrike">
                <a:solidFill>
                  <a:schemeClr val="dk1"/>
                </a:solidFill>
                <a:latin typeface="Questrial"/>
                <a:ea typeface="Questrial"/>
                <a:cs typeface="Questrial"/>
                <a:sym typeface="Questrial"/>
              </a:rPr>
              <a:t>about you</a:t>
            </a:r>
            <a:endParaRPr b="1" i="1" sz="3500" u="none" cap="none" strike="noStrike">
              <a:solidFill>
                <a:schemeClr val="dk1"/>
              </a:solidFill>
              <a:latin typeface="Questrial"/>
              <a:ea typeface="Questrial"/>
              <a:cs typeface="Questrial"/>
              <a:sym typeface="Questrial"/>
            </a:endParaRPr>
          </a:p>
        </p:txBody>
      </p:sp>
      <p:sp>
        <p:nvSpPr>
          <p:cNvPr id="662" name="Google Shape;662;g3756d5883a8_0_193"/>
          <p:cNvSpPr txBox="1"/>
          <p:nvPr/>
        </p:nvSpPr>
        <p:spPr>
          <a:xfrm>
            <a:off x="6516700" y="1897000"/>
            <a:ext cx="6216000" cy="432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3500"/>
              <a:buFont typeface="Arial"/>
              <a:buNone/>
            </a:pPr>
            <a:r>
              <a:rPr b="1" i="0" lang="en-US" sz="3500" u="none" cap="none" strike="noStrike">
                <a:solidFill>
                  <a:schemeClr val="dk1"/>
                </a:solidFill>
                <a:latin typeface="Questrial"/>
                <a:ea typeface="Questrial"/>
                <a:cs typeface="Questrial"/>
                <a:sym typeface="Questrial"/>
              </a:rPr>
              <a:t>What do you want to </a:t>
            </a:r>
            <a:endParaRPr b="1" i="0" sz="3500" u="none" cap="none" strike="noStrike">
              <a:solidFill>
                <a:schemeClr val="dk1"/>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3500"/>
              <a:buFont typeface="Arial"/>
              <a:buNone/>
            </a:pPr>
            <a:r>
              <a:rPr b="1" i="0" lang="en-US" sz="3500" u="none" cap="none" strike="noStrike">
                <a:solidFill>
                  <a:schemeClr val="dk1"/>
                </a:solidFill>
                <a:latin typeface="Questrial"/>
                <a:ea typeface="Questrial"/>
                <a:cs typeface="Questrial"/>
                <a:sym typeface="Questrial"/>
              </a:rPr>
              <a:t>tell me about yourself?</a:t>
            </a:r>
            <a:endParaRPr b="1" i="0" sz="3500" u="none" cap="none" strike="noStrike">
              <a:solidFill>
                <a:schemeClr val="dk1"/>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3500"/>
              <a:buFont typeface="Arial"/>
              <a:buNone/>
            </a:pPr>
            <a:r>
              <a:t/>
            </a:r>
            <a:endParaRPr b="1" i="0" sz="3500" u="none" cap="none" strike="noStrike">
              <a:solidFill>
                <a:schemeClr val="dk1"/>
              </a:solidFill>
              <a:latin typeface="Questrial"/>
              <a:ea typeface="Questrial"/>
              <a:cs typeface="Questrial"/>
              <a:sym typeface="Questrial"/>
            </a:endParaRPr>
          </a:p>
        </p:txBody>
      </p:sp>
      <p:sp>
        <p:nvSpPr>
          <p:cNvPr id="663" name="Google Shape;663;g3756d5883a8_0_193"/>
          <p:cNvSpPr txBox="1"/>
          <p:nvPr/>
        </p:nvSpPr>
        <p:spPr>
          <a:xfrm>
            <a:off x="626267" y="3835400"/>
            <a:ext cx="4536300" cy="20163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2300"/>
              <a:buFont typeface="Arial"/>
              <a:buNone/>
            </a:pPr>
            <a:r>
              <a:rPr b="0" i="0" lang="en-US" sz="2300" u="none" cap="none" strike="noStrike">
                <a:solidFill>
                  <a:srgbClr val="000000"/>
                </a:solidFill>
                <a:latin typeface="Questrial"/>
                <a:ea typeface="Questrial"/>
                <a:cs typeface="Questrial"/>
                <a:sym typeface="Questrial"/>
              </a:rPr>
              <a:t>What do you want to be? Who you are? Do you recognize the privilege you have? What excites you? </a:t>
            </a:r>
            <a:endParaRPr b="0" i="0" sz="2300" u="none" cap="none" strike="noStrike">
              <a:solidFill>
                <a:srgbClr val="000000"/>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2300"/>
              <a:buFont typeface="Arial"/>
              <a:buNone/>
            </a:pPr>
            <a:r>
              <a:t/>
            </a:r>
            <a:endParaRPr b="0" i="0" sz="2300" u="none" cap="none" strike="noStrike">
              <a:solidFill>
                <a:srgbClr val="000000"/>
              </a:solidFill>
              <a:latin typeface="Questrial"/>
              <a:ea typeface="Questrial"/>
              <a:cs typeface="Questrial"/>
              <a:sym typeface="Questrial"/>
            </a:endParaRPr>
          </a:p>
        </p:txBody>
      </p:sp>
      <p:sp>
        <p:nvSpPr>
          <p:cNvPr id="664" name="Google Shape;664;g3756d5883a8_0_193"/>
          <p:cNvSpPr txBox="1"/>
          <p:nvPr/>
        </p:nvSpPr>
        <p:spPr>
          <a:xfrm>
            <a:off x="522300" y="5707133"/>
            <a:ext cx="8797500" cy="8310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1900"/>
              <a:buFont typeface="Arial"/>
              <a:buNone/>
            </a:pPr>
            <a:r>
              <a:rPr b="0" i="1" lang="en-US" sz="1900" u="none" cap="none" strike="noStrike">
                <a:solidFill>
                  <a:srgbClr val="000000"/>
                </a:solidFill>
                <a:latin typeface="Questrial"/>
                <a:ea typeface="Questrial"/>
                <a:cs typeface="Questrial"/>
                <a:sym typeface="Questrial"/>
              </a:rPr>
              <a:t>Gen Z. </a:t>
            </a:r>
            <a:endParaRPr b="0" i="1" sz="1900" u="none" cap="none" strike="noStrike">
              <a:solidFill>
                <a:srgbClr val="000000"/>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1900"/>
              <a:buFont typeface="Arial"/>
              <a:buNone/>
            </a:pPr>
            <a:r>
              <a:rPr b="0" i="1" lang="en-US" sz="1900" u="none" cap="none" strike="noStrike">
                <a:solidFill>
                  <a:srgbClr val="000000"/>
                </a:solidFill>
                <a:latin typeface="Questrial"/>
                <a:ea typeface="Questrial"/>
                <a:cs typeface="Questrial"/>
                <a:sym typeface="Questrial"/>
              </a:rPr>
              <a:t>Have little interest in extracurricular</a:t>
            </a:r>
            <a:endParaRPr b="0" i="1" sz="1900" u="none" cap="none" strike="noStrike">
              <a:solidFill>
                <a:srgbClr val="000000"/>
              </a:solidFill>
              <a:latin typeface="Questrial"/>
              <a:ea typeface="Questrial"/>
              <a:cs typeface="Questrial"/>
              <a:sym typeface="Questrial"/>
            </a:endParaRPr>
          </a:p>
        </p:txBody>
      </p:sp>
      <p:sp>
        <p:nvSpPr>
          <p:cNvPr id="665" name="Google Shape;665;g3756d5883a8_0_193"/>
          <p:cNvSpPr txBox="1"/>
          <p:nvPr/>
        </p:nvSpPr>
        <p:spPr>
          <a:xfrm>
            <a:off x="6632100" y="3429000"/>
            <a:ext cx="3999900" cy="3064200"/>
          </a:xfrm>
          <a:prstGeom prst="rect">
            <a:avLst/>
          </a:prstGeom>
          <a:noFill/>
          <a:ln>
            <a:noFill/>
          </a:ln>
        </p:spPr>
        <p:txBody>
          <a:bodyPr anchorCtr="0" anchor="t" bIns="121900" lIns="121900" spcFirstLastPara="1" rIns="121900" wrap="square" tIns="121900">
            <a:spAutoFit/>
          </a:bodyPr>
          <a:lstStyle/>
          <a:p>
            <a:pPr indent="0" lvl="0" marL="0" marR="0" rtl="0" algn="l">
              <a:lnSpc>
                <a:spcPct val="115000"/>
              </a:lnSpc>
              <a:spcBef>
                <a:spcPts val="0"/>
              </a:spcBef>
              <a:spcAft>
                <a:spcPts val="0"/>
              </a:spcAft>
              <a:buClr>
                <a:srgbClr val="000000"/>
              </a:buClr>
              <a:buSzPts val="1900"/>
              <a:buFont typeface="Arial"/>
              <a:buNone/>
            </a:pPr>
            <a:r>
              <a:rPr b="0" i="1" lang="en-US" sz="1900" u="none" cap="none" strike="noStrike">
                <a:solidFill>
                  <a:schemeClr val="dk2"/>
                </a:solidFill>
                <a:latin typeface="Questrial"/>
                <a:ea typeface="Questrial"/>
                <a:cs typeface="Questrial"/>
                <a:sym typeface="Questrial"/>
              </a:rPr>
              <a:t>surprise me I’ve heard too much of I’d to and the course seemed easy AND I had to)</a:t>
            </a:r>
            <a:endParaRPr b="0" i="1" sz="1900" u="none" cap="none" strike="noStrike">
              <a:solidFill>
                <a:schemeClr val="dk2"/>
              </a:solidFill>
              <a:latin typeface="Questrial"/>
              <a:ea typeface="Questrial"/>
              <a:cs typeface="Questrial"/>
              <a:sym typeface="Questrial"/>
            </a:endParaRPr>
          </a:p>
          <a:p>
            <a:pPr indent="0" lvl="0" marL="0" marR="0" rtl="0" algn="l">
              <a:lnSpc>
                <a:spcPct val="115000"/>
              </a:lnSpc>
              <a:spcBef>
                <a:spcPts val="1600"/>
              </a:spcBef>
              <a:spcAft>
                <a:spcPts val="0"/>
              </a:spcAft>
              <a:buClr>
                <a:srgbClr val="000000"/>
              </a:buClr>
              <a:buSzPts val="1900"/>
              <a:buFont typeface="Arial"/>
              <a:buNone/>
            </a:pPr>
            <a:r>
              <a:t/>
            </a:r>
            <a:endParaRPr b="0" i="1" sz="1900" u="none" cap="none" strike="noStrike">
              <a:solidFill>
                <a:schemeClr val="dk2"/>
              </a:solidFill>
              <a:latin typeface="Questrial"/>
              <a:ea typeface="Questrial"/>
              <a:cs typeface="Questrial"/>
              <a:sym typeface="Questrial"/>
            </a:endParaRPr>
          </a:p>
          <a:p>
            <a:pPr indent="0" lvl="0" marL="0" marR="0" rtl="0" algn="l">
              <a:lnSpc>
                <a:spcPct val="100000"/>
              </a:lnSpc>
              <a:spcBef>
                <a:spcPts val="1600"/>
              </a:spcBef>
              <a:spcAft>
                <a:spcPts val="0"/>
              </a:spcAft>
              <a:buClr>
                <a:srgbClr val="000000"/>
              </a:buClr>
              <a:buSzPts val="2300"/>
              <a:buFont typeface="Arial"/>
              <a:buNone/>
            </a:pPr>
            <a:r>
              <a:rPr b="0" i="1" lang="en-US" sz="2300" u="none" cap="none" strike="noStrike">
                <a:solidFill>
                  <a:schemeClr val="dk1"/>
                </a:solidFill>
                <a:latin typeface="Questrial"/>
                <a:ea typeface="Questrial"/>
                <a:cs typeface="Questrial"/>
                <a:sym typeface="Questrial"/>
              </a:rPr>
              <a:t>Curious to know what role social media has on today’s young generation?</a:t>
            </a:r>
            <a:endParaRPr b="0" i="1" sz="1900" u="none" cap="none" strike="noStrike">
              <a:solidFill>
                <a:schemeClr val="dk2"/>
              </a:solidFill>
              <a:latin typeface="Questrial"/>
              <a:ea typeface="Questrial"/>
              <a:cs typeface="Questrial"/>
              <a:sym typeface="Questria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pic>
        <p:nvPicPr>
          <p:cNvPr id="671" name="Google Shape;671;g3756d5883a8_0_1" title="Screenshot 2025-08-18 at 12.41.52 PM.png"/>
          <p:cNvPicPr preferRelativeResize="0"/>
          <p:nvPr/>
        </p:nvPicPr>
        <p:blipFill rotWithShape="1">
          <a:blip r:embed="rId3">
            <a:alphaModFix/>
          </a:blip>
          <a:srcRect b="0" l="0" r="0" t="0"/>
          <a:stretch/>
        </p:blipFill>
        <p:spPr>
          <a:xfrm>
            <a:off x="832576" y="216800"/>
            <a:ext cx="10727300" cy="6430051"/>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pic>
        <p:nvPicPr>
          <p:cNvPr id="677" name="Google Shape;677;g3756d5883a8_0_64" title="Screenshot 2025-08-18 at 12.45.54 PM.png"/>
          <p:cNvPicPr preferRelativeResize="0"/>
          <p:nvPr/>
        </p:nvPicPr>
        <p:blipFill rotWithShape="1">
          <a:blip r:embed="rId3">
            <a:alphaModFix/>
          </a:blip>
          <a:srcRect b="0" l="0" r="0" t="0"/>
          <a:stretch/>
        </p:blipFill>
        <p:spPr>
          <a:xfrm>
            <a:off x="2905827" y="0"/>
            <a:ext cx="6380334" cy="685800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b="1" lang="en-US"/>
              <a:t>Business Climate</a:t>
            </a:r>
            <a:endParaRPr/>
          </a:p>
        </p:txBody>
      </p:sp>
      <p:sp>
        <p:nvSpPr>
          <p:cNvPr id="684" name="Google Shape;684;p4"/>
          <p:cNvSpPr txBox="1"/>
          <p:nvPr>
            <p:ph idx="1" type="body"/>
          </p:nvPr>
        </p:nvSpPr>
        <p:spPr>
          <a:xfrm>
            <a:off x="696686" y="1690688"/>
            <a:ext cx="10798628" cy="4743126"/>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3200"/>
              <a:buChar char="•"/>
            </a:pPr>
            <a:r>
              <a:rPr lang="en-US" sz="3200">
                <a:latin typeface="Times New Roman"/>
                <a:ea typeface="Times New Roman"/>
                <a:cs typeface="Times New Roman"/>
                <a:sym typeface="Times New Roman"/>
              </a:rPr>
              <a:t>The economic and political factors that influence an organization’s priorities, plans, and activities.</a:t>
            </a:r>
            <a:endParaRPr/>
          </a:p>
          <a:p>
            <a:pPr indent="-228600" lvl="0" marL="228600" rtl="0" algn="l">
              <a:lnSpc>
                <a:spcPct val="90000"/>
              </a:lnSpc>
              <a:spcBef>
                <a:spcPts val="1000"/>
              </a:spcBef>
              <a:spcAft>
                <a:spcPts val="0"/>
              </a:spcAft>
              <a:buClr>
                <a:schemeClr val="dk1"/>
              </a:buClr>
              <a:buSzPts val="3200"/>
              <a:buChar char="•"/>
            </a:pPr>
            <a:r>
              <a:rPr lang="en-US" sz="3200">
                <a:latin typeface="Times New Roman"/>
                <a:ea typeface="Times New Roman"/>
                <a:cs typeface="Times New Roman"/>
                <a:sym typeface="Times New Roman"/>
              </a:rPr>
              <a:t>These factors include competition, investor interests, regulations, and the overall health of the economy.</a:t>
            </a:r>
            <a:endParaRPr/>
          </a:p>
        </p:txBody>
      </p:sp>
      <p:sp>
        <p:nvSpPr>
          <p:cNvPr id="685" name="Google Shape;685;p4"/>
          <p:cNvSpPr/>
          <p:nvPr/>
        </p:nvSpPr>
        <p:spPr>
          <a:xfrm>
            <a:off x="398106" y="5470242"/>
            <a:ext cx="10955694" cy="83099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chemeClr val="dk2"/>
                </a:solidFill>
                <a:latin typeface="Arial"/>
                <a:ea typeface="Arial"/>
                <a:cs typeface="Arial"/>
                <a:sym typeface="Arial"/>
              </a:rPr>
              <a:t>Two practices that are being used more often in the global business climate are outsourcing and offshoring…</a:t>
            </a:r>
            <a:endParaRPr b="1" i="0" sz="2400" u="none" cap="none" strike="noStrike">
              <a:solidFill>
                <a:schemeClr val="dk2"/>
              </a:solidFill>
              <a:latin typeface="Arial"/>
              <a:ea typeface="Arial"/>
              <a:cs typeface="Arial"/>
              <a:sym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grpSp>
        <p:nvGrpSpPr>
          <p:cNvPr id="691" name="Google Shape;691;p5"/>
          <p:cNvGrpSpPr/>
          <p:nvPr/>
        </p:nvGrpSpPr>
        <p:grpSpPr>
          <a:xfrm>
            <a:off x="231743" y="1172056"/>
            <a:ext cx="11728509" cy="4811712"/>
            <a:chOff x="0" y="122012"/>
            <a:chExt cx="11728509" cy="4811712"/>
          </a:xfrm>
        </p:grpSpPr>
        <p:sp>
          <p:nvSpPr>
            <p:cNvPr id="692" name="Google Shape;692;p5"/>
            <p:cNvSpPr/>
            <p:nvPr/>
          </p:nvSpPr>
          <p:spPr>
            <a:xfrm>
              <a:off x="0" y="253023"/>
              <a:ext cx="5256471" cy="4680701"/>
            </a:xfrm>
            <a:prstGeom prst="rect">
              <a:avLst/>
            </a:prstGeom>
            <a:solidFill>
              <a:srgbClr val="BBD6EE"/>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3" name="Google Shape;693;p5"/>
            <p:cNvSpPr txBox="1"/>
            <p:nvPr/>
          </p:nvSpPr>
          <p:spPr>
            <a:xfrm>
              <a:off x="0" y="253023"/>
              <a:ext cx="5256471" cy="4680701"/>
            </a:xfrm>
            <a:prstGeom prst="rect">
              <a:avLst/>
            </a:prstGeom>
            <a:noFill/>
            <a:ln>
              <a:noFill/>
            </a:ln>
          </p:spPr>
          <p:txBody>
            <a:bodyPr anchorCtr="0" anchor="ctr" bIns="121900" lIns="121900" spcFirstLastPara="1" rIns="121900" wrap="square" tIns="121900">
              <a:noAutofit/>
            </a:bodyPr>
            <a:lstStyle/>
            <a:p>
              <a:pPr indent="0" lvl="0" marL="0" marR="0" rtl="0" algn="ctr">
                <a:lnSpc>
                  <a:spcPct val="90000"/>
                </a:lnSpc>
                <a:spcBef>
                  <a:spcPts val="0"/>
                </a:spcBef>
                <a:spcAft>
                  <a:spcPts val="0"/>
                </a:spcAft>
                <a:buClr>
                  <a:srgbClr val="000000"/>
                </a:buClr>
                <a:buSzPts val="3200"/>
                <a:buFont typeface="Arial"/>
                <a:buNone/>
              </a:pPr>
              <a:r>
                <a:rPr b="1" i="0" lang="en-US" sz="3200" u="none" cap="none" strike="noStrike">
                  <a:solidFill>
                    <a:srgbClr val="002060"/>
                  </a:solidFill>
                  <a:latin typeface="Arial"/>
                  <a:ea typeface="Arial"/>
                  <a:cs typeface="Arial"/>
                  <a:sym typeface="Arial"/>
                </a:rPr>
                <a:t>Outsourcing</a:t>
              </a:r>
              <a:r>
                <a:rPr b="0" i="0" lang="en-US" sz="2600" u="none" cap="none" strike="noStrike">
                  <a:solidFill>
                    <a:srgbClr val="00206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1120"/>
                </a:spcBef>
                <a:spcAft>
                  <a:spcPts val="0"/>
                </a:spcAft>
                <a:buClr>
                  <a:srgbClr val="000000"/>
                </a:buClr>
                <a:buSzPts val="2400"/>
                <a:buFont typeface="Arial"/>
                <a:buNone/>
              </a:pPr>
              <a:r>
                <a:rPr b="0" i="0" lang="en-US" sz="2400" u="none" cap="none" strike="noStrike">
                  <a:solidFill>
                    <a:srgbClr val="002060"/>
                  </a:solidFill>
                  <a:latin typeface="Arial"/>
                  <a:ea typeface="Arial"/>
                  <a:cs typeface="Arial"/>
                  <a:sym typeface="Arial"/>
                </a:rPr>
                <a:t>the practice of  purchasing goods or subcontracting services from an outside company. Both the client company and the company that is providing the goods or services may be in the same country, or they may be in different countries.</a:t>
              </a:r>
              <a:endParaRPr b="0" i="0" sz="2400" u="none" cap="none" strike="noStrike">
                <a:solidFill>
                  <a:srgbClr val="002060"/>
                </a:solidFill>
                <a:latin typeface="Arial"/>
                <a:ea typeface="Arial"/>
                <a:cs typeface="Arial"/>
                <a:sym typeface="Arial"/>
              </a:endParaRPr>
            </a:p>
          </p:txBody>
        </p:sp>
        <p:sp>
          <p:nvSpPr>
            <p:cNvPr id="694" name="Google Shape;694;p5"/>
            <p:cNvSpPr/>
            <p:nvPr/>
          </p:nvSpPr>
          <p:spPr>
            <a:xfrm>
              <a:off x="5716778" y="122012"/>
              <a:ext cx="6011731" cy="4803931"/>
            </a:xfrm>
            <a:prstGeom prst="rect">
              <a:avLst/>
            </a:prstGeom>
            <a:solidFill>
              <a:srgbClr val="002060"/>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5" name="Google Shape;695;p5"/>
            <p:cNvSpPr txBox="1"/>
            <p:nvPr/>
          </p:nvSpPr>
          <p:spPr>
            <a:xfrm>
              <a:off x="5716778" y="122012"/>
              <a:ext cx="6011731" cy="4803931"/>
            </a:xfrm>
            <a:prstGeom prst="rect">
              <a:avLst/>
            </a:prstGeom>
            <a:noFill/>
            <a:ln>
              <a:noFill/>
            </a:ln>
          </p:spPr>
          <p:txBody>
            <a:bodyPr anchorCtr="0" anchor="ctr" bIns="121900" lIns="121900" spcFirstLastPara="1" rIns="121900" wrap="square" tIns="121900">
              <a:noAutofit/>
            </a:bodyPr>
            <a:lstStyle/>
            <a:p>
              <a:pPr indent="0" lvl="0" marL="0" marR="0" rtl="0" algn="ctr">
                <a:lnSpc>
                  <a:spcPct val="90000"/>
                </a:lnSpc>
                <a:spcBef>
                  <a:spcPts val="0"/>
                </a:spcBef>
                <a:spcAft>
                  <a:spcPts val="0"/>
                </a:spcAft>
                <a:buClr>
                  <a:schemeClr val="lt1"/>
                </a:buClr>
                <a:buSzPts val="3200"/>
                <a:buFont typeface="Times New Roman"/>
                <a:buNone/>
              </a:pPr>
              <a:r>
                <a:rPr b="1" i="0" lang="en-US" sz="3200" u="none" cap="none" strike="noStrike">
                  <a:solidFill>
                    <a:schemeClr val="lt1"/>
                  </a:solidFill>
                  <a:latin typeface="Arial"/>
                  <a:ea typeface="Arial"/>
                  <a:cs typeface="Arial"/>
                  <a:sym typeface="Arial"/>
                </a:rPr>
                <a:t>Offshoring</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1120"/>
                </a:spcBef>
                <a:spcAft>
                  <a:spcPts val="0"/>
                </a:spcAft>
                <a:buClr>
                  <a:srgbClr val="000000"/>
                </a:buClr>
                <a:buSzPts val="2800"/>
                <a:buFont typeface="Arial"/>
                <a:buNone/>
              </a:pPr>
              <a:r>
                <a:rPr b="0" i="0" lang="en-US" sz="2800" u="none" cap="none" strike="noStrike">
                  <a:solidFill>
                    <a:schemeClr val="lt1"/>
                  </a:solidFill>
                  <a:latin typeface="Arial"/>
                  <a:ea typeface="Arial"/>
                  <a:cs typeface="Arial"/>
                  <a:sym typeface="Arial"/>
                </a:rPr>
                <a:t>Happens when a company moves some of its operations to another country. This practice is often done to reduce labor costs, but it may also help a company work more efficiently </a:t>
              </a:r>
              <a:r>
                <a:rPr b="1" i="0" lang="en-US" sz="2800" u="none" cap="none" strike="noStrike">
                  <a:solidFill>
                    <a:schemeClr val="lt1"/>
                  </a:solidFill>
                  <a:latin typeface="Arial"/>
                  <a:ea typeface="Arial"/>
                  <a:cs typeface="Arial"/>
                  <a:sym typeface="Arial"/>
                </a:rPr>
                <a:t>by creating offices </a:t>
              </a:r>
              <a:r>
                <a:rPr b="0" i="0" lang="en-US" sz="2800" u="none" cap="none" strike="noStrike">
                  <a:solidFill>
                    <a:schemeClr val="lt1"/>
                  </a:solidFill>
                  <a:latin typeface="Arial"/>
                  <a:ea typeface="Arial"/>
                  <a:cs typeface="Arial"/>
                  <a:sym typeface="Arial"/>
                </a:rPr>
                <a:t>closer to suppliers or clients</a:t>
              </a:r>
              <a:endParaRPr b="0" i="0" sz="2800" u="none" cap="none" strike="noStrike">
                <a:solidFill>
                  <a:schemeClr val="lt1"/>
                </a:solidFill>
                <a:latin typeface="Arial"/>
                <a:ea typeface="Arial"/>
                <a:cs typeface="Arial"/>
                <a:sym typeface="Arial"/>
              </a:endParaRPr>
            </a:p>
          </p:txBody>
        </p:sp>
      </p:gr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4A7D6"/>
        </a:solidFill>
      </p:bgPr>
    </p:bg>
    <p:spTree>
      <p:nvGrpSpPr>
        <p:cNvPr id="699" name="Shape 699"/>
        <p:cNvGrpSpPr/>
        <p:nvPr/>
      </p:nvGrpSpPr>
      <p:grpSpPr>
        <a:xfrm>
          <a:off x="0" y="0"/>
          <a:ext cx="0" cy="0"/>
          <a:chOff x="0" y="0"/>
          <a:chExt cx="0" cy="0"/>
        </a:xfrm>
      </p:grpSpPr>
      <p:sp>
        <p:nvSpPr>
          <p:cNvPr id="700" name="Google Shape;700;g3756d5883a8_0_178"/>
          <p:cNvSpPr txBox="1"/>
          <p:nvPr/>
        </p:nvSpPr>
        <p:spPr>
          <a:xfrm>
            <a:off x="662033" y="1383333"/>
            <a:ext cx="10729200" cy="763200"/>
          </a:xfrm>
          <a:prstGeom prst="rect">
            <a:avLst/>
          </a:prstGeom>
          <a:noFill/>
          <a:ln>
            <a:noFill/>
          </a:ln>
        </p:spPr>
        <p:txBody>
          <a:bodyPr anchorCtr="0" anchor="t" bIns="121900" lIns="121900" spcFirstLastPara="1" rIns="121900" wrap="square" tIns="121900">
            <a:noAutofit/>
          </a:bodyPr>
          <a:lstStyle/>
          <a:p>
            <a:pPr indent="0" lvl="0" marL="0" marR="0" rtl="0" algn="just">
              <a:lnSpc>
                <a:spcPct val="115000"/>
              </a:lnSpc>
              <a:spcBef>
                <a:spcPts val="900"/>
              </a:spcBef>
              <a:spcAft>
                <a:spcPts val="0"/>
              </a:spcAft>
              <a:buClr>
                <a:schemeClr val="dk1"/>
              </a:buClr>
              <a:buSzPts val="1500"/>
              <a:buFont typeface="Arial"/>
              <a:buNone/>
            </a:pPr>
            <a:r>
              <a:rPr b="0" i="0" lang="en-US" sz="2100" u="none" cap="none" strike="noStrike">
                <a:solidFill>
                  <a:schemeClr val="lt1"/>
                </a:solidFill>
                <a:latin typeface="Questrial"/>
                <a:ea typeface="Questrial"/>
                <a:cs typeface="Questrial"/>
                <a:sym typeface="Questrial"/>
              </a:rPr>
              <a:t>A </a:t>
            </a:r>
            <a:r>
              <a:rPr b="1" i="0" lang="en-US" sz="2100" u="none" cap="none" strike="noStrike">
                <a:solidFill>
                  <a:schemeClr val="lt1"/>
                </a:solidFill>
                <a:latin typeface="Questrial"/>
                <a:ea typeface="Questrial"/>
                <a:cs typeface="Questrial"/>
                <a:sym typeface="Questrial"/>
              </a:rPr>
              <a:t>process</a:t>
            </a:r>
            <a:r>
              <a:rPr b="0" i="0" lang="en-US" sz="2100" u="none" cap="none" strike="noStrike">
                <a:solidFill>
                  <a:schemeClr val="lt1"/>
                </a:solidFill>
                <a:latin typeface="Questrial"/>
                <a:ea typeface="Questrial"/>
                <a:cs typeface="Questrial"/>
                <a:sym typeface="Questrial"/>
              </a:rPr>
              <a:t> in which → </a:t>
            </a:r>
            <a:r>
              <a:rPr b="0" i="0" lang="en-US" sz="2100" u="sng" cap="none" strike="noStrike">
                <a:solidFill>
                  <a:schemeClr val="lt1"/>
                </a:solidFill>
                <a:latin typeface="Questrial"/>
                <a:ea typeface="Questrial"/>
                <a:cs typeface="Questrial"/>
                <a:sym typeface="Questrial"/>
              </a:rPr>
              <a:t>worldwide</a:t>
            </a:r>
            <a:r>
              <a:rPr b="0" i="0" lang="en-US" sz="2100" u="none" cap="none" strike="noStrike">
                <a:solidFill>
                  <a:schemeClr val="lt1"/>
                </a:solidFill>
                <a:latin typeface="Questrial"/>
                <a:ea typeface="Questrial"/>
                <a:cs typeface="Questrial"/>
                <a:sym typeface="Questrial"/>
              </a:rPr>
              <a:t> </a:t>
            </a:r>
            <a:r>
              <a:rPr b="0" i="0" lang="en-US" sz="2100" u="sng" cap="none" strike="noStrike">
                <a:solidFill>
                  <a:schemeClr val="lt1"/>
                </a:solidFill>
                <a:latin typeface="Questrial"/>
                <a:ea typeface="Questrial"/>
                <a:cs typeface="Questrial"/>
                <a:sym typeface="Questrial"/>
              </a:rPr>
              <a:t>integration</a:t>
            </a:r>
            <a:r>
              <a:rPr b="0" i="0" lang="en-US" sz="2100" u="none" cap="none" strike="noStrike">
                <a:solidFill>
                  <a:schemeClr val="lt1"/>
                </a:solidFill>
                <a:latin typeface="Questrial"/>
                <a:ea typeface="Questrial"/>
                <a:cs typeface="Questrial"/>
                <a:sym typeface="Questrial"/>
              </a:rPr>
              <a:t> and </a:t>
            </a:r>
            <a:r>
              <a:rPr b="0" i="0" lang="en-US" sz="2100" u="sng" cap="none" strike="noStrike">
                <a:solidFill>
                  <a:schemeClr val="lt1"/>
                </a:solidFill>
                <a:latin typeface="Questrial"/>
                <a:ea typeface="Questrial"/>
                <a:cs typeface="Questrial"/>
                <a:sym typeface="Questrial"/>
              </a:rPr>
              <a:t>interdependence</a:t>
            </a:r>
            <a:r>
              <a:rPr b="0" i="0" lang="en-US" sz="2100" u="none" cap="none" strike="noStrike">
                <a:solidFill>
                  <a:schemeClr val="lt1"/>
                </a:solidFill>
                <a:latin typeface="Questrial"/>
                <a:ea typeface="Questrial"/>
                <a:cs typeface="Questrial"/>
                <a:sym typeface="Questrial"/>
              </a:rPr>
              <a:t> is </a:t>
            </a:r>
            <a:r>
              <a:rPr b="0" i="0" lang="en-US" sz="2100" u="sng" cap="none" strike="noStrike">
                <a:solidFill>
                  <a:schemeClr val="lt1"/>
                </a:solidFill>
                <a:latin typeface="Questrial"/>
                <a:ea typeface="Questrial"/>
                <a:cs typeface="Questrial"/>
                <a:sym typeface="Questrial"/>
              </a:rPr>
              <a:t>promoted</a:t>
            </a:r>
            <a:r>
              <a:rPr b="0" i="0" lang="en-US" sz="2100" u="none" cap="none" strike="noStrike">
                <a:solidFill>
                  <a:schemeClr val="lt1"/>
                </a:solidFill>
                <a:latin typeface="Questrial"/>
                <a:ea typeface="Questrial"/>
                <a:cs typeface="Questrial"/>
                <a:sym typeface="Questrial"/>
              </a:rPr>
              <a:t> </a:t>
            </a:r>
            <a:r>
              <a:rPr b="0" i="0" lang="en-US" sz="2100" u="sng" cap="none" strike="noStrike">
                <a:solidFill>
                  <a:schemeClr val="lt1"/>
                </a:solidFill>
                <a:latin typeface="Questrial"/>
                <a:ea typeface="Questrial"/>
                <a:cs typeface="Questrial"/>
                <a:sym typeface="Questrial"/>
              </a:rPr>
              <a:t>across borders</a:t>
            </a:r>
            <a:endParaRPr b="0" i="0" sz="2100" u="sng" cap="none" strike="noStrike">
              <a:solidFill>
                <a:schemeClr val="lt1"/>
              </a:solidFill>
              <a:latin typeface="Questrial"/>
              <a:ea typeface="Questrial"/>
              <a:cs typeface="Questrial"/>
              <a:sym typeface="Questrial"/>
            </a:endParaRPr>
          </a:p>
          <a:p>
            <a:pPr indent="0" lvl="0" marL="0" marR="0" rtl="0" algn="just">
              <a:lnSpc>
                <a:spcPct val="115000"/>
              </a:lnSpc>
              <a:spcBef>
                <a:spcPts val="900"/>
              </a:spcBef>
              <a:spcAft>
                <a:spcPts val="0"/>
              </a:spcAft>
              <a:buClr>
                <a:schemeClr val="dk1"/>
              </a:buClr>
              <a:buSzPts val="1500"/>
              <a:buFont typeface="Arial"/>
              <a:buNone/>
            </a:pPr>
            <a:r>
              <a:rPr b="0" i="1" lang="en-US" sz="1700" u="none" cap="none" strike="noStrike">
                <a:solidFill>
                  <a:schemeClr val="lt1"/>
                </a:solidFill>
                <a:latin typeface="Questrial"/>
                <a:ea typeface="Questrial"/>
                <a:cs typeface="Questrial"/>
                <a:sym typeface="Questrial"/>
              </a:rPr>
              <a:t>Driving factors: Telecommunication, internet + Transport, infrastructure</a:t>
            </a:r>
            <a:endParaRPr b="0" i="1" sz="1700" u="none" cap="none" strike="noStrike">
              <a:solidFill>
                <a:schemeClr val="lt1"/>
              </a:solidFill>
              <a:latin typeface="Questrial"/>
              <a:ea typeface="Questrial"/>
              <a:cs typeface="Questrial"/>
              <a:sym typeface="Questrial"/>
            </a:endParaRPr>
          </a:p>
          <a:p>
            <a:pPr indent="0" lvl="0" marL="0" marR="0" rtl="0" algn="just">
              <a:lnSpc>
                <a:spcPct val="115000"/>
              </a:lnSpc>
              <a:spcBef>
                <a:spcPts val="900"/>
              </a:spcBef>
              <a:spcAft>
                <a:spcPts val="0"/>
              </a:spcAft>
              <a:buClr>
                <a:schemeClr val="dk1"/>
              </a:buClr>
              <a:buSzPts val="1500"/>
              <a:buFont typeface="Arial"/>
              <a:buNone/>
            </a:pPr>
            <a:r>
              <a:t/>
            </a:r>
            <a:endParaRPr b="0" i="0" sz="2100" u="sng" cap="none" strike="noStrike">
              <a:solidFill>
                <a:schemeClr val="lt1"/>
              </a:solidFill>
              <a:latin typeface="Questrial"/>
              <a:ea typeface="Questrial"/>
              <a:cs typeface="Questrial"/>
              <a:sym typeface="Questrial"/>
            </a:endParaRPr>
          </a:p>
          <a:p>
            <a:pPr indent="0" lvl="0" marL="0" marR="0" rtl="0" algn="just">
              <a:lnSpc>
                <a:spcPct val="115000"/>
              </a:lnSpc>
              <a:spcBef>
                <a:spcPts val="900"/>
              </a:spcBef>
              <a:spcAft>
                <a:spcPts val="0"/>
              </a:spcAft>
              <a:buClr>
                <a:schemeClr val="dk1"/>
              </a:buClr>
              <a:buSzPts val="1500"/>
              <a:buFont typeface="Arial"/>
              <a:buNone/>
            </a:pPr>
            <a:r>
              <a:rPr b="1" i="0" lang="en-US" sz="2100" u="none" cap="none" strike="noStrike">
                <a:solidFill>
                  <a:srgbClr val="9900FF"/>
                </a:solidFill>
                <a:latin typeface="Questrial"/>
                <a:ea typeface="Questrial"/>
                <a:cs typeface="Questrial"/>
                <a:sym typeface="Questrial"/>
              </a:rPr>
              <a:t>Is that true for Pak? Where are we in the process of globalization? What disadvantages/advantages does it present? </a:t>
            </a:r>
            <a:r>
              <a:rPr b="0" i="1" lang="en-US" sz="2100" u="none" cap="none" strike="noStrike">
                <a:solidFill>
                  <a:srgbClr val="9900FF"/>
                </a:solidFill>
                <a:latin typeface="Questrial"/>
                <a:ea typeface="Questrial"/>
                <a:cs typeface="Questrial"/>
                <a:sym typeface="Questrial"/>
              </a:rPr>
              <a:t>Comparison to the Neighbour, Middle east, NA, Europe?</a:t>
            </a:r>
            <a:endParaRPr b="0" i="1" sz="2100" u="none" cap="none" strike="noStrike">
              <a:solidFill>
                <a:srgbClr val="9900FF"/>
              </a:solidFill>
              <a:latin typeface="Questrial"/>
              <a:ea typeface="Questrial"/>
              <a:cs typeface="Questrial"/>
              <a:sym typeface="Questrial"/>
            </a:endParaRPr>
          </a:p>
          <a:p>
            <a:pPr indent="0" lvl="0" marL="0" marR="0" rtl="0" algn="ctr">
              <a:lnSpc>
                <a:spcPct val="100000"/>
              </a:lnSpc>
              <a:spcBef>
                <a:spcPts val="0"/>
              </a:spcBef>
              <a:spcAft>
                <a:spcPts val="0"/>
              </a:spcAft>
              <a:buClr>
                <a:srgbClr val="000000"/>
              </a:buClr>
              <a:buSzPts val="2100"/>
              <a:buFont typeface="Arial"/>
              <a:buNone/>
            </a:pPr>
            <a:r>
              <a:t/>
            </a:r>
            <a:endParaRPr b="1" i="0" sz="2100" u="sng" cap="none" strike="noStrike">
              <a:solidFill>
                <a:schemeClr val="lt1"/>
              </a:solidFill>
              <a:latin typeface="Questrial"/>
              <a:ea typeface="Questrial"/>
              <a:cs typeface="Questrial"/>
              <a:sym typeface="Questrial"/>
            </a:endParaRPr>
          </a:p>
          <a:p>
            <a:pPr indent="0" lvl="0" marL="0" marR="0" rtl="0" algn="ctr">
              <a:lnSpc>
                <a:spcPct val="100000"/>
              </a:lnSpc>
              <a:spcBef>
                <a:spcPts val="0"/>
              </a:spcBef>
              <a:spcAft>
                <a:spcPts val="0"/>
              </a:spcAft>
              <a:buClr>
                <a:srgbClr val="000000"/>
              </a:buClr>
              <a:buSzPts val="2100"/>
              <a:buFont typeface="Arial"/>
              <a:buNone/>
            </a:pPr>
            <a:r>
              <a:t/>
            </a:r>
            <a:endParaRPr b="1" i="0" sz="2100" u="sng" cap="none" strike="noStrike">
              <a:solidFill>
                <a:schemeClr val="lt1"/>
              </a:solidFill>
              <a:latin typeface="Questrial"/>
              <a:ea typeface="Questrial"/>
              <a:cs typeface="Questrial"/>
              <a:sym typeface="Questrial"/>
            </a:endParaRPr>
          </a:p>
        </p:txBody>
      </p:sp>
      <p:sp>
        <p:nvSpPr>
          <p:cNvPr id="701" name="Google Shape;701;g3756d5883a8_0_178"/>
          <p:cNvSpPr txBox="1"/>
          <p:nvPr/>
        </p:nvSpPr>
        <p:spPr>
          <a:xfrm>
            <a:off x="662033" y="482500"/>
            <a:ext cx="3829500" cy="432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3500"/>
              <a:buFont typeface="Arial"/>
              <a:buNone/>
            </a:pPr>
            <a:r>
              <a:rPr b="1" i="0" lang="en-US" sz="3500" u="none" cap="none" strike="noStrike">
                <a:solidFill>
                  <a:srgbClr val="073763"/>
                </a:solidFill>
                <a:latin typeface="Questrial"/>
                <a:ea typeface="Questrial"/>
                <a:cs typeface="Questrial"/>
                <a:sym typeface="Questrial"/>
              </a:rPr>
              <a:t>Globalization</a:t>
            </a:r>
            <a:endParaRPr b="0" i="0" sz="1600" u="none" cap="none" strike="noStrike">
              <a:solidFill>
                <a:srgbClr val="073763"/>
              </a:solidFill>
              <a:latin typeface="Questrial"/>
              <a:ea typeface="Questrial"/>
              <a:cs typeface="Questrial"/>
              <a:sym typeface="Questrial"/>
            </a:endParaRPr>
          </a:p>
        </p:txBody>
      </p:sp>
      <p:sp>
        <p:nvSpPr>
          <p:cNvPr id="702" name="Google Shape;702;g3756d5883a8_0_178"/>
          <p:cNvSpPr txBox="1"/>
          <p:nvPr/>
        </p:nvSpPr>
        <p:spPr>
          <a:xfrm>
            <a:off x="5098533" y="5279900"/>
            <a:ext cx="3707100" cy="6618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2700"/>
              <a:buFont typeface="Arial"/>
              <a:buNone/>
            </a:pPr>
            <a:r>
              <a:t/>
            </a:r>
            <a:endParaRPr b="0" i="0" sz="2700" u="none" cap="none" strike="noStrike">
              <a:solidFill>
                <a:srgbClr val="000000"/>
              </a:solidFill>
              <a:latin typeface="Arial"/>
              <a:ea typeface="Arial"/>
              <a:cs typeface="Arial"/>
              <a:sym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4A6AA"/>
        </a:solidFill>
      </p:bgPr>
    </p:bg>
    <p:spTree>
      <p:nvGrpSpPr>
        <p:cNvPr id="706" name="Shape 706"/>
        <p:cNvGrpSpPr/>
        <p:nvPr/>
      </p:nvGrpSpPr>
      <p:grpSpPr>
        <a:xfrm>
          <a:off x="0" y="0"/>
          <a:ext cx="0" cy="0"/>
          <a:chOff x="0" y="0"/>
          <a:chExt cx="0" cy="0"/>
        </a:xfrm>
      </p:grpSpPr>
      <p:sp>
        <p:nvSpPr>
          <p:cNvPr id="707" name="Google Shape;707;g3756d5883a8_0_185"/>
          <p:cNvSpPr txBox="1"/>
          <p:nvPr/>
        </p:nvSpPr>
        <p:spPr>
          <a:xfrm>
            <a:off x="662033" y="1383333"/>
            <a:ext cx="10729200" cy="7632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2000"/>
              <a:buFont typeface="Arial"/>
              <a:buNone/>
            </a:pPr>
            <a:r>
              <a:rPr b="0" i="1" lang="en-US" sz="2000" u="none" cap="none" strike="noStrike">
                <a:solidFill>
                  <a:schemeClr val="lt1"/>
                </a:solidFill>
                <a:latin typeface="Questrial"/>
                <a:ea typeface="Questrial"/>
                <a:cs typeface="Questrial"/>
                <a:sym typeface="Questrial"/>
              </a:rPr>
              <a:t>Globalization has resulted in increased diversity at workplaces</a:t>
            </a:r>
            <a:endParaRPr b="0" i="1" sz="2000" u="none" cap="none" strike="noStrike">
              <a:solidFill>
                <a:schemeClr val="lt1"/>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2000"/>
              <a:buFont typeface="Arial"/>
              <a:buNone/>
            </a:pPr>
            <a:r>
              <a:t/>
            </a:r>
            <a:endParaRPr b="0" i="1" sz="2000" u="none" cap="none" strike="noStrike">
              <a:solidFill>
                <a:schemeClr val="lt1"/>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2000"/>
              <a:buFont typeface="Arial"/>
              <a:buNone/>
            </a:pPr>
            <a:r>
              <a:rPr b="0" i="1" lang="en-US" sz="2000" u="none" cap="none" strike="noStrike">
                <a:solidFill>
                  <a:schemeClr val="lt1"/>
                </a:solidFill>
                <a:latin typeface="Questrial"/>
                <a:ea typeface="Questrial"/>
                <a:cs typeface="Questrial"/>
                <a:sym typeface="Questrial"/>
              </a:rPr>
              <a:t>How does diversity help?  (</a:t>
            </a:r>
            <a:r>
              <a:rPr b="0" i="1" lang="en-US" sz="1600" u="none" cap="none" strike="noStrike">
                <a:solidFill>
                  <a:schemeClr val="lt1"/>
                </a:solidFill>
                <a:latin typeface="Questrial"/>
                <a:ea typeface="Questrial"/>
                <a:cs typeface="Questrial"/>
                <a:sym typeface="Questrial"/>
              </a:rPr>
              <a:t>Some: talent attraction, better service audience needs, shareholder values, profits)</a:t>
            </a:r>
            <a:endParaRPr b="0" i="1" sz="1600" u="none" cap="none" strike="noStrike">
              <a:solidFill>
                <a:schemeClr val="lt1"/>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1600"/>
              <a:buFont typeface="Arial"/>
              <a:buNone/>
            </a:pPr>
            <a:r>
              <a:rPr b="0" i="1" lang="en-US" sz="1600" u="none" cap="none" strike="noStrike">
                <a:solidFill>
                  <a:srgbClr val="0000FF"/>
                </a:solidFill>
                <a:latin typeface="Questrial"/>
                <a:ea typeface="Questrial"/>
                <a:cs typeface="Questrial"/>
                <a:sym typeface="Questrial"/>
              </a:rPr>
              <a:t>Diversity is good, hence we should learn to be inclusive</a:t>
            </a:r>
            <a:endParaRPr b="0" i="1" sz="1600" u="none" cap="none" strike="noStrike">
              <a:solidFill>
                <a:srgbClr val="0000FF"/>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2000"/>
              <a:buFont typeface="Arial"/>
              <a:buNone/>
            </a:pPr>
            <a:r>
              <a:t/>
            </a:r>
            <a:endParaRPr b="0" i="1" sz="2000" u="none" cap="none" strike="noStrike">
              <a:solidFill>
                <a:schemeClr val="lt1"/>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2000"/>
              <a:buFont typeface="Arial"/>
              <a:buNone/>
            </a:pPr>
            <a:r>
              <a:t/>
            </a:r>
            <a:endParaRPr b="0" i="1" sz="2000" u="none" cap="none" strike="noStrike">
              <a:solidFill>
                <a:schemeClr val="lt1"/>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2000"/>
              <a:buFont typeface="Arial"/>
              <a:buNone/>
            </a:pPr>
            <a:r>
              <a:t/>
            </a:r>
            <a:endParaRPr b="0" i="1" sz="2000" u="none" cap="none" strike="noStrike">
              <a:solidFill>
                <a:schemeClr val="lt1"/>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2000"/>
              <a:buFont typeface="Arial"/>
              <a:buNone/>
            </a:pPr>
            <a:r>
              <a:t/>
            </a:r>
            <a:endParaRPr b="0" i="1" sz="2000" u="none" cap="none" strike="noStrike">
              <a:solidFill>
                <a:schemeClr val="lt1"/>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2000"/>
              <a:buFont typeface="Arial"/>
              <a:buNone/>
            </a:pPr>
            <a:r>
              <a:t/>
            </a:r>
            <a:endParaRPr b="0" i="1" sz="2000" u="none" cap="none" strike="noStrike">
              <a:solidFill>
                <a:schemeClr val="lt1"/>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2000"/>
              <a:buFont typeface="Arial"/>
              <a:buNone/>
            </a:pPr>
            <a:r>
              <a:t/>
            </a:r>
            <a:endParaRPr b="0" i="1" sz="2000" u="none" cap="none" strike="noStrike">
              <a:solidFill>
                <a:schemeClr val="lt1"/>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2000"/>
              <a:buFont typeface="Arial"/>
              <a:buNone/>
            </a:pPr>
            <a:r>
              <a:t/>
            </a:r>
            <a:endParaRPr b="0" i="1" sz="2000" u="none" cap="none" strike="noStrike">
              <a:solidFill>
                <a:schemeClr val="lt1"/>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2000"/>
              <a:buFont typeface="Arial"/>
              <a:buNone/>
            </a:pPr>
            <a:r>
              <a:t/>
            </a:r>
            <a:endParaRPr b="0" i="1" sz="2000" u="none" cap="none" strike="noStrike">
              <a:solidFill>
                <a:schemeClr val="lt1"/>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2000"/>
              <a:buFont typeface="Arial"/>
              <a:buNone/>
            </a:pPr>
            <a:r>
              <a:t/>
            </a:r>
            <a:endParaRPr b="0" i="1" sz="2000" u="none" cap="none" strike="noStrike">
              <a:solidFill>
                <a:schemeClr val="lt1"/>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2000"/>
              <a:buFont typeface="Arial"/>
              <a:buNone/>
            </a:pPr>
            <a:r>
              <a:t/>
            </a:r>
            <a:endParaRPr b="0" i="1" sz="2000" u="none" cap="none" strike="noStrike">
              <a:solidFill>
                <a:schemeClr val="lt1"/>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1700"/>
              <a:buFont typeface="Arial"/>
              <a:buNone/>
            </a:pPr>
            <a:r>
              <a:t/>
            </a:r>
            <a:endParaRPr b="0" i="1" sz="1700" u="none" cap="none" strike="noStrike">
              <a:solidFill>
                <a:srgbClr val="F3F3F3"/>
              </a:solidFill>
              <a:latin typeface="Questrial"/>
              <a:ea typeface="Questrial"/>
              <a:cs typeface="Questrial"/>
              <a:sym typeface="Questrial"/>
            </a:endParaRPr>
          </a:p>
        </p:txBody>
      </p:sp>
      <p:sp>
        <p:nvSpPr>
          <p:cNvPr id="708" name="Google Shape;708;g3756d5883a8_0_185"/>
          <p:cNvSpPr txBox="1"/>
          <p:nvPr/>
        </p:nvSpPr>
        <p:spPr>
          <a:xfrm>
            <a:off x="662033" y="482500"/>
            <a:ext cx="3829500" cy="432000"/>
          </a:xfrm>
          <a:prstGeom prst="rect">
            <a:avLst/>
          </a:prstGeom>
          <a:noFill/>
          <a:ln>
            <a:noFill/>
          </a:ln>
        </p:spPr>
        <p:txBody>
          <a:bodyPr anchorCtr="0" anchor="t"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3500"/>
              <a:buFont typeface="Arial"/>
              <a:buNone/>
            </a:pPr>
            <a:r>
              <a:rPr b="1" i="0" lang="en-US" sz="3500" u="none" cap="none" strike="noStrike">
                <a:solidFill>
                  <a:srgbClr val="0B5394"/>
                </a:solidFill>
                <a:latin typeface="Questrial"/>
                <a:ea typeface="Questrial"/>
                <a:cs typeface="Questrial"/>
                <a:sym typeface="Questrial"/>
              </a:rPr>
              <a:t>Diversity </a:t>
            </a:r>
            <a:endParaRPr b="0" i="0" sz="1600" u="none" cap="none" strike="noStrike">
              <a:solidFill>
                <a:srgbClr val="0B5394"/>
              </a:solidFill>
              <a:latin typeface="Questrial"/>
              <a:ea typeface="Questrial"/>
              <a:cs typeface="Questrial"/>
              <a:sym typeface="Questrial"/>
            </a:endParaRPr>
          </a:p>
        </p:txBody>
      </p:sp>
      <p:sp>
        <p:nvSpPr>
          <p:cNvPr id="709" name="Google Shape;709;g3756d5883a8_0_185"/>
          <p:cNvSpPr txBox="1"/>
          <p:nvPr/>
        </p:nvSpPr>
        <p:spPr>
          <a:xfrm>
            <a:off x="5098533" y="5279900"/>
            <a:ext cx="3707100" cy="6618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2700"/>
              <a:buFont typeface="Arial"/>
              <a:buNone/>
            </a:pPr>
            <a:r>
              <a:t/>
            </a:r>
            <a:endParaRPr b="0" i="0" sz="2700" u="none" cap="none" strike="noStrike">
              <a:solidFill>
                <a:srgbClr val="000000"/>
              </a:solidFill>
              <a:latin typeface="Arial"/>
              <a:ea typeface="Arial"/>
              <a:cs typeface="Arial"/>
              <a:sym typeface="Arial"/>
            </a:endParaRPr>
          </a:p>
        </p:txBody>
      </p:sp>
      <p:sp>
        <p:nvSpPr>
          <p:cNvPr id="710" name="Google Shape;710;g3756d5883a8_0_185"/>
          <p:cNvSpPr txBox="1"/>
          <p:nvPr/>
        </p:nvSpPr>
        <p:spPr>
          <a:xfrm>
            <a:off x="662033" y="2879900"/>
            <a:ext cx="10265100" cy="2586000"/>
          </a:xfrm>
          <a:prstGeom prst="rect">
            <a:avLst/>
          </a:prstGeom>
          <a:solidFill>
            <a:srgbClr val="D0E0E3"/>
          </a:solid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rgbClr val="000000"/>
                </a:solidFill>
                <a:latin typeface="Questrial"/>
                <a:ea typeface="Questrial"/>
                <a:cs typeface="Questrial"/>
                <a:sym typeface="Questrial"/>
              </a:rPr>
              <a:t>We need to stress that all human cultures have common needs, a common sense of humanity.</a:t>
            </a:r>
            <a:endParaRPr b="0" i="0" sz="1900" u="none" cap="none" strike="noStrike">
              <a:solidFill>
                <a:srgbClr val="000000"/>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rgbClr val="000000"/>
                </a:solidFill>
                <a:latin typeface="Questrial"/>
                <a:ea typeface="Questrial"/>
                <a:cs typeface="Questrial"/>
                <a:sym typeface="Questrial"/>
              </a:rPr>
              <a:t>But there are differences, too. How in the world do you please a customer, for example, if</a:t>
            </a:r>
            <a:endParaRPr b="0" i="0" sz="1900" u="none" cap="none" strike="noStrike">
              <a:solidFill>
                <a:srgbClr val="000000"/>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rgbClr val="000000"/>
                </a:solidFill>
                <a:latin typeface="Questrial"/>
                <a:ea typeface="Questrial"/>
                <a:cs typeface="Questrial"/>
                <a:sym typeface="Questrial"/>
              </a:rPr>
              <a:t>you don’t know what he or she values? That’s what culture is all about, that’s what</a:t>
            </a:r>
            <a:endParaRPr b="0" i="0" sz="1900" u="none" cap="none" strike="noStrike">
              <a:solidFill>
                <a:srgbClr val="000000"/>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rgbClr val="000000"/>
                </a:solidFill>
                <a:latin typeface="Questrial"/>
                <a:ea typeface="Questrial"/>
                <a:cs typeface="Questrial"/>
                <a:sym typeface="Questrial"/>
              </a:rPr>
              <a:t>differences are all about. Diversity assumes not only that people are different—we know</a:t>
            </a:r>
            <a:endParaRPr b="0" i="0" sz="1900" u="none" cap="none" strike="noStrike">
              <a:solidFill>
                <a:srgbClr val="000000"/>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rgbClr val="000000"/>
                </a:solidFill>
                <a:latin typeface="Questrial"/>
                <a:ea typeface="Questrial"/>
                <a:cs typeface="Questrial"/>
                <a:sym typeface="Questrial"/>
              </a:rPr>
              <a:t>that—but that their difference is value-added. If you know how to harness that difference,</a:t>
            </a:r>
            <a:endParaRPr b="0" i="0" sz="1900" u="none" cap="none" strike="noStrike">
              <a:solidFill>
                <a:srgbClr val="000000"/>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rgbClr val="000000"/>
                </a:solidFill>
                <a:latin typeface="Questrial"/>
                <a:ea typeface="Questrial"/>
                <a:cs typeface="Questrial"/>
                <a:sym typeface="Questrial"/>
              </a:rPr>
              <a:t>you’ll be more competitive as a corporation than those firms that don’t, whether in the</a:t>
            </a:r>
            <a:endParaRPr b="0" i="0" sz="1900" u="none" cap="none" strike="noStrike">
              <a:solidFill>
                <a:srgbClr val="000000"/>
              </a:solidFill>
              <a:latin typeface="Questrial"/>
              <a:ea typeface="Questrial"/>
              <a:cs typeface="Questrial"/>
              <a:sym typeface="Questrial"/>
            </a:endParaRPr>
          </a:p>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rgbClr val="000000"/>
                </a:solidFill>
                <a:latin typeface="Questrial"/>
                <a:ea typeface="Questrial"/>
                <a:cs typeface="Questrial"/>
                <a:sym typeface="Questrial"/>
              </a:rPr>
              <a:t>domestic marketplace, and certainly in the global marketplace.37</a:t>
            </a:r>
            <a:endParaRPr b="0" i="0" sz="1900" u="none" cap="none" strike="noStrike">
              <a:solidFill>
                <a:srgbClr val="000000"/>
              </a:solidFill>
              <a:latin typeface="Questrial"/>
              <a:ea typeface="Questrial"/>
              <a:cs typeface="Questrial"/>
              <a:sym typeface="Questrial"/>
            </a:endParaRPr>
          </a:p>
        </p:txBody>
      </p:sp>
      <p:sp>
        <p:nvSpPr>
          <p:cNvPr id="711" name="Google Shape;711;g3756d5883a8_0_185"/>
          <p:cNvSpPr txBox="1"/>
          <p:nvPr/>
        </p:nvSpPr>
        <p:spPr>
          <a:xfrm>
            <a:off x="8027700" y="5936700"/>
            <a:ext cx="3829500" cy="432000"/>
          </a:xfrm>
          <a:prstGeom prst="rect">
            <a:avLst/>
          </a:prstGeom>
          <a:noFill/>
          <a:ln>
            <a:noFill/>
          </a:ln>
        </p:spPr>
        <p:txBody>
          <a:bodyPr anchorCtr="0" anchor="t" bIns="121900" lIns="121900" spcFirstLastPara="1" rIns="121900" wrap="square" tIns="121900">
            <a:noAutofit/>
          </a:bodyPr>
          <a:lstStyle/>
          <a:p>
            <a:pPr indent="0" lvl="0" marL="0" marR="0" rtl="0" algn="r">
              <a:lnSpc>
                <a:spcPct val="100000"/>
              </a:lnSpc>
              <a:spcBef>
                <a:spcPts val="0"/>
              </a:spcBef>
              <a:spcAft>
                <a:spcPts val="0"/>
              </a:spcAft>
              <a:buClr>
                <a:srgbClr val="000000"/>
              </a:buClr>
              <a:buSzPts val="3500"/>
              <a:buFont typeface="Arial"/>
              <a:buNone/>
            </a:pPr>
            <a:r>
              <a:rPr b="1" i="0" lang="en-US" sz="3500" u="none" cap="none" strike="noStrike">
                <a:solidFill>
                  <a:srgbClr val="0000FF"/>
                </a:solidFill>
                <a:latin typeface="Questrial"/>
                <a:ea typeface="Questrial"/>
                <a:cs typeface="Questrial"/>
                <a:sym typeface="Questrial"/>
              </a:rPr>
              <a:t>Inclusion</a:t>
            </a:r>
            <a:endParaRPr b="0" i="0" sz="1600" u="none" cap="none" strike="noStrike">
              <a:solidFill>
                <a:srgbClr val="0000FF"/>
              </a:solidFill>
              <a:latin typeface="Questrial"/>
              <a:ea typeface="Questrial"/>
              <a:cs typeface="Questrial"/>
              <a:sym typeface="Questrial"/>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p3"/>
          <p:cNvSpPr txBox="1"/>
          <p:nvPr>
            <p:ph type="title"/>
          </p:nvPr>
        </p:nvSpPr>
        <p:spPr>
          <a:xfrm>
            <a:off x="609600" y="0"/>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b="1" lang="en-US"/>
              <a:t>Elements of Organization Culture</a:t>
            </a:r>
            <a:endParaRPr/>
          </a:p>
        </p:txBody>
      </p:sp>
      <p:sp>
        <p:nvSpPr>
          <p:cNvPr id="718" name="Google Shape;718;p3"/>
          <p:cNvSpPr/>
          <p:nvPr/>
        </p:nvSpPr>
        <p:spPr>
          <a:xfrm>
            <a:off x="1457649" y="1493599"/>
            <a:ext cx="3882919" cy="2329751"/>
          </a:xfrm>
          <a:prstGeom prst="rect">
            <a:avLst/>
          </a:prstGeom>
          <a:solidFill>
            <a:srgbClr val="BBD6EE"/>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9" name="Google Shape;719;p3"/>
          <p:cNvSpPr txBox="1"/>
          <p:nvPr/>
        </p:nvSpPr>
        <p:spPr>
          <a:xfrm>
            <a:off x="1457649" y="1493599"/>
            <a:ext cx="3882919" cy="2329751"/>
          </a:xfrm>
          <a:prstGeom prst="rect">
            <a:avLst/>
          </a:prstGeom>
          <a:noFill/>
          <a:ln>
            <a:noFill/>
          </a:ln>
        </p:spPr>
        <p:txBody>
          <a:bodyPr anchorCtr="0" anchor="ctr" bIns="121900" lIns="121900" spcFirstLastPara="1" rIns="121900" wrap="square" tIns="121900">
            <a:noAutofit/>
          </a:bodyPr>
          <a:lstStyle/>
          <a:p>
            <a:pPr indent="0" lvl="0" marL="457200" marR="0" rtl="0" algn="ctr">
              <a:lnSpc>
                <a:spcPct val="90000"/>
              </a:lnSpc>
              <a:spcBef>
                <a:spcPts val="0"/>
              </a:spcBef>
              <a:spcAft>
                <a:spcPts val="0"/>
              </a:spcAft>
              <a:buClr>
                <a:srgbClr val="000000"/>
              </a:buClr>
              <a:buSzPts val="3200"/>
              <a:buFont typeface="Arial"/>
              <a:buNone/>
            </a:pPr>
            <a:r>
              <a:rPr b="1" i="0" lang="en-US" sz="3200" u="none" cap="none" strike="noStrike">
                <a:solidFill>
                  <a:srgbClr val="002060"/>
                </a:solidFill>
                <a:latin typeface="Arial"/>
                <a:ea typeface="Arial"/>
                <a:cs typeface="Arial"/>
                <a:sym typeface="Arial"/>
              </a:rPr>
              <a:t>Organization History</a:t>
            </a:r>
            <a:endParaRPr b="0" i="0" sz="2600" u="none" cap="none" strike="noStrike">
              <a:solidFill>
                <a:srgbClr val="002060"/>
              </a:solidFill>
              <a:latin typeface="Arial"/>
              <a:ea typeface="Arial"/>
              <a:cs typeface="Arial"/>
              <a:sym typeface="Arial"/>
            </a:endParaRPr>
          </a:p>
        </p:txBody>
      </p:sp>
      <p:sp>
        <p:nvSpPr>
          <p:cNvPr id="720" name="Google Shape;720;p3"/>
          <p:cNvSpPr/>
          <p:nvPr/>
        </p:nvSpPr>
        <p:spPr>
          <a:xfrm>
            <a:off x="4007627" y="4211668"/>
            <a:ext cx="3882900" cy="2329800"/>
          </a:xfrm>
          <a:prstGeom prst="rect">
            <a:avLst/>
          </a:prstGeom>
          <a:solidFill>
            <a:srgbClr val="6D9EEB"/>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1" name="Google Shape;721;p3"/>
          <p:cNvSpPr txBox="1"/>
          <p:nvPr/>
        </p:nvSpPr>
        <p:spPr>
          <a:xfrm>
            <a:off x="4007627" y="4211668"/>
            <a:ext cx="3882900" cy="2329800"/>
          </a:xfrm>
          <a:prstGeom prst="rect">
            <a:avLst/>
          </a:prstGeom>
          <a:noFill/>
          <a:ln>
            <a:noFill/>
          </a:ln>
        </p:spPr>
        <p:txBody>
          <a:bodyPr anchorCtr="0" anchor="ctr" bIns="137150" lIns="137150" spcFirstLastPara="1" rIns="137150" wrap="square" tIns="137150">
            <a:noAutofit/>
          </a:bodyPr>
          <a:lstStyle/>
          <a:p>
            <a:pPr indent="0" lvl="0" marL="0" marR="0" rtl="0" algn="ctr">
              <a:lnSpc>
                <a:spcPct val="90000"/>
              </a:lnSpc>
              <a:spcBef>
                <a:spcPts val="0"/>
              </a:spcBef>
              <a:spcAft>
                <a:spcPts val="0"/>
              </a:spcAft>
              <a:buClr>
                <a:srgbClr val="000000"/>
              </a:buClr>
              <a:buSzPts val="3600"/>
              <a:buFont typeface="Arial"/>
              <a:buNone/>
            </a:pPr>
            <a:r>
              <a:rPr b="1" i="0" lang="en-US" sz="3600" u="none" cap="none" strike="noStrike">
                <a:solidFill>
                  <a:schemeClr val="dk1"/>
                </a:solidFill>
                <a:latin typeface="Arial"/>
                <a:ea typeface="Arial"/>
                <a:cs typeface="Arial"/>
                <a:sym typeface="Arial"/>
              </a:rPr>
              <a:t>Management Style</a:t>
            </a:r>
            <a:endParaRPr b="0" i="0" sz="3000" u="none" cap="none" strike="noStrike">
              <a:solidFill>
                <a:schemeClr val="dk1"/>
              </a:solidFill>
              <a:latin typeface="Arial"/>
              <a:ea typeface="Arial"/>
              <a:cs typeface="Arial"/>
              <a:sym typeface="Arial"/>
            </a:endParaRPr>
          </a:p>
        </p:txBody>
      </p:sp>
      <p:sp>
        <p:nvSpPr>
          <p:cNvPr id="722" name="Google Shape;722;p3"/>
          <p:cNvSpPr txBox="1"/>
          <p:nvPr/>
        </p:nvSpPr>
        <p:spPr>
          <a:xfrm>
            <a:off x="5728860" y="1493599"/>
            <a:ext cx="4929300" cy="2329800"/>
          </a:xfrm>
          <a:prstGeom prst="rect">
            <a:avLst/>
          </a:prstGeom>
          <a:solidFill>
            <a:srgbClr val="3D85C6"/>
          </a:solidFill>
          <a:ln>
            <a:noFill/>
          </a:ln>
        </p:spPr>
        <p:txBody>
          <a:bodyPr anchorCtr="0" anchor="ctr" bIns="121900" lIns="121900" spcFirstLastPara="1" rIns="121900" wrap="square" tIns="121900">
            <a:noAutofit/>
          </a:bodyPr>
          <a:lstStyle/>
          <a:p>
            <a:pPr indent="0" lvl="0" marL="457200" marR="0" rtl="0" algn="ctr">
              <a:lnSpc>
                <a:spcPct val="90000"/>
              </a:lnSpc>
              <a:spcBef>
                <a:spcPts val="0"/>
              </a:spcBef>
              <a:spcAft>
                <a:spcPts val="0"/>
              </a:spcAft>
              <a:buClr>
                <a:srgbClr val="000000"/>
              </a:buClr>
              <a:buSzPts val="3200"/>
              <a:buFont typeface="Arial"/>
              <a:buNone/>
            </a:pPr>
            <a:r>
              <a:rPr b="1" i="0" lang="en-US" sz="3200" u="none" cap="none" strike="noStrike">
                <a:solidFill>
                  <a:schemeClr val="lt1"/>
                </a:solidFill>
                <a:latin typeface="Arial"/>
                <a:ea typeface="Arial"/>
                <a:cs typeface="Arial"/>
                <a:sym typeface="Arial"/>
              </a:rPr>
              <a:t>Type of Business</a:t>
            </a:r>
            <a:endParaRPr b="0" i="0" sz="2400" u="none" cap="none" strike="noStrike">
              <a:solidFill>
                <a:schemeClr val="lt1"/>
              </a:solidFill>
              <a:latin typeface="Arial"/>
              <a:ea typeface="Arial"/>
              <a:cs typeface="Arial"/>
              <a:sym typeface="Arial"/>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pic>
        <p:nvPicPr>
          <p:cNvPr id="727" name="Google Shape;727;p6"/>
          <p:cNvPicPr preferRelativeResize="0"/>
          <p:nvPr/>
        </p:nvPicPr>
        <p:blipFill rotWithShape="1">
          <a:blip r:embed="rId3">
            <a:alphaModFix/>
          </a:blip>
          <a:srcRect b="0" l="0" r="0" t="0"/>
          <a:stretch/>
        </p:blipFill>
        <p:spPr>
          <a:xfrm>
            <a:off x="669701" y="0"/>
            <a:ext cx="11075831" cy="68579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3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4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2025-01-16T12:11:38Z</dcterms:created>
  <dc:creator>Microsoft account</dc:creator>
</cp:coreProperties>
</file>