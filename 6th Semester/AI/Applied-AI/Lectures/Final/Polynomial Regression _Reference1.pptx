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 ?>
<Relationships xmlns="http://schemas.openxmlformats.org/package/2006/relationships">
	<Relationship Id="rId3" Type="http://schemas.openxmlformats.org/officeDocument/2006/relationships/presProps" Target="presProps.xml" />
	<Relationship Id="rId2" Type="http://schemas.openxmlformats.org/officeDocument/2006/relationships/slide" Target="slides/slide1.xml" />
	<Relationship Id="rId1" Type="http://schemas.openxmlformats.org/officeDocument/2006/relationships/slideMaster" Target="slideMasters/slideMaster1.xml" />
	<Relationship Id="rId6" Type="http://schemas.openxmlformats.org/officeDocument/2006/relationships/tableStyles" Target="tableStyles.xml" />
	<Relationship Id="rId5" Type="http://schemas.openxmlformats.org/officeDocument/2006/relationships/theme" Target="theme/theme1.xml" />
	<Relationship Id="rId4" Type="http://schemas.openxmlformats.org/officeDocument/2006/relationships/viewProps" Target="viewProps.xml" />
	<Relationship Id="rId7" Type="http://schemas.openxmlformats.org/officeDocument/2006/relationships/slide" Target="slides/slide2.xml" />
	<Relationship Id="rId8" Type="http://schemas.openxmlformats.org/officeDocument/2006/relationships/slide" Target="slides/slide3.xml" />
	<Relationship Id="rId9" Type="http://schemas.openxmlformats.org/officeDocument/2006/relationships/slide" Target="slides/slide4.xml" />
	<Relationship Id="rId10" Type="http://schemas.openxmlformats.org/officeDocument/2006/relationships/slide" Target="slides/slide5.xml" />
	<Relationship Id="rId11" Type="http://schemas.openxmlformats.org/officeDocument/2006/relationships/slide" Target="slides/slide6.xml" />
	<Relationship Id="rId12" Type="http://schemas.openxmlformats.org/officeDocument/2006/relationships/slide" Target="slides/slide7.xml" />
	<Relationship Id="rId13" Type="http://schemas.openxmlformats.org/officeDocument/2006/relationships/slide" Target="slides/slide8.xml" />
	<Relationship Id="rId14" Type="http://schemas.openxmlformats.org/officeDocument/2006/relationships/slide" Target="slides/slide9.xml" />
	<Relationship Id="rId15" Type="http://schemas.openxmlformats.org/officeDocument/2006/relationships/slide" Target="slides/slide10.xml" />
	<Relationship Id="rId16" Type="http://schemas.openxmlformats.org/officeDocument/2006/relationships/slide" Target="slides/slide11.xml" />
	<Relationship Id="rId17" Type="http://schemas.openxmlformats.org/officeDocument/2006/relationships/slide" Target="slides/slide12.xml" />
	<Relationship Id="rId18" Type="http://schemas.openxmlformats.org/officeDocument/2006/relationships/slide" Target="slides/slide13.xml" />
	<Relationship Id="rId19" Type="http://schemas.openxmlformats.org/officeDocument/2006/relationships/slide" Target="slides/slide14.xml" />
	<Relationship Id="rId20" Type="http://schemas.openxmlformats.org/officeDocument/2006/relationships/slide" Target="slides/slide15.xml" />
	<Relationship Id="rId21" Type="http://schemas.openxmlformats.org/officeDocument/2006/relationships/slide" Target="slides/slide16.xml" />
	<Relationship Id="rId22" Type="http://schemas.openxmlformats.org/officeDocument/2006/relationships/slide" Target="slides/slide17.xml" />
	<Relationship Id="rId23" Type="http://schemas.openxmlformats.org/officeDocument/2006/relationships/slide" Target="slides/slide18.xml" />
	<Relationship Id="rId24" Type="http://schemas.openxmlformats.org/officeDocument/2006/relationships/slide" Target="slides/slide19.xml" />
	<Relationship Id="rId25" Type="http://schemas.openxmlformats.org/officeDocument/2006/relationships/slide" Target="slides/slide20.xml" />
	<Relationship Id="rId26" Type="http://schemas.openxmlformats.org/officeDocument/2006/relationships/slide" Target="slides/slide21.xml" />
	<Relationship Id="rId27" Type="http://schemas.openxmlformats.org/officeDocument/2006/relationships/slide" Target="slides/slide22.xml" />
	<Relationship Id="rId28" Type="http://schemas.openxmlformats.org/officeDocument/2006/relationships/slide" Target="slides/slide23.xml" />
	<Relationship Id="rId29" Type="http://schemas.openxmlformats.org/officeDocument/2006/relationships/slide" Target="slides/slide24.xml" />
	<Relationship Id="rId30" Type="http://schemas.openxmlformats.org/officeDocument/2006/relationships/slide" Target="slides/slide25.xml" />
	<Relationship Id="rId31" Type="http://schemas.openxmlformats.org/officeDocument/2006/relationships/slide" Target="slides/slide26.xml" />
	<Relationship Id="rId32" Type="http://schemas.openxmlformats.org/officeDocument/2006/relationships/slide" Target="slides/slide27.xml" />
	<Relationship Id="rId33" Type="http://schemas.openxmlformats.org/officeDocument/2006/relationships/slide" Target="slides/slide28.xml" 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.jpeg" />
</Relationships>
</file>

<file path=ppt/slides/_rels/slide3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4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2.jpeg" />
</Relationships>
</file>

<file path=ppt/slides/_rels/slide5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3.jpeg" />
</Relationships>
</file>

<file path=ppt/slides/_rels/slide6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4.jpeg" />
	<Relationship Id="rId3" Type="http://schemas.openxmlformats.org/officeDocument/2006/relationships/image" Target="../media/image5.jpeg" />
</Relationships>
</file>

<file path=ppt/slides/_rels/slide7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8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6.jpeg" />
</Relationships>
</file>

<file path=ppt/slides/_rels/slide9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7.jpeg" />
</Relationships>
</file>

<file path=ppt/slides/_rels/slide10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11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8.jpeg" />
</Relationships>
</file>

<file path=ppt/slides/_rels/slide12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9.jpeg" />
	<Relationship Id="rId3" Type="http://schemas.openxmlformats.org/officeDocument/2006/relationships/image" Target="../media/image10.jpeg" />
	<Relationship Id="rId4" Type="http://schemas.openxmlformats.org/officeDocument/2006/relationships/image" Target="../media/image11.jpeg" />
</Relationships>
</file>

<file path=ppt/slides/_rels/slide13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2.jpeg" />
</Relationships>
</file>

<file path=ppt/slides/_rels/slide14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3.jpeg" />
</Relationships>
</file>

<file path=ppt/slides/_rels/slide15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16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4.jpeg" />
	<Relationship Id="rId3" Type="http://schemas.openxmlformats.org/officeDocument/2006/relationships/image" Target="../media/image15.jpeg" />
</Relationships>
</file>

<file path=ppt/slides/_rels/slide17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6.jpeg" />
</Relationships>
</file>

<file path=ppt/slides/_rels/slide18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7.jpeg" />
</Relationships>
</file>

<file path=ppt/slides/_rels/slide19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8.jpeg" />
</Relationships>
</file>

<file path=ppt/slides/_rels/slide20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19.jpeg" />
</Relationships>
</file>

<file path=ppt/slides/_rels/slide21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2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3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20.jpeg" />
</Relationships>
</file>

<file path=ppt/slides/_rels/slide24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5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	<Relationship Id="rId2" Type="http://schemas.openxmlformats.org/officeDocument/2006/relationships/image" Target="../media/image21.jpeg" />
</Relationships>
</file>

<file path=ppt/slides/_rels/slide26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7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_rels/slide28.xml.rels><?xml version="1.0" encoding="UTF-8" standalone="yes" ?>
<Relationships xmlns="http://schemas.openxmlformats.org/package/2006/relationships">
	<Relationship Id="rId1" Type="http://schemas.openxmlformats.org/officeDocument/2006/relationships/slideLayout"
		Target="../slideLayouts/slideLayout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048" y="6400799"/>
            <a:ext cx="9140952" cy="444500"/>
          </a:xfrm>
          <a:custGeom>
            <a:avLst/>
            <a:gdLst>
              <a:gd name="connsiteX0" fmla="*/ 0 w 9140952"/>
              <a:gd name="connsiteY0" fmla="*/ 0 h 444500"/>
              <a:gd name="connsiteX1" fmla="*/ 9140952 w 9140952"/>
              <a:gd name="connsiteY1" fmla="*/ 0 h 444500"/>
              <a:gd name="connsiteX2" fmla="*/ 9140952 w 9140952"/>
              <a:gd name="connsiteY2" fmla="*/ 444500 h 444500"/>
              <a:gd name="connsiteX3" fmla="*/ 0 w 9140952"/>
              <a:gd name="connsiteY3" fmla="*/ 444500 h 444500"/>
              <a:gd name="connsiteX4" fmla="*/ 0 w 9140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0952" h="444500">
                <a:moveTo>
                  <a:pt x="0" y="0"/>
                </a:moveTo>
                <a:lnTo>
                  <a:pt x="9140952" y="0"/>
                </a:lnTo>
                <a:lnTo>
                  <a:pt x="9140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98906" y="4337050"/>
            <a:ext cx="7419341" cy="19050"/>
          </a:xfrm>
          <a:custGeom>
            <a:avLst/>
            <a:gdLst>
              <a:gd name="connsiteX0" fmla="*/ 6350 w 7419341"/>
              <a:gd name="connsiteY0" fmla="*/ 6350 h 19050"/>
              <a:gd name="connsiteX1" fmla="*/ 7412991 w 7419341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19341" h="19050">
                <a:moveTo>
                  <a:pt x="6350" y="6350"/>
                </a:moveTo>
                <a:lnTo>
                  <a:pt x="7412991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3302000"/>
            <a:ext cx="2895600" cy="157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0"/>
              </a:lnSpc>
              <a:tabLst>
							</a:tabLst>
            </a:pPr>
            <a:r>
              <a:rPr lang="en-US" altLang="zh-CN" sz="8004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Review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							</a:tabLst>
            </a:pPr>
            <a:r>
              <a:rPr lang="en-US" altLang="zh-CN" sz="2400" dirty="0" smtClean="0">
                <a:solidFill>
                  <a:srgbClr val="17406d"/>
                </a:solidFill>
                <a:latin typeface="Calibri Light" pitchFamily="18" charset="0"/>
                <a:cs typeface="Calibri Light" pitchFamily="18" charset="0"/>
              </a:rPr>
              <a:t>LINEAR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17406d"/>
                </a:solidFill>
                <a:latin typeface="Calibri Light" pitchFamily="18" charset="0"/>
                <a:cs typeface="Calibri Light" pitchFamily="18" charset="0"/>
              </a:rPr>
              <a:t>REGRESSION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363726" y="999490"/>
            <a:ext cx="6416548" cy="387603"/>
          </a:xfrm>
          <a:custGeom>
            <a:avLst/>
            <a:gdLst>
              <a:gd name="connsiteX0" fmla="*/ 6350 w 6416548"/>
              <a:gd name="connsiteY0" fmla="*/ 381253 h 387603"/>
              <a:gd name="connsiteX1" fmla="*/ 6410198 w 6416548"/>
              <a:gd name="connsiteY1" fmla="*/ 381253 h 387603"/>
              <a:gd name="connsiteX2" fmla="*/ 6410198 w 6416548"/>
              <a:gd name="connsiteY2" fmla="*/ 6350 h 387603"/>
              <a:gd name="connsiteX3" fmla="*/ 6350 w 6416548"/>
              <a:gd name="connsiteY3" fmla="*/ 6350 h 387603"/>
              <a:gd name="connsiteX4" fmla="*/ 6350 w 6416548"/>
              <a:gd name="connsiteY4" fmla="*/ 381253 h 3876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416548" h="387603">
                <a:moveTo>
                  <a:pt x="6350" y="381253"/>
                </a:moveTo>
                <a:lnTo>
                  <a:pt x="6410198" y="381253"/>
                </a:lnTo>
                <a:lnTo>
                  <a:pt x="6410198" y="6350"/>
                </a:lnTo>
                <a:lnTo>
                  <a:pt x="6350" y="6350"/>
                </a:lnTo>
                <a:lnTo>
                  <a:pt x="6350" y="381253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449068" y="1102106"/>
            <a:ext cx="70611" cy="211835"/>
          </a:xfrm>
          <a:custGeom>
            <a:avLst/>
            <a:gdLst>
              <a:gd name="connsiteX0" fmla="*/ 3048 w 70611"/>
              <a:gd name="connsiteY0" fmla="*/ 0 h 211835"/>
              <a:gd name="connsiteX1" fmla="*/ 53086 w 70611"/>
              <a:gd name="connsiteY1" fmla="*/ 37210 h 211835"/>
              <a:gd name="connsiteX2" fmla="*/ 70611 w 70611"/>
              <a:gd name="connsiteY2" fmla="*/ 106045 h 211835"/>
              <a:gd name="connsiteX3" fmla="*/ 53213 w 70611"/>
              <a:gd name="connsiteY3" fmla="*/ 174752 h 211835"/>
              <a:gd name="connsiteX4" fmla="*/ 3048 w 70611"/>
              <a:gd name="connsiteY4" fmla="*/ 211835 h 211835"/>
              <a:gd name="connsiteX5" fmla="*/ 381 w 70611"/>
              <a:gd name="connsiteY5" fmla="*/ 203200 h 211835"/>
              <a:gd name="connsiteX6" fmla="*/ 38735 w 70611"/>
              <a:gd name="connsiteY6" fmla="*/ 169291 h 211835"/>
              <a:gd name="connsiteX7" fmla="*/ 51308 w 70611"/>
              <a:gd name="connsiteY7" fmla="*/ 104902 h 211835"/>
              <a:gd name="connsiteX8" fmla="*/ 38735 w 70611"/>
              <a:gd name="connsiteY8" fmla="*/ 42164 h 211835"/>
              <a:gd name="connsiteX9" fmla="*/ 0 w 70611"/>
              <a:gd name="connsiteY9" fmla="*/ 8635 h 211835"/>
              <a:gd name="connsiteX10" fmla="*/ 3048 w 70611"/>
              <a:gd name="connsiteY10" fmla="*/ 0 h 21183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0611" h="211835">
                <a:moveTo>
                  <a:pt x="3048" y="0"/>
                </a:moveTo>
                <a:cubicBezTo>
                  <a:pt x="24764" y="5841"/>
                  <a:pt x="41402" y="18160"/>
                  <a:pt x="53086" y="37210"/>
                </a:cubicBezTo>
                <a:cubicBezTo>
                  <a:pt x="64769" y="56134"/>
                  <a:pt x="70611" y="79121"/>
                  <a:pt x="70611" y="106045"/>
                </a:cubicBezTo>
                <a:cubicBezTo>
                  <a:pt x="70611" y="132969"/>
                  <a:pt x="64769" y="155829"/>
                  <a:pt x="53213" y="174752"/>
                </a:cubicBezTo>
                <a:cubicBezTo>
                  <a:pt x="41529" y="193675"/>
                  <a:pt x="24892" y="206121"/>
                  <a:pt x="3048" y="211835"/>
                </a:cubicBezTo>
                <a:lnTo>
                  <a:pt x="381" y="203200"/>
                </a:lnTo>
                <a:cubicBezTo>
                  <a:pt x="17526" y="197484"/>
                  <a:pt x="30352" y="186182"/>
                  <a:pt x="38735" y="169291"/>
                </a:cubicBezTo>
                <a:cubicBezTo>
                  <a:pt x="47117" y="152400"/>
                  <a:pt x="51308" y="130936"/>
                  <a:pt x="51308" y="104902"/>
                </a:cubicBezTo>
                <a:cubicBezTo>
                  <a:pt x="51308" y="79755"/>
                  <a:pt x="47117" y="58801"/>
                  <a:pt x="38735" y="42164"/>
                </a:cubicBezTo>
                <a:cubicBezTo>
                  <a:pt x="30479" y="25526"/>
                  <a:pt x="17526" y="14351"/>
                  <a:pt x="0" y="8635"/>
                </a:cubicBezTo>
                <a:lnTo>
                  <a:pt x="3048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211959" y="1102106"/>
            <a:ext cx="70611" cy="211835"/>
          </a:xfrm>
          <a:custGeom>
            <a:avLst/>
            <a:gdLst>
              <a:gd name="connsiteX0" fmla="*/ 67563 w 70611"/>
              <a:gd name="connsiteY0" fmla="*/ 0 h 211835"/>
              <a:gd name="connsiteX1" fmla="*/ 70611 w 70611"/>
              <a:gd name="connsiteY1" fmla="*/ 8635 h 211835"/>
              <a:gd name="connsiteX2" fmla="*/ 31876 w 70611"/>
              <a:gd name="connsiteY2" fmla="*/ 42164 h 211835"/>
              <a:gd name="connsiteX3" fmla="*/ 19303 w 70611"/>
              <a:gd name="connsiteY3" fmla="*/ 104902 h 211835"/>
              <a:gd name="connsiteX4" fmla="*/ 31876 w 70611"/>
              <a:gd name="connsiteY4" fmla="*/ 169291 h 211835"/>
              <a:gd name="connsiteX5" fmla="*/ 70230 w 70611"/>
              <a:gd name="connsiteY5" fmla="*/ 203200 h 211835"/>
              <a:gd name="connsiteX6" fmla="*/ 67563 w 70611"/>
              <a:gd name="connsiteY6" fmla="*/ 211835 h 211835"/>
              <a:gd name="connsiteX7" fmla="*/ 17398 w 70611"/>
              <a:gd name="connsiteY7" fmla="*/ 174752 h 211835"/>
              <a:gd name="connsiteX8" fmla="*/ 0 w 70611"/>
              <a:gd name="connsiteY8" fmla="*/ 106045 h 211835"/>
              <a:gd name="connsiteX9" fmla="*/ 17525 w 70611"/>
              <a:gd name="connsiteY9" fmla="*/ 37210 h 211835"/>
              <a:gd name="connsiteX10" fmla="*/ 67563 w 70611"/>
              <a:gd name="connsiteY10" fmla="*/ 0 h 21183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0611" h="211835">
                <a:moveTo>
                  <a:pt x="67563" y="0"/>
                </a:moveTo>
                <a:lnTo>
                  <a:pt x="70611" y="8635"/>
                </a:lnTo>
                <a:cubicBezTo>
                  <a:pt x="53085" y="14351"/>
                  <a:pt x="40258" y="25526"/>
                  <a:pt x="31876" y="42164"/>
                </a:cubicBezTo>
                <a:cubicBezTo>
                  <a:pt x="23494" y="58801"/>
                  <a:pt x="19303" y="79755"/>
                  <a:pt x="19303" y="104902"/>
                </a:cubicBezTo>
                <a:cubicBezTo>
                  <a:pt x="19303" y="130936"/>
                  <a:pt x="23494" y="152400"/>
                  <a:pt x="31876" y="169291"/>
                </a:cubicBezTo>
                <a:cubicBezTo>
                  <a:pt x="40258" y="186182"/>
                  <a:pt x="53085" y="197484"/>
                  <a:pt x="70230" y="203200"/>
                </a:cubicBezTo>
                <a:lnTo>
                  <a:pt x="67563" y="211835"/>
                </a:lnTo>
                <a:cubicBezTo>
                  <a:pt x="45719" y="206121"/>
                  <a:pt x="29082" y="193675"/>
                  <a:pt x="17398" y="174752"/>
                </a:cubicBezTo>
                <a:cubicBezTo>
                  <a:pt x="5841" y="155829"/>
                  <a:pt x="0" y="132969"/>
                  <a:pt x="0" y="106045"/>
                </a:cubicBezTo>
                <a:cubicBezTo>
                  <a:pt x="0" y="79121"/>
                  <a:pt x="5841" y="56134"/>
                  <a:pt x="17525" y="37210"/>
                </a:cubicBezTo>
                <a:cubicBezTo>
                  <a:pt x="29082" y="18160"/>
                  <a:pt x="45846" y="5841"/>
                  <a:pt x="67563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57500" y="3526536"/>
            <a:ext cx="374904" cy="374903"/>
          </a:xfrm>
          <a:custGeom>
            <a:avLst/>
            <a:gdLst>
              <a:gd name="connsiteX0" fmla="*/ 0 w 374904"/>
              <a:gd name="connsiteY0" fmla="*/ 187451 h 374903"/>
              <a:gd name="connsiteX1" fmla="*/ 187451 w 374904"/>
              <a:gd name="connsiteY1" fmla="*/ 0 h 374903"/>
              <a:gd name="connsiteX2" fmla="*/ 374904 w 374904"/>
              <a:gd name="connsiteY2" fmla="*/ 187451 h 374903"/>
              <a:gd name="connsiteX3" fmla="*/ 187451 w 374904"/>
              <a:gd name="connsiteY3" fmla="*/ 374903 h 374903"/>
              <a:gd name="connsiteX4" fmla="*/ 0 w 374904"/>
              <a:gd name="connsiteY4" fmla="*/ 187451 h 3749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74904" h="374903">
                <a:moveTo>
                  <a:pt x="0" y="187451"/>
                </a:moveTo>
                <a:cubicBezTo>
                  <a:pt x="0" y="83946"/>
                  <a:pt x="83947" y="0"/>
                  <a:pt x="187451" y="0"/>
                </a:cubicBezTo>
                <a:cubicBezTo>
                  <a:pt x="290956" y="0"/>
                  <a:pt x="374904" y="83946"/>
                  <a:pt x="374904" y="187451"/>
                </a:cubicBezTo>
                <a:cubicBezTo>
                  <a:pt x="374904" y="290957"/>
                  <a:pt x="290956" y="374903"/>
                  <a:pt x="187451" y="374903"/>
                </a:cubicBezTo>
                <a:cubicBezTo>
                  <a:pt x="83947" y="374903"/>
                  <a:pt x="0" y="290957"/>
                  <a:pt x="0" y="187451"/>
                </a:cubicBezTo>
              </a:path>
            </a:pathLst>
          </a:custGeom>
          <a:solidFill>
            <a:srgbClr val="0f6f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49562" y="3518598"/>
            <a:ext cx="390779" cy="390778"/>
          </a:xfrm>
          <a:custGeom>
            <a:avLst/>
            <a:gdLst>
              <a:gd name="connsiteX0" fmla="*/ 7937 w 390779"/>
              <a:gd name="connsiteY0" fmla="*/ 195389 h 390778"/>
              <a:gd name="connsiteX1" fmla="*/ 195389 w 390779"/>
              <a:gd name="connsiteY1" fmla="*/ 7937 h 390778"/>
              <a:gd name="connsiteX2" fmla="*/ 382841 w 390779"/>
              <a:gd name="connsiteY2" fmla="*/ 195389 h 390778"/>
              <a:gd name="connsiteX3" fmla="*/ 195389 w 390779"/>
              <a:gd name="connsiteY3" fmla="*/ 382841 h 390778"/>
              <a:gd name="connsiteX4" fmla="*/ 7937 w 390779"/>
              <a:gd name="connsiteY4" fmla="*/ 195389 h 3907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90779" h="390778">
                <a:moveTo>
                  <a:pt x="7937" y="195389"/>
                </a:moveTo>
                <a:cubicBezTo>
                  <a:pt x="7937" y="91884"/>
                  <a:pt x="91884" y="7937"/>
                  <a:pt x="195389" y="7937"/>
                </a:cubicBezTo>
                <a:cubicBezTo>
                  <a:pt x="298894" y="7937"/>
                  <a:pt x="382841" y="91884"/>
                  <a:pt x="382841" y="195389"/>
                </a:cubicBezTo>
                <a:cubicBezTo>
                  <a:pt x="382841" y="298894"/>
                  <a:pt x="298894" y="382841"/>
                  <a:pt x="195389" y="382841"/>
                </a:cubicBezTo>
                <a:cubicBezTo>
                  <a:pt x="91884" y="382841"/>
                  <a:pt x="7937" y="298894"/>
                  <a:pt x="7937" y="195389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761744" y="5477256"/>
            <a:ext cx="373380" cy="374903"/>
          </a:xfrm>
          <a:custGeom>
            <a:avLst/>
            <a:gdLst>
              <a:gd name="connsiteX0" fmla="*/ 0 w 373380"/>
              <a:gd name="connsiteY0" fmla="*/ 187452 h 374903"/>
              <a:gd name="connsiteX1" fmla="*/ 186689 w 373380"/>
              <a:gd name="connsiteY1" fmla="*/ 0 h 374903"/>
              <a:gd name="connsiteX2" fmla="*/ 373380 w 373380"/>
              <a:gd name="connsiteY2" fmla="*/ 187452 h 374903"/>
              <a:gd name="connsiteX3" fmla="*/ 186689 w 373380"/>
              <a:gd name="connsiteY3" fmla="*/ 374903 h 374903"/>
              <a:gd name="connsiteX4" fmla="*/ 0 w 373380"/>
              <a:gd name="connsiteY4" fmla="*/ 187452 h 3749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73380" h="374903">
                <a:moveTo>
                  <a:pt x="0" y="187452"/>
                </a:moveTo>
                <a:cubicBezTo>
                  <a:pt x="0" y="83947"/>
                  <a:pt x="83566" y="0"/>
                  <a:pt x="186689" y="0"/>
                </a:cubicBezTo>
                <a:cubicBezTo>
                  <a:pt x="289813" y="0"/>
                  <a:pt x="373380" y="83947"/>
                  <a:pt x="373380" y="187452"/>
                </a:cubicBezTo>
                <a:cubicBezTo>
                  <a:pt x="373380" y="290982"/>
                  <a:pt x="289813" y="374903"/>
                  <a:pt x="186689" y="374903"/>
                </a:cubicBezTo>
                <a:cubicBezTo>
                  <a:pt x="83566" y="374903"/>
                  <a:pt x="0" y="290982"/>
                  <a:pt x="0" y="187452"/>
                </a:cubicBezTo>
              </a:path>
            </a:pathLst>
          </a:custGeom>
          <a:solidFill>
            <a:srgbClr val="0f6f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753806" y="5469318"/>
            <a:ext cx="389255" cy="390778"/>
          </a:xfrm>
          <a:custGeom>
            <a:avLst/>
            <a:gdLst>
              <a:gd name="connsiteX0" fmla="*/ 7937 w 389255"/>
              <a:gd name="connsiteY0" fmla="*/ 195389 h 390778"/>
              <a:gd name="connsiteX1" fmla="*/ 194627 w 389255"/>
              <a:gd name="connsiteY1" fmla="*/ 7937 h 390778"/>
              <a:gd name="connsiteX2" fmla="*/ 381317 w 389255"/>
              <a:gd name="connsiteY2" fmla="*/ 195389 h 390778"/>
              <a:gd name="connsiteX3" fmla="*/ 194627 w 389255"/>
              <a:gd name="connsiteY3" fmla="*/ 382841 h 390778"/>
              <a:gd name="connsiteX4" fmla="*/ 7937 w 389255"/>
              <a:gd name="connsiteY4" fmla="*/ 195389 h 3907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89255" h="390778">
                <a:moveTo>
                  <a:pt x="7937" y="195389"/>
                </a:moveTo>
                <a:cubicBezTo>
                  <a:pt x="7937" y="91884"/>
                  <a:pt x="91503" y="7937"/>
                  <a:pt x="194627" y="7937"/>
                </a:cubicBezTo>
                <a:cubicBezTo>
                  <a:pt x="297751" y="7937"/>
                  <a:pt x="381317" y="91884"/>
                  <a:pt x="381317" y="195389"/>
                </a:cubicBezTo>
                <a:cubicBezTo>
                  <a:pt x="381317" y="298919"/>
                  <a:pt x="297751" y="382841"/>
                  <a:pt x="194627" y="382841"/>
                </a:cubicBezTo>
                <a:cubicBezTo>
                  <a:pt x="91503" y="382841"/>
                  <a:pt x="7937" y="298919"/>
                  <a:pt x="7937" y="195389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57500" y="5477256"/>
            <a:ext cx="374904" cy="374903"/>
          </a:xfrm>
          <a:custGeom>
            <a:avLst/>
            <a:gdLst>
              <a:gd name="connsiteX0" fmla="*/ 0 w 374904"/>
              <a:gd name="connsiteY0" fmla="*/ 187452 h 374903"/>
              <a:gd name="connsiteX1" fmla="*/ 187451 w 374904"/>
              <a:gd name="connsiteY1" fmla="*/ 0 h 374903"/>
              <a:gd name="connsiteX2" fmla="*/ 374904 w 374904"/>
              <a:gd name="connsiteY2" fmla="*/ 187452 h 374903"/>
              <a:gd name="connsiteX3" fmla="*/ 187451 w 374904"/>
              <a:gd name="connsiteY3" fmla="*/ 374903 h 374903"/>
              <a:gd name="connsiteX4" fmla="*/ 0 w 374904"/>
              <a:gd name="connsiteY4" fmla="*/ 187452 h 3749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74904" h="374903">
                <a:moveTo>
                  <a:pt x="0" y="187452"/>
                </a:moveTo>
                <a:cubicBezTo>
                  <a:pt x="0" y="83947"/>
                  <a:pt x="83947" y="0"/>
                  <a:pt x="187451" y="0"/>
                </a:cubicBezTo>
                <a:cubicBezTo>
                  <a:pt x="290956" y="0"/>
                  <a:pt x="374904" y="83947"/>
                  <a:pt x="374904" y="187452"/>
                </a:cubicBezTo>
                <a:cubicBezTo>
                  <a:pt x="374904" y="290982"/>
                  <a:pt x="290956" y="374903"/>
                  <a:pt x="187451" y="374903"/>
                </a:cubicBezTo>
                <a:cubicBezTo>
                  <a:pt x="83947" y="374903"/>
                  <a:pt x="0" y="290982"/>
                  <a:pt x="0" y="187452"/>
                </a:cubicBezTo>
              </a:path>
            </a:pathLst>
          </a:custGeom>
          <a:solidFill>
            <a:srgbClr val="0f6f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49562" y="5469318"/>
            <a:ext cx="390779" cy="390778"/>
          </a:xfrm>
          <a:custGeom>
            <a:avLst/>
            <a:gdLst>
              <a:gd name="connsiteX0" fmla="*/ 7937 w 390779"/>
              <a:gd name="connsiteY0" fmla="*/ 195389 h 390778"/>
              <a:gd name="connsiteX1" fmla="*/ 195389 w 390779"/>
              <a:gd name="connsiteY1" fmla="*/ 7937 h 390778"/>
              <a:gd name="connsiteX2" fmla="*/ 382841 w 390779"/>
              <a:gd name="connsiteY2" fmla="*/ 195389 h 390778"/>
              <a:gd name="connsiteX3" fmla="*/ 195389 w 390779"/>
              <a:gd name="connsiteY3" fmla="*/ 382841 h 390778"/>
              <a:gd name="connsiteX4" fmla="*/ 7937 w 390779"/>
              <a:gd name="connsiteY4" fmla="*/ 195389 h 3907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90779" h="390778">
                <a:moveTo>
                  <a:pt x="7937" y="195389"/>
                </a:moveTo>
                <a:cubicBezTo>
                  <a:pt x="7937" y="91884"/>
                  <a:pt x="91884" y="7937"/>
                  <a:pt x="195389" y="7937"/>
                </a:cubicBezTo>
                <a:cubicBezTo>
                  <a:pt x="298894" y="7937"/>
                  <a:pt x="382841" y="91884"/>
                  <a:pt x="382841" y="195389"/>
                </a:cubicBezTo>
                <a:cubicBezTo>
                  <a:pt x="382841" y="298919"/>
                  <a:pt x="298894" y="382841"/>
                  <a:pt x="195389" y="382841"/>
                </a:cubicBezTo>
                <a:cubicBezTo>
                  <a:pt x="91884" y="382841"/>
                  <a:pt x="7937" y="298919"/>
                  <a:pt x="7937" y="195389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727448" y="5477256"/>
            <a:ext cx="373379" cy="374903"/>
          </a:xfrm>
          <a:custGeom>
            <a:avLst/>
            <a:gdLst>
              <a:gd name="connsiteX0" fmla="*/ 0 w 373379"/>
              <a:gd name="connsiteY0" fmla="*/ 187452 h 374903"/>
              <a:gd name="connsiteX1" fmla="*/ 186689 w 373379"/>
              <a:gd name="connsiteY1" fmla="*/ 0 h 374903"/>
              <a:gd name="connsiteX2" fmla="*/ 373379 w 373379"/>
              <a:gd name="connsiteY2" fmla="*/ 187452 h 374903"/>
              <a:gd name="connsiteX3" fmla="*/ 186689 w 373379"/>
              <a:gd name="connsiteY3" fmla="*/ 374903 h 374903"/>
              <a:gd name="connsiteX4" fmla="*/ 0 w 373379"/>
              <a:gd name="connsiteY4" fmla="*/ 187452 h 3749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73379" h="374903">
                <a:moveTo>
                  <a:pt x="0" y="187452"/>
                </a:moveTo>
                <a:cubicBezTo>
                  <a:pt x="0" y="83947"/>
                  <a:pt x="83565" y="0"/>
                  <a:pt x="186689" y="0"/>
                </a:cubicBezTo>
                <a:cubicBezTo>
                  <a:pt x="289813" y="0"/>
                  <a:pt x="373379" y="83947"/>
                  <a:pt x="373379" y="187452"/>
                </a:cubicBezTo>
                <a:cubicBezTo>
                  <a:pt x="373379" y="290982"/>
                  <a:pt x="289813" y="374903"/>
                  <a:pt x="186689" y="374903"/>
                </a:cubicBezTo>
                <a:cubicBezTo>
                  <a:pt x="83565" y="374903"/>
                  <a:pt x="0" y="290982"/>
                  <a:pt x="0" y="187452"/>
                </a:cubicBezTo>
              </a:path>
            </a:pathLst>
          </a:custGeom>
          <a:solidFill>
            <a:srgbClr val="0f6f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719511" y="5469318"/>
            <a:ext cx="389254" cy="390778"/>
          </a:xfrm>
          <a:custGeom>
            <a:avLst/>
            <a:gdLst>
              <a:gd name="connsiteX0" fmla="*/ 7937 w 389254"/>
              <a:gd name="connsiteY0" fmla="*/ 195389 h 390778"/>
              <a:gd name="connsiteX1" fmla="*/ 194627 w 389254"/>
              <a:gd name="connsiteY1" fmla="*/ 7937 h 390778"/>
              <a:gd name="connsiteX2" fmla="*/ 381317 w 389254"/>
              <a:gd name="connsiteY2" fmla="*/ 195389 h 390778"/>
              <a:gd name="connsiteX3" fmla="*/ 194627 w 389254"/>
              <a:gd name="connsiteY3" fmla="*/ 382841 h 390778"/>
              <a:gd name="connsiteX4" fmla="*/ 7937 w 389254"/>
              <a:gd name="connsiteY4" fmla="*/ 195389 h 3907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89254" h="390778">
                <a:moveTo>
                  <a:pt x="7937" y="195389"/>
                </a:moveTo>
                <a:cubicBezTo>
                  <a:pt x="7937" y="91884"/>
                  <a:pt x="91502" y="7937"/>
                  <a:pt x="194627" y="7937"/>
                </a:cubicBezTo>
                <a:cubicBezTo>
                  <a:pt x="297751" y="7937"/>
                  <a:pt x="381317" y="91884"/>
                  <a:pt x="381317" y="195389"/>
                </a:cubicBezTo>
                <a:cubicBezTo>
                  <a:pt x="381317" y="298919"/>
                  <a:pt x="297751" y="382841"/>
                  <a:pt x="194627" y="382841"/>
                </a:cubicBezTo>
                <a:cubicBezTo>
                  <a:pt x="91502" y="382841"/>
                  <a:pt x="7937" y="298919"/>
                  <a:pt x="7937" y="195389"/>
                </a:cubicBez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767074" y="5470906"/>
            <a:ext cx="424179" cy="383032"/>
          </a:xfrm>
          <a:custGeom>
            <a:avLst/>
            <a:gdLst>
              <a:gd name="connsiteX0" fmla="*/ 6350 w 424179"/>
              <a:gd name="connsiteY0" fmla="*/ 376682 h 383032"/>
              <a:gd name="connsiteX1" fmla="*/ 417829 w 424179"/>
              <a:gd name="connsiteY1" fmla="*/ 376682 h 383032"/>
              <a:gd name="connsiteX2" fmla="*/ 417829 w 424179"/>
              <a:gd name="connsiteY2" fmla="*/ 6350 h 383032"/>
              <a:gd name="connsiteX3" fmla="*/ 6350 w 424179"/>
              <a:gd name="connsiteY3" fmla="*/ 6350 h 383032"/>
              <a:gd name="connsiteX4" fmla="*/ 6350 w 424179"/>
              <a:gd name="connsiteY4" fmla="*/ 376682 h 38303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24179" h="383032">
                <a:moveTo>
                  <a:pt x="6350" y="376682"/>
                </a:moveTo>
                <a:lnTo>
                  <a:pt x="417829" y="376682"/>
                </a:lnTo>
                <a:lnTo>
                  <a:pt x="417829" y="6350"/>
                </a:lnTo>
                <a:lnTo>
                  <a:pt x="6350" y="6350"/>
                </a:lnTo>
                <a:lnTo>
                  <a:pt x="6350" y="376682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942846" y="3895090"/>
            <a:ext cx="1108837" cy="1589404"/>
          </a:xfrm>
          <a:custGeom>
            <a:avLst/>
            <a:gdLst>
              <a:gd name="connsiteX0" fmla="*/ 6350 w 1108837"/>
              <a:gd name="connsiteY0" fmla="*/ 1583054 h 1589404"/>
              <a:gd name="connsiteX1" fmla="*/ 1102487 w 1108837"/>
              <a:gd name="connsiteY1" fmla="*/ 6350 h 15894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08837" h="1589404">
                <a:moveTo>
                  <a:pt x="6350" y="1583054"/>
                </a:moveTo>
                <a:lnTo>
                  <a:pt x="1102487" y="6350"/>
                </a:lnTo>
              </a:path>
            </a:pathLst>
          </a:custGeom>
          <a:ln w="127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038602" y="3895090"/>
            <a:ext cx="25400" cy="1589404"/>
          </a:xfrm>
          <a:custGeom>
            <a:avLst/>
            <a:gdLst>
              <a:gd name="connsiteX0" fmla="*/ 6350 w 25400"/>
              <a:gd name="connsiteY0" fmla="*/ 1583054 h 1589404"/>
              <a:gd name="connsiteX1" fmla="*/ 6350 w 25400"/>
              <a:gd name="connsiteY1" fmla="*/ 6350 h 15894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5400" h="1589404">
                <a:moveTo>
                  <a:pt x="6350" y="1583054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038602" y="3895090"/>
            <a:ext cx="1881886" cy="1589404"/>
          </a:xfrm>
          <a:custGeom>
            <a:avLst/>
            <a:gdLst>
              <a:gd name="connsiteX0" fmla="*/ 1875536 w 1881886"/>
              <a:gd name="connsiteY0" fmla="*/ 1583054 h 1589404"/>
              <a:gd name="connsiteX1" fmla="*/ 6350 w 1881886"/>
              <a:gd name="connsiteY1" fmla="*/ 6350 h 15894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81886" h="1589404">
                <a:moveTo>
                  <a:pt x="1875536" y="1583054"/>
                </a:moveTo>
                <a:lnTo>
                  <a:pt x="6350" y="6350"/>
                </a:lnTo>
              </a:path>
            </a:pathLst>
          </a:custGeom>
          <a:ln w="127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990090" y="4498594"/>
            <a:ext cx="514095" cy="381508"/>
          </a:xfrm>
          <a:custGeom>
            <a:avLst/>
            <a:gdLst>
              <a:gd name="connsiteX0" fmla="*/ 6350 w 514095"/>
              <a:gd name="connsiteY0" fmla="*/ 375158 h 381508"/>
              <a:gd name="connsiteX1" fmla="*/ 507745 w 514095"/>
              <a:gd name="connsiteY1" fmla="*/ 375158 h 381508"/>
              <a:gd name="connsiteX2" fmla="*/ 507745 w 514095"/>
              <a:gd name="connsiteY2" fmla="*/ 6350 h 381508"/>
              <a:gd name="connsiteX3" fmla="*/ 6350 w 514095"/>
              <a:gd name="connsiteY3" fmla="*/ 6350 h 381508"/>
              <a:gd name="connsiteX4" fmla="*/ 6350 w 514095"/>
              <a:gd name="connsiteY4" fmla="*/ 375158 h 3815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14095" h="381508">
                <a:moveTo>
                  <a:pt x="6350" y="375158"/>
                </a:moveTo>
                <a:lnTo>
                  <a:pt x="507745" y="375158"/>
                </a:lnTo>
                <a:lnTo>
                  <a:pt x="507745" y="6350"/>
                </a:lnTo>
                <a:lnTo>
                  <a:pt x="6350" y="6350"/>
                </a:lnTo>
                <a:lnTo>
                  <a:pt x="6350" y="3751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630170" y="4617466"/>
            <a:ext cx="520192" cy="381508"/>
          </a:xfrm>
          <a:custGeom>
            <a:avLst/>
            <a:gdLst>
              <a:gd name="connsiteX0" fmla="*/ 6350 w 520192"/>
              <a:gd name="connsiteY0" fmla="*/ 375158 h 381508"/>
              <a:gd name="connsiteX1" fmla="*/ 513842 w 520192"/>
              <a:gd name="connsiteY1" fmla="*/ 375158 h 381508"/>
              <a:gd name="connsiteX2" fmla="*/ 513842 w 520192"/>
              <a:gd name="connsiteY2" fmla="*/ 6350 h 381508"/>
              <a:gd name="connsiteX3" fmla="*/ 6350 w 520192"/>
              <a:gd name="connsiteY3" fmla="*/ 6350 h 381508"/>
              <a:gd name="connsiteX4" fmla="*/ 6350 w 520192"/>
              <a:gd name="connsiteY4" fmla="*/ 375158 h 3815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20192" h="381508">
                <a:moveTo>
                  <a:pt x="6350" y="375158"/>
                </a:moveTo>
                <a:lnTo>
                  <a:pt x="513842" y="375158"/>
                </a:lnTo>
                <a:lnTo>
                  <a:pt x="513842" y="6350"/>
                </a:lnTo>
                <a:lnTo>
                  <a:pt x="6350" y="6350"/>
                </a:lnTo>
                <a:lnTo>
                  <a:pt x="6350" y="3751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719830" y="4722622"/>
            <a:ext cx="526288" cy="381508"/>
          </a:xfrm>
          <a:custGeom>
            <a:avLst/>
            <a:gdLst>
              <a:gd name="connsiteX0" fmla="*/ 6350 w 526288"/>
              <a:gd name="connsiteY0" fmla="*/ 375158 h 381508"/>
              <a:gd name="connsiteX1" fmla="*/ 519938 w 526288"/>
              <a:gd name="connsiteY1" fmla="*/ 375158 h 381508"/>
              <a:gd name="connsiteX2" fmla="*/ 519938 w 526288"/>
              <a:gd name="connsiteY2" fmla="*/ 6350 h 381508"/>
              <a:gd name="connsiteX3" fmla="*/ 6350 w 526288"/>
              <a:gd name="connsiteY3" fmla="*/ 6350 h 381508"/>
              <a:gd name="connsiteX4" fmla="*/ 6350 w 526288"/>
              <a:gd name="connsiteY4" fmla="*/ 375158 h 3815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26288" h="381508">
                <a:moveTo>
                  <a:pt x="6350" y="375158"/>
                </a:moveTo>
                <a:lnTo>
                  <a:pt x="519938" y="375158"/>
                </a:lnTo>
                <a:lnTo>
                  <a:pt x="519938" y="6350"/>
                </a:lnTo>
                <a:lnTo>
                  <a:pt x="6350" y="6350"/>
                </a:lnTo>
                <a:lnTo>
                  <a:pt x="6350" y="3751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16738" y="4303522"/>
            <a:ext cx="552196" cy="383032"/>
          </a:xfrm>
          <a:custGeom>
            <a:avLst/>
            <a:gdLst>
              <a:gd name="connsiteX0" fmla="*/ 6350 w 552196"/>
              <a:gd name="connsiteY0" fmla="*/ 376682 h 383032"/>
              <a:gd name="connsiteX1" fmla="*/ 545846 w 552196"/>
              <a:gd name="connsiteY1" fmla="*/ 376682 h 383032"/>
              <a:gd name="connsiteX2" fmla="*/ 545846 w 552196"/>
              <a:gd name="connsiteY2" fmla="*/ 6350 h 383032"/>
              <a:gd name="connsiteX3" fmla="*/ 6350 w 552196"/>
              <a:gd name="connsiteY3" fmla="*/ 6350 h 383032"/>
              <a:gd name="connsiteX4" fmla="*/ 6350 w 552196"/>
              <a:gd name="connsiteY4" fmla="*/ 376682 h 38303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52196" h="383032">
                <a:moveTo>
                  <a:pt x="6350" y="376682"/>
                </a:moveTo>
                <a:lnTo>
                  <a:pt x="545846" y="376682"/>
                </a:lnTo>
                <a:lnTo>
                  <a:pt x="545846" y="6350"/>
                </a:lnTo>
                <a:lnTo>
                  <a:pt x="6350" y="6350"/>
                </a:lnTo>
                <a:lnTo>
                  <a:pt x="6350" y="376682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090930" y="3934714"/>
            <a:ext cx="520192" cy="381507"/>
          </a:xfrm>
          <a:custGeom>
            <a:avLst/>
            <a:gdLst>
              <a:gd name="connsiteX0" fmla="*/ 6350 w 520192"/>
              <a:gd name="connsiteY0" fmla="*/ 375157 h 381507"/>
              <a:gd name="connsiteX1" fmla="*/ 513842 w 520192"/>
              <a:gd name="connsiteY1" fmla="*/ 375157 h 381507"/>
              <a:gd name="connsiteX2" fmla="*/ 513842 w 520192"/>
              <a:gd name="connsiteY2" fmla="*/ 6350 h 381507"/>
              <a:gd name="connsiteX3" fmla="*/ 6350 w 520192"/>
              <a:gd name="connsiteY3" fmla="*/ 6350 h 381507"/>
              <a:gd name="connsiteX4" fmla="*/ 6350 w 520192"/>
              <a:gd name="connsiteY4" fmla="*/ 375157 h 38150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20192" h="381507">
                <a:moveTo>
                  <a:pt x="6350" y="375157"/>
                </a:moveTo>
                <a:lnTo>
                  <a:pt x="513842" y="375157"/>
                </a:lnTo>
                <a:lnTo>
                  <a:pt x="513842" y="6350"/>
                </a:lnTo>
                <a:lnTo>
                  <a:pt x="6350" y="6350"/>
                </a:lnTo>
                <a:lnTo>
                  <a:pt x="6350" y="375157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56234" y="3895090"/>
            <a:ext cx="2194814" cy="606678"/>
          </a:xfrm>
          <a:custGeom>
            <a:avLst/>
            <a:gdLst>
              <a:gd name="connsiteX0" fmla="*/ 6350 w 2194814"/>
              <a:gd name="connsiteY0" fmla="*/ 600328 h 606678"/>
              <a:gd name="connsiteX1" fmla="*/ 2188464 w 2194814"/>
              <a:gd name="connsiteY1" fmla="*/ 6350 h 6066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94814" h="606678">
                <a:moveTo>
                  <a:pt x="6350" y="600328"/>
                </a:moveTo>
                <a:lnTo>
                  <a:pt x="2188464" y="6350"/>
                </a:lnTo>
              </a:path>
            </a:pathLst>
          </a:custGeom>
          <a:ln w="127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69437" y="2857246"/>
            <a:ext cx="431800" cy="404367"/>
          </a:xfrm>
          <a:custGeom>
            <a:avLst/>
            <a:gdLst>
              <a:gd name="connsiteX0" fmla="*/ 6350 w 431800"/>
              <a:gd name="connsiteY0" fmla="*/ 398017 h 404367"/>
              <a:gd name="connsiteX1" fmla="*/ 425450 w 431800"/>
              <a:gd name="connsiteY1" fmla="*/ 398017 h 404367"/>
              <a:gd name="connsiteX2" fmla="*/ 425450 w 431800"/>
              <a:gd name="connsiteY2" fmla="*/ 6350 h 404367"/>
              <a:gd name="connsiteX3" fmla="*/ 6350 w 431800"/>
              <a:gd name="connsiteY3" fmla="*/ 6350 h 404367"/>
              <a:gd name="connsiteX4" fmla="*/ 6350 w 431800"/>
              <a:gd name="connsiteY4" fmla="*/ 398017 h 40436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31800" h="404367">
                <a:moveTo>
                  <a:pt x="6350" y="398017"/>
                </a:moveTo>
                <a:lnTo>
                  <a:pt x="425450" y="398017"/>
                </a:lnTo>
                <a:lnTo>
                  <a:pt x="425450" y="6350"/>
                </a:lnTo>
                <a:lnTo>
                  <a:pt x="6350" y="6350"/>
                </a:lnTo>
                <a:lnTo>
                  <a:pt x="6350" y="398017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895601" y="2272030"/>
            <a:ext cx="2528824" cy="494284"/>
          </a:xfrm>
          <a:custGeom>
            <a:avLst/>
            <a:gdLst>
              <a:gd name="connsiteX0" fmla="*/ 6350 w 2528824"/>
              <a:gd name="connsiteY0" fmla="*/ 487934 h 494284"/>
              <a:gd name="connsiteX1" fmla="*/ 2522474 w 2528824"/>
              <a:gd name="connsiteY1" fmla="*/ 487934 h 494284"/>
              <a:gd name="connsiteX2" fmla="*/ 2522474 w 2528824"/>
              <a:gd name="connsiteY2" fmla="*/ 6350 h 494284"/>
              <a:gd name="connsiteX3" fmla="*/ 6350 w 2528824"/>
              <a:gd name="connsiteY3" fmla="*/ 6350 h 494284"/>
              <a:gd name="connsiteX4" fmla="*/ 6350 w 2528824"/>
              <a:gd name="connsiteY4" fmla="*/ 487934 h 4942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528824" h="494284">
                <a:moveTo>
                  <a:pt x="6350" y="487934"/>
                </a:moveTo>
                <a:lnTo>
                  <a:pt x="2522474" y="487934"/>
                </a:lnTo>
                <a:lnTo>
                  <a:pt x="2522474" y="6350"/>
                </a:lnTo>
                <a:lnTo>
                  <a:pt x="6350" y="6350"/>
                </a:lnTo>
                <a:lnTo>
                  <a:pt x="6350" y="487934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7200" y="3175000"/>
            <a:ext cx="88900" cy="355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355600"/>
            <a:ext cx="6858000" cy="1028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600"/>
              </a:lnSpc>
              <a:tabLst>
                <a:tab pos="1130300" algn="l"/>
              </a:tabLst>
            </a:pPr>
            <a:r>
              <a:rPr lang="en-US" altLang="zh-CN" sz="3600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Linear</a:t>
            </a:r>
            <a:r>
              <a:rPr lang="en-US" altLang="zh-CN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600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Regression:</a:t>
            </a:r>
            <a:r>
              <a:rPr lang="en-US" altLang="zh-CN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600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</a:t>
            </a:r>
            <a:r>
              <a:rPr lang="en-US" altLang="zh-CN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600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Visual</a:t>
            </a:r>
            <a:r>
              <a:rPr lang="en-US" altLang="zh-CN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600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Perspective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1130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𝒉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𝑿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𝑾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𝑻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𝑿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𝟎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𝟎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𝟐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𝟐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⋯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𝒏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803400" y="5562600"/>
            <a:ext cx="2032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895600" y="5562600"/>
            <a:ext cx="2159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762500" y="5562600"/>
            <a:ext cx="2286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𝑛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886200" y="5562600"/>
            <a:ext cx="1651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…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108200" y="4597400"/>
            <a:ext cx="2540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755900" y="4711700"/>
            <a:ext cx="2540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835400" y="4813300"/>
            <a:ext cx="2540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𝑛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31800" y="4394200"/>
            <a:ext cx="2921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+1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206500" y="4025900"/>
            <a:ext cx="2540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032000" y="2425700"/>
            <a:ext cx="2019300" cy="144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901700" algn="l"/>
                <a:tab pos="952500" algn="l"/>
              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Compute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Error: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ො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300"/>
              </a:lnSpc>
              <a:tabLst>
                <a:tab pos="901700" algn="l"/>
                <a:tab pos="9525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ො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200"/>
              </a:lnSpc>
              <a:tabLst>
                <a:tab pos="901700" algn="l"/>
                <a:tab pos="9525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ffffff"/>
                </a:solidFill>
                <a:latin typeface="Cambria Math" pitchFamily="18" charset="0"/>
                <a:cs typeface="Cambria Math" pitchFamily="18" charset="0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048" y="6400799"/>
            <a:ext cx="9140952" cy="444500"/>
          </a:xfrm>
          <a:custGeom>
            <a:avLst/>
            <a:gdLst>
              <a:gd name="connsiteX0" fmla="*/ 0 w 9140952"/>
              <a:gd name="connsiteY0" fmla="*/ 0 h 444500"/>
              <a:gd name="connsiteX1" fmla="*/ 9140952 w 9140952"/>
              <a:gd name="connsiteY1" fmla="*/ 0 h 444500"/>
              <a:gd name="connsiteX2" fmla="*/ 9140952 w 9140952"/>
              <a:gd name="connsiteY2" fmla="*/ 444500 h 444500"/>
              <a:gd name="connsiteX3" fmla="*/ 0 w 9140952"/>
              <a:gd name="connsiteY3" fmla="*/ 444500 h 444500"/>
              <a:gd name="connsiteX4" fmla="*/ 0 w 9140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0952" h="444500">
                <a:moveTo>
                  <a:pt x="0" y="0"/>
                </a:moveTo>
                <a:lnTo>
                  <a:pt x="9140952" y="0"/>
                </a:lnTo>
                <a:lnTo>
                  <a:pt x="9140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98906" y="4337050"/>
            <a:ext cx="7419341" cy="19050"/>
          </a:xfrm>
          <a:custGeom>
            <a:avLst/>
            <a:gdLst>
              <a:gd name="connsiteX0" fmla="*/ 6350 w 7419341"/>
              <a:gd name="connsiteY0" fmla="*/ 6350 h 19050"/>
              <a:gd name="connsiteX1" fmla="*/ 7412991 w 7419341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19341" h="19050">
                <a:moveTo>
                  <a:pt x="6350" y="6350"/>
                </a:moveTo>
                <a:lnTo>
                  <a:pt x="7412991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2273300"/>
            <a:ext cx="4432300" cy="204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0"/>
              </a:lnSpc>
              <a:tabLst>
							</a:tabLst>
            </a:pPr>
            <a:r>
              <a:rPr lang="en-US" altLang="zh-CN" sz="8006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Polynomial</a:t>
            </a:r>
          </a:p>
          <a:p>
            <a:pPr>
              <a:lnSpc>
                <a:spcPts val="8100"/>
              </a:lnSpc>
              <a:tabLst>
							</a:tabLst>
            </a:pPr>
            <a:r>
              <a:rPr lang="en-US" altLang="zh-CN" sz="8004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Regression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37032" y="1862963"/>
          <a:ext cx="1324762" cy="2595880"/>
        </p:xfrm>
        <a:graphic>
          <a:graphicData uri="http://schemas.openxmlformats.org/drawingml/2006/table">
            <a:tbl>
              <a:tblPr/>
              <a:tblGrid>
                <a:gridCol w="780808"/>
                <a:gridCol w="543953"/>
              </a:tblGrid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mpd="sng">
                      <a:solidFill>
                        <a:srgbClr val="ffffff"/>
                      </a:solidFill>
                      <a:prstDash val="soli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ffffff"/>
                      </a:solidFill>
                      <a:prstDash val="soli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𝒚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ffffff"/>
                      </a:solidFill>
                      <a:prstDash val="soli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2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−3</a:t>
                      </a:r>
                      <a:endParaRPr lang="zh-CN" altLang="en-US" sz="1802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2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2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2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−2</a:t>
                      </a:r>
                      <a:endParaRPr lang="zh-CN" altLang="en-US" sz="1802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2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2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B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B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2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3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 rot="0">
            <a:off x="812800" y="203200"/>
            <a:ext cx="5270500" cy="1168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Polynomials: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Intuition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Suppose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following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52400" y="4813300"/>
            <a:ext cx="3251200" cy="49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279400" algn="l"/>
              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will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consider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classification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label</a:t>
            </a:r>
          </a:p>
          <a:p>
            <a:pPr>
              <a:lnSpc>
                <a:spcPts val="2100"/>
              </a:lnSpc>
              <a:tabLst>
                <a:tab pos="2794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easier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understand…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7810500" y="1727200"/>
            <a:ext cx="127000" cy="49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073400" y="33274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784600" y="3429000"/>
            <a:ext cx="1485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−3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−2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−1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−0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549900" y="34417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943600" y="34290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6362700" y="34163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483100" y="4737100"/>
            <a:ext cx="3302000" cy="1308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01600" algn="l"/>
                <a:tab pos="812800" algn="l"/>
                <a:tab pos="1054100" algn="l"/>
              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straight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separate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out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2100"/>
              </a:lnSpc>
              <a:tabLst>
                <a:tab pos="101600" algn="l"/>
                <a:tab pos="812800" algn="l"/>
                <a:tab pos="1054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two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classes?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100"/>
              </a:lnSpc>
              <a:tabLst>
                <a:tab pos="101600" algn="l"/>
                <a:tab pos="812800" algn="l"/>
                <a:tab pos="1054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possible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“fit”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2100"/>
              </a:lnSpc>
              <a:tabLst>
                <a:tab pos="101600" algn="l"/>
                <a:tab pos="812800" algn="l"/>
                <a:tab pos="10541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single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line!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37032" y="1862963"/>
          <a:ext cx="1324762" cy="2597023"/>
        </p:xfrm>
        <a:graphic>
          <a:graphicData uri="http://schemas.openxmlformats.org/drawingml/2006/table">
            <a:tbl>
              <a:tblPr/>
              <a:tblGrid>
                <a:gridCol w="491261"/>
                <a:gridCol w="491236"/>
                <a:gridCol w="342265"/>
              </a:tblGrid>
              <a:tr h="371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mpd="sng">
                      <a:solidFill>
                        <a:srgbClr val="ffffff"/>
                      </a:solidFill>
                      <a:prstDash val="soli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ffffff"/>
                      </a:solidFill>
                      <a:prstDash val="soli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2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𝟐</a:t>
                      </a:r>
                      <a:endParaRPr lang="zh-CN" altLang="en-US" sz="132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  <a:p>
                      <a:pPr algn="l"/>
                      <a:r>
                        <a:rPr lang="en-US" altLang="zh-CN" sz="180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ffffff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𝒚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ffffff"/>
                      </a:solidFill>
                      <a:prstDash val="soli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−3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9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−2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4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−1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B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1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B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2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4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3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9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A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 rot="0">
            <a:off x="812800" y="215900"/>
            <a:ext cx="7137400" cy="1435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Polynomials: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Intuition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always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take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powers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make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21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linearly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separable.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7810500" y="1727200"/>
            <a:ext cx="127000" cy="49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073400" y="40005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784600" y="4102100"/>
            <a:ext cx="1485900" cy="24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9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−3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−2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−1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−0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549900" y="41148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943600" y="41021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6362700" y="4089400"/>
            <a:ext cx="11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171700" y="1892300"/>
            <a:ext cx="546100" cy="1892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292100" algn="l"/>
                <a:tab pos="381000" algn="l"/>
                <a:tab pos="3937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10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300"/>
              </a:lnSpc>
              <a:tabLst>
                <a:tab pos="292100" algn="l"/>
                <a:tab pos="381000" algn="l"/>
                <a:tab pos="393700" algn="l"/>
              </a:tabLst>
            </a:pPr>
            <a:r>
              <a:rPr lang="en-US" altLang="zh-CN" dirty="0" smtClean="0"/>
              <a:t>		</a:t>
            </a: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8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400"/>
              </a:lnSpc>
              <a:tabLst>
                <a:tab pos="292100" algn="l"/>
                <a:tab pos="381000" algn="l"/>
                <a:tab pos="393700" algn="l"/>
              </a:tabLst>
            </a:pPr>
            <a:r>
              <a:rPr lang="en-US" altLang="zh-CN" sz="180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32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2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4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292100" algn="l"/>
                <a:tab pos="381000" algn="l"/>
                <a:tab pos="3937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705100" y="4597400"/>
            <a:ext cx="6273800" cy="2197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Now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fit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straight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to</a:t>
            </a:r>
          </a:p>
          <a:p>
            <a:pPr>
              <a:lnSpc>
                <a:spcPts val="21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separate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these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two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classes.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still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possible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linearly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separate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data,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maybe</a:t>
            </a:r>
          </a:p>
          <a:p>
            <a:pPr>
              <a:lnSpc>
                <a:spcPts val="26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		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adding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3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rd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dimension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(𝒙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𝟑</a:t>
            </a:r>
            <a:r>
              <a:rPr lang="en-US" altLang="zh-CN" sz="132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2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)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would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do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trick!</a:t>
            </a:r>
          </a:p>
          <a:p>
            <a:pPr>
              <a:lnSpc>
                <a:spcPts val="26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Note: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also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called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“Polynomial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Kernel”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power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that</a:t>
            </a:r>
          </a:p>
          <a:p>
            <a:pPr>
              <a:lnSpc>
                <a:spcPts val="21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choose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called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degree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polynomial.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“Kernels”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later.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400"/>
              </a:lnSpc>
              <a:tabLst>
                <a:tab pos="114300" algn="l"/>
                <a:tab pos="584200" algn="l"/>
                <a:tab pos="1117600" algn="l"/>
                <a:tab pos="1917700" algn="l"/>
                <a:tab pos="2133600" algn="l"/>
                <a:tab pos="5537200" algn="l"/>
              </a:tabLst>
            </a:pPr>
            <a:r>
              <a:rPr lang="en-US" altLang="zh-CN" dirty="0" smtClean="0"/>
              <a:t>						</a:t>
            </a: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697480" y="1552956"/>
            <a:ext cx="3364864" cy="1381252"/>
          </a:xfrm>
          <a:custGeom>
            <a:avLst/>
            <a:gdLst>
              <a:gd name="connsiteX0" fmla="*/ 3345814 w 3364864"/>
              <a:gd name="connsiteY0" fmla="*/ 19050 h 1381252"/>
              <a:gd name="connsiteX1" fmla="*/ 19050 w 3364864"/>
              <a:gd name="connsiteY1" fmla="*/ 1362202 h 13812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364864" h="1381252">
                <a:moveTo>
                  <a:pt x="3345814" y="19050"/>
                </a:moveTo>
                <a:lnTo>
                  <a:pt x="19050" y="1362202"/>
                </a:lnTo>
              </a:path>
            </a:pathLst>
          </a:custGeom>
          <a:ln w="381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220212" y="4040124"/>
            <a:ext cx="3364865" cy="1381252"/>
          </a:xfrm>
          <a:custGeom>
            <a:avLst/>
            <a:gdLst>
              <a:gd name="connsiteX0" fmla="*/ 3345815 w 3364865"/>
              <a:gd name="connsiteY0" fmla="*/ 19050 h 1381252"/>
              <a:gd name="connsiteX1" fmla="*/ 19050 w 3364865"/>
              <a:gd name="connsiteY1" fmla="*/ 1362202 h 13812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364865" h="1381252">
                <a:moveTo>
                  <a:pt x="3345815" y="19050"/>
                </a:moveTo>
                <a:lnTo>
                  <a:pt x="19050" y="1362202"/>
                </a:lnTo>
              </a:path>
            </a:pathLst>
          </a:custGeom>
          <a:ln w="38100">
            <a:solidFill>
              <a:srgbClr val="0f6fc6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756278" y="4416544"/>
            <a:ext cx="2617343" cy="1120274"/>
          </a:xfrm>
          <a:custGeom>
            <a:avLst/>
            <a:gdLst>
              <a:gd name="connsiteX0" fmla="*/ 28575 w 2617343"/>
              <a:gd name="connsiteY0" fmla="*/ 1091699 h 1120274"/>
              <a:gd name="connsiteX1" fmla="*/ 2588768 w 2617343"/>
              <a:gd name="connsiteY1" fmla="*/ 89669 h 11202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617343" h="1120274">
                <a:moveTo>
                  <a:pt x="28575" y="1091699"/>
                </a:moveTo>
                <a:cubicBezTo>
                  <a:pt x="658114" y="258325"/>
                  <a:pt x="1654175" y="-131564"/>
                  <a:pt x="2588768" y="89669"/>
                </a:cubicBezTo>
              </a:path>
            </a:pathLst>
          </a:custGeom>
          <a:ln w="50800">
            <a:solidFill>
              <a:srgbClr val="ff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6600" y="1384300"/>
            <a:ext cx="4165600" cy="2298700"/>
          </a:xfrm>
          <a:prstGeom prst="rect">
            <a:avLst/>
          </a:prstGeom>
          <a:noFill/>
        </p:spPr>
      </p:pic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5100" y="4127500"/>
            <a:ext cx="4178300" cy="2260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381000" y="203200"/>
            <a:ext cx="75438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5334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Polynomial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Regression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5334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relationship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input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output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label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Linear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!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81000" y="3797300"/>
            <a:ext cx="46482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>
							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were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fitting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straight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line!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6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28600" y="4826000"/>
            <a:ext cx="2044700" cy="49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14300" algn="l"/>
              </a:tabLst>
            </a:pP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straight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                <a:tab pos="114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good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case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7010400" y="4838700"/>
            <a:ext cx="1612900" cy="77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304800" algn="l"/>
              </a:tabLst>
            </a:pP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some</a:t>
            </a:r>
          </a:p>
          <a:p>
            <a:pPr>
              <a:lnSpc>
                <a:spcPts val="2100"/>
              </a:lnSpc>
              <a:tabLst>
                <a:tab pos="304800" algn="l"/>
              </a:tabLst>
            </a:pP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curve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would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                <a:tab pos="3048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better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fit…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07008" y="1637410"/>
            <a:ext cx="3413759" cy="15240"/>
          </a:xfrm>
          <a:custGeom>
            <a:avLst/>
            <a:gdLst>
              <a:gd name="connsiteX0" fmla="*/ 0 w 3413759"/>
              <a:gd name="connsiteY0" fmla="*/ 0 h 15240"/>
              <a:gd name="connsiteX1" fmla="*/ 1706879 w 3413759"/>
              <a:gd name="connsiteY1" fmla="*/ 0 h 15240"/>
              <a:gd name="connsiteX2" fmla="*/ 3413759 w 3413759"/>
              <a:gd name="connsiteY2" fmla="*/ 0 h 15240"/>
              <a:gd name="connsiteX3" fmla="*/ 3413759 w 3413759"/>
              <a:gd name="connsiteY3" fmla="*/ 15240 h 15240"/>
              <a:gd name="connsiteX4" fmla="*/ 1706879 w 3413759"/>
              <a:gd name="connsiteY4" fmla="*/ 15240 h 15240"/>
              <a:gd name="connsiteX5" fmla="*/ 0 w 3413759"/>
              <a:gd name="connsiteY5" fmla="*/ 15240 h 15240"/>
              <a:gd name="connsiteX6" fmla="*/ 0 w 3413759"/>
              <a:gd name="connsiteY6" fmla="*/ 0 h 152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3413759" h="15240">
                <a:moveTo>
                  <a:pt x="0" y="0"/>
                </a:moveTo>
                <a:lnTo>
                  <a:pt x="1706879" y="0"/>
                </a:lnTo>
                <a:lnTo>
                  <a:pt x="3413759" y="0"/>
                </a:lnTo>
                <a:lnTo>
                  <a:pt x="3413759" y="15240"/>
                </a:lnTo>
                <a:lnTo>
                  <a:pt x="1706879" y="15240"/>
                </a:lnTo>
                <a:lnTo>
                  <a:pt x="0" y="15240"/>
                </a:lnTo>
                <a:lnTo>
                  <a:pt x="0" y="0"/>
                </a:lnTo>
              </a:path>
            </a:pathLst>
          </a:custGeom>
          <a:solidFill>
            <a:srgbClr val="85dfd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812800" y="215900"/>
            <a:ext cx="5435600" cy="1485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  <a:tab pos="2032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Polynomial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Regression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  <a:tab pos="203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Visualizing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Polynomial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Degree</a:t>
            </a:r>
          </a:p>
          <a:p>
            <a:pPr>
              <a:lnSpc>
                <a:spcPts val="2300"/>
              </a:lnSpc>
              <a:tabLst>
                <a:tab pos="101600" algn="l"/>
                <a:tab pos="2032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85dfd0"/>
                </a:solidFill>
                <a:latin typeface="Calibri" pitchFamily="18" charset="0"/>
                <a:cs typeface="Calibri" pitchFamily="18" charset="0"/>
              </a:rPr>
              <a:t>https://www.desmos.com/calculator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09243" y="1630545"/>
            <a:ext cx="2617266" cy="1120274"/>
          </a:xfrm>
          <a:custGeom>
            <a:avLst/>
            <a:gdLst>
              <a:gd name="connsiteX0" fmla="*/ 28575 w 2617266"/>
              <a:gd name="connsiteY0" fmla="*/ 1091699 h 1120274"/>
              <a:gd name="connsiteX1" fmla="*/ 2588691 w 2617266"/>
              <a:gd name="connsiteY1" fmla="*/ 89669 h 11202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617266" h="1120274">
                <a:moveTo>
                  <a:pt x="28575" y="1091699"/>
                </a:moveTo>
                <a:cubicBezTo>
                  <a:pt x="658037" y="258325"/>
                  <a:pt x="1654225" y="-131564"/>
                  <a:pt x="2588691" y="89669"/>
                </a:cubicBezTo>
              </a:path>
            </a:pathLst>
          </a:custGeom>
          <a:ln w="50800">
            <a:solidFill>
              <a:srgbClr val="ff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851906" y="1636521"/>
            <a:ext cx="2053336" cy="389128"/>
          </a:xfrm>
          <a:custGeom>
            <a:avLst/>
            <a:gdLst>
              <a:gd name="connsiteX0" fmla="*/ 6350 w 2053336"/>
              <a:gd name="connsiteY0" fmla="*/ 382778 h 389128"/>
              <a:gd name="connsiteX1" fmla="*/ 2046986 w 2053336"/>
              <a:gd name="connsiteY1" fmla="*/ 382778 h 389128"/>
              <a:gd name="connsiteX2" fmla="*/ 2046986 w 2053336"/>
              <a:gd name="connsiteY2" fmla="*/ 6350 h 389128"/>
              <a:gd name="connsiteX3" fmla="*/ 6350 w 2053336"/>
              <a:gd name="connsiteY3" fmla="*/ 6350 h 389128"/>
              <a:gd name="connsiteX4" fmla="*/ 6350 w 2053336"/>
              <a:gd name="connsiteY4" fmla="*/ 382778 h 3891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053336" h="389128">
                <a:moveTo>
                  <a:pt x="6350" y="382778"/>
                </a:moveTo>
                <a:lnTo>
                  <a:pt x="2046986" y="382778"/>
                </a:lnTo>
                <a:lnTo>
                  <a:pt x="2046986" y="6350"/>
                </a:lnTo>
                <a:lnTo>
                  <a:pt x="6350" y="6350"/>
                </a:lnTo>
                <a:lnTo>
                  <a:pt x="6350" y="38277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851906" y="2095246"/>
            <a:ext cx="2864103" cy="387603"/>
          </a:xfrm>
          <a:custGeom>
            <a:avLst/>
            <a:gdLst>
              <a:gd name="connsiteX0" fmla="*/ 6350 w 2864103"/>
              <a:gd name="connsiteY0" fmla="*/ 381253 h 387603"/>
              <a:gd name="connsiteX1" fmla="*/ 2857753 w 2864103"/>
              <a:gd name="connsiteY1" fmla="*/ 381253 h 387603"/>
              <a:gd name="connsiteX2" fmla="*/ 2857753 w 2864103"/>
              <a:gd name="connsiteY2" fmla="*/ 6350 h 387603"/>
              <a:gd name="connsiteX3" fmla="*/ 6350 w 2864103"/>
              <a:gd name="connsiteY3" fmla="*/ 6350 h 387603"/>
              <a:gd name="connsiteX4" fmla="*/ 6350 w 2864103"/>
              <a:gd name="connsiteY4" fmla="*/ 381253 h 3876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864103" h="387603">
                <a:moveTo>
                  <a:pt x="6350" y="381253"/>
                </a:moveTo>
                <a:lnTo>
                  <a:pt x="2857753" y="381253"/>
                </a:lnTo>
                <a:lnTo>
                  <a:pt x="2857753" y="6350"/>
                </a:lnTo>
                <a:lnTo>
                  <a:pt x="6350" y="6350"/>
                </a:lnTo>
                <a:lnTo>
                  <a:pt x="6350" y="381253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765175" y="4205859"/>
            <a:ext cx="78536" cy="235839"/>
          </a:xfrm>
          <a:custGeom>
            <a:avLst/>
            <a:gdLst>
              <a:gd name="connsiteX0" fmla="*/ 3352 w 78536"/>
              <a:gd name="connsiteY0" fmla="*/ 0 h 235839"/>
              <a:gd name="connsiteX1" fmla="*/ 59080 w 78536"/>
              <a:gd name="connsiteY1" fmla="*/ 41402 h 235839"/>
              <a:gd name="connsiteX2" fmla="*/ 78536 w 78536"/>
              <a:gd name="connsiteY2" fmla="*/ 117983 h 235839"/>
              <a:gd name="connsiteX3" fmla="*/ 59143 w 78536"/>
              <a:gd name="connsiteY3" fmla="*/ 194564 h 235839"/>
              <a:gd name="connsiteX4" fmla="*/ 3352 w 78536"/>
              <a:gd name="connsiteY4" fmla="*/ 235839 h 235839"/>
              <a:gd name="connsiteX5" fmla="*/ 368 w 78536"/>
              <a:gd name="connsiteY5" fmla="*/ 226186 h 235839"/>
              <a:gd name="connsiteX6" fmla="*/ 43052 w 78536"/>
              <a:gd name="connsiteY6" fmla="*/ 188468 h 235839"/>
              <a:gd name="connsiteX7" fmla="*/ 57035 w 78536"/>
              <a:gd name="connsiteY7" fmla="*/ 116713 h 235839"/>
              <a:gd name="connsiteX8" fmla="*/ 43116 w 78536"/>
              <a:gd name="connsiteY8" fmla="*/ 46990 h 235839"/>
              <a:gd name="connsiteX9" fmla="*/ 0 w 78536"/>
              <a:gd name="connsiteY9" fmla="*/ 9652 h 235839"/>
              <a:gd name="connsiteX10" fmla="*/ 3352 w 7853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839">
                <a:moveTo>
                  <a:pt x="3352" y="0"/>
                </a:moveTo>
                <a:cubicBezTo>
                  <a:pt x="27546" y="6477"/>
                  <a:pt x="46126" y="20193"/>
                  <a:pt x="59080" y="41402"/>
                </a:cubicBezTo>
                <a:cubicBezTo>
                  <a:pt x="72047" y="62484"/>
                  <a:pt x="78536" y="88011"/>
                  <a:pt x="78536" y="117983"/>
                </a:cubicBezTo>
                <a:cubicBezTo>
                  <a:pt x="78536" y="147955"/>
                  <a:pt x="72072" y="173482"/>
                  <a:pt x="59143" y="194564"/>
                </a:cubicBezTo>
                <a:cubicBezTo>
                  <a:pt x="46227" y="215646"/>
                  <a:pt x="27622" y="229361"/>
                  <a:pt x="3352" y="235839"/>
                </a:cubicBezTo>
                <a:lnTo>
                  <a:pt x="368" y="226186"/>
                </a:lnTo>
                <a:cubicBezTo>
                  <a:pt x="19507" y="219836"/>
                  <a:pt x="33731" y="207264"/>
                  <a:pt x="43052" y="188468"/>
                </a:cubicBezTo>
                <a:cubicBezTo>
                  <a:pt x="52374" y="169672"/>
                  <a:pt x="57035" y="145669"/>
                  <a:pt x="57035" y="116713"/>
                </a:cubicBezTo>
                <a:cubicBezTo>
                  <a:pt x="57035" y="88773"/>
                  <a:pt x="52400" y="65405"/>
                  <a:pt x="43116" y="46990"/>
                </a:cubicBezTo>
                <a:cubicBezTo>
                  <a:pt x="33832" y="28448"/>
                  <a:pt x="19469" y="16002"/>
                  <a:pt x="0" y="9652"/>
                </a:cubicBezTo>
                <a:lnTo>
                  <a:pt x="3352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31355" y="4205859"/>
            <a:ext cx="78536" cy="235839"/>
          </a:xfrm>
          <a:custGeom>
            <a:avLst/>
            <a:gdLst>
              <a:gd name="connsiteX0" fmla="*/ 75184 w 78536"/>
              <a:gd name="connsiteY0" fmla="*/ 0 h 235839"/>
              <a:gd name="connsiteX1" fmla="*/ 78536 w 78536"/>
              <a:gd name="connsiteY1" fmla="*/ 9652 h 235839"/>
              <a:gd name="connsiteX2" fmla="*/ 35483 w 78536"/>
              <a:gd name="connsiteY2" fmla="*/ 46990 h 235839"/>
              <a:gd name="connsiteX3" fmla="*/ 21501 w 78536"/>
              <a:gd name="connsiteY3" fmla="*/ 116713 h 235839"/>
              <a:gd name="connsiteX4" fmla="*/ 35483 w 78536"/>
              <a:gd name="connsiteY4" fmla="*/ 188468 h 235839"/>
              <a:gd name="connsiteX5" fmla="*/ 78168 w 78536"/>
              <a:gd name="connsiteY5" fmla="*/ 226186 h 235839"/>
              <a:gd name="connsiteX6" fmla="*/ 75184 w 78536"/>
              <a:gd name="connsiteY6" fmla="*/ 235839 h 235839"/>
              <a:gd name="connsiteX7" fmla="*/ 19392 w 78536"/>
              <a:gd name="connsiteY7" fmla="*/ 194564 h 235839"/>
              <a:gd name="connsiteX8" fmla="*/ 0 w 78536"/>
              <a:gd name="connsiteY8" fmla="*/ 117983 h 235839"/>
              <a:gd name="connsiteX9" fmla="*/ 19443 w 78536"/>
              <a:gd name="connsiteY9" fmla="*/ 41402 h 235839"/>
              <a:gd name="connsiteX10" fmla="*/ 75184 w 7853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839">
                <a:moveTo>
                  <a:pt x="75184" y="0"/>
                </a:moveTo>
                <a:lnTo>
                  <a:pt x="78536" y="9652"/>
                </a:lnTo>
                <a:cubicBezTo>
                  <a:pt x="59156" y="16002"/>
                  <a:pt x="44805" y="28448"/>
                  <a:pt x="35483" y="46990"/>
                </a:cubicBezTo>
                <a:cubicBezTo>
                  <a:pt x="26162" y="65405"/>
                  <a:pt x="21501" y="88773"/>
                  <a:pt x="21501" y="116713"/>
                </a:cubicBezTo>
                <a:cubicBezTo>
                  <a:pt x="21501" y="145669"/>
                  <a:pt x="26162" y="169672"/>
                  <a:pt x="35483" y="188468"/>
                </a:cubicBezTo>
                <a:cubicBezTo>
                  <a:pt x="44805" y="207264"/>
                  <a:pt x="59029" y="219836"/>
                  <a:pt x="78168" y="226186"/>
                </a:cubicBezTo>
                <a:lnTo>
                  <a:pt x="75184" y="235839"/>
                </a:lnTo>
                <a:cubicBezTo>
                  <a:pt x="50914" y="229361"/>
                  <a:pt x="32308" y="215646"/>
                  <a:pt x="19392" y="194564"/>
                </a:cubicBezTo>
                <a:cubicBezTo>
                  <a:pt x="6464" y="173482"/>
                  <a:pt x="0" y="147955"/>
                  <a:pt x="0" y="117983"/>
                </a:cubicBezTo>
                <a:cubicBezTo>
                  <a:pt x="0" y="88011"/>
                  <a:pt x="6489" y="62484"/>
                  <a:pt x="19443" y="41402"/>
                </a:cubicBezTo>
                <a:cubicBezTo>
                  <a:pt x="32410" y="20193"/>
                  <a:pt x="50990" y="6477"/>
                  <a:pt x="75184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795655" y="4656455"/>
            <a:ext cx="78536" cy="235839"/>
          </a:xfrm>
          <a:custGeom>
            <a:avLst/>
            <a:gdLst>
              <a:gd name="connsiteX0" fmla="*/ 3352 w 78536"/>
              <a:gd name="connsiteY0" fmla="*/ 0 h 235839"/>
              <a:gd name="connsiteX1" fmla="*/ 59080 w 78536"/>
              <a:gd name="connsiteY1" fmla="*/ 41402 h 235839"/>
              <a:gd name="connsiteX2" fmla="*/ 78536 w 78536"/>
              <a:gd name="connsiteY2" fmla="*/ 117983 h 235839"/>
              <a:gd name="connsiteX3" fmla="*/ 59144 w 78536"/>
              <a:gd name="connsiteY3" fmla="*/ 194564 h 235839"/>
              <a:gd name="connsiteX4" fmla="*/ 3352 w 78536"/>
              <a:gd name="connsiteY4" fmla="*/ 235839 h 235839"/>
              <a:gd name="connsiteX5" fmla="*/ 368 w 78536"/>
              <a:gd name="connsiteY5" fmla="*/ 226187 h 235839"/>
              <a:gd name="connsiteX6" fmla="*/ 43053 w 78536"/>
              <a:gd name="connsiteY6" fmla="*/ 188467 h 235839"/>
              <a:gd name="connsiteX7" fmla="*/ 57035 w 78536"/>
              <a:gd name="connsiteY7" fmla="*/ 116713 h 235839"/>
              <a:gd name="connsiteX8" fmla="*/ 43116 w 78536"/>
              <a:gd name="connsiteY8" fmla="*/ 46989 h 235839"/>
              <a:gd name="connsiteX9" fmla="*/ 0 w 78536"/>
              <a:gd name="connsiteY9" fmla="*/ 9652 h 235839"/>
              <a:gd name="connsiteX10" fmla="*/ 3352 w 7853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839">
                <a:moveTo>
                  <a:pt x="3352" y="0"/>
                </a:moveTo>
                <a:cubicBezTo>
                  <a:pt x="27546" y="6477"/>
                  <a:pt x="46126" y="20192"/>
                  <a:pt x="59080" y="41402"/>
                </a:cubicBezTo>
                <a:cubicBezTo>
                  <a:pt x="72047" y="62484"/>
                  <a:pt x="78536" y="88011"/>
                  <a:pt x="78536" y="117983"/>
                </a:cubicBezTo>
                <a:cubicBezTo>
                  <a:pt x="78536" y="147954"/>
                  <a:pt x="72072" y="173482"/>
                  <a:pt x="59144" y="194564"/>
                </a:cubicBezTo>
                <a:cubicBezTo>
                  <a:pt x="46227" y="215646"/>
                  <a:pt x="27622" y="229362"/>
                  <a:pt x="3352" y="235839"/>
                </a:cubicBezTo>
                <a:lnTo>
                  <a:pt x="368" y="226187"/>
                </a:lnTo>
                <a:cubicBezTo>
                  <a:pt x="19507" y="219837"/>
                  <a:pt x="33731" y="207264"/>
                  <a:pt x="43053" y="188467"/>
                </a:cubicBezTo>
                <a:cubicBezTo>
                  <a:pt x="52374" y="169672"/>
                  <a:pt x="57035" y="145669"/>
                  <a:pt x="57035" y="116713"/>
                </a:cubicBezTo>
                <a:cubicBezTo>
                  <a:pt x="57035" y="88773"/>
                  <a:pt x="52400" y="65404"/>
                  <a:pt x="43116" y="46989"/>
                </a:cubicBezTo>
                <a:cubicBezTo>
                  <a:pt x="33832" y="28448"/>
                  <a:pt x="19469" y="16002"/>
                  <a:pt x="0" y="9652"/>
                </a:cubicBezTo>
                <a:lnTo>
                  <a:pt x="3352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61835" y="4656455"/>
            <a:ext cx="78536" cy="235839"/>
          </a:xfrm>
          <a:custGeom>
            <a:avLst/>
            <a:gdLst>
              <a:gd name="connsiteX0" fmla="*/ 75183 w 78536"/>
              <a:gd name="connsiteY0" fmla="*/ 0 h 235839"/>
              <a:gd name="connsiteX1" fmla="*/ 78536 w 78536"/>
              <a:gd name="connsiteY1" fmla="*/ 9652 h 235839"/>
              <a:gd name="connsiteX2" fmla="*/ 35483 w 78536"/>
              <a:gd name="connsiteY2" fmla="*/ 46989 h 235839"/>
              <a:gd name="connsiteX3" fmla="*/ 21501 w 78536"/>
              <a:gd name="connsiteY3" fmla="*/ 116713 h 235839"/>
              <a:gd name="connsiteX4" fmla="*/ 35483 w 78536"/>
              <a:gd name="connsiteY4" fmla="*/ 188467 h 235839"/>
              <a:gd name="connsiteX5" fmla="*/ 78168 w 78536"/>
              <a:gd name="connsiteY5" fmla="*/ 226187 h 235839"/>
              <a:gd name="connsiteX6" fmla="*/ 75183 w 78536"/>
              <a:gd name="connsiteY6" fmla="*/ 235839 h 235839"/>
              <a:gd name="connsiteX7" fmla="*/ 19392 w 78536"/>
              <a:gd name="connsiteY7" fmla="*/ 194564 h 235839"/>
              <a:gd name="connsiteX8" fmla="*/ 0 w 78536"/>
              <a:gd name="connsiteY8" fmla="*/ 117983 h 235839"/>
              <a:gd name="connsiteX9" fmla="*/ 19443 w 78536"/>
              <a:gd name="connsiteY9" fmla="*/ 41402 h 235839"/>
              <a:gd name="connsiteX10" fmla="*/ 75183 w 7853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839">
                <a:moveTo>
                  <a:pt x="75183" y="0"/>
                </a:moveTo>
                <a:lnTo>
                  <a:pt x="78536" y="9652"/>
                </a:lnTo>
                <a:cubicBezTo>
                  <a:pt x="59156" y="16002"/>
                  <a:pt x="44805" y="28448"/>
                  <a:pt x="35483" y="46989"/>
                </a:cubicBezTo>
                <a:cubicBezTo>
                  <a:pt x="26162" y="65404"/>
                  <a:pt x="21501" y="88773"/>
                  <a:pt x="21501" y="116713"/>
                </a:cubicBezTo>
                <a:cubicBezTo>
                  <a:pt x="21501" y="145669"/>
                  <a:pt x="26162" y="169672"/>
                  <a:pt x="35483" y="188467"/>
                </a:cubicBezTo>
                <a:cubicBezTo>
                  <a:pt x="44805" y="207264"/>
                  <a:pt x="59029" y="219837"/>
                  <a:pt x="78168" y="226187"/>
                </a:cubicBezTo>
                <a:lnTo>
                  <a:pt x="75183" y="235839"/>
                </a:lnTo>
                <a:cubicBezTo>
                  <a:pt x="50914" y="229362"/>
                  <a:pt x="32308" y="215646"/>
                  <a:pt x="19392" y="194564"/>
                </a:cubicBezTo>
                <a:cubicBezTo>
                  <a:pt x="6464" y="173482"/>
                  <a:pt x="0" y="147954"/>
                  <a:pt x="0" y="117983"/>
                </a:cubicBezTo>
                <a:cubicBezTo>
                  <a:pt x="0" y="88011"/>
                  <a:pt x="6489" y="62484"/>
                  <a:pt x="19443" y="41402"/>
                </a:cubicBezTo>
                <a:cubicBezTo>
                  <a:pt x="32410" y="20192"/>
                  <a:pt x="50990" y="6477"/>
                  <a:pt x="75183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104259" y="4656455"/>
            <a:ext cx="78485" cy="235839"/>
          </a:xfrm>
          <a:custGeom>
            <a:avLst/>
            <a:gdLst>
              <a:gd name="connsiteX0" fmla="*/ 3301 w 78485"/>
              <a:gd name="connsiteY0" fmla="*/ 0 h 235839"/>
              <a:gd name="connsiteX1" fmla="*/ 59054 w 78485"/>
              <a:gd name="connsiteY1" fmla="*/ 41402 h 235839"/>
              <a:gd name="connsiteX2" fmla="*/ 78485 w 78485"/>
              <a:gd name="connsiteY2" fmla="*/ 117983 h 235839"/>
              <a:gd name="connsiteX3" fmla="*/ 59181 w 78485"/>
              <a:gd name="connsiteY3" fmla="*/ 194564 h 235839"/>
              <a:gd name="connsiteX4" fmla="*/ 3301 w 78485"/>
              <a:gd name="connsiteY4" fmla="*/ 235839 h 235839"/>
              <a:gd name="connsiteX5" fmla="*/ 380 w 78485"/>
              <a:gd name="connsiteY5" fmla="*/ 226187 h 235839"/>
              <a:gd name="connsiteX6" fmla="*/ 43052 w 78485"/>
              <a:gd name="connsiteY6" fmla="*/ 188467 h 235839"/>
              <a:gd name="connsiteX7" fmla="*/ 57022 w 78485"/>
              <a:gd name="connsiteY7" fmla="*/ 116713 h 235839"/>
              <a:gd name="connsiteX8" fmla="*/ 43179 w 78485"/>
              <a:gd name="connsiteY8" fmla="*/ 46989 h 235839"/>
              <a:gd name="connsiteX9" fmla="*/ 0 w 78485"/>
              <a:gd name="connsiteY9" fmla="*/ 9652 h 235839"/>
              <a:gd name="connsiteX10" fmla="*/ 3301 w 78485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485" h="235839">
                <a:moveTo>
                  <a:pt x="3301" y="0"/>
                </a:moveTo>
                <a:cubicBezTo>
                  <a:pt x="27558" y="6477"/>
                  <a:pt x="46100" y="20192"/>
                  <a:pt x="59054" y="41402"/>
                </a:cubicBezTo>
                <a:cubicBezTo>
                  <a:pt x="72008" y="62484"/>
                  <a:pt x="78485" y="88011"/>
                  <a:pt x="78485" y="117983"/>
                </a:cubicBezTo>
                <a:cubicBezTo>
                  <a:pt x="78485" y="147954"/>
                  <a:pt x="72135" y="173482"/>
                  <a:pt x="59181" y="194564"/>
                </a:cubicBezTo>
                <a:cubicBezTo>
                  <a:pt x="46227" y="215646"/>
                  <a:pt x="27685" y="229362"/>
                  <a:pt x="3301" y="235839"/>
                </a:cubicBezTo>
                <a:lnTo>
                  <a:pt x="380" y="226187"/>
                </a:lnTo>
                <a:cubicBezTo>
                  <a:pt x="19558" y="219837"/>
                  <a:pt x="33781" y="207264"/>
                  <a:pt x="43052" y="188467"/>
                </a:cubicBezTo>
                <a:cubicBezTo>
                  <a:pt x="52323" y="169672"/>
                  <a:pt x="57022" y="145669"/>
                  <a:pt x="57022" y="116713"/>
                </a:cubicBezTo>
                <a:cubicBezTo>
                  <a:pt x="57022" y="88773"/>
                  <a:pt x="52450" y="65404"/>
                  <a:pt x="43179" y="46989"/>
                </a:cubicBezTo>
                <a:cubicBezTo>
                  <a:pt x="33781" y="28448"/>
                  <a:pt x="19430" y="16002"/>
                  <a:pt x="0" y="9652"/>
                </a:cubicBezTo>
                <a:lnTo>
                  <a:pt x="3301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524503" y="4656455"/>
            <a:ext cx="78486" cy="235839"/>
          </a:xfrm>
          <a:custGeom>
            <a:avLst/>
            <a:gdLst>
              <a:gd name="connsiteX0" fmla="*/ 75184 w 78486"/>
              <a:gd name="connsiteY0" fmla="*/ 0 h 235839"/>
              <a:gd name="connsiteX1" fmla="*/ 78486 w 78486"/>
              <a:gd name="connsiteY1" fmla="*/ 9652 h 235839"/>
              <a:gd name="connsiteX2" fmla="*/ 35433 w 78486"/>
              <a:gd name="connsiteY2" fmla="*/ 46989 h 235839"/>
              <a:gd name="connsiteX3" fmla="*/ 21463 w 78486"/>
              <a:gd name="connsiteY3" fmla="*/ 116713 h 235839"/>
              <a:gd name="connsiteX4" fmla="*/ 35433 w 78486"/>
              <a:gd name="connsiteY4" fmla="*/ 188467 h 235839"/>
              <a:gd name="connsiteX5" fmla="*/ 78105 w 78486"/>
              <a:gd name="connsiteY5" fmla="*/ 226187 h 235839"/>
              <a:gd name="connsiteX6" fmla="*/ 75184 w 78486"/>
              <a:gd name="connsiteY6" fmla="*/ 235839 h 235839"/>
              <a:gd name="connsiteX7" fmla="*/ 19430 w 78486"/>
              <a:gd name="connsiteY7" fmla="*/ 194564 h 235839"/>
              <a:gd name="connsiteX8" fmla="*/ 0 w 78486"/>
              <a:gd name="connsiteY8" fmla="*/ 117983 h 235839"/>
              <a:gd name="connsiteX9" fmla="*/ 19430 w 78486"/>
              <a:gd name="connsiteY9" fmla="*/ 41402 h 235839"/>
              <a:gd name="connsiteX10" fmla="*/ 75184 w 7848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486" h="235839">
                <a:moveTo>
                  <a:pt x="75184" y="0"/>
                </a:moveTo>
                <a:lnTo>
                  <a:pt x="78486" y="9652"/>
                </a:lnTo>
                <a:cubicBezTo>
                  <a:pt x="59182" y="16002"/>
                  <a:pt x="44830" y="28448"/>
                  <a:pt x="35433" y="46989"/>
                </a:cubicBezTo>
                <a:cubicBezTo>
                  <a:pt x="26161" y="65404"/>
                  <a:pt x="21463" y="88773"/>
                  <a:pt x="21463" y="116713"/>
                </a:cubicBezTo>
                <a:cubicBezTo>
                  <a:pt x="21463" y="145669"/>
                  <a:pt x="26161" y="169672"/>
                  <a:pt x="35433" y="188467"/>
                </a:cubicBezTo>
                <a:cubicBezTo>
                  <a:pt x="44830" y="207264"/>
                  <a:pt x="59055" y="219837"/>
                  <a:pt x="78105" y="226187"/>
                </a:cubicBezTo>
                <a:lnTo>
                  <a:pt x="75184" y="235839"/>
                </a:lnTo>
                <a:cubicBezTo>
                  <a:pt x="50927" y="229362"/>
                  <a:pt x="32258" y="215646"/>
                  <a:pt x="19430" y="194564"/>
                </a:cubicBezTo>
                <a:cubicBezTo>
                  <a:pt x="6477" y="173482"/>
                  <a:pt x="0" y="147954"/>
                  <a:pt x="0" y="117983"/>
                </a:cubicBezTo>
                <a:cubicBezTo>
                  <a:pt x="0" y="88011"/>
                  <a:pt x="6477" y="62484"/>
                  <a:pt x="19430" y="41402"/>
                </a:cubicBezTo>
                <a:cubicBezTo>
                  <a:pt x="32385" y="20192"/>
                  <a:pt x="50927" y="6477"/>
                  <a:pt x="75184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553583" y="4656455"/>
            <a:ext cx="78485" cy="235839"/>
          </a:xfrm>
          <a:custGeom>
            <a:avLst/>
            <a:gdLst>
              <a:gd name="connsiteX0" fmla="*/ 3301 w 78485"/>
              <a:gd name="connsiteY0" fmla="*/ 0 h 235839"/>
              <a:gd name="connsiteX1" fmla="*/ 59054 w 78485"/>
              <a:gd name="connsiteY1" fmla="*/ 41402 h 235839"/>
              <a:gd name="connsiteX2" fmla="*/ 78485 w 78485"/>
              <a:gd name="connsiteY2" fmla="*/ 117983 h 235839"/>
              <a:gd name="connsiteX3" fmla="*/ 59181 w 78485"/>
              <a:gd name="connsiteY3" fmla="*/ 194564 h 235839"/>
              <a:gd name="connsiteX4" fmla="*/ 3301 w 78485"/>
              <a:gd name="connsiteY4" fmla="*/ 235839 h 235839"/>
              <a:gd name="connsiteX5" fmla="*/ 380 w 78485"/>
              <a:gd name="connsiteY5" fmla="*/ 226187 h 235839"/>
              <a:gd name="connsiteX6" fmla="*/ 43052 w 78485"/>
              <a:gd name="connsiteY6" fmla="*/ 188467 h 235839"/>
              <a:gd name="connsiteX7" fmla="*/ 57022 w 78485"/>
              <a:gd name="connsiteY7" fmla="*/ 116713 h 235839"/>
              <a:gd name="connsiteX8" fmla="*/ 43179 w 78485"/>
              <a:gd name="connsiteY8" fmla="*/ 46989 h 235839"/>
              <a:gd name="connsiteX9" fmla="*/ 0 w 78485"/>
              <a:gd name="connsiteY9" fmla="*/ 9652 h 235839"/>
              <a:gd name="connsiteX10" fmla="*/ 3301 w 78485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485" h="235839">
                <a:moveTo>
                  <a:pt x="3301" y="0"/>
                </a:moveTo>
                <a:cubicBezTo>
                  <a:pt x="27558" y="6477"/>
                  <a:pt x="46100" y="20192"/>
                  <a:pt x="59054" y="41402"/>
                </a:cubicBezTo>
                <a:cubicBezTo>
                  <a:pt x="72008" y="62484"/>
                  <a:pt x="78485" y="88011"/>
                  <a:pt x="78485" y="117983"/>
                </a:cubicBezTo>
                <a:cubicBezTo>
                  <a:pt x="78485" y="147954"/>
                  <a:pt x="72135" y="173482"/>
                  <a:pt x="59181" y="194564"/>
                </a:cubicBezTo>
                <a:cubicBezTo>
                  <a:pt x="46227" y="215646"/>
                  <a:pt x="27685" y="229362"/>
                  <a:pt x="3301" y="235839"/>
                </a:cubicBezTo>
                <a:lnTo>
                  <a:pt x="380" y="226187"/>
                </a:lnTo>
                <a:cubicBezTo>
                  <a:pt x="19557" y="219837"/>
                  <a:pt x="33781" y="207264"/>
                  <a:pt x="43052" y="188467"/>
                </a:cubicBezTo>
                <a:cubicBezTo>
                  <a:pt x="52323" y="169672"/>
                  <a:pt x="57022" y="145669"/>
                  <a:pt x="57022" y="116713"/>
                </a:cubicBezTo>
                <a:cubicBezTo>
                  <a:pt x="57022" y="88773"/>
                  <a:pt x="52450" y="65404"/>
                  <a:pt x="43179" y="46989"/>
                </a:cubicBezTo>
                <a:cubicBezTo>
                  <a:pt x="33781" y="28448"/>
                  <a:pt x="19430" y="16002"/>
                  <a:pt x="0" y="9652"/>
                </a:cubicBezTo>
                <a:lnTo>
                  <a:pt x="3301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973828" y="4656455"/>
            <a:ext cx="78485" cy="235839"/>
          </a:xfrm>
          <a:custGeom>
            <a:avLst/>
            <a:gdLst>
              <a:gd name="connsiteX0" fmla="*/ 75183 w 78485"/>
              <a:gd name="connsiteY0" fmla="*/ 0 h 235839"/>
              <a:gd name="connsiteX1" fmla="*/ 78485 w 78485"/>
              <a:gd name="connsiteY1" fmla="*/ 9652 h 235839"/>
              <a:gd name="connsiteX2" fmla="*/ 35432 w 78485"/>
              <a:gd name="connsiteY2" fmla="*/ 46989 h 235839"/>
              <a:gd name="connsiteX3" fmla="*/ 21462 w 78485"/>
              <a:gd name="connsiteY3" fmla="*/ 116713 h 235839"/>
              <a:gd name="connsiteX4" fmla="*/ 35432 w 78485"/>
              <a:gd name="connsiteY4" fmla="*/ 188467 h 235839"/>
              <a:gd name="connsiteX5" fmla="*/ 78104 w 78485"/>
              <a:gd name="connsiteY5" fmla="*/ 226187 h 235839"/>
              <a:gd name="connsiteX6" fmla="*/ 75183 w 78485"/>
              <a:gd name="connsiteY6" fmla="*/ 235839 h 235839"/>
              <a:gd name="connsiteX7" fmla="*/ 19430 w 78485"/>
              <a:gd name="connsiteY7" fmla="*/ 194564 h 235839"/>
              <a:gd name="connsiteX8" fmla="*/ 0 w 78485"/>
              <a:gd name="connsiteY8" fmla="*/ 117983 h 235839"/>
              <a:gd name="connsiteX9" fmla="*/ 19430 w 78485"/>
              <a:gd name="connsiteY9" fmla="*/ 41402 h 235839"/>
              <a:gd name="connsiteX10" fmla="*/ 75183 w 78485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485" h="235839">
                <a:moveTo>
                  <a:pt x="75183" y="0"/>
                </a:moveTo>
                <a:lnTo>
                  <a:pt x="78485" y="9652"/>
                </a:lnTo>
                <a:cubicBezTo>
                  <a:pt x="59181" y="16002"/>
                  <a:pt x="44830" y="28448"/>
                  <a:pt x="35432" y="46989"/>
                </a:cubicBezTo>
                <a:cubicBezTo>
                  <a:pt x="26161" y="65404"/>
                  <a:pt x="21462" y="88773"/>
                  <a:pt x="21462" y="116713"/>
                </a:cubicBezTo>
                <a:cubicBezTo>
                  <a:pt x="21462" y="145669"/>
                  <a:pt x="26161" y="169672"/>
                  <a:pt x="35432" y="188467"/>
                </a:cubicBezTo>
                <a:cubicBezTo>
                  <a:pt x="44830" y="207264"/>
                  <a:pt x="59054" y="219837"/>
                  <a:pt x="78104" y="226187"/>
                </a:cubicBezTo>
                <a:lnTo>
                  <a:pt x="75183" y="235839"/>
                </a:lnTo>
                <a:cubicBezTo>
                  <a:pt x="50926" y="229362"/>
                  <a:pt x="32257" y="215646"/>
                  <a:pt x="19430" y="194564"/>
                </a:cubicBezTo>
                <a:cubicBezTo>
                  <a:pt x="6476" y="173482"/>
                  <a:pt x="0" y="147954"/>
                  <a:pt x="0" y="117983"/>
                </a:cubicBezTo>
                <a:cubicBezTo>
                  <a:pt x="0" y="88011"/>
                  <a:pt x="6476" y="62484"/>
                  <a:pt x="19430" y="41402"/>
                </a:cubicBezTo>
                <a:cubicBezTo>
                  <a:pt x="32384" y="20192"/>
                  <a:pt x="50926" y="6477"/>
                  <a:pt x="75183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71602" y="5016754"/>
            <a:ext cx="1632712" cy="1029208"/>
          </a:xfrm>
          <a:custGeom>
            <a:avLst/>
            <a:gdLst>
              <a:gd name="connsiteX0" fmla="*/ 6350 w 1632712"/>
              <a:gd name="connsiteY0" fmla="*/ 1022858 h 1029208"/>
              <a:gd name="connsiteX1" fmla="*/ 1626362 w 1632712"/>
              <a:gd name="connsiteY1" fmla="*/ 1022858 h 1029208"/>
              <a:gd name="connsiteX2" fmla="*/ 1626362 w 1632712"/>
              <a:gd name="connsiteY2" fmla="*/ 6350 h 1029208"/>
              <a:gd name="connsiteX3" fmla="*/ 6350 w 1632712"/>
              <a:gd name="connsiteY3" fmla="*/ 6350 h 1029208"/>
              <a:gd name="connsiteX4" fmla="*/ 6350 w 1632712"/>
              <a:gd name="connsiteY4" fmla="*/ 1022858 h 10292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632712" h="1029208">
                <a:moveTo>
                  <a:pt x="6350" y="1022858"/>
                </a:moveTo>
                <a:lnTo>
                  <a:pt x="1626362" y="1022858"/>
                </a:lnTo>
                <a:lnTo>
                  <a:pt x="1626362" y="6350"/>
                </a:lnTo>
                <a:lnTo>
                  <a:pt x="6350" y="6350"/>
                </a:lnTo>
                <a:lnTo>
                  <a:pt x="6350" y="10228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707134" y="5118227"/>
            <a:ext cx="78613" cy="235839"/>
          </a:xfrm>
          <a:custGeom>
            <a:avLst/>
            <a:gdLst>
              <a:gd name="connsiteX0" fmla="*/ 3429 w 78613"/>
              <a:gd name="connsiteY0" fmla="*/ 0 h 235839"/>
              <a:gd name="connsiteX1" fmla="*/ 59055 w 78613"/>
              <a:gd name="connsiteY1" fmla="*/ 41402 h 235839"/>
              <a:gd name="connsiteX2" fmla="*/ 78613 w 78613"/>
              <a:gd name="connsiteY2" fmla="*/ 117982 h 235839"/>
              <a:gd name="connsiteX3" fmla="*/ 59182 w 78613"/>
              <a:gd name="connsiteY3" fmla="*/ 194564 h 235839"/>
              <a:gd name="connsiteX4" fmla="*/ 3429 w 78613"/>
              <a:gd name="connsiteY4" fmla="*/ 235839 h 235839"/>
              <a:gd name="connsiteX5" fmla="*/ 380 w 78613"/>
              <a:gd name="connsiteY5" fmla="*/ 226186 h 235839"/>
              <a:gd name="connsiteX6" fmla="*/ 43052 w 78613"/>
              <a:gd name="connsiteY6" fmla="*/ 188467 h 235839"/>
              <a:gd name="connsiteX7" fmla="*/ 57022 w 78613"/>
              <a:gd name="connsiteY7" fmla="*/ 116713 h 235839"/>
              <a:gd name="connsiteX8" fmla="*/ 43180 w 78613"/>
              <a:gd name="connsiteY8" fmla="*/ 46990 h 235839"/>
              <a:gd name="connsiteX9" fmla="*/ 0 w 78613"/>
              <a:gd name="connsiteY9" fmla="*/ 9652 h 235839"/>
              <a:gd name="connsiteX10" fmla="*/ 3429 w 78613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613" h="235839">
                <a:moveTo>
                  <a:pt x="3429" y="0"/>
                </a:moveTo>
                <a:cubicBezTo>
                  <a:pt x="27558" y="6477"/>
                  <a:pt x="46101" y="20192"/>
                  <a:pt x="59055" y="41402"/>
                </a:cubicBezTo>
                <a:cubicBezTo>
                  <a:pt x="72008" y="62483"/>
                  <a:pt x="78613" y="88010"/>
                  <a:pt x="78613" y="117982"/>
                </a:cubicBezTo>
                <a:cubicBezTo>
                  <a:pt x="78613" y="147954"/>
                  <a:pt x="72136" y="173481"/>
                  <a:pt x="59182" y="194564"/>
                </a:cubicBezTo>
                <a:cubicBezTo>
                  <a:pt x="46227" y="215645"/>
                  <a:pt x="27686" y="229361"/>
                  <a:pt x="3429" y="235839"/>
                </a:cubicBezTo>
                <a:lnTo>
                  <a:pt x="380" y="226186"/>
                </a:lnTo>
                <a:cubicBezTo>
                  <a:pt x="19557" y="219836"/>
                  <a:pt x="33782" y="207264"/>
                  <a:pt x="43052" y="188467"/>
                </a:cubicBezTo>
                <a:cubicBezTo>
                  <a:pt x="52451" y="169671"/>
                  <a:pt x="57022" y="145669"/>
                  <a:pt x="57022" y="116713"/>
                </a:cubicBezTo>
                <a:cubicBezTo>
                  <a:pt x="57022" y="88772"/>
                  <a:pt x="52451" y="65404"/>
                  <a:pt x="43180" y="46990"/>
                </a:cubicBezTo>
                <a:cubicBezTo>
                  <a:pt x="33908" y="28447"/>
                  <a:pt x="19430" y="16002"/>
                  <a:pt x="0" y="9652"/>
                </a:cubicBezTo>
                <a:lnTo>
                  <a:pt x="3429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167015" y="5118227"/>
            <a:ext cx="78536" cy="235839"/>
          </a:xfrm>
          <a:custGeom>
            <a:avLst/>
            <a:gdLst>
              <a:gd name="connsiteX0" fmla="*/ 75184 w 78536"/>
              <a:gd name="connsiteY0" fmla="*/ 0 h 235839"/>
              <a:gd name="connsiteX1" fmla="*/ 78536 w 78536"/>
              <a:gd name="connsiteY1" fmla="*/ 9652 h 235839"/>
              <a:gd name="connsiteX2" fmla="*/ 35471 w 78536"/>
              <a:gd name="connsiteY2" fmla="*/ 46990 h 235839"/>
              <a:gd name="connsiteX3" fmla="*/ 21488 w 78536"/>
              <a:gd name="connsiteY3" fmla="*/ 116713 h 235839"/>
              <a:gd name="connsiteX4" fmla="*/ 35471 w 78536"/>
              <a:gd name="connsiteY4" fmla="*/ 188467 h 235839"/>
              <a:gd name="connsiteX5" fmla="*/ 78155 w 78536"/>
              <a:gd name="connsiteY5" fmla="*/ 226186 h 235839"/>
              <a:gd name="connsiteX6" fmla="*/ 75184 w 78536"/>
              <a:gd name="connsiteY6" fmla="*/ 235839 h 235839"/>
              <a:gd name="connsiteX7" fmla="*/ 19380 w 78536"/>
              <a:gd name="connsiteY7" fmla="*/ 194564 h 235839"/>
              <a:gd name="connsiteX8" fmla="*/ 0 w 78536"/>
              <a:gd name="connsiteY8" fmla="*/ 117982 h 235839"/>
              <a:gd name="connsiteX9" fmla="*/ 19443 w 78536"/>
              <a:gd name="connsiteY9" fmla="*/ 41402 h 235839"/>
              <a:gd name="connsiteX10" fmla="*/ 75184 w 78536"/>
              <a:gd name="connsiteY10" fmla="*/ 0 h 23583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839">
                <a:moveTo>
                  <a:pt x="75184" y="0"/>
                </a:moveTo>
                <a:lnTo>
                  <a:pt x="78536" y="9652"/>
                </a:lnTo>
                <a:cubicBezTo>
                  <a:pt x="59143" y="16002"/>
                  <a:pt x="44793" y="28447"/>
                  <a:pt x="35471" y="46990"/>
                </a:cubicBezTo>
                <a:cubicBezTo>
                  <a:pt x="26149" y="65404"/>
                  <a:pt x="21488" y="88772"/>
                  <a:pt x="21488" y="116713"/>
                </a:cubicBezTo>
                <a:cubicBezTo>
                  <a:pt x="21488" y="145669"/>
                  <a:pt x="26149" y="169671"/>
                  <a:pt x="35471" y="188467"/>
                </a:cubicBezTo>
                <a:cubicBezTo>
                  <a:pt x="44793" y="207264"/>
                  <a:pt x="59016" y="219836"/>
                  <a:pt x="78155" y="226186"/>
                </a:cubicBezTo>
                <a:lnTo>
                  <a:pt x="75184" y="235839"/>
                </a:lnTo>
                <a:cubicBezTo>
                  <a:pt x="50901" y="229361"/>
                  <a:pt x="32308" y="215645"/>
                  <a:pt x="19380" y="194564"/>
                </a:cubicBezTo>
                <a:cubicBezTo>
                  <a:pt x="6451" y="173481"/>
                  <a:pt x="0" y="147954"/>
                  <a:pt x="0" y="117982"/>
                </a:cubicBezTo>
                <a:cubicBezTo>
                  <a:pt x="0" y="88010"/>
                  <a:pt x="6477" y="62483"/>
                  <a:pt x="19443" y="41402"/>
                </a:cubicBezTo>
                <a:cubicBezTo>
                  <a:pt x="32410" y="20192"/>
                  <a:pt x="50990" y="6477"/>
                  <a:pt x="75184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650746" y="5423027"/>
            <a:ext cx="78613" cy="235775"/>
          </a:xfrm>
          <a:custGeom>
            <a:avLst/>
            <a:gdLst>
              <a:gd name="connsiteX0" fmla="*/ 3429 w 78613"/>
              <a:gd name="connsiteY0" fmla="*/ 0 h 235775"/>
              <a:gd name="connsiteX1" fmla="*/ 59055 w 78613"/>
              <a:gd name="connsiteY1" fmla="*/ 41402 h 235775"/>
              <a:gd name="connsiteX2" fmla="*/ 78613 w 78613"/>
              <a:gd name="connsiteY2" fmla="*/ 117982 h 235775"/>
              <a:gd name="connsiteX3" fmla="*/ 59182 w 78613"/>
              <a:gd name="connsiteY3" fmla="*/ 194576 h 235775"/>
              <a:gd name="connsiteX4" fmla="*/ 3429 w 78613"/>
              <a:gd name="connsiteY4" fmla="*/ 235775 h 235775"/>
              <a:gd name="connsiteX5" fmla="*/ 380 w 78613"/>
              <a:gd name="connsiteY5" fmla="*/ 226212 h 235775"/>
              <a:gd name="connsiteX6" fmla="*/ 43053 w 78613"/>
              <a:gd name="connsiteY6" fmla="*/ 188429 h 235775"/>
              <a:gd name="connsiteX7" fmla="*/ 57023 w 78613"/>
              <a:gd name="connsiteY7" fmla="*/ 116713 h 235775"/>
              <a:gd name="connsiteX8" fmla="*/ 43180 w 78613"/>
              <a:gd name="connsiteY8" fmla="*/ 46990 h 235775"/>
              <a:gd name="connsiteX9" fmla="*/ 0 w 78613"/>
              <a:gd name="connsiteY9" fmla="*/ 9652 h 235775"/>
              <a:gd name="connsiteX10" fmla="*/ 3429 w 78613"/>
              <a:gd name="connsiteY10" fmla="*/ 0 h 23577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613" h="235775">
                <a:moveTo>
                  <a:pt x="3429" y="0"/>
                </a:moveTo>
                <a:cubicBezTo>
                  <a:pt x="27559" y="6476"/>
                  <a:pt x="46101" y="20192"/>
                  <a:pt x="59055" y="41402"/>
                </a:cubicBezTo>
                <a:cubicBezTo>
                  <a:pt x="72009" y="62483"/>
                  <a:pt x="78613" y="88010"/>
                  <a:pt x="78613" y="117982"/>
                </a:cubicBezTo>
                <a:cubicBezTo>
                  <a:pt x="78613" y="147954"/>
                  <a:pt x="72136" y="173494"/>
                  <a:pt x="59182" y="194576"/>
                </a:cubicBezTo>
                <a:cubicBezTo>
                  <a:pt x="46228" y="215671"/>
                  <a:pt x="27686" y="229399"/>
                  <a:pt x="3429" y="235775"/>
                </a:cubicBezTo>
                <a:lnTo>
                  <a:pt x="380" y="226212"/>
                </a:lnTo>
                <a:cubicBezTo>
                  <a:pt x="19558" y="219824"/>
                  <a:pt x="33782" y="207238"/>
                  <a:pt x="43053" y="188429"/>
                </a:cubicBezTo>
                <a:cubicBezTo>
                  <a:pt x="52451" y="169621"/>
                  <a:pt x="57023" y="145669"/>
                  <a:pt x="57023" y="116713"/>
                </a:cubicBezTo>
                <a:cubicBezTo>
                  <a:pt x="57023" y="88772"/>
                  <a:pt x="52451" y="65404"/>
                  <a:pt x="43180" y="46990"/>
                </a:cubicBezTo>
                <a:cubicBezTo>
                  <a:pt x="33909" y="28447"/>
                  <a:pt x="19430" y="16002"/>
                  <a:pt x="0" y="9652"/>
                </a:cubicBezTo>
                <a:lnTo>
                  <a:pt x="3429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110627" y="5423027"/>
            <a:ext cx="78536" cy="235775"/>
          </a:xfrm>
          <a:custGeom>
            <a:avLst/>
            <a:gdLst>
              <a:gd name="connsiteX0" fmla="*/ 75183 w 78536"/>
              <a:gd name="connsiteY0" fmla="*/ 0 h 235775"/>
              <a:gd name="connsiteX1" fmla="*/ 78536 w 78536"/>
              <a:gd name="connsiteY1" fmla="*/ 9652 h 235775"/>
              <a:gd name="connsiteX2" fmla="*/ 35470 w 78536"/>
              <a:gd name="connsiteY2" fmla="*/ 46990 h 235775"/>
              <a:gd name="connsiteX3" fmla="*/ 21488 w 78536"/>
              <a:gd name="connsiteY3" fmla="*/ 116713 h 235775"/>
              <a:gd name="connsiteX4" fmla="*/ 35470 w 78536"/>
              <a:gd name="connsiteY4" fmla="*/ 188429 h 235775"/>
              <a:gd name="connsiteX5" fmla="*/ 78155 w 78536"/>
              <a:gd name="connsiteY5" fmla="*/ 226212 h 235775"/>
              <a:gd name="connsiteX6" fmla="*/ 75183 w 78536"/>
              <a:gd name="connsiteY6" fmla="*/ 235775 h 235775"/>
              <a:gd name="connsiteX7" fmla="*/ 19380 w 78536"/>
              <a:gd name="connsiteY7" fmla="*/ 194576 h 235775"/>
              <a:gd name="connsiteX8" fmla="*/ 0 w 78536"/>
              <a:gd name="connsiteY8" fmla="*/ 117982 h 235775"/>
              <a:gd name="connsiteX9" fmla="*/ 19443 w 78536"/>
              <a:gd name="connsiteY9" fmla="*/ 41402 h 235775"/>
              <a:gd name="connsiteX10" fmla="*/ 75183 w 78536"/>
              <a:gd name="connsiteY10" fmla="*/ 0 h 23577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775">
                <a:moveTo>
                  <a:pt x="75183" y="0"/>
                </a:moveTo>
                <a:lnTo>
                  <a:pt x="78536" y="9652"/>
                </a:lnTo>
                <a:cubicBezTo>
                  <a:pt x="59143" y="16002"/>
                  <a:pt x="44792" y="28447"/>
                  <a:pt x="35470" y="46990"/>
                </a:cubicBezTo>
                <a:cubicBezTo>
                  <a:pt x="26149" y="65404"/>
                  <a:pt x="21488" y="88772"/>
                  <a:pt x="21488" y="116713"/>
                </a:cubicBezTo>
                <a:cubicBezTo>
                  <a:pt x="21488" y="145669"/>
                  <a:pt x="26149" y="169621"/>
                  <a:pt x="35470" y="188429"/>
                </a:cubicBezTo>
                <a:cubicBezTo>
                  <a:pt x="44792" y="207238"/>
                  <a:pt x="59016" y="219824"/>
                  <a:pt x="78155" y="226212"/>
                </a:cubicBezTo>
                <a:lnTo>
                  <a:pt x="75183" y="235775"/>
                </a:lnTo>
                <a:cubicBezTo>
                  <a:pt x="50901" y="229399"/>
                  <a:pt x="32308" y="215671"/>
                  <a:pt x="19380" y="194576"/>
                </a:cubicBezTo>
                <a:cubicBezTo>
                  <a:pt x="6451" y="173494"/>
                  <a:pt x="0" y="147954"/>
                  <a:pt x="0" y="117982"/>
                </a:cubicBezTo>
                <a:cubicBezTo>
                  <a:pt x="0" y="88010"/>
                  <a:pt x="6476" y="62483"/>
                  <a:pt x="19443" y="41402"/>
                </a:cubicBezTo>
                <a:cubicBezTo>
                  <a:pt x="32410" y="20192"/>
                  <a:pt x="50990" y="6476"/>
                  <a:pt x="75183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650746" y="5727865"/>
            <a:ext cx="78613" cy="235737"/>
          </a:xfrm>
          <a:custGeom>
            <a:avLst/>
            <a:gdLst>
              <a:gd name="connsiteX0" fmla="*/ 3429 w 78613"/>
              <a:gd name="connsiteY0" fmla="*/ 0 h 235737"/>
              <a:gd name="connsiteX1" fmla="*/ 59055 w 78613"/>
              <a:gd name="connsiteY1" fmla="*/ 41312 h 235737"/>
              <a:gd name="connsiteX2" fmla="*/ 78613 w 78613"/>
              <a:gd name="connsiteY2" fmla="*/ 117932 h 235737"/>
              <a:gd name="connsiteX3" fmla="*/ 59182 w 78613"/>
              <a:gd name="connsiteY3" fmla="*/ 194538 h 235737"/>
              <a:gd name="connsiteX4" fmla="*/ 3429 w 78613"/>
              <a:gd name="connsiteY4" fmla="*/ 235737 h 235737"/>
              <a:gd name="connsiteX5" fmla="*/ 380 w 78613"/>
              <a:gd name="connsiteY5" fmla="*/ 226174 h 235737"/>
              <a:gd name="connsiteX6" fmla="*/ 43053 w 78613"/>
              <a:gd name="connsiteY6" fmla="*/ 188391 h 235737"/>
              <a:gd name="connsiteX7" fmla="*/ 57023 w 78613"/>
              <a:gd name="connsiteY7" fmla="*/ 116687 h 235737"/>
              <a:gd name="connsiteX8" fmla="*/ 43180 w 78613"/>
              <a:gd name="connsiteY8" fmla="*/ 46913 h 235737"/>
              <a:gd name="connsiteX9" fmla="*/ 0 w 78613"/>
              <a:gd name="connsiteY9" fmla="*/ 9562 h 235737"/>
              <a:gd name="connsiteX10" fmla="*/ 3429 w 78613"/>
              <a:gd name="connsiteY10" fmla="*/ 0 h 2357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613" h="235737">
                <a:moveTo>
                  <a:pt x="3429" y="0"/>
                </a:moveTo>
                <a:cubicBezTo>
                  <a:pt x="27559" y="6375"/>
                  <a:pt x="46101" y="20154"/>
                  <a:pt x="59055" y="41312"/>
                </a:cubicBezTo>
                <a:cubicBezTo>
                  <a:pt x="72009" y="62483"/>
                  <a:pt x="78613" y="88023"/>
                  <a:pt x="78613" y="117932"/>
                </a:cubicBezTo>
                <a:cubicBezTo>
                  <a:pt x="78613" y="147916"/>
                  <a:pt x="72136" y="173456"/>
                  <a:pt x="59182" y="194538"/>
                </a:cubicBezTo>
                <a:cubicBezTo>
                  <a:pt x="46228" y="215633"/>
                  <a:pt x="27686" y="229361"/>
                  <a:pt x="3429" y="235737"/>
                </a:cubicBezTo>
                <a:lnTo>
                  <a:pt x="380" y="226174"/>
                </a:lnTo>
                <a:cubicBezTo>
                  <a:pt x="19558" y="219786"/>
                  <a:pt x="33782" y="207200"/>
                  <a:pt x="43053" y="188391"/>
                </a:cubicBezTo>
                <a:cubicBezTo>
                  <a:pt x="52451" y="169583"/>
                  <a:pt x="57023" y="145681"/>
                  <a:pt x="57023" y="116687"/>
                </a:cubicBezTo>
                <a:cubicBezTo>
                  <a:pt x="57023" y="88684"/>
                  <a:pt x="52451" y="65430"/>
                  <a:pt x="43180" y="46913"/>
                </a:cubicBezTo>
                <a:cubicBezTo>
                  <a:pt x="33909" y="28397"/>
                  <a:pt x="19430" y="15951"/>
                  <a:pt x="0" y="9562"/>
                </a:cubicBezTo>
                <a:lnTo>
                  <a:pt x="3429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110627" y="5727865"/>
            <a:ext cx="78536" cy="235737"/>
          </a:xfrm>
          <a:custGeom>
            <a:avLst/>
            <a:gdLst>
              <a:gd name="connsiteX0" fmla="*/ 75183 w 78536"/>
              <a:gd name="connsiteY0" fmla="*/ 0 h 235737"/>
              <a:gd name="connsiteX1" fmla="*/ 78536 w 78536"/>
              <a:gd name="connsiteY1" fmla="*/ 9562 h 235737"/>
              <a:gd name="connsiteX2" fmla="*/ 35470 w 78536"/>
              <a:gd name="connsiteY2" fmla="*/ 46913 h 235737"/>
              <a:gd name="connsiteX3" fmla="*/ 21488 w 78536"/>
              <a:gd name="connsiteY3" fmla="*/ 116687 h 235737"/>
              <a:gd name="connsiteX4" fmla="*/ 35470 w 78536"/>
              <a:gd name="connsiteY4" fmla="*/ 188391 h 235737"/>
              <a:gd name="connsiteX5" fmla="*/ 78155 w 78536"/>
              <a:gd name="connsiteY5" fmla="*/ 226174 h 235737"/>
              <a:gd name="connsiteX6" fmla="*/ 75183 w 78536"/>
              <a:gd name="connsiteY6" fmla="*/ 235737 h 235737"/>
              <a:gd name="connsiteX7" fmla="*/ 19380 w 78536"/>
              <a:gd name="connsiteY7" fmla="*/ 194538 h 235737"/>
              <a:gd name="connsiteX8" fmla="*/ 0 w 78536"/>
              <a:gd name="connsiteY8" fmla="*/ 117932 h 235737"/>
              <a:gd name="connsiteX9" fmla="*/ 19443 w 78536"/>
              <a:gd name="connsiteY9" fmla="*/ 41312 h 235737"/>
              <a:gd name="connsiteX10" fmla="*/ 75183 w 78536"/>
              <a:gd name="connsiteY10" fmla="*/ 0 h 23573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8536" h="235737">
                <a:moveTo>
                  <a:pt x="75183" y="0"/>
                </a:moveTo>
                <a:lnTo>
                  <a:pt x="78536" y="9562"/>
                </a:lnTo>
                <a:cubicBezTo>
                  <a:pt x="59143" y="15951"/>
                  <a:pt x="44792" y="28397"/>
                  <a:pt x="35470" y="46913"/>
                </a:cubicBezTo>
                <a:cubicBezTo>
                  <a:pt x="26149" y="65430"/>
                  <a:pt x="21488" y="88684"/>
                  <a:pt x="21488" y="116687"/>
                </a:cubicBezTo>
                <a:cubicBezTo>
                  <a:pt x="21488" y="145681"/>
                  <a:pt x="26149" y="169583"/>
                  <a:pt x="35470" y="188391"/>
                </a:cubicBezTo>
                <a:cubicBezTo>
                  <a:pt x="44792" y="207200"/>
                  <a:pt x="59016" y="219786"/>
                  <a:pt x="78155" y="226174"/>
                </a:cubicBezTo>
                <a:lnTo>
                  <a:pt x="75183" y="235737"/>
                </a:lnTo>
                <a:cubicBezTo>
                  <a:pt x="50901" y="229361"/>
                  <a:pt x="32308" y="215633"/>
                  <a:pt x="19380" y="194538"/>
                </a:cubicBezTo>
                <a:cubicBezTo>
                  <a:pt x="6451" y="173456"/>
                  <a:pt x="0" y="147916"/>
                  <a:pt x="0" y="117932"/>
                </a:cubicBezTo>
                <a:cubicBezTo>
                  <a:pt x="0" y="88023"/>
                  <a:pt x="6476" y="62483"/>
                  <a:pt x="19443" y="41312"/>
                </a:cubicBezTo>
                <a:cubicBezTo>
                  <a:pt x="32410" y="20154"/>
                  <a:pt x="50990" y="6375"/>
                  <a:pt x="75183" y="0"/>
                </a:cubicBezTo>
              </a:path>
            </a:pathLst>
          </a:custGeom>
          <a:solidFill>
            <a:srgbClr val="00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038857" y="5289550"/>
            <a:ext cx="6913372" cy="658876"/>
          </a:xfrm>
          <a:custGeom>
            <a:avLst/>
            <a:gdLst>
              <a:gd name="connsiteX0" fmla="*/ 6350 w 6913372"/>
              <a:gd name="connsiteY0" fmla="*/ 652526 h 658876"/>
              <a:gd name="connsiteX1" fmla="*/ 6907022 w 6913372"/>
              <a:gd name="connsiteY1" fmla="*/ 652526 h 658876"/>
              <a:gd name="connsiteX2" fmla="*/ 6907022 w 6913372"/>
              <a:gd name="connsiteY2" fmla="*/ 6350 h 658876"/>
              <a:gd name="connsiteX3" fmla="*/ 6350 w 6913372"/>
              <a:gd name="connsiteY3" fmla="*/ 6350 h 658876"/>
              <a:gd name="connsiteX4" fmla="*/ 6350 w 6913372"/>
              <a:gd name="connsiteY4" fmla="*/ 652526 h 65887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913372" h="658876">
                <a:moveTo>
                  <a:pt x="6350" y="652526"/>
                </a:moveTo>
                <a:lnTo>
                  <a:pt x="6907022" y="652526"/>
                </a:lnTo>
                <a:lnTo>
                  <a:pt x="6907022" y="6350"/>
                </a:lnTo>
                <a:lnTo>
                  <a:pt x="6350" y="6350"/>
                </a:lnTo>
                <a:lnTo>
                  <a:pt x="6350" y="652526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700" y="1358900"/>
            <a:ext cx="4178300" cy="2260600"/>
          </a:xfrm>
          <a:prstGeom prst="rect">
            <a:avLst/>
          </a:prstGeom>
          <a:noFill/>
        </p:spPr>
      </p:pic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44780" y="4111752"/>
          <a:ext cx="5864352" cy="848867"/>
        </p:xfrm>
        <a:graphic>
          <a:graphicData uri="http://schemas.openxmlformats.org/drawingml/2006/table">
            <a:tbl>
              <a:tblPr/>
              <a:tblGrid>
                <a:gridCol w="4255008"/>
                <a:gridCol w="1609344"/>
              </a:tblGrid>
              <a:tr h="42062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𝒉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=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𝟎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𝟏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𝟏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𝟐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𝟐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𝟑</a:t>
                      </a:r>
                      <a:r>
                        <a:rPr lang="en-US" altLang="zh-CN" sz="200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𝟑</a:t>
                      </a:r>
                      <a:endParaRPr lang="zh-CN" altLang="en-US" sz="1464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mpd="sng">
                      <a:solidFill>
                        <a:srgbClr val="0f6fc6"/>
                      </a:solidFill>
                      <a:prstDash val="solid"/>
                    </a:lnL>
                    <a:lnR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0f6fc6"/>
                      </a:solidFill>
                      <a:prstDash val="solid"/>
                    </a:lnT>
                    <a:lnB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0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000000"/>
                      </a:solidFill>
                      <a:prstDash val="solid"/>
                    </a:lnR>
                    <a:lnT w="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244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146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𝟐</a:t>
                      </a:r>
                      <a:r>
                        <a:rPr lang="en-US" altLang="zh-CN" sz="146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𝟑</a:t>
                      </a:r>
                      <a:endParaRPr lang="zh-CN" altLang="en-US" sz="1466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  <a:p>
                      <a:pPr algn="l"/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𝒉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𝒙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=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𝟎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𝟏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(𝒔𝒊𝒛𝒆)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𝟐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𝒔𝒊𝒛𝒆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+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𝒘</a:t>
                      </a:r>
                      <a:r>
                        <a:rPr lang="en-US" altLang="zh-CN" sz="1464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𝟑</a:t>
                      </a:r>
                      <a:r>
                        <a:rPr lang="en-US" altLang="zh-CN" sz="2006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𝒔𝒊𝒛𝒆</a:t>
                      </a:r>
                      <a:endParaRPr lang="zh-CN" altLang="en-US" sz="2006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0f6f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0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0f6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 rot="0">
            <a:off x="914400" y="241300"/>
            <a:ext cx="7645400" cy="2273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5067300" algn="l"/>
              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Polynomial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Regression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5067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𝟎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𝟐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𝟐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5067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𝟎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𝟐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𝟐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𝟑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𝟑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28600" y="3810000"/>
            <a:ext cx="50292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now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converted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three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features!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95300" y="5130800"/>
            <a:ext cx="1346200" cy="889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200"/>
              </a:lnSpc>
              <a:tabLst>
                <a:tab pos="635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46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6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1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𝑠𝑖𝑧𝑒</a:t>
            </a:r>
          </a:p>
          <a:p>
            <a:pPr>
              <a:lnSpc>
                <a:spcPts val="24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46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6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𝑠𝑖𝑧𝑒</a:t>
            </a:r>
            <a:r>
              <a:rPr lang="en-US" altLang="zh-CN" sz="146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46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2</a:t>
            </a:r>
          </a:p>
          <a:p>
            <a:pPr>
              <a:lnSpc>
                <a:spcPts val="2400"/>
              </a:lnSpc>
              <a:tabLst>
                <a:tab pos="63500" algn="l"/>
              </a:tabLst>
            </a:pP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46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6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3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𝑠𝑖𝑧𝑒</a:t>
            </a:r>
            <a:r>
              <a:rPr lang="en-US" altLang="zh-CN" sz="1464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464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133600" y="5422900"/>
            <a:ext cx="6477000" cy="1333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6108700" algn="l"/>
              </a:tabLst>
            </a:pP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Note: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scaling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becomes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much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important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now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(as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you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are</a:t>
            </a:r>
          </a:p>
          <a:p>
            <a:pPr>
              <a:lnSpc>
                <a:spcPts val="2100"/>
              </a:lnSpc>
              <a:tabLst>
                <a:tab pos="6108700" algn="l"/>
              </a:tabLst>
            </a:pP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taking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powers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original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value,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making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them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much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much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bigger)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500"/>
              </a:lnSpc>
              <a:tabLst>
                <a:tab pos="6108700" algn="l"/>
              </a:tabLst>
            </a:pPr>
            <a:r>
              <a:rPr lang="en-US" altLang="zh-CN" dirty="0" smtClean="0"/>
              <a:t>	</a:t>
            </a: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653796" y="6286830"/>
            <a:ext cx="7199376" cy="10667"/>
          </a:xfrm>
          <a:custGeom>
            <a:avLst/>
            <a:gdLst>
              <a:gd name="connsiteX0" fmla="*/ 0 w 7199376"/>
              <a:gd name="connsiteY0" fmla="*/ 0 h 10667"/>
              <a:gd name="connsiteX1" fmla="*/ 1799844 w 7199376"/>
              <a:gd name="connsiteY1" fmla="*/ 0 h 10667"/>
              <a:gd name="connsiteX2" fmla="*/ 3599687 w 7199376"/>
              <a:gd name="connsiteY2" fmla="*/ 0 h 10667"/>
              <a:gd name="connsiteX3" fmla="*/ 5399532 w 7199376"/>
              <a:gd name="connsiteY3" fmla="*/ 0 h 10667"/>
              <a:gd name="connsiteX4" fmla="*/ 7199376 w 7199376"/>
              <a:gd name="connsiteY4" fmla="*/ 0 h 10667"/>
              <a:gd name="connsiteX5" fmla="*/ 7199376 w 7199376"/>
              <a:gd name="connsiteY5" fmla="*/ 10667 h 10667"/>
              <a:gd name="connsiteX6" fmla="*/ 5399532 w 7199376"/>
              <a:gd name="connsiteY6" fmla="*/ 10667 h 10667"/>
              <a:gd name="connsiteX7" fmla="*/ 3599687 w 7199376"/>
              <a:gd name="connsiteY7" fmla="*/ 10667 h 10667"/>
              <a:gd name="connsiteX8" fmla="*/ 1799844 w 7199376"/>
              <a:gd name="connsiteY8" fmla="*/ 10667 h 10667"/>
              <a:gd name="connsiteX9" fmla="*/ 0 w 7199376"/>
              <a:gd name="connsiteY9" fmla="*/ 10667 h 10667"/>
              <a:gd name="connsiteX10" fmla="*/ 0 w 7199376"/>
              <a:gd name="connsiteY10" fmla="*/ 0 h 1066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199376" h="10667">
                <a:moveTo>
                  <a:pt x="0" y="0"/>
                </a:moveTo>
                <a:lnTo>
                  <a:pt x="1799844" y="0"/>
                </a:lnTo>
                <a:lnTo>
                  <a:pt x="3599687" y="0"/>
                </a:lnTo>
                <a:lnTo>
                  <a:pt x="5399532" y="0"/>
                </a:lnTo>
                <a:lnTo>
                  <a:pt x="7199376" y="0"/>
                </a:lnTo>
                <a:lnTo>
                  <a:pt x="7199376" y="10667"/>
                </a:lnTo>
                <a:lnTo>
                  <a:pt x="5399532" y="10667"/>
                </a:lnTo>
                <a:lnTo>
                  <a:pt x="3599687" y="10667"/>
                </a:lnTo>
                <a:lnTo>
                  <a:pt x="1799844" y="10667"/>
                </a:lnTo>
                <a:lnTo>
                  <a:pt x="0" y="10667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1041400"/>
            <a:ext cx="7912100" cy="4533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914400" y="190500"/>
            <a:ext cx="69088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							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Error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Surfaces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are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Still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Planes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242300" y="6591300"/>
            <a:ext cx="635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9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03200" y="6159500"/>
            <a:ext cx="7645400" cy="152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  <a:tabLst>
							</a:tabLst>
            </a:pPr>
            <a:r>
              <a:rPr lang="en-US" altLang="zh-CN" sz="12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http://mezeylab.cb.bscb.cornell.edu/labmembers/documents/supplement%205%20-%20multiple%20regression.pdf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048" y="6400799"/>
            <a:ext cx="9140952" cy="444500"/>
          </a:xfrm>
          <a:custGeom>
            <a:avLst/>
            <a:gdLst>
              <a:gd name="connsiteX0" fmla="*/ 0 w 9140952"/>
              <a:gd name="connsiteY0" fmla="*/ 0 h 444500"/>
              <a:gd name="connsiteX1" fmla="*/ 9140952 w 9140952"/>
              <a:gd name="connsiteY1" fmla="*/ 0 h 444500"/>
              <a:gd name="connsiteX2" fmla="*/ 9140952 w 9140952"/>
              <a:gd name="connsiteY2" fmla="*/ 444500 h 444500"/>
              <a:gd name="connsiteX3" fmla="*/ 0 w 9140952"/>
              <a:gd name="connsiteY3" fmla="*/ 444500 h 444500"/>
              <a:gd name="connsiteX4" fmla="*/ 0 w 9140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0952" h="444500">
                <a:moveTo>
                  <a:pt x="0" y="0"/>
                </a:moveTo>
                <a:lnTo>
                  <a:pt x="9140952" y="0"/>
                </a:lnTo>
                <a:lnTo>
                  <a:pt x="9140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98906" y="4337050"/>
            <a:ext cx="7419341" cy="19050"/>
          </a:xfrm>
          <a:custGeom>
            <a:avLst/>
            <a:gdLst>
              <a:gd name="connsiteX0" fmla="*/ 6350 w 7419341"/>
              <a:gd name="connsiteY0" fmla="*/ 6350 h 19050"/>
              <a:gd name="connsiteX1" fmla="*/ 7412991 w 7419341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19341" h="19050">
                <a:moveTo>
                  <a:pt x="6350" y="6350"/>
                </a:moveTo>
                <a:lnTo>
                  <a:pt x="7412991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2273300"/>
            <a:ext cx="7035800" cy="204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0"/>
              </a:lnSpc>
              <a:tabLst>
							</a:tabLst>
            </a:pPr>
            <a:r>
              <a:rPr lang="en-US" altLang="zh-CN" sz="8006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8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8006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8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8006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Variance</a:t>
            </a:r>
          </a:p>
          <a:p>
            <a:pPr>
              <a:lnSpc>
                <a:spcPts val="8100"/>
              </a:lnSpc>
              <a:tabLst>
							</a:tabLst>
            </a:pPr>
            <a:r>
              <a:rPr lang="en-US" altLang="zh-CN" sz="8004" dirty="0" smtClean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Tradeoff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152400" y="203200"/>
            <a:ext cx="55753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7620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The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Fitting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Problem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7620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good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idea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always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look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0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error?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66700" y="4089400"/>
            <a:ext cx="127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7340600" y="1054100"/>
            <a:ext cx="1244600" cy="571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2700"/>
              </a:lnSpc>
              <a:tabLst>
							</a:tabLst>
            </a:pP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003800" y="4140200"/>
            <a:ext cx="127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93700" y="1816100"/>
            <a:ext cx="3162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data?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105400" y="1841500"/>
            <a:ext cx="3162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data?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20700" y="4711700"/>
            <a:ext cx="3416300" cy="151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574800" algn="l"/>
                <a:tab pos="1625600" algn="l"/>
                <a:tab pos="17018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Some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2100"/>
              </a:lnSpc>
              <a:tabLst>
                <a:tab pos="1574800" algn="l"/>
                <a:tab pos="1625600" algn="l"/>
                <a:tab pos="17018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Some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100"/>
              </a:lnSpc>
              <a:tabLst>
                <a:tab pos="1574800" algn="l"/>
                <a:tab pos="1625600" algn="l"/>
                <a:tab pos="17018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1574800" algn="l"/>
                <a:tab pos="1625600" algn="l"/>
                <a:tab pos="1701800" algn="l"/>
              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data?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219700" y="4826000"/>
            <a:ext cx="3441700" cy="1943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752600" algn="l"/>
                <a:tab pos="1790700" algn="l"/>
                <a:tab pos="1892300" algn="l"/>
                <a:tab pos="2959100" algn="l"/>
              </a:tabLst>
            </a:pPr>
            <a:r>
              <a:rPr lang="en-US" altLang="zh-CN" dirty="0" smtClean="0"/>
              <a:t>			</a:t>
            </a:r>
            <a:r>
              <a:rPr lang="en-US" altLang="zh-CN" sz="1802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0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2100"/>
              </a:lnSpc>
              <a:tabLst>
                <a:tab pos="1752600" algn="l"/>
                <a:tab pos="1790700" algn="l"/>
                <a:tab pos="1892300" algn="l"/>
                <a:tab pos="29591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1752600" algn="l"/>
                <a:tab pos="1790700" algn="l"/>
                <a:tab pos="1892300" algn="l"/>
                <a:tab pos="2959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752600" algn="l"/>
                <a:tab pos="1790700" algn="l"/>
                <a:tab pos="1892300" algn="l"/>
                <a:tab pos="2959100" algn="l"/>
              </a:tabLst>
            </a:pP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MSE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000"/>
              </a:lnSpc>
              <a:tabLst>
                <a:tab pos="1752600" algn="l"/>
                <a:tab pos="1790700" algn="l"/>
                <a:tab pos="1892300" algn="l"/>
                <a:tab pos="2959100" algn="l"/>
              </a:tabLst>
            </a:pPr>
            <a:r>
              <a:rPr lang="en-US" altLang="zh-CN" dirty="0" smtClean="0"/>
              <a:t>				</a:t>
            </a: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357374" y="2695702"/>
            <a:ext cx="367792" cy="434847"/>
          </a:xfrm>
          <a:custGeom>
            <a:avLst/>
            <a:gdLst>
              <a:gd name="connsiteX0" fmla="*/ 6350 w 367792"/>
              <a:gd name="connsiteY0" fmla="*/ 428497 h 434847"/>
              <a:gd name="connsiteX1" fmla="*/ 361442 w 367792"/>
              <a:gd name="connsiteY1" fmla="*/ 428497 h 434847"/>
              <a:gd name="connsiteX2" fmla="*/ 361442 w 367792"/>
              <a:gd name="connsiteY2" fmla="*/ 6350 h 434847"/>
              <a:gd name="connsiteX3" fmla="*/ 6350 w 367792"/>
              <a:gd name="connsiteY3" fmla="*/ 6350 h 434847"/>
              <a:gd name="connsiteX4" fmla="*/ 6350 w 367792"/>
              <a:gd name="connsiteY4" fmla="*/ 428497 h 43484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67792" h="434847">
                <a:moveTo>
                  <a:pt x="6350" y="428497"/>
                </a:moveTo>
                <a:lnTo>
                  <a:pt x="361442" y="428497"/>
                </a:lnTo>
                <a:lnTo>
                  <a:pt x="361442" y="6350"/>
                </a:lnTo>
                <a:lnTo>
                  <a:pt x="6350" y="6350"/>
                </a:lnTo>
                <a:lnTo>
                  <a:pt x="6350" y="428497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974338" y="4074921"/>
            <a:ext cx="1044447" cy="434848"/>
          </a:xfrm>
          <a:custGeom>
            <a:avLst/>
            <a:gdLst>
              <a:gd name="connsiteX0" fmla="*/ 6350 w 1044447"/>
              <a:gd name="connsiteY0" fmla="*/ 428498 h 434848"/>
              <a:gd name="connsiteX1" fmla="*/ 1038097 w 1044447"/>
              <a:gd name="connsiteY1" fmla="*/ 428498 h 434848"/>
              <a:gd name="connsiteX2" fmla="*/ 1038097 w 1044447"/>
              <a:gd name="connsiteY2" fmla="*/ 6350 h 434848"/>
              <a:gd name="connsiteX3" fmla="*/ 6350 w 1044447"/>
              <a:gd name="connsiteY3" fmla="*/ 6350 h 434848"/>
              <a:gd name="connsiteX4" fmla="*/ 6350 w 1044447"/>
              <a:gd name="connsiteY4" fmla="*/ 428498 h 43484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044447" h="434848">
                <a:moveTo>
                  <a:pt x="6350" y="428498"/>
                </a:moveTo>
                <a:lnTo>
                  <a:pt x="1038097" y="428498"/>
                </a:lnTo>
                <a:lnTo>
                  <a:pt x="1038097" y="6350"/>
                </a:lnTo>
                <a:lnTo>
                  <a:pt x="6350" y="6350"/>
                </a:lnTo>
                <a:lnTo>
                  <a:pt x="6350" y="42849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502152" y="2650236"/>
            <a:ext cx="176783" cy="176783"/>
          </a:xfrm>
          <a:custGeom>
            <a:avLst/>
            <a:gdLst>
              <a:gd name="connsiteX0" fmla="*/ 0 w 176783"/>
              <a:gd name="connsiteY0" fmla="*/ 88391 h 176783"/>
              <a:gd name="connsiteX1" fmla="*/ 88391 w 176783"/>
              <a:gd name="connsiteY1" fmla="*/ 0 h 176783"/>
              <a:gd name="connsiteX2" fmla="*/ 176783 w 176783"/>
              <a:gd name="connsiteY2" fmla="*/ 88391 h 176783"/>
              <a:gd name="connsiteX3" fmla="*/ 88391 w 176783"/>
              <a:gd name="connsiteY3" fmla="*/ 176783 h 176783"/>
              <a:gd name="connsiteX4" fmla="*/ 0 w 176783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1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59" y="0"/>
                  <a:pt x="176783" y="39623"/>
                  <a:pt x="176783" y="88391"/>
                </a:cubicBezTo>
                <a:cubicBezTo>
                  <a:pt x="176783" y="137159"/>
                  <a:pt x="137159" y="176783"/>
                  <a:pt x="88391" y="176783"/>
                </a:cubicBezTo>
                <a:cubicBezTo>
                  <a:pt x="39623" y="176783"/>
                  <a:pt x="0" y="137159"/>
                  <a:pt x="0" y="88391"/>
                </a:cubicBez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247644" y="3828288"/>
            <a:ext cx="178308" cy="176783"/>
          </a:xfrm>
          <a:custGeom>
            <a:avLst/>
            <a:gdLst>
              <a:gd name="connsiteX0" fmla="*/ 0 w 178308"/>
              <a:gd name="connsiteY0" fmla="*/ 88391 h 176783"/>
              <a:gd name="connsiteX1" fmla="*/ 89154 w 178308"/>
              <a:gd name="connsiteY1" fmla="*/ 0 h 176783"/>
              <a:gd name="connsiteX2" fmla="*/ 178308 w 178308"/>
              <a:gd name="connsiteY2" fmla="*/ 88391 h 176783"/>
              <a:gd name="connsiteX3" fmla="*/ 89154 w 178308"/>
              <a:gd name="connsiteY3" fmla="*/ 176783 h 176783"/>
              <a:gd name="connsiteX4" fmla="*/ 0 w 178308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8308" h="176783">
                <a:moveTo>
                  <a:pt x="0" y="88391"/>
                </a:moveTo>
                <a:cubicBezTo>
                  <a:pt x="0" y="39623"/>
                  <a:pt x="39877" y="0"/>
                  <a:pt x="89154" y="0"/>
                </a:cubicBezTo>
                <a:cubicBezTo>
                  <a:pt x="138429" y="0"/>
                  <a:pt x="178308" y="39623"/>
                  <a:pt x="178308" y="88391"/>
                </a:cubicBezTo>
                <a:cubicBezTo>
                  <a:pt x="178308" y="137159"/>
                  <a:pt x="138429" y="176783"/>
                  <a:pt x="89154" y="176783"/>
                </a:cubicBezTo>
                <a:cubicBezTo>
                  <a:pt x="39877" y="176783"/>
                  <a:pt x="0" y="137159"/>
                  <a:pt x="0" y="88391"/>
                </a:cubicBez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317748" y="1149096"/>
            <a:ext cx="590803" cy="2877184"/>
          </a:xfrm>
          <a:custGeom>
            <a:avLst/>
            <a:gdLst>
              <a:gd name="connsiteX0" fmla="*/ 571753 w 590803"/>
              <a:gd name="connsiteY0" fmla="*/ 19050 h 2877184"/>
              <a:gd name="connsiteX1" fmla="*/ 19050 w 590803"/>
              <a:gd name="connsiteY1" fmla="*/ 2858134 h 28771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90803" h="2877184">
                <a:moveTo>
                  <a:pt x="571753" y="19050"/>
                </a:moveTo>
                <a:lnTo>
                  <a:pt x="19050" y="2858134"/>
                </a:lnTo>
              </a:path>
            </a:pathLst>
          </a:custGeom>
          <a:ln w="38100">
            <a:solidFill>
              <a:srgbClr val="ff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915156" y="3238500"/>
            <a:ext cx="176784" cy="178308"/>
          </a:xfrm>
          <a:custGeom>
            <a:avLst/>
            <a:gdLst>
              <a:gd name="connsiteX0" fmla="*/ 0 w 176784"/>
              <a:gd name="connsiteY0" fmla="*/ 89154 h 178308"/>
              <a:gd name="connsiteX1" fmla="*/ 88392 w 176784"/>
              <a:gd name="connsiteY1" fmla="*/ 0 h 178308"/>
              <a:gd name="connsiteX2" fmla="*/ 176784 w 176784"/>
              <a:gd name="connsiteY2" fmla="*/ 89154 h 178308"/>
              <a:gd name="connsiteX3" fmla="*/ 88392 w 176784"/>
              <a:gd name="connsiteY3" fmla="*/ 178308 h 178308"/>
              <a:gd name="connsiteX4" fmla="*/ 0 w 176784"/>
              <a:gd name="connsiteY4" fmla="*/ 89154 h 1783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4" h="178308">
                <a:moveTo>
                  <a:pt x="0" y="89154"/>
                </a:moveTo>
                <a:cubicBezTo>
                  <a:pt x="0" y="39878"/>
                  <a:pt x="39623" y="0"/>
                  <a:pt x="88392" y="0"/>
                </a:cubicBezTo>
                <a:cubicBezTo>
                  <a:pt x="137159" y="0"/>
                  <a:pt x="176784" y="39878"/>
                  <a:pt x="176784" y="89154"/>
                </a:cubicBezTo>
                <a:cubicBezTo>
                  <a:pt x="176784" y="138429"/>
                  <a:pt x="137159" y="178308"/>
                  <a:pt x="88392" y="178308"/>
                </a:cubicBezTo>
                <a:cubicBezTo>
                  <a:pt x="39623" y="178308"/>
                  <a:pt x="0" y="138429"/>
                  <a:pt x="0" y="89154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168140" y="2060447"/>
            <a:ext cx="176783" cy="176784"/>
          </a:xfrm>
          <a:custGeom>
            <a:avLst/>
            <a:gdLst>
              <a:gd name="connsiteX0" fmla="*/ 0 w 176783"/>
              <a:gd name="connsiteY0" fmla="*/ 88392 h 176784"/>
              <a:gd name="connsiteX1" fmla="*/ 88391 w 176783"/>
              <a:gd name="connsiteY1" fmla="*/ 0 h 176784"/>
              <a:gd name="connsiteX2" fmla="*/ 176783 w 176783"/>
              <a:gd name="connsiteY2" fmla="*/ 88392 h 176784"/>
              <a:gd name="connsiteX3" fmla="*/ 88391 w 176783"/>
              <a:gd name="connsiteY3" fmla="*/ 176784 h 176784"/>
              <a:gd name="connsiteX4" fmla="*/ 0 w 176783"/>
              <a:gd name="connsiteY4" fmla="*/ 88392 h 1767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4">
                <a:moveTo>
                  <a:pt x="0" y="88392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59" y="0"/>
                  <a:pt x="176783" y="39623"/>
                  <a:pt x="176783" y="88392"/>
                </a:cubicBezTo>
                <a:cubicBezTo>
                  <a:pt x="176783" y="137160"/>
                  <a:pt x="137159" y="176784"/>
                  <a:pt x="88391" y="176784"/>
                </a:cubicBezTo>
                <a:cubicBezTo>
                  <a:pt x="39623" y="176784"/>
                  <a:pt x="0" y="137160"/>
                  <a:pt x="0" y="88392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835652" y="1470659"/>
            <a:ext cx="176783" cy="176784"/>
          </a:xfrm>
          <a:custGeom>
            <a:avLst/>
            <a:gdLst>
              <a:gd name="connsiteX0" fmla="*/ 0 w 176783"/>
              <a:gd name="connsiteY0" fmla="*/ 88391 h 176784"/>
              <a:gd name="connsiteX1" fmla="*/ 88391 w 176783"/>
              <a:gd name="connsiteY1" fmla="*/ 0 h 176784"/>
              <a:gd name="connsiteX2" fmla="*/ 176783 w 176783"/>
              <a:gd name="connsiteY2" fmla="*/ 88391 h 176784"/>
              <a:gd name="connsiteX3" fmla="*/ 88391 w 176783"/>
              <a:gd name="connsiteY3" fmla="*/ 176784 h 176784"/>
              <a:gd name="connsiteX4" fmla="*/ 0 w 176783"/>
              <a:gd name="connsiteY4" fmla="*/ 88391 h 1767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4">
                <a:moveTo>
                  <a:pt x="0" y="88391"/>
                </a:moveTo>
                <a:cubicBezTo>
                  <a:pt x="0" y="39624"/>
                  <a:pt x="39623" y="0"/>
                  <a:pt x="88391" y="0"/>
                </a:cubicBezTo>
                <a:cubicBezTo>
                  <a:pt x="137159" y="0"/>
                  <a:pt x="176783" y="39624"/>
                  <a:pt x="176783" y="88391"/>
                </a:cubicBezTo>
                <a:cubicBezTo>
                  <a:pt x="176783" y="137160"/>
                  <a:pt x="137159" y="176784"/>
                  <a:pt x="88391" y="176784"/>
                </a:cubicBezTo>
                <a:cubicBezTo>
                  <a:pt x="39623" y="176784"/>
                  <a:pt x="0" y="137160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581144" y="2650236"/>
            <a:ext cx="178308" cy="176783"/>
          </a:xfrm>
          <a:custGeom>
            <a:avLst/>
            <a:gdLst>
              <a:gd name="connsiteX0" fmla="*/ 0 w 178308"/>
              <a:gd name="connsiteY0" fmla="*/ 88391 h 176783"/>
              <a:gd name="connsiteX1" fmla="*/ 89154 w 178308"/>
              <a:gd name="connsiteY1" fmla="*/ 0 h 176783"/>
              <a:gd name="connsiteX2" fmla="*/ 178308 w 178308"/>
              <a:gd name="connsiteY2" fmla="*/ 88391 h 176783"/>
              <a:gd name="connsiteX3" fmla="*/ 89154 w 178308"/>
              <a:gd name="connsiteY3" fmla="*/ 176783 h 176783"/>
              <a:gd name="connsiteX4" fmla="*/ 0 w 178308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8308" h="176783">
                <a:moveTo>
                  <a:pt x="0" y="88391"/>
                </a:moveTo>
                <a:cubicBezTo>
                  <a:pt x="0" y="39623"/>
                  <a:pt x="39877" y="0"/>
                  <a:pt x="89154" y="0"/>
                </a:cubicBezTo>
                <a:cubicBezTo>
                  <a:pt x="138429" y="0"/>
                  <a:pt x="178308" y="39623"/>
                  <a:pt x="178308" y="88391"/>
                </a:cubicBezTo>
                <a:cubicBezTo>
                  <a:pt x="178308" y="137159"/>
                  <a:pt x="138429" y="176783"/>
                  <a:pt x="89154" y="176783"/>
                </a:cubicBezTo>
                <a:cubicBezTo>
                  <a:pt x="39877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248656" y="2060447"/>
            <a:ext cx="176784" cy="176784"/>
          </a:xfrm>
          <a:custGeom>
            <a:avLst/>
            <a:gdLst>
              <a:gd name="connsiteX0" fmla="*/ 0 w 176784"/>
              <a:gd name="connsiteY0" fmla="*/ 88392 h 176784"/>
              <a:gd name="connsiteX1" fmla="*/ 88392 w 176784"/>
              <a:gd name="connsiteY1" fmla="*/ 0 h 176784"/>
              <a:gd name="connsiteX2" fmla="*/ 176784 w 176784"/>
              <a:gd name="connsiteY2" fmla="*/ 88392 h 176784"/>
              <a:gd name="connsiteX3" fmla="*/ 88392 w 176784"/>
              <a:gd name="connsiteY3" fmla="*/ 176784 h 176784"/>
              <a:gd name="connsiteX4" fmla="*/ 0 w 176784"/>
              <a:gd name="connsiteY4" fmla="*/ 88392 h 1767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4" h="176784">
                <a:moveTo>
                  <a:pt x="0" y="88392"/>
                </a:moveTo>
                <a:cubicBezTo>
                  <a:pt x="0" y="39623"/>
                  <a:pt x="39623" y="0"/>
                  <a:pt x="88392" y="0"/>
                </a:cubicBezTo>
                <a:cubicBezTo>
                  <a:pt x="137159" y="0"/>
                  <a:pt x="176784" y="39623"/>
                  <a:pt x="176784" y="88392"/>
                </a:cubicBezTo>
                <a:cubicBezTo>
                  <a:pt x="176784" y="137160"/>
                  <a:pt x="137159" y="176784"/>
                  <a:pt x="88392" y="176784"/>
                </a:cubicBezTo>
                <a:cubicBezTo>
                  <a:pt x="39623" y="176784"/>
                  <a:pt x="0" y="137160"/>
                  <a:pt x="0" y="88392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834640" y="3238500"/>
            <a:ext cx="176784" cy="178308"/>
          </a:xfrm>
          <a:custGeom>
            <a:avLst/>
            <a:gdLst>
              <a:gd name="connsiteX0" fmla="*/ 0 w 176784"/>
              <a:gd name="connsiteY0" fmla="*/ 89154 h 178308"/>
              <a:gd name="connsiteX1" fmla="*/ 88392 w 176784"/>
              <a:gd name="connsiteY1" fmla="*/ 0 h 178308"/>
              <a:gd name="connsiteX2" fmla="*/ 176784 w 176784"/>
              <a:gd name="connsiteY2" fmla="*/ 89154 h 178308"/>
              <a:gd name="connsiteX3" fmla="*/ 88392 w 176784"/>
              <a:gd name="connsiteY3" fmla="*/ 178308 h 178308"/>
              <a:gd name="connsiteX4" fmla="*/ 0 w 176784"/>
              <a:gd name="connsiteY4" fmla="*/ 89154 h 1783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4" h="178308">
                <a:moveTo>
                  <a:pt x="0" y="89154"/>
                </a:moveTo>
                <a:cubicBezTo>
                  <a:pt x="0" y="39878"/>
                  <a:pt x="39624" y="0"/>
                  <a:pt x="88392" y="0"/>
                </a:cubicBezTo>
                <a:cubicBezTo>
                  <a:pt x="137160" y="0"/>
                  <a:pt x="176784" y="39878"/>
                  <a:pt x="176784" y="89154"/>
                </a:cubicBezTo>
                <a:cubicBezTo>
                  <a:pt x="176784" y="138429"/>
                  <a:pt x="137160" y="178308"/>
                  <a:pt x="88392" y="178308"/>
                </a:cubicBezTo>
                <a:cubicBezTo>
                  <a:pt x="39624" y="178308"/>
                  <a:pt x="0" y="138429"/>
                  <a:pt x="0" y="89154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160776" y="2935224"/>
            <a:ext cx="176783" cy="176783"/>
          </a:xfrm>
          <a:custGeom>
            <a:avLst/>
            <a:gdLst>
              <a:gd name="connsiteX0" fmla="*/ 0 w 176783"/>
              <a:gd name="connsiteY0" fmla="*/ 88391 h 176783"/>
              <a:gd name="connsiteX1" fmla="*/ 88391 w 176783"/>
              <a:gd name="connsiteY1" fmla="*/ 0 h 176783"/>
              <a:gd name="connsiteX2" fmla="*/ 176783 w 176783"/>
              <a:gd name="connsiteY2" fmla="*/ 88391 h 176783"/>
              <a:gd name="connsiteX3" fmla="*/ 88391 w 176783"/>
              <a:gd name="connsiteY3" fmla="*/ 176783 h 176783"/>
              <a:gd name="connsiteX4" fmla="*/ 0 w 176783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1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59" y="0"/>
                  <a:pt x="176783" y="39623"/>
                  <a:pt x="176783" y="88391"/>
                </a:cubicBezTo>
                <a:cubicBezTo>
                  <a:pt x="176783" y="137159"/>
                  <a:pt x="137159" y="176783"/>
                  <a:pt x="88391" y="176783"/>
                </a:cubicBezTo>
                <a:cubicBezTo>
                  <a:pt x="39623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826763" y="2345436"/>
            <a:ext cx="178308" cy="176783"/>
          </a:xfrm>
          <a:custGeom>
            <a:avLst/>
            <a:gdLst>
              <a:gd name="connsiteX0" fmla="*/ 0 w 178308"/>
              <a:gd name="connsiteY0" fmla="*/ 88391 h 176783"/>
              <a:gd name="connsiteX1" fmla="*/ 89154 w 178308"/>
              <a:gd name="connsiteY1" fmla="*/ 0 h 176783"/>
              <a:gd name="connsiteX2" fmla="*/ 178308 w 178308"/>
              <a:gd name="connsiteY2" fmla="*/ 88391 h 176783"/>
              <a:gd name="connsiteX3" fmla="*/ 89154 w 178308"/>
              <a:gd name="connsiteY3" fmla="*/ 176783 h 176783"/>
              <a:gd name="connsiteX4" fmla="*/ 0 w 178308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8308" h="176783">
                <a:moveTo>
                  <a:pt x="0" y="88391"/>
                </a:moveTo>
                <a:cubicBezTo>
                  <a:pt x="0" y="39623"/>
                  <a:pt x="39878" y="0"/>
                  <a:pt x="89154" y="0"/>
                </a:cubicBezTo>
                <a:cubicBezTo>
                  <a:pt x="138430" y="0"/>
                  <a:pt x="178308" y="39623"/>
                  <a:pt x="178308" y="88391"/>
                </a:cubicBezTo>
                <a:cubicBezTo>
                  <a:pt x="178308" y="137159"/>
                  <a:pt x="138430" y="176783"/>
                  <a:pt x="89154" y="176783"/>
                </a:cubicBezTo>
                <a:cubicBezTo>
                  <a:pt x="39878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494275" y="1755647"/>
            <a:ext cx="176784" cy="178308"/>
          </a:xfrm>
          <a:custGeom>
            <a:avLst/>
            <a:gdLst>
              <a:gd name="connsiteX0" fmla="*/ 0 w 176784"/>
              <a:gd name="connsiteY0" fmla="*/ 89153 h 178308"/>
              <a:gd name="connsiteX1" fmla="*/ 88392 w 176784"/>
              <a:gd name="connsiteY1" fmla="*/ 0 h 178308"/>
              <a:gd name="connsiteX2" fmla="*/ 176784 w 176784"/>
              <a:gd name="connsiteY2" fmla="*/ 89153 h 178308"/>
              <a:gd name="connsiteX3" fmla="*/ 88392 w 176784"/>
              <a:gd name="connsiteY3" fmla="*/ 178308 h 178308"/>
              <a:gd name="connsiteX4" fmla="*/ 0 w 176784"/>
              <a:gd name="connsiteY4" fmla="*/ 89153 h 1783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4" h="178308">
                <a:moveTo>
                  <a:pt x="0" y="89153"/>
                </a:moveTo>
                <a:cubicBezTo>
                  <a:pt x="0" y="39878"/>
                  <a:pt x="39624" y="0"/>
                  <a:pt x="88392" y="0"/>
                </a:cubicBezTo>
                <a:cubicBezTo>
                  <a:pt x="137160" y="0"/>
                  <a:pt x="176784" y="39878"/>
                  <a:pt x="176784" y="89153"/>
                </a:cubicBezTo>
                <a:cubicBezTo>
                  <a:pt x="176784" y="138430"/>
                  <a:pt x="137160" y="178308"/>
                  <a:pt x="88392" y="178308"/>
                </a:cubicBezTo>
                <a:cubicBezTo>
                  <a:pt x="39624" y="178308"/>
                  <a:pt x="0" y="138430"/>
                  <a:pt x="0" y="89153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160263" y="1167384"/>
            <a:ext cx="178308" cy="176783"/>
          </a:xfrm>
          <a:custGeom>
            <a:avLst/>
            <a:gdLst>
              <a:gd name="connsiteX0" fmla="*/ 0 w 178308"/>
              <a:gd name="connsiteY0" fmla="*/ 88391 h 176783"/>
              <a:gd name="connsiteX1" fmla="*/ 89154 w 178308"/>
              <a:gd name="connsiteY1" fmla="*/ 0 h 176783"/>
              <a:gd name="connsiteX2" fmla="*/ 178308 w 178308"/>
              <a:gd name="connsiteY2" fmla="*/ 88391 h 176783"/>
              <a:gd name="connsiteX3" fmla="*/ 89154 w 178308"/>
              <a:gd name="connsiteY3" fmla="*/ 176783 h 176783"/>
              <a:gd name="connsiteX4" fmla="*/ 0 w 178308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8308" h="176783">
                <a:moveTo>
                  <a:pt x="0" y="88391"/>
                </a:moveTo>
                <a:cubicBezTo>
                  <a:pt x="0" y="39623"/>
                  <a:pt x="39878" y="0"/>
                  <a:pt x="89154" y="0"/>
                </a:cubicBezTo>
                <a:cubicBezTo>
                  <a:pt x="138430" y="0"/>
                  <a:pt x="178308" y="39623"/>
                  <a:pt x="178308" y="88391"/>
                </a:cubicBezTo>
                <a:cubicBezTo>
                  <a:pt x="178308" y="137159"/>
                  <a:pt x="138430" y="176783"/>
                  <a:pt x="89154" y="176783"/>
                </a:cubicBezTo>
                <a:cubicBezTo>
                  <a:pt x="39878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573780" y="3525012"/>
            <a:ext cx="176783" cy="176783"/>
          </a:xfrm>
          <a:custGeom>
            <a:avLst/>
            <a:gdLst>
              <a:gd name="connsiteX0" fmla="*/ 0 w 176783"/>
              <a:gd name="connsiteY0" fmla="*/ 88392 h 176783"/>
              <a:gd name="connsiteX1" fmla="*/ 88391 w 176783"/>
              <a:gd name="connsiteY1" fmla="*/ 0 h 176783"/>
              <a:gd name="connsiteX2" fmla="*/ 176783 w 176783"/>
              <a:gd name="connsiteY2" fmla="*/ 88392 h 176783"/>
              <a:gd name="connsiteX3" fmla="*/ 88391 w 176783"/>
              <a:gd name="connsiteY3" fmla="*/ 176783 h 176783"/>
              <a:gd name="connsiteX4" fmla="*/ 0 w 176783"/>
              <a:gd name="connsiteY4" fmla="*/ 88392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2"/>
                </a:moveTo>
                <a:cubicBezTo>
                  <a:pt x="0" y="39624"/>
                  <a:pt x="39623" y="0"/>
                  <a:pt x="88391" y="0"/>
                </a:cubicBezTo>
                <a:cubicBezTo>
                  <a:pt x="137160" y="0"/>
                  <a:pt x="176783" y="39624"/>
                  <a:pt x="176783" y="88392"/>
                </a:cubicBezTo>
                <a:cubicBezTo>
                  <a:pt x="176783" y="137159"/>
                  <a:pt x="137160" y="176783"/>
                  <a:pt x="88391" y="176783"/>
                </a:cubicBezTo>
                <a:cubicBezTo>
                  <a:pt x="39623" y="176783"/>
                  <a:pt x="0" y="137159"/>
                  <a:pt x="0" y="88392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241292" y="2935224"/>
            <a:ext cx="176783" cy="176783"/>
          </a:xfrm>
          <a:custGeom>
            <a:avLst/>
            <a:gdLst>
              <a:gd name="connsiteX0" fmla="*/ 0 w 176783"/>
              <a:gd name="connsiteY0" fmla="*/ 88391 h 176783"/>
              <a:gd name="connsiteX1" fmla="*/ 88391 w 176783"/>
              <a:gd name="connsiteY1" fmla="*/ 0 h 176783"/>
              <a:gd name="connsiteX2" fmla="*/ 176783 w 176783"/>
              <a:gd name="connsiteY2" fmla="*/ 88391 h 176783"/>
              <a:gd name="connsiteX3" fmla="*/ 88391 w 176783"/>
              <a:gd name="connsiteY3" fmla="*/ 176783 h 176783"/>
              <a:gd name="connsiteX4" fmla="*/ 0 w 176783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1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60" y="0"/>
                  <a:pt x="176783" y="39623"/>
                  <a:pt x="176783" y="88391"/>
                </a:cubicBezTo>
                <a:cubicBezTo>
                  <a:pt x="176783" y="137159"/>
                  <a:pt x="137160" y="176783"/>
                  <a:pt x="88391" y="176783"/>
                </a:cubicBezTo>
                <a:cubicBezTo>
                  <a:pt x="39623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907280" y="2345436"/>
            <a:ext cx="176783" cy="176783"/>
          </a:xfrm>
          <a:custGeom>
            <a:avLst/>
            <a:gdLst>
              <a:gd name="connsiteX0" fmla="*/ 0 w 176783"/>
              <a:gd name="connsiteY0" fmla="*/ 88391 h 176783"/>
              <a:gd name="connsiteX1" fmla="*/ 88391 w 176783"/>
              <a:gd name="connsiteY1" fmla="*/ 0 h 176783"/>
              <a:gd name="connsiteX2" fmla="*/ 176783 w 176783"/>
              <a:gd name="connsiteY2" fmla="*/ 88391 h 176783"/>
              <a:gd name="connsiteX3" fmla="*/ 88391 w 176783"/>
              <a:gd name="connsiteY3" fmla="*/ 176783 h 176783"/>
              <a:gd name="connsiteX4" fmla="*/ 0 w 176783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1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60" y="0"/>
                  <a:pt x="176783" y="39623"/>
                  <a:pt x="176783" y="88391"/>
                </a:cubicBezTo>
                <a:cubicBezTo>
                  <a:pt x="176783" y="137159"/>
                  <a:pt x="137160" y="176783"/>
                  <a:pt x="88391" y="176783"/>
                </a:cubicBezTo>
                <a:cubicBezTo>
                  <a:pt x="39623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574792" y="1755647"/>
            <a:ext cx="176783" cy="178308"/>
          </a:xfrm>
          <a:custGeom>
            <a:avLst/>
            <a:gdLst>
              <a:gd name="connsiteX0" fmla="*/ 0 w 176783"/>
              <a:gd name="connsiteY0" fmla="*/ 89153 h 178308"/>
              <a:gd name="connsiteX1" fmla="*/ 88391 w 176783"/>
              <a:gd name="connsiteY1" fmla="*/ 0 h 178308"/>
              <a:gd name="connsiteX2" fmla="*/ 176783 w 176783"/>
              <a:gd name="connsiteY2" fmla="*/ 89153 h 178308"/>
              <a:gd name="connsiteX3" fmla="*/ 88391 w 176783"/>
              <a:gd name="connsiteY3" fmla="*/ 178308 h 178308"/>
              <a:gd name="connsiteX4" fmla="*/ 0 w 176783"/>
              <a:gd name="connsiteY4" fmla="*/ 89153 h 1783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8308">
                <a:moveTo>
                  <a:pt x="0" y="89153"/>
                </a:moveTo>
                <a:cubicBezTo>
                  <a:pt x="0" y="39878"/>
                  <a:pt x="39623" y="0"/>
                  <a:pt x="88391" y="0"/>
                </a:cubicBezTo>
                <a:cubicBezTo>
                  <a:pt x="137160" y="0"/>
                  <a:pt x="176783" y="39878"/>
                  <a:pt x="176783" y="89153"/>
                </a:cubicBezTo>
                <a:cubicBezTo>
                  <a:pt x="176783" y="138430"/>
                  <a:pt x="137160" y="178308"/>
                  <a:pt x="88391" y="178308"/>
                </a:cubicBezTo>
                <a:cubicBezTo>
                  <a:pt x="39623" y="178308"/>
                  <a:pt x="0" y="138430"/>
                  <a:pt x="0" y="89153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7092696" y="1053084"/>
            <a:ext cx="176783" cy="178307"/>
          </a:xfrm>
          <a:custGeom>
            <a:avLst/>
            <a:gdLst>
              <a:gd name="connsiteX0" fmla="*/ 0 w 176783"/>
              <a:gd name="connsiteY0" fmla="*/ 89153 h 178307"/>
              <a:gd name="connsiteX1" fmla="*/ 88391 w 176783"/>
              <a:gd name="connsiteY1" fmla="*/ 0 h 178307"/>
              <a:gd name="connsiteX2" fmla="*/ 176783 w 176783"/>
              <a:gd name="connsiteY2" fmla="*/ 89153 h 178307"/>
              <a:gd name="connsiteX3" fmla="*/ 88391 w 176783"/>
              <a:gd name="connsiteY3" fmla="*/ 178307 h 178307"/>
              <a:gd name="connsiteX4" fmla="*/ 0 w 176783"/>
              <a:gd name="connsiteY4" fmla="*/ 89153 h 17830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8307">
                <a:moveTo>
                  <a:pt x="0" y="89153"/>
                </a:moveTo>
                <a:cubicBezTo>
                  <a:pt x="0" y="39877"/>
                  <a:pt x="39623" y="0"/>
                  <a:pt x="88391" y="0"/>
                </a:cubicBezTo>
                <a:cubicBezTo>
                  <a:pt x="137159" y="0"/>
                  <a:pt x="176783" y="39877"/>
                  <a:pt x="176783" y="89153"/>
                </a:cubicBezTo>
                <a:cubicBezTo>
                  <a:pt x="176783" y="138429"/>
                  <a:pt x="137159" y="178307"/>
                  <a:pt x="88391" y="178307"/>
                </a:cubicBezTo>
                <a:cubicBezTo>
                  <a:pt x="39623" y="178307"/>
                  <a:pt x="0" y="138429"/>
                  <a:pt x="0" y="89153"/>
                </a:cubicBezTo>
              </a:path>
            </a:pathLst>
          </a:custGeom>
          <a:solidFill>
            <a:srgbClr val="00b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7092696" y="1403604"/>
            <a:ext cx="176783" cy="176783"/>
          </a:xfrm>
          <a:custGeom>
            <a:avLst/>
            <a:gdLst>
              <a:gd name="connsiteX0" fmla="*/ 0 w 176783"/>
              <a:gd name="connsiteY0" fmla="*/ 88391 h 176783"/>
              <a:gd name="connsiteX1" fmla="*/ 88391 w 176783"/>
              <a:gd name="connsiteY1" fmla="*/ 0 h 176783"/>
              <a:gd name="connsiteX2" fmla="*/ 176783 w 176783"/>
              <a:gd name="connsiteY2" fmla="*/ 88391 h 176783"/>
              <a:gd name="connsiteX3" fmla="*/ 88391 w 176783"/>
              <a:gd name="connsiteY3" fmla="*/ 176783 h 176783"/>
              <a:gd name="connsiteX4" fmla="*/ 0 w 176783"/>
              <a:gd name="connsiteY4" fmla="*/ 88391 h 1767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76783" h="176783">
                <a:moveTo>
                  <a:pt x="0" y="88391"/>
                </a:moveTo>
                <a:cubicBezTo>
                  <a:pt x="0" y="39623"/>
                  <a:pt x="39623" y="0"/>
                  <a:pt x="88391" y="0"/>
                </a:cubicBezTo>
                <a:cubicBezTo>
                  <a:pt x="137159" y="0"/>
                  <a:pt x="176783" y="39623"/>
                  <a:pt x="176783" y="88391"/>
                </a:cubicBezTo>
                <a:cubicBezTo>
                  <a:pt x="176783" y="137159"/>
                  <a:pt x="137159" y="176783"/>
                  <a:pt x="88391" y="176783"/>
                </a:cubicBezTo>
                <a:cubicBezTo>
                  <a:pt x="39623" y="176783"/>
                  <a:pt x="0" y="137159"/>
                  <a:pt x="0" y="88391"/>
                </a:cubicBezTo>
              </a:path>
            </a:pathLst>
          </a:custGeom>
          <a:solidFill>
            <a:srgbClr val="92d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535425" y="4507738"/>
            <a:ext cx="2013712" cy="383032"/>
          </a:xfrm>
          <a:custGeom>
            <a:avLst/>
            <a:gdLst>
              <a:gd name="connsiteX0" fmla="*/ 6350 w 2013712"/>
              <a:gd name="connsiteY0" fmla="*/ 376682 h 383032"/>
              <a:gd name="connsiteX1" fmla="*/ 2007362 w 2013712"/>
              <a:gd name="connsiteY1" fmla="*/ 376682 h 383032"/>
              <a:gd name="connsiteX2" fmla="*/ 2007362 w 2013712"/>
              <a:gd name="connsiteY2" fmla="*/ 6350 h 383032"/>
              <a:gd name="connsiteX3" fmla="*/ 6350 w 2013712"/>
              <a:gd name="connsiteY3" fmla="*/ 6350 h 383032"/>
              <a:gd name="connsiteX4" fmla="*/ 6350 w 2013712"/>
              <a:gd name="connsiteY4" fmla="*/ 376682 h 38303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013712" h="383032">
                <a:moveTo>
                  <a:pt x="6350" y="376682"/>
                </a:moveTo>
                <a:lnTo>
                  <a:pt x="2007362" y="376682"/>
                </a:lnTo>
                <a:lnTo>
                  <a:pt x="2007362" y="6350"/>
                </a:lnTo>
                <a:lnTo>
                  <a:pt x="6350" y="6350"/>
                </a:lnTo>
                <a:lnTo>
                  <a:pt x="6350" y="376682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043680" y="4604639"/>
            <a:ext cx="70484" cy="211708"/>
          </a:xfrm>
          <a:custGeom>
            <a:avLst/>
            <a:gdLst>
              <a:gd name="connsiteX0" fmla="*/ 3048 w 70484"/>
              <a:gd name="connsiteY0" fmla="*/ 0 h 211708"/>
              <a:gd name="connsiteX1" fmla="*/ 53085 w 70484"/>
              <a:gd name="connsiteY1" fmla="*/ 37083 h 211708"/>
              <a:gd name="connsiteX2" fmla="*/ 70484 w 70484"/>
              <a:gd name="connsiteY2" fmla="*/ 105917 h 211708"/>
              <a:gd name="connsiteX3" fmla="*/ 53085 w 70484"/>
              <a:gd name="connsiteY3" fmla="*/ 174751 h 211708"/>
              <a:gd name="connsiteX4" fmla="*/ 3048 w 70484"/>
              <a:gd name="connsiteY4" fmla="*/ 211708 h 211708"/>
              <a:gd name="connsiteX5" fmla="*/ 380 w 70484"/>
              <a:gd name="connsiteY5" fmla="*/ 203072 h 211708"/>
              <a:gd name="connsiteX6" fmla="*/ 38734 w 70484"/>
              <a:gd name="connsiteY6" fmla="*/ 169164 h 211708"/>
              <a:gd name="connsiteX7" fmla="*/ 51180 w 70484"/>
              <a:gd name="connsiteY7" fmla="*/ 104775 h 211708"/>
              <a:gd name="connsiteX8" fmla="*/ 38734 w 70484"/>
              <a:gd name="connsiteY8" fmla="*/ 42036 h 211708"/>
              <a:gd name="connsiteX9" fmla="*/ 0 w 70484"/>
              <a:gd name="connsiteY9" fmla="*/ 8508 h 211708"/>
              <a:gd name="connsiteX10" fmla="*/ 3048 w 70484"/>
              <a:gd name="connsiteY10" fmla="*/ 0 h 2117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0484" h="211708">
                <a:moveTo>
                  <a:pt x="3048" y="0"/>
                </a:moveTo>
                <a:cubicBezTo>
                  <a:pt x="24764" y="5715"/>
                  <a:pt x="41402" y="18033"/>
                  <a:pt x="53085" y="37083"/>
                </a:cubicBezTo>
                <a:cubicBezTo>
                  <a:pt x="64770" y="56133"/>
                  <a:pt x="70484" y="78994"/>
                  <a:pt x="70484" y="105917"/>
                </a:cubicBezTo>
                <a:cubicBezTo>
                  <a:pt x="70484" y="132841"/>
                  <a:pt x="64770" y="155701"/>
                  <a:pt x="53085" y="174751"/>
                </a:cubicBezTo>
                <a:cubicBezTo>
                  <a:pt x="41529" y="193675"/>
                  <a:pt x="24764" y="205994"/>
                  <a:pt x="3048" y="211708"/>
                </a:cubicBezTo>
                <a:lnTo>
                  <a:pt x="380" y="203072"/>
                </a:lnTo>
                <a:cubicBezTo>
                  <a:pt x="17526" y="197357"/>
                  <a:pt x="30353" y="186054"/>
                  <a:pt x="38734" y="169164"/>
                </a:cubicBezTo>
                <a:cubicBezTo>
                  <a:pt x="46990" y="152272"/>
                  <a:pt x="51180" y="130809"/>
                  <a:pt x="51180" y="104775"/>
                </a:cubicBezTo>
                <a:cubicBezTo>
                  <a:pt x="51180" y="79628"/>
                  <a:pt x="47117" y="58673"/>
                  <a:pt x="38734" y="42036"/>
                </a:cubicBezTo>
                <a:cubicBezTo>
                  <a:pt x="30353" y="25400"/>
                  <a:pt x="17526" y="14223"/>
                  <a:pt x="0" y="8508"/>
                </a:cubicBezTo>
                <a:lnTo>
                  <a:pt x="3048" y="0"/>
                </a:lnTo>
              </a:path>
            </a:pathLst>
          </a:custGeom>
          <a:solidFill>
            <a:srgbClr val="00b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832479" y="4604639"/>
            <a:ext cx="70484" cy="211708"/>
          </a:xfrm>
          <a:custGeom>
            <a:avLst/>
            <a:gdLst>
              <a:gd name="connsiteX0" fmla="*/ 67563 w 70484"/>
              <a:gd name="connsiteY0" fmla="*/ 0 h 211708"/>
              <a:gd name="connsiteX1" fmla="*/ 70484 w 70484"/>
              <a:gd name="connsiteY1" fmla="*/ 8508 h 211708"/>
              <a:gd name="connsiteX2" fmla="*/ 31876 w 70484"/>
              <a:gd name="connsiteY2" fmla="*/ 42036 h 211708"/>
              <a:gd name="connsiteX3" fmla="*/ 19303 w 70484"/>
              <a:gd name="connsiteY3" fmla="*/ 104775 h 211708"/>
              <a:gd name="connsiteX4" fmla="*/ 31876 w 70484"/>
              <a:gd name="connsiteY4" fmla="*/ 169164 h 211708"/>
              <a:gd name="connsiteX5" fmla="*/ 70230 w 70484"/>
              <a:gd name="connsiteY5" fmla="*/ 203072 h 211708"/>
              <a:gd name="connsiteX6" fmla="*/ 67563 w 70484"/>
              <a:gd name="connsiteY6" fmla="*/ 211708 h 211708"/>
              <a:gd name="connsiteX7" fmla="*/ 17398 w 70484"/>
              <a:gd name="connsiteY7" fmla="*/ 174751 h 211708"/>
              <a:gd name="connsiteX8" fmla="*/ 0 w 70484"/>
              <a:gd name="connsiteY8" fmla="*/ 105917 h 211708"/>
              <a:gd name="connsiteX9" fmla="*/ 17398 w 70484"/>
              <a:gd name="connsiteY9" fmla="*/ 37083 h 211708"/>
              <a:gd name="connsiteX10" fmla="*/ 67563 w 70484"/>
              <a:gd name="connsiteY10" fmla="*/ 0 h 2117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70484" h="211708">
                <a:moveTo>
                  <a:pt x="67563" y="0"/>
                </a:moveTo>
                <a:lnTo>
                  <a:pt x="70484" y="8508"/>
                </a:lnTo>
                <a:cubicBezTo>
                  <a:pt x="53085" y="14223"/>
                  <a:pt x="40258" y="25400"/>
                  <a:pt x="31876" y="42036"/>
                </a:cubicBezTo>
                <a:cubicBezTo>
                  <a:pt x="23494" y="58673"/>
                  <a:pt x="19303" y="79628"/>
                  <a:pt x="19303" y="104775"/>
                </a:cubicBezTo>
                <a:cubicBezTo>
                  <a:pt x="19303" y="130809"/>
                  <a:pt x="23494" y="152272"/>
                  <a:pt x="31876" y="169164"/>
                </a:cubicBezTo>
                <a:cubicBezTo>
                  <a:pt x="40258" y="186054"/>
                  <a:pt x="52958" y="197357"/>
                  <a:pt x="70230" y="203072"/>
                </a:cubicBezTo>
                <a:lnTo>
                  <a:pt x="67563" y="211708"/>
                </a:lnTo>
                <a:cubicBezTo>
                  <a:pt x="45719" y="205994"/>
                  <a:pt x="28955" y="193675"/>
                  <a:pt x="17398" y="174751"/>
                </a:cubicBezTo>
                <a:cubicBezTo>
                  <a:pt x="5841" y="155701"/>
                  <a:pt x="0" y="132841"/>
                  <a:pt x="0" y="105917"/>
                </a:cubicBezTo>
                <a:cubicBezTo>
                  <a:pt x="0" y="78994"/>
                  <a:pt x="5841" y="56133"/>
                  <a:pt x="17398" y="37083"/>
                </a:cubicBezTo>
                <a:cubicBezTo>
                  <a:pt x="29082" y="18033"/>
                  <a:pt x="45719" y="5715"/>
                  <a:pt x="67563" y="0"/>
                </a:cubicBezTo>
              </a:path>
            </a:pathLst>
          </a:custGeom>
          <a:solidFill>
            <a:srgbClr val="00b05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8514" y="1884933"/>
            <a:ext cx="2321560" cy="1766824"/>
          </a:xfrm>
          <a:custGeom>
            <a:avLst/>
            <a:gdLst>
              <a:gd name="connsiteX0" fmla="*/ 6350 w 2321560"/>
              <a:gd name="connsiteY0" fmla="*/ 1760474 h 1766824"/>
              <a:gd name="connsiteX1" fmla="*/ 2315210 w 2321560"/>
              <a:gd name="connsiteY1" fmla="*/ 1760474 h 1766824"/>
              <a:gd name="connsiteX2" fmla="*/ 2315210 w 2321560"/>
              <a:gd name="connsiteY2" fmla="*/ 6350 h 1766824"/>
              <a:gd name="connsiteX3" fmla="*/ 6350 w 2321560"/>
              <a:gd name="connsiteY3" fmla="*/ 6350 h 1766824"/>
              <a:gd name="connsiteX4" fmla="*/ 6350 w 2321560"/>
              <a:gd name="connsiteY4" fmla="*/ 1760474 h 176682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21560" h="1766824">
                <a:moveTo>
                  <a:pt x="6350" y="1760474"/>
                </a:moveTo>
                <a:lnTo>
                  <a:pt x="2315210" y="1760474"/>
                </a:lnTo>
                <a:lnTo>
                  <a:pt x="2315210" y="6350"/>
                </a:lnTo>
                <a:lnTo>
                  <a:pt x="6350" y="6350"/>
                </a:lnTo>
                <a:lnTo>
                  <a:pt x="6350" y="1760474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8514" y="5304790"/>
            <a:ext cx="4331716" cy="934719"/>
          </a:xfrm>
          <a:custGeom>
            <a:avLst/>
            <a:gdLst>
              <a:gd name="connsiteX0" fmla="*/ 6350 w 4331716"/>
              <a:gd name="connsiteY0" fmla="*/ 928369 h 934719"/>
              <a:gd name="connsiteX1" fmla="*/ 4325366 w 4331716"/>
              <a:gd name="connsiteY1" fmla="*/ 928369 h 934719"/>
              <a:gd name="connsiteX2" fmla="*/ 4325366 w 4331716"/>
              <a:gd name="connsiteY2" fmla="*/ 6350 h 934719"/>
              <a:gd name="connsiteX3" fmla="*/ 6350 w 4331716"/>
              <a:gd name="connsiteY3" fmla="*/ 6350 h 934719"/>
              <a:gd name="connsiteX4" fmla="*/ 6350 w 4331716"/>
              <a:gd name="connsiteY4" fmla="*/ 928369 h 93471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331716" h="934719">
                <a:moveTo>
                  <a:pt x="6350" y="928369"/>
                </a:moveTo>
                <a:lnTo>
                  <a:pt x="4325366" y="928369"/>
                </a:lnTo>
                <a:lnTo>
                  <a:pt x="4325366" y="6350"/>
                </a:lnTo>
                <a:lnTo>
                  <a:pt x="6350" y="6350"/>
                </a:lnTo>
                <a:lnTo>
                  <a:pt x="6350" y="928369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580132" y="2776728"/>
            <a:ext cx="4029964" cy="59816"/>
          </a:xfrm>
          <a:custGeom>
            <a:avLst/>
            <a:gdLst>
              <a:gd name="connsiteX0" fmla="*/ 4010914 w 4029964"/>
              <a:gd name="connsiteY0" fmla="*/ 40766 h 59816"/>
              <a:gd name="connsiteX1" fmla="*/ 19050 w 4029964"/>
              <a:gd name="connsiteY1" fmla="*/ 19050 h 5981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029964" h="59816">
                <a:moveTo>
                  <a:pt x="4010914" y="40766"/>
                </a:moveTo>
                <a:lnTo>
                  <a:pt x="19050" y="19050"/>
                </a:lnTo>
              </a:path>
            </a:pathLst>
          </a:custGeom>
          <a:ln w="38100">
            <a:solidFill>
              <a:srgbClr val="00b0f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582413" y="5304790"/>
            <a:ext cx="4464304" cy="934719"/>
          </a:xfrm>
          <a:custGeom>
            <a:avLst/>
            <a:gdLst>
              <a:gd name="connsiteX0" fmla="*/ 6350 w 4464304"/>
              <a:gd name="connsiteY0" fmla="*/ 928369 h 934719"/>
              <a:gd name="connsiteX1" fmla="*/ 4457954 w 4464304"/>
              <a:gd name="connsiteY1" fmla="*/ 928369 h 934719"/>
              <a:gd name="connsiteX2" fmla="*/ 4457954 w 4464304"/>
              <a:gd name="connsiteY2" fmla="*/ 6350 h 934719"/>
              <a:gd name="connsiteX3" fmla="*/ 6350 w 4464304"/>
              <a:gd name="connsiteY3" fmla="*/ 6350 h 934719"/>
              <a:gd name="connsiteX4" fmla="*/ 6350 w 4464304"/>
              <a:gd name="connsiteY4" fmla="*/ 928369 h 93471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464304" h="934719">
                <a:moveTo>
                  <a:pt x="6350" y="928369"/>
                </a:moveTo>
                <a:lnTo>
                  <a:pt x="4457954" y="928369"/>
                </a:lnTo>
                <a:lnTo>
                  <a:pt x="4457954" y="6350"/>
                </a:lnTo>
                <a:lnTo>
                  <a:pt x="6350" y="6350"/>
                </a:lnTo>
                <a:lnTo>
                  <a:pt x="6350" y="928369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7500" y="4826000"/>
            <a:ext cx="381000" cy="444500"/>
          </a:xfrm>
          <a:prstGeom prst="rect">
            <a:avLst/>
          </a:prstGeom>
          <a:noFill/>
        </p:spPr>
      </p:pic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79700" y="1524000"/>
            <a:ext cx="3556000" cy="2603500"/>
          </a:xfrm>
          <a:prstGeom prst="rect">
            <a:avLst/>
          </a:prstGeom>
          <a:noFill/>
        </p:spPr>
      </p:pic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16800" y="4826000"/>
            <a:ext cx="508000" cy="4953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914400" y="190500"/>
            <a:ext cx="46736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							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The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Fitting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Problem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657600" y="3429000"/>
            <a:ext cx="2743200" cy="1473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698500" algn="l"/>
                <a:tab pos="736600" algn="l"/>
                <a:tab pos="7747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draw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                <a:tab pos="698500" algn="l"/>
                <a:tab pos="736600" algn="l"/>
                <a:tab pos="7747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very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confidence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900"/>
              </a:lnSpc>
              <a:tabLst>
                <a:tab pos="698500" algn="l"/>
                <a:tab pos="736600" algn="l"/>
                <a:tab pos="7747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𝑥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698500" algn="l"/>
                <a:tab pos="736600" algn="l"/>
                <a:tab pos="774700" algn="l"/>
              </a:tabLst>
            </a:pP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𝒉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=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𝟎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+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𝒘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𝟏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b050"/>
                </a:solidFill>
                <a:latin typeface="Cambria Math" pitchFamily="18" charset="0"/>
                <a:cs typeface="Cambria Math" pitchFamily="18" charset="0"/>
              </a:rPr>
              <a:t>𝒙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03200" y="5422900"/>
            <a:ext cx="4000500" cy="77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38100" algn="l"/>
                <a:tab pos="508000" algn="l"/>
              </a:tabLst>
            </a:pP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slope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means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2300"/>
              </a:lnSpc>
              <a:tabLst>
                <a:tab pos="38100" algn="l"/>
                <a:tab pos="5080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ff0000"/>
                </a:solidFill>
                <a:latin typeface="Cambria Math" pitchFamily="18" charset="0"/>
                <a:cs typeface="Cambria Math" pitchFamily="18" charset="0"/>
              </a:rPr>
              <a:t>1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really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(i.e.,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</a:p>
          <a:p>
            <a:pPr>
              <a:lnSpc>
                <a:spcPts val="1900"/>
              </a:lnSpc>
              <a:tabLst>
                <a:tab pos="38100" algn="l"/>
                <a:tab pos="508000" algn="l"/>
              </a:tabLst>
            </a:pPr>
            <a:r>
              <a:rPr lang="en-US" altLang="zh-CN" dirty="0" smtClean="0"/>
              <a:t>		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giving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“weight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699000" y="5435600"/>
            <a:ext cx="4216400" cy="1320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38100" algn="l"/>
                <a:tab pos="254000" algn="l"/>
                <a:tab pos="34798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slope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0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means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2300"/>
              </a:lnSpc>
              <a:tabLst>
                <a:tab pos="38100" algn="l"/>
                <a:tab pos="254000" algn="l"/>
                <a:tab pos="34798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value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0070c0"/>
                </a:solidFill>
                <a:latin typeface="Cambria Math" pitchFamily="18" charset="0"/>
                <a:cs typeface="Cambria Math" pitchFamily="18" charset="0"/>
              </a:rPr>
              <a:t>0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really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(i.e.,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bias).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1900"/>
              </a:lnSpc>
              <a:tabLst>
                <a:tab pos="38100" algn="l"/>
                <a:tab pos="254000" algn="l"/>
                <a:tab pos="3479800" algn="l"/>
              </a:tabLst>
            </a:pP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giving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any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“weight”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mbria Math" pitchFamily="18" charset="0"/>
                <a:cs typeface="Cambria Math" pitchFamily="18" charset="0"/>
              </a:rPr>
              <a:t>𝑥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70c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200"/>
              </a:lnSpc>
              <a:tabLst>
                <a:tab pos="38100" algn="l"/>
                <a:tab pos="254000" algn="l"/>
                <a:tab pos="3479800" algn="l"/>
              </a:tabLst>
            </a:pPr>
            <a:r>
              <a:rPr lang="en-US" altLang="zh-CN" dirty="0" smtClean="0"/>
              <a:t>			</a:t>
            </a: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7340600" y="1168400"/>
            <a:ext cx="1244600" cy="3784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2700"/>
              </a:lnSpc>
              <a:tabLst>
							</a:tabLst>
            </a:pP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2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bias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90500" y="2070100"/>
            <a:ext cx="2400300" cy="279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variance</a:t>
            </a:r>
          </a:p>
          <a:p>
            <a:pPr>
              <a:lnSpc>
                <a:spcPts val="21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21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performance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</a:p>
          <a:p>
            <a:pPr>
              <a:lnSpc>
                <a:spcPts val="20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					</a:t>
            </a:r>
            <a:r>
              <a:rPr lang="en-US" altLang="zh-CN" sz="1800" dirty="0" smtClean="0">
                <a:solidFill>
                  <a:srgbClr val="000000"/>
                </a:solidFill>
                <a:latin typeface="Cambria Math" pitchFamily="18" charset="0"/>
                <a:cs typeface="Cambria Math" pitchFamily="18" charset="0"/>
              </a:rPr>
              <a:t>𝑦</a:t>
            </a:r>
          </a:p>
          <a:p>
            <a:pPr>
              <a:lnSpc>
                <a:spcPts val="1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“varies”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lot</a:t>
            </a:r>
          </a:p>
          <a:p>
            <a:pPr>
              <a:lnSpc>
                <a:spcPts val="21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across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test</a:t>
            </a:r>
          </a:p>
          <a:p>
            <a:pPr>
              <a:lnSpc>
                <a:spcPts val="21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			</a:t>
            </a:r>
            <a:r>
              <a:rPr lang="en-US" altLang="zh-CN" sz="1802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datasets.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76200" algn="l"/>
                <a:tab pos="88900" algn="l"/>
                <a:tab pos="114300" algn="l"/>
                <a:tab pos="406400" algn="l"/>
                <a:tab pos="596900" algn="l"/>
                <a:tab pos="1130300" algn="l"/>
                <a:tab pos="2273300" algn="l"/>
              </a:tabLst>
            </a:pPr>
            <a:r>
              <a:rPr lang="en-US" altLang="zh-CN" dirty="0" smtClean="0"/>
              <a:t>						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variance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000" y="1701800"/>
            <a:ext cx="7823200" cy="19812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2800" y="203200"/>
            <a:ext cx="47625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The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Fitting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Problem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Variance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13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257300" y="1866900"/>
            <a:ext cx="8382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Bias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6515100" y="1866900"/>
            <a:ext cx="1270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Variance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924300" y="1879600"/>
            <a:ext cx="1282700" cy="49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241300" algn="l"/>
              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Bias,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Low</a:t>
            </a:r>
          </a:p>
          <a:p>
            <a:pPr>
              <a:lnSpc>
                <a:spcPts val="2100"/>
              </a:lnSpc>
              <a:tabLst>
                <a:tab pos="241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Variance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2396" y="6687350"/>
            <a:ext cx="3174492" cy="15240"/>
          </a:xfrm>
          <a:custGeom>
            <a:avLst/>
            <a:gdLst>
              <a:gd name="connsiteX0" fmla="*/ 0 w 3174492"/>
              <a:gd name="connsiteY0" fmla="*/ 0 h 15240"/>
              <a:gd name="connsiteX1" fmla="*/ 793623 w 3174492"/>
              <a:gd name="connsiteY1" fmla="*/ 0 h 15240"/>
              <a:gd name="connsiteX2" fmla="*/ 1587245 w 3174492"/>
              <a:gd name="connsiteY2" fmla="*/ 0 h 15240"/>
              <a:gd name="connsiteX3" fmla="*/ 2380868 w 3174492"/>
              <a:gd name="connsiteY3" fmla="*/ 0 h 15240"/>
              <a:gd name="connsiteX4" fmla="*/ 3174492 w 3174492"/>
              <a:gd name="connsiteY4" fmla="*/ 0 h 15240"/>
              <a:gd name="connsiteX5" fmla="*/ 3174492 w 3174492"/>
              <a:gd name="connsiteY5" fmla="*/ 15240 h 15240"/>
              <a:gd name="connsiteX6" fmla="*/ 2380868 w 3174492"/>
              <a:gd name="connsiteY6" fmla="*/ 15240 h 15240"/>
              <a:gd name="connsiteX7" fmla="*/ 1587245 w 3174492"/>
              <a:gd name="connsiteY7" fmla="*/ 15240 h 15240"/>
              <a:gd name="connsiteX8" fmla="*/ 793623 w 3174492"/>
              <a:gd name="connsiteY8" fmla="*/ 15240 h 15240"/>
              <a:gd name="connsiteX9" fmla="*/ 0 w 3174492"/>
              <a:gd name="connsiteY9" fmla="*/ 15240 h 15240"/>
              <a:gd name="connsiteX10" fmla="*/ 0 w 3174492"/>
              <a:gd name="connsiteY10" fmla="*/ 0 h 152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3174492" h="15240">
                <a:moveTo>
                  <a:pt x="0" y="0"/>
                </a:moveTo>
                <a:lnTo>
                  <a:pt x="793623" y="0"/>
                </a:lnTo>
                <a:lnTo>
                  <a:pt x="1587245" y="0"/>
                </a:lnTo>
                <a:lnTo>
                  <a:pt x="2380868" y="0"/>
                </a:lnTo>
                <a:lnTo>
                  <a:pt x="3174492" y="0"/>
                </a:lnTo>
                <a:lnTo>
                  <a:pt x="3174492" y="15240"/>
                </a:lnTo>
                <a:lnTo>
                  <a:pt x="2380868" y="15240"/>
                </a:lnTo>
                <a:lnTo>
                  <a:pt x="1587245" y="15240"/>
                </a:lnTo>
                <a:lnTo>
                  <a:pt x="793623" y="15240"/>
                </a:lnTo>
                <a:lnTo>
                  <a:pt x="0" y="15240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200" y="1003300"/>
            <a:ext cx="7975600" cy="4851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14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685800" y="215900"/>
            <a:ext cx="4267200" cy="139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228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Example…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200"/>
              </a:lnSpc>
              <a:tabLst>
                <a:tab pos="228600" algn="l"/>
              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Don’t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learn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specific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features…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03200" y="6489700"/>
            <a:ext cx="38481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http://www.petanimalexpo.co.nz/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91440" y="6382918"/>
            <a:ext cx="6544056" cy="12191"/>
          </a:xfrm>
          <a:custGeom>
            <a:avLst/>
            <a:gdLst>
              <a:gd name="connsiteX0" fmla="*/ 0 w 6544056"/>
              <a:gd name="connsiteY0" fmla="*/ 0 h 12191"/>
              <a:gd name="connsiteX1" fmla="*/ 1636014 w 6544056"/>
              <a:gd name="connsiteY1" fmla="*/ 0 h 12191"/>
              <a:gd name="connsiteX2" fmla="*/ 3272027 w 6544056"/>
              <a:gd name="connsiteY2" fmla="*/ 0 h 12191"/>
              <a:gd name="connsiteX3" fmla="*/ 4908042 w 6544056"/>
              <a:gd name="connsiteY3" fmla="*/ 0 h 12191"/>
              <a:gd name="connsiteX4" fmla="*/ 6544056 w 6544056"/>
              <a:gd name="connsiteY4" fmla="*/ 0 h 12191"/>
              <a:gd name="connsiteX5" fmla="*/ 6544056 w 6544056"/>
              <a:gd name="connsiteY5" fmla="*/ 12191 h 12191"/>
              <a:gd name="connsiteX6" fmla="*/ 4908042 w 6544056"/>
              <a:gd name="connsiteY6" fmla="*/ 12191 h 12191"/>
              <a:gd name="connsiteX7" fmla="*/ 3272027 w 6544056"/>
              <a:gd name="connsiteY7" fmla="*/ 12191 h 12191"/>
              <a:gd name="connsiteX8" fmla="*/ 1636014 w 6544056"/>
              <a:gd name="connsiteY8" fmla="*/ 12191 h 12191"/>
              <a:gd name="connsiteX9" fmla="*/ 0 w 6544056"/>
              <a:gd name="connsiteY9" fmla="*/ 12191 h 12191"/>
              <a:gd name="connsiteX10" fmla="*/ 0 w 6544056"/>
              <a:gd name="connsiteY10" fmla="*/ 0 h 121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6544056" h="12191">
                <a:moveTo>
                  <a:pt x="0" y="0"/>
                </a:moveTo>
                <a:lnTo>
                  <a:pt x="1636014" y="0"/>
                </a:lnTo>
                <a:lnTo>
                  <a:pt x="3272027" y="0"/>
                </a:lnTo>
                <a:lnTo>
                  <a:pt x="4908042" y="0"/>
                </a:lnTo>
                <a:lnTo>
                  <a:pt x="6544056" y="0"/>
                </a:lnTo>
                <a:lnTo>
                  <a:pt x="6544056" y="12191"/>
                </a:lnTo>
                <a:lnTo>
                  <a:pt x="4908042" y="12191"/>
                </a:lnTo>
                <a:lnTo>
                  <a:pt x="3272027" y="12191"/>
                </a:lnTo>
                <a:lnTo>
                  <a:pt x="1636014" y="12191"/>
                </a:lnTo>
                <a:lnTo>
                  <a:pt x="0" y="12191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190500"/>
            <a:ext cx="41783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							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Variance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52400" y="1079500"/>
            <a:ext cx="86487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>
							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Bias: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difference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average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prediction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correct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41300" y="1397000"/>
            <a:ext cx="37592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value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trying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55600" y="1701800"/>
            <a:ext cx="8636000" cy="901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2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average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predicted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values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far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off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actual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values,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then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high.</a:t>
            </a:r>
          </a:p>
          <a:p>
            <a:pPr>
              <a:lnSpc>
                <a:spcPts val="25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pays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little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attention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oversimplifies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</a:p>
          <a:p>
            <a:pPr>
              <a:lnSpc>
                <a:spcPts val="25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When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implies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simple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33400" y="2603500"/>
            <a:ext cx="58166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capture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complexity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thus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underfitting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55600" y="2895600"/>
            <a:ext cx="51943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leads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both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test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52400" y="3352800"/>
            <a:ext cx="88392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>
							</a:tabLst>
            </a:pPr>
            <a:r>
              <a:rPr lang="en-US" altLang="zh-CN" sz="2006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Variance: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variability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prediction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across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datasets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(data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points),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i.e.,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41300" y="3657600"/>
            <a:ext cx="64262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how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scattered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values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actual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values.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55600" y="3949700"/>
            <a:ext cx="77216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variance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pays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attention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33400" y="4229100"/>
            <a:ext cx="4787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generalize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seen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before.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55600" y="4521200"/>
            <a:ext cx="83312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result,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such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performs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very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well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but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rates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on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33400" y="4800600"/>
            <a:ext cx="889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test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data.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355600" y="5092700"/>
            <a:ext cx="81026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variance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causes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overfitting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implies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algorithm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random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noise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33400" y="5372100"/>
            <a:ext cx="18161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present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data.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15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8900" y="6019800"/>
            <a:ext cx="6908800" cy="381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							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Elements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Statistical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Learning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Trevor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Hastie,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Robert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Tibshirani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Jerome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Friedman</a:t>
            </a:r>
          </a:p>
          <a:p>
            <a:pPr>
              <a:lnSpc>
                <a:spcPts val="1600"/>
              </a:lnSpc>
              <a:tabLst>
							</a:tabLst>
            </a:pPr>
            <a:r>
              <a:rPr lang="en-US" altLang="zh-CN" sz="1406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https://towardsdatascience.com/understanding-the-bias-variance-tradeoff-165e6942b229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0859" y="6166129"/>
            <a:ext cx="6544100" cy="12191"/>
          </a:xfrm>
          <a:custGeom>
            <a:avLst/>
            <a:gdLst>
              <a:gd name="connsiteX0" fmla="*/ 0 w 6544100"/>
              <a:gd name="connsiteY0" fmla="*/ 0 h 12191"/>
              <a:gd name="connsiteX1" fmla="*/ 1636058 w 6544100"/>
              <a:gd name="connsiteY1" fmla="*/ 0 h 12191"/>
              <a:gd name="connsiteX2" fmla="*/ 3272072 w 6544100"/>
              <a:gd name="connsiteY2" fmla="*/ 0 h 12191"/>
              <a:gd name="connsiteX3" fmla="*/ 4908086 w 6544100"/>
              <a:gd name="connsiteY3" fmla="*/ 0 h 12191"/>
              <a:gd name="connsiteX4" fmla="*/ 6544100 w 6544100"/>
              <a:gd name="connsiteY4" fmla="*/ 0 h 12191"/>
              <a:gd name="connsiteX5" fmla="*/ 6544100 w 6544100"/>
              <a:gd name="connsiteY5" fmla="*/ 12191 h 12191"/>
              <a:gd name="connsiteX6" fmla="*/ 4908086 w 6544100"/>
              <a:gd name="connsiteY6" fmla="*/ 12191 h 12191"/>
              <a:gd name="connsiteX7" fmla="*/ 3272072 w 6544100"/>
              <a:gd name="connsiteY7" fmla="*/ 12191 h 12191"/>
              <a:gd name="connsiteX8" fmla="*/ 1636058 w 6544100"/>
              <a:gd name="connsiteY8" fmla="*/ 12191 h 12191"/>
              <a:gd name="connsiteX9" fmla="*/ 0 w 6544100"/>
              <a:gd name="connsiteY9" fmla="*/ 12191 h 12191"/>
              <a:gd name="connsiteX10" fmla="*/ 0 w 6544100"/>
              <a:gd name="connsiteY10" fmla="*/ 0 h 121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6544100" h="12191">
                <a:moveTo>
                  <a:pt x="0" y="0"/>
                </a:moveTo>
                <a:lnTo>
                  <a:pt x="1636058" y="0"/>
                </a:lnTo>
                <a:lnTo>
                  <a:pt x="3272072" y="0"/>
                </a:lnTo>
                <a:lnTo>
                  <a:pt x="4908086" y="0"/>
                </a:lnTo>
                <a:lnTo>
                  <a:pt x="6544100" y="0"/>
                </a:lnTo>
                <a:lnTo>
                  <a:pt x="6544100" y="12191"/>
                </a:lnTo>
                <a:lnTo>
                  <a:pt x="4908086" y="12191"/>
                </a:lnTo>
                <a:lnTo>
                  <a:pt x="3272072" y="12191"/>
                </a:lnTo>
                <a:lnTo>
                  <a:pt x="1636058" y="12191"/>
                </a:lnTo>
                <a:lnTo>
                  <a:pt x="0" y="12191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0859" y="6379489"/>
            <a:ext cx="6861093" cy="12192"/>
          </a:xfrm>
          <a:custGeom>
            <a:avLst/>
            <a:gdLst>
              <a:gd name="connsiteX0" fmla="*/ 0 w 6861093"/>
              <a:gd name="connsiteY0" fmla="*/ 0 h 12192"/>
              <a:gd name="connsiteX1" fmla="*/ 1715306 w 6861093"/>
              <a:gd name="connsiteY1" fmla="*/ 0 h 12192"/>
              <a:gd name="connsiteX2" fmla="*/ 3430568 w 6861093"/>
              <a:gd name="connsiteY2" fmla="*/ 0 h 12192"/>
              <a:gd name="connsiteX3" fmla="*/ 5145830 w 6861093"/>
              <a:gd name="connsiteY3" fmla="*/ 0 h 12192"/>
              <a:gd name="connsiteX4" fmla="*/ 6861093 w 6861093"/>
              <a:gd name="connsiteY4" fmla="*/ 0 h 12192"/>
              <a:gd name="connsiteX5" fmla="*/ 6861093 w 6861093"/>
              <a:gd name="connsiteY5" fmla="*/ 12192 h 12192"/>
              <a:gd name="connsiteX6" fmla="*/ 5145830 w 6861093"/>
              <a:gd name="connsiteY6" fmla="*/ 12192 h 12192"/>
              <a:gd name="connsiteX7" fmla="*/ 3430568 w 6861093"/>
              <a:gd name="connsiteY7" fmla="*/ 12192 h 12192"/>
              <a:gd name="connsiteX8" fmla="*/ 1715306 w 6861093"/>
              <a:gd name="connsiteY8" fmla="*/ 12192 h 12192"/>
              <a:gd name="connsiteX9" fmla="*/ 0 w 6861093"/>
              <a:gd name="connsiteY9" fmla="*/ 12192 h 12192"/>
              <a:gd name="connsiteX10" fmla="*/ 0 w 6861093"/>
              <a:gd name="connsiteY10" fmla="*/ 0 h 1219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6861093" h="12192">
                <a:moveTo>
                  <a:pt x="0" y="0"/>
                </a:moveTo>
                <a:lnTo>
                  <a:pt x="1715306" y="0"/>
                </a:lnTo>
                <a:lnTo>
                  <a:pt x="3430568" y="0"/>
                </a:lnTo>
                <a:lnTo>
                  <a:pt x="5145830" y="0"/>
                </a:lnTo>
                <a:lnTo>
                  <a:pt x="6861093" y="0"/>
                </a:lnTo>
                <a:lnTo>
                  <a:pt x="6861093" y="12192"/>
                </a:lnTo>
                <a:lnTo>
                  <a:pt x="5145830" y="12192"/>
                </a:lnTo>
                <a:lnTo>
                  <a:pt x="3430568" y="12192"/>
                </a:lnTo>
                <a:lnTo>
                  <a:pt x="1715306" y="12192"/>
                </a:lnTo>
                <a:lnTo>
                  <a:pt x="0" y="12192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6374892" y="3142488"/>
            <a:ext cx="76200" cy="1466850"/>
          </a:xfrm>
          <a:custGeom>
            <a:avLst/>
            <a:gdLst>
              <a:gd name="connsiteX0" fmla="*/ 19050 w 76200"/>
              <a:gd name="connsiteY0" fmla="*/ 19050 h 1466850"/>
              <a:gd name="connsiteX1" fmla="*/ 19050 w 76200"/>
              <a:gd name="connsiteY1" fmla="*/ 1447800 h 14668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6200" h="1466850">
                <a:moveTo>
                  <a:pt x="19050" y="19050"/>
                </a:moveTo>
                <a:lnTo>
                  <a:pt x="19050" y="1447800"/>
                </a:lnTo>
              </a:path>
            </a:pathLst>
          </a:custGeom>
          <a:ln w="38100">
            <a:solidFill>
              <a:srgbClr val="ffc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5600" y="1219200"/>
            <a:ext cx="3340100" cy="4051300"/>
          </a:xfrm>
          <a:prstGeom prst="rect">
            <a:avLst/>
          </a:prstGeom>
          <a:noFill/>
        </p:spPr>
      </p:pic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49700" y="2019300"/>
            <a:ext cx="4673600" cy="31877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16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14300" y="5816600"/>
            <a:ext cx="6908800" cy="596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							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Elements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Statistical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Learning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Trevor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Hastie,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Robert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Tibshirani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Jerome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Friedman</a:t>
            </a:r>
          </a:p>
          <a:p>
            <a:pPr>
              <a:lnSpc>
                <a:spcPts val="1600"/>
              </a:lnSpc>
              <a:tabLst>
							</a:tabLst>
            </a:pPr>
            <a:r>
              <a:rPr lang="en-US" altLang="zh-CN" sz="1404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https://towardsdatascience.com/understanding-the-bias-variance-tradeoff-165e6942b229</a:t>
            </a:r>
          </a:p>
          <a:p>
            <a:pPr>
              <a:lnSpc>
                <a:spcPts val="1600"/>
              </a:lnSpc>
              <a:tabLst>
							</a:tabLst>
            </a:pPr>
            <a:r>
              <a:rPr lang="en-US" altLang="zh-CN" sz="1404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https://medium.com/datadriveninvestor/bias-and-variance-in-machine-learning-51fdd38d1f86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6642100" y="2921000"/>
            <a:ext cx="1117600" cy="381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							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good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point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to</a:t>
            </a:r>
          </a:p>
          <a:p>
            <a:pPr>
              <a:lnSpc>
                <a:spcPts val="1600"/>
              </a:lnSpc>
              <a:tabLst>
							</a:tabLst>
            </a:pPr>
            <a:r>
              <a:rPr lang="en-US" altLang="zh-CN" sz="1406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stop</a:t>
            </a:r>
            <a:r>
              <a:rPr lang="en-US" altLang="zh-CN" sz="14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6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914400" y="215900"/>
            <a:ext cx="4178300" cy="1536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254000" algn="l"/>
                <a:tab pos="1879600" algn="l"/>
              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Variance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700"/>
              </a:lnSpc>
              <a:tabLst>
                <a:tab pos="254000" algn="l"/>
                <a:tab pos="1879600" algn="l"/>
              </a:tabLst>
            </a:pPr>
            <a:r>
              <a:rPr lang="en-US" altLang="zh-CN" dirty="0" smtClean="0"/>
              <a:t>	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Ideal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Situation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500"/>
              </a:lnSpc>
              <a:tabLst>
                <a:tab pos="254000" algn="l"/>
                <a:tab pos="1879600" algn="l"/>
              </a:tabLst>
            </a:pPr>
            <a:r>
              <a:rPr lang="en-US" altLang="zh-CN" dirty="0" smtClean="0"/>
              <a:t>		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Worst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Situation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16166" y="4073144"/>
            <a:ext cx="24739" cy="24764"/>
          </a:xfrm>
          <a:custGeom>
            <a:avLst/>
            <a:gdLst>
              <a:gd name="connsiteX0" fmla="*/ 24739 w 24739"/>
              <a:gd name="connsiteY0" fmla="*/ 12319 h 24764"/>
              <a:gd name="connsiteX1" fmla="*/ 12369 w 24739"/>
              <a:gd name="connsiteY1" fmla="*/ 24764 h 24764"/>
              <a:gd name="connsiteX2" fmla="*/ 0 w 24739"/>
              <a:gd name="connsiteY2" fmla="*/ 12319 h 24764"/>
              <a:gd name="connsiteX3" fmla="*/ 12369 w 24739"/>
              <a:gd name="connsiteY3" fmla="*/ 0 h 24764"/>
              <a:gd name="connsiteX4" fmla="*/ 24739 w 24739"/>
              <a:gd name="connsiteY4" fmla="*/ 12319 h 2476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739" h="24764">
                <a:moveTo>
                  <a:pt x="24739" y="12319"/>
                </a:moveTo>
                <a:cubicBezTo>
                  <a:pt x="24739" y="19176"/>
                  <a:pt x="19202" y="24764"/>
                  <a:pt x="12369" y="24764"/>
                </a:cubicBezTo>
                <a:cubicBezTo>
                  <a:pt x="5537" y="24764"/>
                  <a:pt x="0" y="19176"/>
                  <a:pt x="0" y="12319"/>
                </a:cubicBezTo>
                <a:cubicBezTo>
                  <a:pt x="0" y="5460"/>
                  <a:pt x="5537" y="0"/>
                  <a:pt x="12369" y="0"/>
                </a:cubicBezTo>
                <a:cubicBezTo>
                  <a:pt x="19202" y="0"/>
                  <a:pt x="24739" y="5460"/>
                  <a:pt x="24739" y="12319"/>
                </a:cubicBezTo>
              </a:path>
            </a:pathLst>
          </a:custGeom>
          <a:solidFill>
            <a:srgbClr val="e712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715759" y="3758438"/>
            <a:ext cx="24752" cy="24765"/>
          </a:xfrm>
          <a:custGeom>
            <a:avLst/>
            <a:gdLst>
              <a:gd name="connsiteX0" fmla="*/ 24752 w 24752"/>
              <a:gd name="connsiteY0" fmla="*/ 12445 h 24765"/>
              <a:gd name="connsiteX1" fmla="*/ 12382 w 24752"/>
              <a:gd name="connsiteY1" fmla="*/ 24765 h 24765"/>
              <a:gd name="connsiteX2" fmla="*/ 0 w 24752"/>
              <a:gd name="connsiteY2" fmla="*/ 12445 h 24765"/>
              <a:gd name="connsiteX3" fmla="*/ 12382 w 24752"/>
              <a:gd name="connsiteY3" fmla="*/ 0 h 24765"/>
              <a:gd name="connsiteX4" fmla="*/ 24752 w 24752"/>
              <a:gd name="connsiteY4" fmla="*/ 12445 h 2476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4752" h="24765">
                <a:moveTo>
                  <a:pt x="24752" y="12445"/>
                </a:moveTo>
                <a:cubicBezTo>
                  <a:pt x="24752" y="19304"/>
                  <a:pt x="19215" y="24765"/>
                  <a:pt x="12382" y="24765"/>
                </a:cubicBezTo>
                <a:cubicBezTo>
                  <a:pt x="5537" y="24765"/>
                  <a:pt x="0" y="19304"/>
                  <a:pt x="0" y="12445"/>
                </a:cubicBezTo>
                <a:cubicBezTo>
                  <a:pt x="0" y="5588"/>
                  <a:pt x="5537" y="0"/>
                  <a:pt x="12382" y="0"/>
                </a:cubicBezTo>
                <a:cubicBezTo>
                  <a:pt x="19215" y="0"/>
                  <a:pt x="24752" y="5588"/>
                  <a:pt x="24752" y="12445"/>
                </a:cubicBezTo>
              </a:path>
            </a:pathLst>
          </a:custGeom>
          <a:solidFill>
            <a:srgbClr val="e7122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2052574" y="4750054"/>
            <a:ext cx="5870956" cy="1029208"/>
          </a:xfrm>
          <a:custGeom>
            <a:avLst/>
            <a:gdLst>
              <a:gd name="connsiteX0" fmla="*/ 6350 w 5870956"/>
              <a:gd name="connsiteY0" fmla="*/ 1022858 h 1029208"/>
              <a:gd name="connsiteX1" fmla="*/ 5864606 w 5870956"/>
              <a:gd name="connsiteY1" fmla="*/ 1022858 h 1029208"/>
              <a:gd name="connsiteX2" fmla="*/ 5864606 w 5870956"/>
              <a:gd name="connsiteY2" fmla="*/ 6350 h 1029208"/>
              <a:gd name="connsiteX3" fmla="*/ 6350 w 5870956"/>
              <a:gd name="connsiteY3" fmla="*/ 6350 h 1029208"/>
              <a:gd name="connsiteX4" fmla="*/ 6350 w 5870956"/>
              <a:gd name="connsiteY4" fmla="*/ 1022858 h 10292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870956" h="1029208">
                <a:moveTo>
                  <a:pt x="6350" y="1022858"/>
                </a:moveTo>
                <a:lnTo>
                  <a:pt x="5864606" y="1022858"/>
                </a:lnTo>
                <a:lnTo>
                  <a:pt x="5864606" y="6350"/>
                </a:lnTo>
                <a:lnTo>
                  <a:pt x="6350" y="6350"/>
                </a:lnTo>
                <a:lnTo>
                  <a:pt x="6350" y="10228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200" y="1727200"/>
            <a:ext cx="7505700" cy="23495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914400" y="190500"/>
            <a:ext cx="65151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							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Low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High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Variance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17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247900" y="4876800"/>
            <a:ext cx="5448300" cy="863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736600" algn="l"/>
              </a:tabLst>
            </a:pP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Because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fits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well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set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(blue</a:t>
            </a:r>
          </a:p>
          <a:p>
            <a:pPr>
              <a:lnSpc>
                <a:spcPts val="2300"/>
              </a:lnSpc>
              <a:tabLst>
                <a:tab pos="736600" algn="l"/>
              </a:tabLst>
            </a:pP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dots)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well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set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(green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dots),</a:t>
            </a:r>
          </a:p>
          <a:p>
            <a:pPr>
              <a:lnSpc>
                <a:spcPts val="2400"/>
              </a:lnSpc>
              <a:tabLst>
                <a:tab pos="736600" algn="l"/>
              </a:tabLst>
            </a:pPr>
            <a:r>
              <a:rPr lang="en-US" altLang="zh-CN" dirty="0" smtClean="0"/>
              <a:t>	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say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“Overfitting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”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143000" y="3949700"/>
            <a:ext cx="1485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410200" y="3949700"/>
            <a:ext cx="1409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636522" y="4608322"/>
            <a:ext cx="5870956" cy="1027683"/>
          </a:xfrm>
          <a:custGeom>
            <a:avLst/>
            <a:gdLst>
              <a:gd name="connsiteX0" fmla="*/ 6350 w 5870956"/>
              <a:gd name="connsiteY0" fmla="*/ 1021333 h 1027683"/>
              <a:gd name="connsiteX1" fmla="*/ 5864606 w 5870956"/>
              <a:gd name="connsiteY1" fmla="*/ 1021333 h 1027683"/>
              <a:gd name="connsiteX2" fmla="*/ 5864606 w 5870956"/>
              <a:gd name="connsiteY2" fmla="*/ 6350 h 1027683"/>
              <a:gd name="connsiteX3" fmla="*/ 6350 w 5870956"/>
              <a:gd name="connsiteY3" fmla="*/ 6350 h 1027683"/>
              <a:gd name="connsiteX4" fmla="*/ 6350 w 5870956"/>
              <a:gd name="connsiteY4" fmla="*/ 1021333 h 10276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870956" h="1027683">
                <a:moveTo>
                  <a:pt x="6350" y="1021333"/>
                </a:moveTo>
                <a:lnTo>
                  <a:pt x="5864606" y="1021333"/>
                </a:lnTo>
                <a:lnTo>
                  <a:pt x="5864606" y="6350"/>
                </a:lnTo>
                <a:lnTo>
                  <a:pt x="6350" y="6350"/>
                </a:lnTo>
                <a:lnTo>
                  <a:pt x="6350" y="1021333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900" y="1333500"/>
            <a:ext cx="7073900" cy="20955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914400" y="190500"/>
            <a:ext cx="65151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							</a:tabLst>
            </a:pP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High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Low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Variance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18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943100" y="4737100"/>
            <a:ext cx="5232400" cy="863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                <a:tab pos="88900" algn="l"/>
                <a:tab pos="254000" algn="l"/>
              </a:tabLst>
            </a:pP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Because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does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fit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set</a:t>
            </a:r>
          </a:p>
          <a:p>
            <a:pPr>
              <a:lnSpc>
                <a:spcPts val="2400"/>
              </a:lnSpc>
              <a:tabLst>
                <a:tab pos="88900" algn="l"/>
                <a:tab pos="254000" algn="l"/>
              </a:tabLst>
            </a:pPr>
            <a:r>
              <a:rPr lang="en-US" altLang="zh-CN" dirty="0" smtClean="0"/>
              <a:t>	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(blue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dots)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but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fits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well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set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(green</a:t>
            </a:r>
          </a:p>
          <a:p>
            <a:pPr>
              <a:lnSpc>
                <a:spcPts val="2400"/>
              </a:lnSpc>
              <a:tabLst>
                <a:tab pos="88900" algn="l"/>
                <a:tab pos="254000" algn="l"/>
              </a:tabLst>
            </a:pPr>
            <a:r>
              <a:rPr lang="en-US" altLang="zh-CN" dirty="0" smtClean="0"/>
              <a:t>		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dots),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say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“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Underfiting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”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498600" y="3556000"/>
            <a:ext cx="1485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461000" y="3556000"/>
            <a:ext cx="1409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4700" y="2921000"/>
            <a:ext cx="7340600" cy="21971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2800" y="228600"/>
            <a:ext cx="6946900" cy="1917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Ideal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Algorithm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should…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Have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lower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accurately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true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relationship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Have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low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variability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consistently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across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different</a:t>
            </a:r>
          </a:p>
          <a:p>
            <a:pPr>
              <a:lnSpc>
                <a:spcPts val="21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datasets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(splits)!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19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346200" y="5054600"/>
            <a:ext cx="1485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5524500" y="5054600"/>
            <a:ext cx="1409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86001" y="4725670"/>
            <a:ext cx="6145275" cy="411988"/>
          </a:xfrm>
          <a:custGeom>
            <a:avLst/>
            <a:gdLst>
              <a:gd name="connsiteX0" fmla="*/ 6350 w 6145275"/>
              <a:gd name="connsiteY0" fmla="*/ 405638 h 411988"/>
              <a:gd name="connsiteX1" fmla="*/ 6138925 w 6145275"/>
              <a:gd name="connsiteY1" fmla="*/ 405638 h 411988"/>
              <a:gd name="connsiteX2" fmla="*/ 6138925 w 6145275"/>
              <a:gd name="connsiteY2" fmla="*/ 6350 h 411988"/>
              <a:gd name="connsiteX3" fmla="*/ 6350 w 6145275"/>
              <a:gd name="connsiteY3" fmla="*/ 6350 h 411988"/>
              <a:gd name="connsiteX4" fmla="*/ 6350 w 6145275"/>
              <a:gd name="connsiteY4" fmla="*/ 405638 h 41198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45275" h="411988">
                <a:moveTo>
                  <a:pt x="6350" y="405638"/>
                </a:moveTo>
                <a:lnTo>
                  <a:pt x="6138925" y="405638"/>
                </a:lnTo>
                <a:lnTo>
                  <a:pt x="6138925" y="6350"/>
                </a:lnTo>
                <a:lnTo>
                  <a:pt x="6350" y="6350"/>
                </a:lnTo>
                <a:lnTo>
                  <a:pt x="6350" y="40563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1854200"/>
            <a:ext cx="6362700" cy="2120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2800" y="215900"/>
            <a:ext cx="7505700" cy="1460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Bias-Variance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Tradeoff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achieved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finding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sweet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spot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simple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(left)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</a:p>
          <a:p>
            <a:pPr>
              <a:lnSpc>
                <a:spcPts val="21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complex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(right)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20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409700" y="4826000"/>
            <a:ext cx="58674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>
							</a:tabLst>
            </a:pP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How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find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sweet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spot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Variance?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371600" y="3962400"/>
            <a:ext cx="1270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Simple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Model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4826000" y="3962400"/>
            <a:ext cx="14605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							</a:tabLst>
            </a:pP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Complex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526793" y="4708906"/>
            <a:ext cx="6136132" cy="474472"/>
          </a:xfrm>
          <a:custGeom>
            <a:avLst/>
            <a:gdLst>
              <a:gd name="connsiteX0" fmla="*/ 6350 w 6136132"/>
              <a:gd name="connsiteY0" fmla="*/ 468122 h 474472"/>
              <a:gd name="connsiteX1" fmla="*/ 6129782 w 6136132"/>
              <a:gd name="connsiteY1" fmla="*/ 468122 h 474472"/>
              <a:gd name="connsiteX2" fmla="*/ 6129782 w 6136132"/>
              <a:gd name="connsiteY2" fmla="*/ 6350 h 474472"/>
              <a:gd name="connsiteX3" fmla="*/ 6350 w 6136132"/>
              <a:gd name="connsiteY3" fmla="*/ 6350 h 474472"/>
              <a:gd name="connsiteX4" fmla="*/ 6350 w 6136132"/>
              <a:gd name="connsiteY4" fmla="*/ 468122 h 47447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36132" h="474472">
                <a:moveTo>
                  <a:pt x="6350" y="468122"/>
                </a:moveTo>
                <a:lnTo>
                  <a:pt x="6129782" y="468122"/>
                </a:lnTo>
                <a:lnTo>
                  <a:pt x="6129782" y="6350"/>
                </a:lnTo>
                <a:lnTo>
                  <a:pt x="6350" y="6350"/>
                </a:lnTo>
                <a:lnTo>
                  <a:pt x="6350" y="468122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76200" y="596900"/>
            <a:ext cx="8547100" cy="3556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>
                <a:tab pos="203200" algn="l"/>
                <a:tab pos="838200" algn="l"/>
              </a:tabLst>
            </a:pPr>
            <a:r>
              <a:rPr lang="en-US" altLang="zh-CN" dirty="0" smtClean="0"/>
              <a:t>		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Finding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Sweet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Spot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between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Simple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Complex</a:t>
            </a:r>
            <a:r>
              <a:rPr lang="en-US" altLang="zh-CN" sz="24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Model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203200" algn="l"/>
                <a:tab pos="838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Bagging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203200" algn="l"/>
                <a:tab pos="838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Reduction</a:t>
            </a:r>
          </a:p>
          <a:p>
            <a:pPr>
              <a:lnSpc>
                <a:spcPts val="2300"/>
              </a:lnSpc>
              <a:tabLst>
                <a:tab pos="203200" algn="l"/>
                <a:tab pos="8382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Selection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(Statistical,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Automated,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Manual)</a:t>
            </a:r>
          </a:p>
          <a:p>
            <a:pPr>
              <a:lnSpc>
                <a:spcPts val="2500"/>
              </a:lnSpc>
              <a:tabLst>
                <a:tab pos="203200" algn="l"/>
                <a:tab pos="8382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Extraction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203200" algn="l"/>
                <a:tab pos="838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Regularization</a:t>
            </a:r>
          </a:p>
          <a:p>
            <a:pPr>
              <a:lnSpc>
                <a:spcPts val="2600"/>
              </a:lnSpc>
              <a:tabLst>
                <a:tab pos="203200" algn="l"/>
                <a:tab pos="838200" algn="l"/>
              </a:tabLst>
            </a:pPr>
            <a:r>
              <a:rPr lang="en-US" altLang="zh-CN" dirty="0" smtClean="0"/>
              <a:t>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Reduce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magnitude/values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parameters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mbria Math" pitchFamily="18" charset="0"/>
                <a:cs typeface="Cambria Math" pitchFamily="18" charset="0"/>
              </a:rPr>
              <a:t>𝑤</a:t>
            </a:r>
            <a:r>
              <a:rPr lang="en-US" altLang="zh-CN" sz="13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320" dirty="0" smtClean="0">
                <a:solidFill>
                  <a:srgbClr val="404040"/>
                </a:solidFill>
                <a:latin typeface="Cambria Math" pitchFamily="18" charset="0"/>
                <a:cs typeface="Cambria Math" pitchFamily="18" charset="0"/>
              </a:rPr>
              <a:t>𝑗</a:t>
            </a:r>
          </a:p>
          <a:p>
            <a:pPr>
              <a:lnSpc>
                <a:spcPts val="2400"/>
              </a:lnSpc>
              <a:tabLst>
                <a:tab pos="203200" algn="l"/>
                <a:tab pos="838200" algn="l"/>
              </a:tabLst>
            </a:pPr>
            <a:r>
              <a:rPr lang="en-US" altLang="zh-CN" dirty="0" smtClean="0"/>
              <a:t>	</a:t>
            </a:r>
            <a:r>
              <a:rPr lang="en-US" altLang="zh-CN" sz="1802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Works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well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when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have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features,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contributes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prediction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203200" algn="l"/>
                <a:tab pos="838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Boosting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21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651000" y="4826000"/>
            <a:ext cx="58674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>
							</a:tabLst>
            </a:pP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These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solutions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remove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  <a:latin typeface="Calibri" pitchFamily="18" charset="0"/>
                <a:cs typeface="Calibri" pitchFamily="18" charset="0"/>
              </a:rPr>
              <a:t>overfitting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91440" y="6382918"/>
            <a:ext cx="6544056" cy="12191"/>
          </a:xfrm>
          <a:custGeom>
            <a:avLst/>
            <a:gdLst>
              <a:gd name="connsiteX0" fmla="*/ 0 w 6544056"/>
              <a:gd name="connsiteY0" fmla="*/ 0 h 12191"/>
              <a:gd name="connsiteX1" fmla="*/ 1636014 w 6544056"/>
              <a:gd name="connsiteY1" fmla="*/ 0 h 12191"/>
              <a:gd name="connsiteX2" fmla="*/ 3272027 w 6544056"/>
              <a:gd name="connsiteY2" fmla="*/ 0 h 12191"/>
              <a:gd name="connsiteX3" fmla="*/ 4908042 w 6544056"/>
              <a:gd name="connsiteY3" fmla="*/ 0 h 12191"/>
              <a:gd name="connsiteX4" fmla="*/ 6544056 w 6544056"/>
              <a:gd name="connsiteY4" fmla="*/ 0 h 12191"/>
              <a:gd name="connsiteX5" fmla="*/ 6544056 w 6544056"/>
              <a:gd name="connsiteY5" fmla="*/ 12191 h 12191"/>
              <a:gd name="connsiteX6" fmla="*/ 4908042 w 6544056"/>
              <a:gd name="connsiteY6" fmla="*/ 12191 h 12191"/>
              <a:gd name="connsiteX7" fmla="*/ 3272027 w 6544056"/>
              <a:gd name="connsiteY7" fmla="*/ 12191 h 12191"/>
              <a:gd name="connsiteX8" fmla="*/ 1636014 w 6544056"/>
              <a:gd name="connsiteY8" fmla="*/ 12191 h 12191"/>
              <a:gd name="connsiteX9" fmla="*/ 0 w 6544056"/>
              <a:gd name="connsiteY9" fmla="*/ 12191 h 12191"/>
              <a:gd name="connsiteX10" fmla="*/ 0 w 6544056"/>
              <a:gd name="connsiteY10" fmla="*/ 0 h 121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6544056" h="12191">
                <a:moveTo>
                  <a:pt x="0" y="0"/>
                </a:moveTo>
                <a:lnTo>
                  <a:pt x="1636014" y="0"/>
                </a:lnTo>
                <a:lnTo>
                  <a:pt x="3272027" y="0"/>
                </a:lnTo>
                <a:lnTo>
                  <a:pt x="4908042" y="0"/>
                </a:lnTo>
                <a:lnTo>
                  <a:pt x="6544056" y="0"/>
                </a:lnTo>
                <a:lnTo>
                  <a:pt x="6544056" y="12191"/>
                </a:lnTo>
                <a:lnTo>
                  <a:pt x="4908042" y="12191"/>
                </a:lnTo>
                <a:lnTo>
                  <a:pt x="3272027" y="12191"/>
                </a:lnTo>
                <a:lnTo>
                  <a:pt x="1636014" y="12191"/>
                </a:lnTo>
                <a:lnTo>
                  <a:pt x="0" y="12191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3980433" y="4222750"/>
            <a:ext cx="2981452" cy="381508"/>
          </a:xfrm>
          <a:custGeom>
            <a:avLst/>
            <a:gdLst>
              <a:gd name="connsiteX0" fmla="*/ 6350 w 2981452"/>
              <a:gd name="connsiteY0" fmla="*/ 375158 h 381508"/>
              <a:gd name="connsiteX1" fmla="*/ 2975102 w 2981452"/>
              <a:gd name="connsiteY1" fmla="*/ 375158 h 381508"/>
              <a:gd name="connsiteX2" fmla="*/ 2975102 w 2981452"/>
              <a:gd name="connsiteY2" fmla="*/ 6350 h 381508"/>
              <a:gd name="connsiteX3" fmla="*/ 6350 w 2981452"/>
              <a:gd name="connsiteY3" fmla="*/ 6350 h 381508"/>
              <a:gd name="connsiteX4" fmla="*/ 6350 w 2981452"/>
              <a:gd name="connsiteY4" fmla="*/ 375158 h 3815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981452" h="381508">
                <a:moveTo>
                  <a:pt x="6350" y="375158"/>
                </a:moveTo>
                <a:lnTo>
                  <a:pt x="2975102" y="375158"/>
                </a:lnTo>
                <a:lnTo>
                  <a:pt x="2975102" y="6350"/>
                </a:lnTo>
                <a:lnTo>
                  <a:pt x="6350" y="6350"/>
                </a:lnTo>
                <a:lnTo>
                  <a:pt x="6350" y="375158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22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8900" y="381000"/>
            <a:ext cx="7569200" cy="6235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Bias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and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Variance: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Summary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Bias:</a:t>
            </a:r>
          </a:p>
          <a:p>
            <a:pPr>
              <a:lnSpc>
                <a:spcPts val="23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25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2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Validation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Close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Variance:</a:t>
            </a:r>
          </a:p>
          <a:p>
            <a:pPr>
              <a:lnSpc>
                <a:spcPts val="23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25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Validation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Testing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7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Fixing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Bias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(possibly):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It’s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due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simple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model.</a:t>
            </a:r>
          </a:p>
          <a:p>
            <a:pPr>
              <a:lnSpc>
                <a:spcPts val="23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input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</a:p>
          <a:p>
            <a:pPr>
              <a:lnSpc>
                <a:spcPts val="25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complexity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introducing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polynomial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</a:p>
          <a:p>
            <a:pPr>
              <a:lnSpc>
                <a:spcPts val="28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Decrease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regularization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term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regularization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later…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4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</a:t>
            </a:r>
            <a:r>
              <a:rPr lang="en-US" altLang="zh-CN" sz="2006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Fixing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High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Variance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(possibly):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It’s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due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complex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model.</a:t>
            </a:r>
          </a:p>
          <a:p>
            <a:pPr>
              <a:lnSpc>
                <a:spcPts val="23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Getting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training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</a:p>
          <a:p>
            <a:pPr>
              <a:lnSpc>
                <a:spcPts val="25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Reduce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input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</a:p>
          <a:p>
            <a:pPr>
              <a:lnSpc>
                <a:spcPts val="25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Increase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regularization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term</a:t>
            </a:r>
          </a:p>
          <a:p>
            <a:pPr>
              <a:lnSpc>
                <a:spcPts val="20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Elements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Statistical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Learning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Trevor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Hastie,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Robert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Tibshirani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Jerome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Friedman</a:t>
            </a:r>
          </a:p>
          <a:p>
            <a:pPr>
              <a:lnSpc>
                <a:spcPts val="1600"/>
              </a:lnSpc>
              <a:tabLst>
                <a:tab pos="723900" algn="l"/>
                <a:tab pos="825500" algn="l"/>
                <a:tab pos="927100" algn="l"/>
              </a:tabLst>
            </a:pPr>
            <a:r>
              <a:rPr lang="en-US" altLang="zh-CN" sz="1406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https://towardsdatascience.com/understanding-the-bias-variance-tradeoff-165e6942b229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400" y="1333500"/>
            <a:ext cx="8585200" cy="5054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2800" y="203200"/>
            <a:ext cx="61976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Manual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Feature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Selection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Recall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Correlation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23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292100" y="4457700"/>
            <a:ext cx="1917700" cy="1320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88900" algn="l"/>
                <a:tab pos="127000" algn="l"/>
                <a:tab pos="139700" algn="l"/>
                <a:tab pos="4191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Should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have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</a:t>
            </a:r>
          </a:p>
          <a:p>
            <a:pPr>
              <a:lnSpc>
                <a:spcPts val="2100"/>
              </a:lnSpc>
              <a:tabLst>
                <a:tab pos="88900" algn="l"/>
                <a:tab pos="127000" algn="l"/>
                <a:tab pos="139700" algn="l"/>
                <a:tab pos="419100" algn="l"/>
              </a:tabLst>
            </a:pPr>
            <a:r>
              <a:rPr lang="en-US" altLang="zh-CN" dirty="0" smtClean="0"/>
              <a:t>		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low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high</a:t>
            </a:r>
          </a:p>
          <a:p>
            <a:pPr>
              <a:lnSpc>
                <a:spcPts val="2100"/>
              </a:lnSpc>
              <a:tabLst>
                <a:tab pos="88900" algn="l"/>
                <a:tab pos="127000" algn="l"/>
                <a:tab pos="139700" algn="l"/>
                <a:tab pos="419100" algn="l"/>
              </a:tabLst>
            </a:pP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correlation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between</a:t>
            </a:r>
          </a:p>
          <a:p>
            <a:pPr>
              <a:lnSpc>
                <a:spcPts val="2100"/>
              </a:lnSpc>
              <a:tabLst>
                <a:tab pos="88900" algn="l"/>
                <a:tab pos="127000" algn="l"/>
                <a:tab pos="139700" algn="l"/>
                <a:tab pos="419100" algn="l"/>
              </a:tabLst>
            </a:pPr>
            <a:r>
              <a:rPr lang="en-US" altLang="zh-CN" dirty="0" smtClean="0"/>
              <a:t>	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input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features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and</a:t>
            </a:r>
          </a:p>
          <a:p>
            <a:pPr>
              <a:lnSpc>
                <a:spcPts val="2100"/>
              </a:lnSpc>
              <a:tabLst>
                <a:tab pos="88900" algn="l"/>
                <a:tab pos="127000" algn="l"/>
                <a:tab pos="139700" algn="l"/>
                <a:tab pos="4191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output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label?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617220" y="6691439"/>
            <a:ext cx="5550408" cy="12191"/>
          </a:xfrm>
          <a:custGeom>
            <a:avLst/>
            <a:gdLst>
              <a:gd name="connsiteX0" fmla="*/ 0 w 5550408"/>
              <a:gd name="connsiteY0" fmla="*/ 0 h 12191"/>
              <a:gd name="connsiteX1" fmla="*/ 1387602 w 5550408"/>
              <a:gd name="connsiteY1" fmla="*/ 0 h 12191"/>
              <a:gd name="connsiteX2" fmla="*/ 2775203 w 5550408"/>
              <a:gd name="connsiteY2" fmla="*/ 0 h 12191"/>
              <a:gd name="connsiteX3" fmla="*/ 4162805 w 5550408"/>
              <a:gd name="connsiteY3" fmla="*/ 0 h 12191"/>
              <a:gd name="connsiteX4" fmla="*/ 5550408 w 5550408"/>
              <a:gd name="connsiteY4" fmla="*/ 0 h 12191"/>
              <a:gd name="connsiteX5" fmla="*/ 5550408 w 5550408"/>
              <a:gd name="connsiteY5" fmla="*/ 12191 h 12191"/>
              <a:gd name="connsiteX6" fmla="*/ 4162805 w 5550408"/>
              <a:gd name="connsiteY6" fmla="*/ 12191 h 12191"/>
              <a:gd name="connsiteX7" fmla="*/ 2775203 w 5550408"/>
              <a:gd name="connsiteY7" fmla="*/ 12191 h 12191"/>
              <a:gd name="connsiteX8" fmla="*/ 1387602 w 5550408"/>
              <a:gd name="connsiteY8" fmla="*/ 12191 h 12191"/>
              <a:gd name="connsiteX9" fmla="*/ 0 w 5550408"/>
              <a:gd name="connsiteY9" fmla="*/ 12191 h 12191"/>
              <a:gd name="connsiteX10" fmla="*/ 0 w 5550408"/>
              <a:gd name="connsiteY10" fmla="*/ 0 h 121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5550408" h="12191">
                <a:moveTo>
                  <a:pt x="0" y="0"/>
                </a:moveTo>
                <a:lnTo>
                  <a:pt x="1387602" y="0"/>
                </a:lnTo>
                <a:lnTo>
                  <a:pt x="2775203" y="0"/>
                </a:lnTo>
                <a:lnTo>
                  <a:pt x="4162805" y="0"/>
                </a:lnTo>
                <a:lnTo>
                  <a:pt x="5550408" y="0"/>
                </a:lnTo>
                <a:lnTo>
                  <a:pt x="5550408" y="12191"/>
                </a:lnTo>
                <a:lnTo>
                  <a:pt x="4162805" y="12191"/>
                </a:lnTo>
                <a:lnTo>
                  <a:pt x="2775203" y="12191"/>
                </a:lnTo>
                <a:lnTo>
                  <a:pt x="1387602" y="12191"/>
                </a:lnTo>
                <a:lnTo>
                  <a:pt x="0" y="12191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856348" y="1539875"/>
          <a:ext cx="7431290" cy="1112520"/>
        </p:xfrm>
        <a:graphic>
          <a:graphicData uri="http://schemas.openxmlformats.org/drawingml/2006/table">
            <a:tbl>
              <a:tblPr/>
              <a:tblGrid>
                <a:gridCol w="1371104"/>
                <a:gridCol w="1638935"/>
                <a:gridCol w="1429384"/>
                <a:gridCol w="1310004"/>
                <a:gridCol w="1681861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#</a:t>
                      </a:r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swimmers</a:t>
                      </a:r>
                      <a:endParaRPr lang="zh-CN" altLang="en-US" sz="1800" b="1" dirty="0" smtClean="0">
                        <a:solidFill>
                          <a:srgbClr val="ffffff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mpd="sng">
                      <a:solidFill>
                        <a:srgbClr val="ffffff"/>
                      </a:solidFill>
                      <a:prstDash val="soli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ffffff"/>
                      </a:solidFill>
                      <a:prstDash val="soli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watched</a:t>
                      </a:r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_jaws</a:t>
                      </a:r>
                      <a:endParaRPr lang="zh-CN" altLang="en-US" sz="1800" b="1" dirty="0" smtClean="0">
                        <a:solidFill>
                          <a:srgbClr val="ffffff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temp</a:t>
                      </a:r>
                      <a:endParaRPr lang="zh-CN" altLang="en-US" sz="1800" b="1" dirty="0" smtClean="0">
                        <a:solidFill>
                          <a:srgbClr val="ffffff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stock_price</a:t>
                      </a:r>
                      <a:endParaRPr lang="zh-CN" altLang="en-US" sz="1800" b="1" dirty="0" smtClean="0">
                        <a:solidFill>
                          <a:srgbClr val="ffffff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#</a:t>
                      </a:r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pitchFamily="18" charset="0"/>
                          <a:cs typeface="Calibri" pitchFamily="18" charset="0"/>
                        </a:rPr>
                        <a:t>attacks</a:t>
                      </a:r>
                      <a:endParaRPr lang="zh-CN" altLang="en-US" sz="1800" b="1" dirty="0" smtClean="0">
                        <a:solidFill>
                          <a:srgbClr val="ffffff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ffffff"/>
                      </a:solidFill>
                      <a:prstDash val="soli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5e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  <a:latin typeface="Cambria Math" pitchFamily="18" charset="0"/>
                          <a:cs typeface="Cambria Math" pitchFamily="18" charset="0"/>
                        </a:rPr>
                        <a:t>…</a:t>
                      </a:r>
                      <a:endParaRPr lang="zh-CN" altLang="en-US" sz="1800" dirty="0" smtClean="0">
                        <a:solidFill>
                          <a:srgbClr val="000000"/>
                        </a:solidFill>
                        <a:latin typeface="Cambria Math" pitchFamily="18" charset="0"/>
                        <a:cs typeface="Cambria Math" pitchFamily="18" charset="0"/>
                      </a:endParaRPr>
                    </a:p>
                  </a:txBody>
                  <a:tcPr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 rot="0">
            <a:off x="190500" y="266700"/>
            <a:ext cx="7874000" cy="1130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>
                <a:tab pos="381000" algn="l"/>
              </a:tabLst>
            </a:pPr>
            <a:r>
              <a:rPr lang="en-US" altLang="zh-CN" dirty="0" smtClean="0"/>
              <a:t>	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Manual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Feature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Selection: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Example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3810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Consider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dataset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output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label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“#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shark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attacks”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90500" y="3416300"/>
            <a:ext cx="7823200" cy="2374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>
                <a:tab pos="88900" algn="l"/>
              </a:tabLst>
            </a:pPr>
            <a:r>
              <a:rPr lang="en-US" altLang="zh-CN" sz="2006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attacks: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Number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shark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attacks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(output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variable)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889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swimmers: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Number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swimmers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water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889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watched_jaws: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Percentage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swimmers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who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watched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iconic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Jaws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movies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88900" algn="l"/>
              </a:tabLst>
            </a:pPr>
            <a:r>
              <a:rPr lang="en-US" altLang="zh-CN" sz="2006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temp: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Average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temperature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day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500"/>
              </a:lnSpc>
              <a:tabLst>
                <a:tab pos="889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stock_price: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price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your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favorite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tech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stock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totally</a:t>
            </a:r>
          </a:p>
          <a:p>
            <a:pPr>
              <a:lnSpc>
                <a:spcPts val="2100"/>
              </a:lnSpc>
              <a:tabLst>
                <a:tab pos="88900" algn="l"/>
              </a:tabLst>
            </a:pPr>
            <a:r>
              <a:rPr lang="en-US" altLang="zh-CN" dirty="0" smtClean="0"/>
              <a:t>	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unrelated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variable)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24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8900" y="6540500"/>
            <a:ext cx="6070600" cy="177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400"/>
              </a:lnSpc>
              <a:tabLst>
							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https://scienceloft.com/technical/understanding-lasso-and-ridge-regression/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617220" y="6691439"/>
            <a:ext cx="5550408" cy="12191"/>
          </a:xfrm>
          <a:custGeom>
            <a:avLst/>
            <a:gdLst>
              <a:gd name="connsiteX0" fmla="*/ 0 w 5550408"/>
              <a:gd name="connsiteY0" fmla="*/ 0 h 12191"/>
              <a:gd name="connsiteX1" fmla="*/ 1387602 w 5550408"/>
              <a:gd name="connsiteY1" fmla="*/ 0 h 12191"/>
              <a:gd name="connsiteX2" fmla="*/ 2775203 w 5550408"/>
              <a:gd name="connsiteY2" fmla="*/ 0 h 12191"/>
              <a:gd name="connsiteX3" fmla="*/ 4162805 w 5550408"/>
              <a:gd name="connsiteY3" fmla="*/ 0 h 12191"/>
              <a:gd name="connsiteX4" fmla="*/ 5550408 w 5550408"/>
              <a:gd name="connsiteY4" fmla="*/ 0 h 12191"/>
              <a:gd name="connsiteX5" fmla="*/ 5550408 w 5550408"/>
              <a:gd name="connsiteY5" fmla="*/ 12191 h 12191"/>
              <a:gd name="connsiteX6" fmla="*/ 4162805 w 5550408"/>
              <a:gd name="connsiteY6" fmla="*/ 12191 h 12191"/>
              <a:gd name="connsiteX7" fmla="*/ 2775203 w 5550408"/>
              <a:gd name="connsiteY7" fmla="*/ 12191 h 12191"/>
              <a:gd name="connsiteX8" fmla="*/ 1387602 w 5550408"/>
              <a:gd name="connsiteY8" fmla="*/ 12191 h 12191"/>
              <a:gd name="connsiteX9" fmla="*/ 0 w 5550408"/>
              <a:gd name="connsiteY9" fmla="*/ 12191 h 12191"/>
              <a:gd name="connsiteX10" fmla="*/ 0 w 5550408"/>
              <a:gd name="connsiteY10" fmla="*/ 0 h 121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5550408" h="12191">
                <a:moveTo>
                  <a:pt x="0" y="0"/>
                </a:moveTo>
                <a:lnTo>
                  <a:pt x="1387602" y="0"/>
                </a:lnTo>
                <a:lnTo>
                  <a:pt x="2775203" y="0"/>
                </a:lnTo>
                <a:lnTo>
                  <a:pt x="4162805" y="0"/>
                </a:lnTo>
                <a:lnTo>
                  <a:pt x="5550408" y="0"/>
                </a:lnTo>
                <a:lnTo>
                  <a:pt x="5550408" y="12191"/>
                </a:lnTo>
                <a:lnTo>
                  <a:pt x="4162805" y="12191"/>
                </a:lnTo>
                <a:lnTo>
                  <a:pt x="2775203" y="12191"/>
                </a:lnTo>
                <a:lnTo>
                  <a:pt x="1387602" y="12191"/>
                </a:lnTo>
                <a:lnTo>
                  <a:pt x="0" y="12191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6909816" y="1362456"/>
            <a:ext cx="1171955" cy="1946147"/>
          </a:xfrm>
          <a:custGeom>
            <a:avLst/>
            <a:gdLst>
              <a:gd name="connsiteX0" fmla="*/ 19050 w 1171955"/>
              <a:gd name="connsiteY0" fmla="*/ 1927097 h 1946147"/>
              <a:gd name="connsiteX1" fmla="*/ 1152905 w 1171955"/>
              <a:gd name="connsiteY1" fmla="*/ 1927097 h 1946147"/>
              <a:gd name="connsiteX2" fmla="*/ 1152905 w 1171955"/>
              <a:gd name="connsiteY2" fmla="*/ 19050 h 1946147"/>
              <a:gd name="connsiteX3" fmla="*/ 19050 w 1171955"/>
              <a:gd name="connsiteY3" fmla="*/ 19050 h 1946147"/>
              <a:gd name="connsiteX4" fmla="*/ 19050 w 1171955"/>
              <a:gd name="connsiteY4" fmla="*/ 1927097 h 194614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171955" h="1946147">
                <a:moveTo>
                  <a:pt x="19050" y="1927097"/>
                </a:moveTo>
                <a:lnTo>
                  <a:pt x="1152905" y="1927097"/>
                </a:lnTo>
                <a:lnTo>
                  <a:pt x="1152905" y="19050"/>
                </a:lnTo>
                <a:lnTo>
                  <a:pt x="19050" y="19050"/>
                </a:lnTo>
                <a:lnTo>
                  <a:pt x="19050" y="1927097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">
					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1900" y="1117600"/>
            <a:ext cx="5702300" cy="52705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25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8900" y="5524500"/>
            <a:ext cx="6477000" cy="1231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3467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best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features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with</a:t>
            </a:r>
          </a:p>
          <a:p>
            <a:pPr>
              <a:lnSpc>
                <a:spcPts val="2100"/>
              </a:lnSpc>
              <a:tabLst>
                <a:tab pos="34671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respect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class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label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“attacks”?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700"/>
              </a:lnSpc>
              <a:tabLst>
                <a:tab pos="3467100" algn="l"/>
              </a:tabLst>
            </a:pPr>
            <a:r>
              <a:rPr lang="en-US" altLang="zh-CN" sz="1404" dirty="0" smtClean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Credit:</a:t>
            </a:r>
            <a:r>
              <a:rPr lang="en-US" altLang="zh-CN" sz="14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4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https://scienceloft.com/technical/understanding-lasso-and-ridge-regression/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190500" y="330200"/>
            <a:ext cx="7874000" cy="2946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dirty="0" smtClean="0"/>
              <a:t>		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Manual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Feature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Selection:</a:t>
            </a:r>
            <a:r>
              <a:rPr lang="en-US" altLang="zh-CN" sz="4296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6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Example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Plot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label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scatter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plot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0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watched_jaws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”</a:t>
            </a:r>
          </a:p>
          <a:p>
            <a:pPr>
              <a:lnSpc>
                <a:spcPts val="21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dirty="0" smtClean="0"/>
              <a:t>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important?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0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Why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“#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swimmers”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is</a:t>
            </a:r>
          </a:p>
          <a:p>
            <a:pPr>
              <a:lnSpc>
                <a:spcPts val="2100"/>
              </a:lnSpc>
              <a:tabLst>
                <a:tab pos="241300" algn="l"/>
                <a:tab pos="381000" algn="l"/>
                <a:tab pos="1130300" algn="l"/>
              </a:tabLst>
            </a:pPr>
            <a:r>
              <a:rPr lang="en-US" altLang="zh-CN" dirty="0" smtClean="0"/>
              <a:t>			</a:t>
            </a:r>
            <a:r>
              <a:rPr lang="en-US" altLang="zh-CN" sz="1800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important?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304800" y="228600"/>
            <a:ext cx="7975600" cy="1765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  <a:tab pos="203200" algn="l"/>
                <a:tab pos="609600" algn="l"/>
              </a:tabLst>
            </a:pPr>
            <a:r>
              <a:rPr lang="en-US" altLang="zh-CN" dirty="0" smtClean="0"/>
              <a:t>		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Automatic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Feature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Selection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  <a:tab pos="203200" algn="l"/>
                <a:tab pos="609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somehow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“minimize”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contribution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least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important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features</a:t>
            </a:r>
          </a:p>
          <a:p>
            <a:pPr>
              <a:lnSpc>
                <a:spcPts val="2100"/>
              </a:lnSpc>
              <a:tabLst>
                <a:tab pos="101600" algn="l"/>
                <a:tab pos="203200" algn="l"/>
                <a:tab pos="609600" algn="l"/>
              </a:tabLst>
            </a:pPr>
            <a:r>
              <a:rPr lang="en-US" altLang="zh-CN" dirty="0" smtClean="0"/>
              <a:t>	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 smtClean="0">
                <a:solidFill>
                  <a:srgbClr val="ff0000"/>
                </a:solidFill>
                <a:latin typeface="Calibri" pitchFamily="18" charset="0"/>
                <a:cs typeface="Calibri" pitchFamily="18" charset="0"/>
              </a:rPr>
              <a:t>output?</a:t>
            </a:r>
          </a:p>
          <a:p>
            <a:pPr>
              <a:lnSpc>
                <a:spcPts val="2300"/>
              </a:lnSpc>
              <a:tabLst>
                <a:tab pos="101600" algn="l"/>
                <a:tab pos="203200" algn="l"/>
                <a:tab pos="609600" algn="l"/>
              </a:tabLst>
            </a:pPr>
            <a:r>
              <a:rPr lang="en-US" altLang="zh-CN" dirty="0" smtClean="0"/>
              <a:t>		</a:t>
            </a:r>
            <a:r>
              <a:rPr lang="en-US" altLang="zh-CN" sz="1802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Lasso</a:t>
            </a:r>
            <a:r>
              <a:rPr lang="en-US" altLang="zh-CN" sz="1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 smtClean="0">
                <a:solidFill>
                  <a:srgbClr val="00b050"/>
                </a:solidFill>
                <a:latin typeface="Calibri" pitchFamily="18" charset="0"/>
                <a:cs typeface="Calibri" pitchFamily="18" charset="0"/>
              </a:rPr>
              <a:t>Regression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1207008" y="1637410"/>
            <a:ext cx="6059423" cy="15240"/>
          </a:xfrm>
          <a:custGeom>
            <a:avLst/>
            <a:gdLst>
              <a:gd name="connsiteX0" fmla="*/ 0 w 6059423"/>
              <a:gd name="connsiteY0" fmla="*/ 0 h 15240"/>
              <a:gd name="connsiteX1" fmla="*/ 1514856 w 6059423"/>
              <a:gd name="connsiteY1" fmla="*/ 0 h 15240"/>
              <a:gd name="connsiteX2" fmla="*/ 3029712 w 6059423"/>
              <a:gd name="connsiteY2" fmla="*/ 0 h 15240"/>
              <a:gd name="connsiteX3" fmla="*/ 4544567 w 6059423"/>
              <a:gd name="connsiteY3" fmla="*/ 0 h 15240"/>
              <a:gd name="connsiteX4" fmla="*/ 6059423 w 6059423"/>
              <a:gd name="connsiteY4" fmla="*/ 0 h 15240"/>
              <a:gd name="connsiteX5" fmla="*/ 6059423 w 6059423"/>
              <a:gd name="connsiteY5" fmla="*/ 15240 h 15240"/>
              <a:gd name="connsiteX6" fmla="*/ 4544567 w 6059423"/>
              <a:gd name="connsiteY6" fmla="*/ 15240 h 15240"/>
              <a:gd name="connsiteX7" fmla="*/ 3029712 w 6059423"/>
              <a:gd name="connsiteY7" fmla="*/ 15240 h 15240"/>
              <a:gd name="connsiteX8" fmla="*/ 1514856 w 6059423"/>
              <a:gd name="connsiteY8" fmla="*/ 15240 h 15240"/>
              <a:gd name="connsiteX9" fmla="*/ 0 w 6059423"/>
              <a:gd name="connsiteY9" fmla="*/ 15240 h 15240"/>
              <a:gd name="connsiteX10" fmla="*/ 0 w 6059423"/>
              <a:gd name="connsiteY10" fmla="*/ 0 h 152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  <a:cxn ang="9">
                <a:pos x="connsiteX9" y="connsiteY9"/>
              </a:cxn>
              <a:cxn ang="10">
                <a:pos x="connsiteX10" y="connsiteY10"/>
              </a:cxn>
            </a:cxnLst>
            <a:rect l="l" t="t" r="r" b="b"/>
            <a:pathLst>
              <a:path w="6059423" h="15240">
                <a:moveTo>
                  <a:pt x="0" y="0"/>
                </a:moveTo>
                <a:lnTo>
                  <a:pt x="1514856" y="0"/>
                </a:lnTo>
                <a:lnTo>
                  <a:pt x="3029712" y="0"/>
                </a:lnTo>
                <a:lnTo>
                  <a:pt x="4544567" y="0"/>
                </a:lnTo>
                <a:lnTo>
                  <a:pt x="6059423" y="0"/>
                </a:lnTo>
                <a:lnTo>
                  <a:pt x="6059423" y="15240"/>
                </a:lnTo>
                <a:lnTo>
                  <a:pt x="4544567" y="15240"/>
                </a:lnTo>
                <a:lnTo>
                  <a:pt x="3029712" y="15240"/>
                </a:lnTo>
                <a:lnTo>
                  <a:pt x="1514856" y="15240"/>
                </a:lnTo>
                <a:lnTo>
                  <a:pt x="0" y="15240"/>
                </a:lnTo>
                <a:lnTo>
                  <a:pt x="0" y="0"/>
                </a:lnTo>
              </a:path>
            </a:pathLst>
          </a:custGeom>
          <a:solidFill>
            <a:srgbClr val="f491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812800" y="215900"/>
            <a:ext cx="6438900" cy="1485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  <a:tab pos="2032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Reference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  <a:tab pos="2032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Josh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Strammer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(StatQuest)</a:t>
            </a:r>
          </a:p>
          <a:p>
            <a:pPr>
              <a:lnSpc>
                <a:spcPts val="2300"/>
              </a:lnSpc>
              <a:tabLst>
                <a:tab pos="101600" algn="l"/>
                <a:tab pos="203200" algn="l"/>
              </a:tabLst>
            </a:pPr>
            <a:r>
              <a:rPr lang="en-US" altLang="zh-CN" dirty="0" smtClean="0"/>
              <a:t>		</a:t>
            </a:r>
            <a:r>
              <a:rPr lang="en-US" altLang="zh-CN" sz="1800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▪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rgbClr val="f49100"/>
                </a:solidFill>
                <a:latin typeface="Calibri" pitchFamily="18" charset="0"/>
                <a:cs typeface="Calibri" pitchFamily="18" charset="0"/>
              </a:rPr>
              <a:t>https://www.youtube.com/channel/UCtYLUTtgS3k1Fg4y5tAhLbw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0" y="6400799"/>
            <a:ext cx="9144000" cy="444500"/>
          </a:xfrm>
          <a:custGeom>
            <a:avLst/>
            <a:gdLst>
              <a:gd name="connsiteX0" fmla="*/ 0 w 9144000"/>
              <a:gd name="connsiteY0" fmla="*/ 0 h 444500"/>
              <a:gd name="connsiteX1" fmla="*/ 9144000 w 9144000"/>
              <a:gd name="connsiteY1" fmla="*/ 0 h 444500"/>
              <a:gd name="connsiteX2" fmla="*/ 9144000 w 9144000"/>
              <a:gd name="connsiteY2" fmla="*/ 444500 h 444500"/>
              <a:gd name="connsiteX3" fmla="*/ 0 w 9144000"/>
              <a:gd name="connsiteY3" fmla="*/ 444500 h 444500"/>
              <a:gd name="connsiteX4" fmla="*/ 0 w 9144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444500">
                <a:moveTo>
                  <a:pt x="0" y="0"/>
                </a:moveTo>
                <a:lnTo>
                  <a:pt x="9144000" y="0"/>
                </a:lnTo>
                <a:lnTo>
                  <a:pt x="9144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009d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888238" y="869950"/>
            <a:ext cx="7487919" cy="19050"/>
          </a:xfrm>
          <a:custGeom>
            <a:avLst/>
            <a:gdLst>
              <a:gd name="connsiteX0" fmla="*/ 6350 w 7487919"/>
              <a:gd name="connsiteY0" fmla="*/ 6350 h 19050"/>
              <a:gd name="connsiteX1" fmla="*/ 7481569 w 7487919"/>
              <a:gd name="connsiteY1" fmla="*/ 6350 h 190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487919" h="19050">
                <a:moveTo>
                  <a:pt x="6350" y="6350"/>
                </a:moveTo>
                <a:lnTo>
                  <a:pt x="7481569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0">
            <a:off x="812800" y="203200"/>
            <a:ext cx="33401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01600" algn="l"/>
              </a:tabLst>
            </a:pPr>
            <a:r>
              <a:rPr lang="en-US" altLang="zh-CN" dirty="0" smtClean="0"/>
              <a:t>	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Book</a:t>
            </a:r>
            <a:r>
              <a:rPr lang="en-US" altLang="zh-CN" sz="4802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 smtClean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Reading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2600"/>
              </a:lnSpc>
              <a:tabLst>
                <a:tab pos="101600" algn="l"/>
              </a:tabLst>
            </a:pPr>
            <a:r>
              <a:rPr lang="en-US" altLang="zh-CN" sz="2004" dirty="0" smtClean="0">
                <a:solidFill>
                  <a:srgbClr val="0f6fc6"/>
                </a:solidFill>
                <a:latin typeface="Wingdings" pitchFamily="18" charset="0"/>
                <a:cs typeface="Wingdings" pitchFamily="18" charset="0"/>
              </a:rPr>
              <a:t>❑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Murphy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Chapter</a:t>
            </a:r>
            <a:r>
              <a:rPr lang="en-US" altLang="zh-CN" sz="200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 smtClean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7</a:t>
            </a:r>
          </a:p>
        </p:txBody>
      </p:sp>
      <p:sp>
        <p:nvSpPr>
          <p:cNvPr id="2" name="TextBox 1"/>
          <p:cNvSpPr txBox="1"/>
          <p:nvPr/>
        </p:nvSpPr>
        <p:spPr>
          <a:xfrm rot="0">
            <a:off x="8178800" y="6591300"/>
            <a:ext cx="127000" cy="127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000"/>
              </a:lnSpc>
              <a:tabLst>
							</a:tabLst>
            </a:pPr>
            <a:r>
              <a:rPr lang="en-US" altLang="zh-CN" sz="1056" dirty="0" smtClean="0">
                <a:solidFill>
                  <a:srgbClr val="ffffff"/>
                </a:solidFill>
                <a:latin typeface="Calibri" pitchFamily="18" charset="0"/>
                <a:cs typeface="Calibri" pitchFamily="18" charset="0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雨林木风</cp:lastModifiedBy>
  <cp:revision>3</cp:revision>
  <dcterms:created xsi:type="dcterms:W3CDTF">2006-08-16T00:00:00Z</dcterms:created>
  <dcterms:modified xsi:type="dcterms:W3CDTF">2010-04-24T16:48:41Z</dcterms:modified>
</cp:coreProperties>
</file>